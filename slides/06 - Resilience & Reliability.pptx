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handoutMasterIdLst>
    <p:handoutMasterId r:id="rId58"/>
  </p:handoutMasterIdLst>
  <p:sldIdLst>
    <p:sldId id="257" r:id="rId2"/>
    <p:sldId id="258" r:id="rId3"/>
    <p:sldId id="261" r:id="rId4"/>
    <p:sldId id="259" r:id="rId5"/>
    <p:sldId id="260" r:id="rId6"/>
    <p:sldId id="262" r:id="rId7"/>
    <p:sldId id="263" r:id="rId8"/>
    <p:sldId id="290" r:id="rId9"/>
    <p:sldId id="380" r:id="rId10"/>
    <p:sldId id="291" r:id="rId11"/>
    <p:sldId id="414" r:id="rId12"/>
    <p:sldId id="418" r:id="rId13"/>
    <p:sldId id="293" r:id="rId14"/>
    <p:sldId id="294" r:id="rId15"/>
    <p:sldId id="295" r:id="rId16"/>
    <p:sldId id="419" r:id="rId17"/>
    <p:sldId id="420" r:id="rId18"/>
    <p:sldId id="421" r:id="rId19"/>
    <p:sldId id="422" r:id="rId20"/>
    <p:sldId id="397" r:id="rId21"/>
    <p:sldId id="423" r:id="rId22"/>
    <p:sldId id="424" r:id="rId23"/>
    <p:sldId id="425" r:id="rId24"/>
    <p:sldId id="426" r:id="rId25"/>
    <p:sldId id="427" r:id="rId26"/>
    <p:sldId id="428" r:id="rId27"/>
    <p:sldId id="429" r:id="rId28"/>
    <p:sldId id="430" r:id="rId29"/>
    <p:sldId id="431" r:id="rId30"/>
    <p:sldId id="432" r:id="rId31"/>
    <p:sldId id="433" r:id="rId32"/>
    <p:sldId id="434" r:id="rId33"/>
    <p:sldId id="435" r:id="rId34"/>
    <p:sldId id="436" r:id="rId35"/>
    <p:sldId id="437" r:id="rId36"/>
    <p:sldId id="438" r:id="rId37"/>
    <p:sldId id="439" r:id="rId38"/>
    <p:sldId id="440" r:id="rId39"/>
    <p:sldId id="447" r:id="rId40"/>
    <p:sldId id="441" r:id="rId41"/>
    <p:sldId id="442" r:id="rId42"/>
    <p:sldId id="443" r:id="rId43"/>
    <p:sldId id="444" r:id="rId44"/>
    <p:sldId id="445" r:id="rId45"/>
    <p:sldId id="446" r:id="rId46"/>
    <p:sldId id="448" r:id="rId47"/>
    <p:sldId id="449" r:id="rId48"/>
    <p:sldId id="450" r:id="rId49"/>
    <p:sldId id="451" r:id="rId50"/>
    <p:sldId id="452" r:id="rId51"/>
    <p:sldId id="453" r:id="rId52"/>
    <p:sldId id="454" r:id="rId53"/>
    <p:sldId id="455" r:id="rId54"/>
    <p:sldId id="456" r:id="rId55"/>
    <p:sldId id="457"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me Style Guide" id="{532ADC95-8B68-4F96-9A13-E35FA0E58553}">
          <p14:sldIdLst>
            <p14:sldId id="257"/>
            <p14:sldId id="258"/>
            <p14:sldId id="261"/>
            <p14:sldId id="259"/>
            <p14:sldId id="260"/>
            <p14:sldId id="262"/>
            <p14:sldId id="263"/>
          </p14:sldIdLst>
        </p14:section>
        <p14:section name="Introduction" id="{90983BA4-56F5-46A5-87FD-742FE9977CDE}">
          <p14:sldIdLst>
            <p14:sldId id="290"/>
          </p14:sldIdLst>
        </p14:section>
        <p14:section name="Idempotent Receiver" id="{9F985ADF-C0EF-4554-82B5-70E2436ED504}">
          <p14:sldIdLst>
            <p14:sldId id="380"/>
            <p14:sldId id="291"/>
            <p14:sldId id="414"/>
            <p14:sldId id="418"/>
            <p14:sldId id="293"/>
            <p14:sldId id="294"/>
            <p14:sldId id="295"/>
            <p14:sldId id="419"/>
            <p14:sldId id="420"/>
            <p14:sldId id="421"/>
            <p14:sldId id="422"/>
            <p14:sldId id="397"/>
          </p14:sldIdLst>
        </p14:section>
        <p14:section name="Saga Pattern" id="{ECF55F98-409F-4A73-9CC9-44060B338DB0}">
          <p14:sldIdLst>
            <p14:sldId id="423"/>
            <p14:sldId id="424"/>
            <p14:sldId id="425"/>
            <p14:sldId id="426"/>
            <p14:sldId id="427"/>
            <p14:sldId id="428"/>
            <p14:sldId id="429"/>
            <p14:sldId id="430"/>
            <p14:sldId id="431"/>
            <p14:sldId id="432"/>
            <p14:sldId id="433"/>
            <p14:sldId id="434"/>
            <p14:sldId id="435"/>
            <p14:sldId id="436"/>
            <p14:sldId id="437"/>
            <p14:sldId id="438"/>
            <p14:sldId id="439"/>
          </p14:sldIdLst>
        </p14:section>
        <p14:section name="Sequence Convoy" id="{3A34345F-6B6B-487D-8058-543E5D1E4A54}">
          <p14:sldIdLst>
            <p14:sldId id="440"/>
            <p14:sldId id="447"/>
            <p14:sldId id="441"/>
            <p14:sldId id="442"/>
            <p14:sldId id="443"/>
            <p14:sldId id="444"/>
            <p14:sldId id="445"/>
            <p14:sldId id="446"/>
            <p14:sldId id="448"/>
            <p14:sldId id="449"/>
            <p14:sldId id="450"/>
            <p14:sldId id="451"/>
            <p14:sldId id="452"/>
            <p14:sldId id="453"/>
          </p14:sldIdLst>
        </p14:section>
        <p14:section name="Wrap-Up" id="{735F0729-385E-48B2-9CC9-321FEBC0D2F7}">
          <p14:sldIdLst>
            <p14:sldId id="454"/>
            <p14:sldId id="455"/>
            <p14:sldId id="456"/>
            <p14:sldId id="4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2563" autoAdjust="0"/>
  </p:normalViewPr>
  <p:slideViewPr>
    <p:cSldViewPr snapToGrid="0" showGuides="1">
      <p:cViewPr varScale="1">
        <p:scale>
          <a:sx n="113" d="100"/>
          <a:sy n="113" d="100"/>
        </p:scale>
        <p:origin x="156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5F2EF8-1963-4D06-0037-190C2628E8E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3C1DDF5-DDBF-7F05-6959-EDD7EE8CD5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64EA34-5607-42FC-A5EC-B3EB34B980C7}" type="datetimeFigureOut">
              <a:rPr lang="en-US" smtClean="0"/>
              <a:t>7/27/2025</a:t>
            </a:fld>
            <a:endParaRPr lang="en-US"/>
          </a:p>
        </p:txBody>
      </p:sp>
      <p:sp>
        <p:nvSpPr>
          <p:cNvPr id="4" name="Footer Placeholder 3">
            <a:extLst>
              <a:ext uri="{FF2B5EF4-FFF2-40B4-BE49-F238E27FC236}">
                <a16:creationId xmlns:a16="http://schemas.microsoft.com/office/drawing/2014/main" id="{7F37E494-0D1E-4B7E-8DC6-C5FDF16C7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D9A15D4-5BB1-9A3E-5C4E-00538AFC1B1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32A3B4-E1AE-4DAF-AAB0-E27DAAB565AA}" type="slidenum">
              <a:rPr lang="en-US" smtClean="0"/>
              <a:t>‹#›</a:t>
            </a:fld>
            <a:endParaRPr lang="en-US"/>
          </a:p>
        </p:txBody>
      </p:sp>
    </p:spTree>
    <p:extLst>
      <p:ext uri="{BB962C8B-B14F-4D97-AF65-F5344CB8AC3E}">
        <p14:creationId xmlns:p14="http://schemas.microsoft.com/office/powerpoint/2010/main" val="1961642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B21A4E-9E2A-47D2-8D53-809F7F857FEB}" type="datetimeFigureOut">
              <a:rPr lang="en-US" smtClean="0"/>
              <a:t>7/27/2025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00ACD-0348-4F47-9C35-586193A86BF3}" type="slidenum">
              <a:rPr lang="en-US" smtClean="0"/>
              <a:t>‹#›</a:t>
            </a:fld>
            <a:endParaRPr lang="en-US"/>
          </a:p>
        </p:txBody>
      </p:sp>
    </p:spTree>
    <p:extLst>
      <p:ext uri="{BB962C8B-B14F-4D97-AF65-F5344CB8AC3E}">
        <p14:creationId xmlns:p14="http://schemas.microsoft.com/office/powerpoint/2010/main" val="3106955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a:t>
            </a:r>
            <a:r>
              <a:rPr lang="en-US" b="1" dirty="0"/>
              <a:t>Resilience and Reliability</a:t>
            </a:r>
            <a:r>
              <a:rPr lang="en-US" dirty="0"/>
              <a:t> module. In this section, we will focus on patterns that ensure your messaging systems are robust, fault-tolerant, and capable of maintaining high availability even under challenging conditions. Building resilient and reliable messaging solutions is crucial for creating dependable and scalable systems that can withstand failures and continue to operate smoothly.</a:t>
            </a:r>
          </a:p>
          <a:p>
            <a:endParaRPr lang="en-US" dirty="0"/>
          </a:p>
          <a:p>
            <a:r>
              <a:rPr lang="en-US" dirty="0"/>
              <a:t>By the end of this module, you'll have the tools and knowledge to design messaging solutions that can handle failures gracefully and ensure consistent and reliable message processing. Let's dive into the techniques that will make your messaging systems resilient and dependable!</a:t>
            </a:r>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8</a:t>
            </a:fld>
            <a:endParaRPr lang="en-US"/>
          </a:p>
        </p:txBody>
      </p:sp>
    </p:spTree>
    <p:extLst>
      <p:ext uri="{BB962C8B-B14F-4D97-AF65-F5344CB8AC3E}">
        <p14:creationId xmlns:p14="http://schemas.microsoft.com/office/powerpoint/2010/main" val="152102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919A6-93D7-3B61-CAC3-7767CE5D1D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0E1A5-F881-6111-AAF4-6C96AE9E73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BC8EE-773C-2549-19DC-529606462FFD}"/>
              </a:ext>
            </a:extLst>
          </p:cNvPr>
          <p:cNvSpPr>
            <a:spLocks noGrp="1"/>
          </p:cNvSpPr>
          <p:nvPr>
            <p:ph type="body" idx="1"/>
          </p:nvPr>
        </p:nvSpPr>
        <p:spPr/>
        <p:txBody>
          <a:bodyPr/>
          <a:lstStyle/>
          <a:p>
            <a:r>
              <a:rPr lang="en-US" b="1" u="sng" dirty="0"/>
              <a:t>Definition</a:t>
            </a:r>
            <a:endParaRPr lang="en-US" b="0" u="none" dirty="0"/>
          </a:p>
          <a:p>
            <a:r>
              <a:rPr lang="en-US" b="0" u="none" dirty="0"/>
              <a:t>The Circuit Breaker pattern is a design pattern used to detect and handle failures gracefully. It acts as a protective barrier, stopping the flow of requests to a failing service to prevent cascading failures across the system. When the failure rate exceeds a certain threshold, the circuit breaker “trips” and redirects requests to a fallback mechanism.</a:t>
            </a:r>
          </a:p>
          <a:p>
            <a:endParaRPr lang="en-US" b="0" u="none" dirty="0"/>
          </a:p>
          <a:p>
            <a:r>
              <a:rPr lang="en-US" b="1" u="sng" dirty="0"/>
              <a:t>Purpose</a:t>
            </a:r>
            <a:endParaRPr lang="en-US" b="0" u="none" dirty="0"/>
          </a:p>
          <a:p>
            <a:r>
              <a:rPr lang="en-US" b="0" u="none" dirty="0"/>
              <a:t>The purpose of the Circuit Breaker pattern is to improve system resilience and stability by preventing failed operations from overwhelming the system and allowing for graceful recovery.</a:t>
            </a:r>
            <a:endParaRPr lang="en-US" b="1" u="sng" dirty="0"/>
          </a:p>
        </p:txBody>
      </p:sp>
      <p:sp>
        <p:nvSpPr>
          <p:cNvPr id="4" name="Slide Number Placeholder 3">
            <a:extLst>
              <a:ext uri="{FF2B5EF4-FFF2-40B4-BE49-F238E27FC236}">
                <a16:creationId xmlns:a16="http://schemas.microsoft.com/office/drawing/2014/main" id="{6E4B305B-4319-5242-FACB-CE7FA5B8C41A}"/>
              </a:ext>
            </a:extLst>
          </p:cNvPr>
          <p:cNvSpPr>
            <a:spLocks noGrp="1"/>
          </p:cNvSpPr>
          <p:nvPr>
            <p:ph type="sldNum" sz="quarter" idx="5"/>
          </p:nvPr>
        </p:nvSpPr>
        <p:spPr/>
        <p:txBody>
          <a:bodyPr/>
          <a:lstStyle/>
          <a:p>
            <a:fld id="{F5000ACD-0348-4F47-9C35-586193A86BF3}" type="slidenum">
              <a:rPr lang="en-US" smtClean="0"/>
              <a:t>10</a:t>
            </a:fld>
            <a:endParaRPr lang="en-US"/>
          </a:p>
        </p:txBody>
      </p:sp>
    </p:spTree>
    <p:extLst>
      <p:ext uri="{BB962C8B-B14F-4D97-AF65-F5344CB8AC3E}">
        <p14:creationId xmlns:p14="http://schemas.microsoft.com/office/powerpoint/2010/main" val="378485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46C7-0660-8DFA-9A1E-115F00D31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98916-6C24-8303-40FB-318E14762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BA6903-C696-9DA3-D4E4-D49E69CC114D}"/>
              </a:ext>
            </a:extLst>
          </p:cNvPr>
          <p:cNvSpPr>
            <a:spLocks noGrp="1"/>
          </p:cNvSpPr>
          <p:nvPr>
            <p:ph type="body" idx="1"/>
          </p:nvPr>
        </p:nvSpPr>
        <p:spPr/>
        <p:txBody>
          <a:bodyPr/>
          <a:lstStyle/>
          <a:p>
            <a:r>
              <a:rPr lang="en-US" b="1" dirty="0"/>
              <a:t>Circuit Breaker State</a:t>
            </a:r>
            <a:r>
              <a:rPr lang="en-US" b="0" dirty="0"/>
              <a:t>: The state of the circuit breaker can be “Closed” (normal operation), “Open” (tripped, blocking requests), or “Half-Open”) (testing to see if the issue is resolved).</a:t>
            </a:r>
          </a:p>
          <a:p>
            <a:endParaRPr lang="en-US" b="0" dirty="0"/>
          </a:p>
          <a:p>
            <a:r>
              <a:rPr lang="en-US" b="1" dirty="0"/>
              <a:t>Failure Threshold</a:t>
            </a:r>
            <a:r>
              <a:rPr lang="en-US" b="0" dirty="0"/>
              <a:t>: The predefined threshold for failures that triggers the circuit breaker to trip.</a:t>
            </a:r>
          </a:p>
          <a:p>
            <a:endParaRPr lang="en-US" b="0" dirty="0"/>
          </a:p>
          <a:p>
            <a:r>
              <a:rPr lang="en-US" b="1" dirty="0"/>
              <a:t>Fallback Mechanism</a:t>
            </a:r>
            <a:r>
              <a:rPr lang="en-US" b="0" dirty="0"/>
              <a:t>: Alternative logic or service that is invoked when the circuit breaker is in the “Open” state.</a:t>
            </a:r>
          </a:p>
          <a:p>
            <a:endParaRPr lang="en-US" b="0" dirty="0"/>
          </a:p>
          <a:p>
            <a:r>
              <a:rPr lang="en-US" b="1" dirty="0"/>
              <a:t>Recovery Logic</a:t>
            </a:r>
            <a:r>
              <a:rPr lang="en-US" b="0" dirty="0"/>
              <a:t>: Logic to periodically test the failing service and transition the circuit breaker back to the “Closed” state if the issues is resolved.</a:t>
            </a:r>
            <a:endParaRPr lang="en-US" b="1" dirty="0"/>
          </a:p>
        </p:txBody>
      </p:sp>
      <p:sp>
        <p:nvSpPr>
          <p:cNvPr id="4" name="Slide Number Placeholder 3">
            <a:extLst>
              <a:ext uri="{FF2B5EF4-FFF2-40B4-BE49-F238E27FC236}">
                <a16:creationId xmlns:a16="http://schemas.microsoft.com/office/drawing/2014/main" id="{F7D5E704-F58C-43E5-E72D-CC6BD491DEE2}"/>
              </a:ext>
            </a:extLst>
          </p:cNvPr>
          <p:cNvSpPr>
            <a:spLocks noGrp="1"/>
          </p:cNvSpPr>
          <p:nvPr>
            <p:ph type="sldNum" sz="quarter" idx="5"/>
          </p:nvPr>
        </p:nvSpPr>
        <p:spPr/>
        <p:txBody>
          <a:bodyPr/>
          <a:lstStyle/>
          <a:p>
            <a:fld id="{F5000ACD-0348-4F47-9C35-586193A86BF3}" type="slidenum">
              <a:rPr lang="en-US" smtClean="0"/>
              <a:t>11</a:t>
            </a:fld>
            <a:endParaRPr lang="en-US"/>
          </a:p>
        </p:txBody>
      </p:sp>
    </p:spTree>
    <p:extLst>
      <p:ext uri="{BB962C8B-B14F-4D97-AF65-F5344CB8AC3E}">
        <p14:creationId xmlns:p14="http://schemas.microsoft.com/office/powerpoint/2010/main" val="2505944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EA77E-A1A6-8493-96FA-ADD60D40B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50555-189C-84A3-5C16-8B55584B0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4A944F-812D-BECD-57C8-38D59B2548ED}"/>
              </a:ext>
            </a:extLst>
          </p:cNvPr>
          <p:cNvSpPr>
            <a:spLocks noGrp="1"/>
          </p:cNvSpPr>
          <p:nvPr>
            <p:ph type="body" idx="1"/>
          </p:nvPr>
        </p:nvSpPr>
        <p:spPr/>
        <p:txBody>
          <a:bodyPr/>
          <a:lstStyle/>
          <a:p>
            <a:r>
              <a:rPr lang="en-US" b="1" dirty="0"/>
              <a:t>Circuit Breaker State</a:t>
            </a:r>
            <a:r>
              <a:rPr lang="en-US" b="0" dirty="0"/>
              <a:t>: The state of the circuit breaker can be “Closed” (normal operation), “Open” (tripped, blocking requests), or “Half-Open”) (testing to see if the issue is resolved).</a:t>
            </a:r>
          </a:p>
          <a:p>
            <a:endParaRPr lang="en-US" b="0" dirty="0"/>
          </a:p>
          <a:p>
            <a:r>
              <a:rPr lang="en-US" b="1" dirty="0"/>
              <a:t>Failure Threshold</a:t>
            </a:r>
            <a:r>
              <a:rPr lang="en-US" b="0" dirty="0"/>
              <a:t>: The predefined threshold for failures that triggers the circuit breaker to trip.</a:t>
            </a:r>
          </a:p>
          <a:p>
            <a:endParaRPr lang="en-US" b="0" dirty="0"/>
          </a:p>
          <a:p>
            <a:r>
              <a:rPr lang="en-US" b="1" dirty="0"/>
              <a:t>Fallback Mechanism</a:t>
            </a:r>
            <a:r>
              <a:rPr lang="en-US" b="0" dirty="0"/>
              <a:t>: Alternative logic or service that is invoked when the circuit breaker is in the “Open” state.</a:t>
            </a:r>
          </a:p>
          <a:p>
            <a:endParaRPr lang="en-US" b="0" dirty="0"/>
          </a:p>
          <a:p>
            <a:r>
              <a:rPr lang="en-US" b="1" dirty="0"/>
              <a:t>Recovery Logic</a:t>
            </a:r>
            <a:r>
              <a:rPr lang="en-US" b="0" dirty="0"/>
              <a:t>: Logic to periodically test the failing service and transition the circuit breaker back to the “Closed” state if the issues is resolved.</a:t>
            </a:r>
            <a:endParaRPr lang="en-US" b="1" dirty="0"/>
          </a:p>
        </p:txBody>
      </p:sp>
      <p:sp>
        <p:nvSpPr>
          <p:cNvPr id="4" name="Slide Number Placeholder 3">
            <a:extLst>
              <a:ext uri="{FF2B5EF4-FFF2-40B4-BE49-F238E27FC236}">
                <a16:creationId xmlns:a16="http://schemas.microsoft.com/office/drawing/2014/main" id="{BC994C9B-7D90-4ADE-683B-ADE149CA034F}"/>
              </a:ext>
            </a:extLst>
          </p:cNvPr>
          <p:cNvSpPr>
            <a:spLocks noGrp="1"/>
          </p:cNvSpPr>
          <p:nvPr>
            <p:ph type="sldNum" sz="quarter" idx="5"/>
          </p:nvPr>
        </p:nvSpPr>
        <p:spPr/>
        <p:txBody>
          <a:bodyPr/>
          <a:lstStyle/>
          <a:p>
            <a:fld id="{F5000ACD-0348-4F47-9C35-586193A86BF3}" type="slidenum">
              <a:rPr lang="en-US" smtClean="0"/>
              <a:t>12</a:t>
            </a:fld>
            <a:endParaRPr lang="en-US"/>
          </a:p>
        </p:txBody>
      </p:sp>
    </p:spTree>
    <p:extLst>
      <p:ext uri="{BB962C8B-B14F-4D97-AF65-F5344CB8AC3E}">
        <p14:creationId xmlns:p14="http://schemas.microsoft.com/office/powerpoint/2010/main" val="1716812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none" dirty="0"/>
              <a:t>Improved Resilience</a:t>
            </a:r>
            <a:r>
              <a:rPr lang="en-US" b="0" u="none" dirty="0"/>
              <a:t>: Protects the system from cascading failures, allowing for graceful degradation and recovery.</a:t>
            </a:r>
          </a:p>
          <a:p>
            <a:endParaRPr lang="en-US" b="0" u="none" dirty="0"/>
          </a:p>
          <a:p>
            <a:r>
              <a:rPr lang="en-US" b="1" u="none" dirty="0"/>
              <a:t>Faster Failure Detection</a:t>
            </a:r>
            <a:r>
              <a:rPr lang="en-US" b="0" u="none" dirty="0"/>
              <a:t>: Quickly identifies and responds to failures, preventing prolonged periods of unavailability.</a:t>
            </a:r>
          </a:p>
          <a:p>
            <a:endParaRPr lang="en-US" b="0" u="none" dirty="0"/>
          </a:p>
          <a:p>
            <a:r>
              <a:rPr lang="en-US" b="1" u="none" dirty="0"/>
              <a:t>Resource Optimization</a:t>
            </a:r>
            <a:r>
              <a:rPr lang="en-US" b="0" u="none" dirty="0"/>
              <a:t>: Reduces the load on failing services, allowing them to recover without being overwhelmed by continuous requests.</a:t>
            </a:r>
            <a:endParaRPr lang="en-US" b="1" u="none" dirty="0"/>
          </a:p>
        </p:txBody>
      </p:sp>
      <p:sp>
        <p:nvSpPr>
          <p:cNvPr id="4" name="Slide Number Placeholder 3"/>
          <p:cNvSpPr>
            <a:spLocks noGrp="1"/>
          </p:cNvSpPr>
          <p:nvPr>
            <p:ph type="sldNum" sz="quarter" idx="5"/>
          </p:nvPr>
        </p:nvSpPr>
        <p:spPr/>
        <p:txBody>
          <a:bodyPr/>
          <a:lstStyle/>
          <a:p>
            <a:fld id="{F5000ACD-0348-4F47-9C35-586193A86BF3}" type="slidenum">
              <a:rPr lang="en-US" smtClean="0"/>
              <a:t>13</a:t>
            </a:fld>
            <a:endParaRPr lang="en-US"/>
          </a:p>
        </p:txBody>
      </p:sp>
    </p:spTree>
    <p:extLst>
      <p:ext uri="{BB962C8B-B14F-4D97-AF65-F5344CB8AC3E}">
        <p14:creationId xmlns:p14="http://schemas.microsoft.com/office/powerpoint/2010/main" val="3989978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B5D7A-F7E6-B545-0C35-C0DDB38B29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B056B-5A41-24D4-BF72-9178B8986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EF2EE9-4C13-30A7-7AB2-2E71D725DCD6}"/>
              </a:ext>
            </a:extLst>
          </p:cNvPr>
          <p:cNvSpPr>
            <a:spLocks noGrp="1"/>
          </p:cNvSpPr>
          <p:nvPr>
            <p:ph type="body" idx="1"/>
          </p:nvPr>
        </p:nvSpPr>
        <p:spPr/>
        <p:txBody>
          <a:bodyPr/>
          <a:lstStyle/>
          <a:p>
            <a:r>
              <a:rPr lang="en-US" b="1" u="none" dirty="0"/>
              <a:t>Increased Complexity</a:t>
            </a:r>
            <a:r>
              <a:rPr lang="en-US" b="0" u="none" dirty="0"/>
              <a:t>: Adds complexity to the system design, requiring careful configuration and management of the circuit breaker.</a:t>
            </a:r>
          </a:p>
          <a:p>
            <a:endParaRPr lang="en-US" b="0" u="none" dirty="0"/>
          </a:p>
          <a:p>
            <a:r>
              <a:rPr lang="en-US" b="1" u="none" dirty="0"/>
              <a:t>Potential Latency</a:t>
            </a:r>
            <a:r>
              <a:rPr lang="en-US" b="0" u="none" dirty="0"/>
              <a:t>: Introducing a circuit breaker may add latency to the request, especially if fallback mechanisms are involved.</a:t>
            </a:r>
          </a:p>
          <a:p>
            <a:endParaRPr lang="en-US" b="0" u="none" dirty="0"/>
          </a:p>
          <a:p>
            <a:r>
              <a:rPr lang="en-US" b="1" u="none" dirty="0"/>
              <a:t>False Positives</a:t>
            </a:r>
            <a:r>
              <a:rPr lang="en-US" b="0" u="none" dirty="0"/>
              <a:t>: Incorrect configuration of thresholds and timings may lead to unnecessary tripping of the circuit breaker, affecting system performance.</a:t>
            </a:r>
            <a:endParaRPr lang="en-US" b="1" u="none" dirty="0"/>
          </a:p>
        </p:txBody>
      </p:sp>
      <p:sp>
        <p:nvSpPr>
          <p:cNvPr id="4" name="Slide Number Placeholder 3">
            <a:extLst>
              <a:ext uri="{FF2B5EF4-FFF2-40B4-BE49-F238E27FC236}">
                <a16:creationId xmlns:a16="http://schemas.microsoft.com/office/drawing/2014/main" id="{91CBECDD-25DD-66C2-B08E-620CAADAE1AD}"/>
              </a:ext>
            </a:extLst>
          </p:cNvPr>
          <p:cNvSpPr>
            <a:spLocks noGrp="1"/>
          </p:cNvSpPr>
          <p:nvPr>
            <p:ph type="sldNum" sz="quarter" idx="5"/>
          </p:nvPr>
        </p:nvSpPr>
        <p:spPr/>
        <p:txBody>
          <a:bodyPr/>
          <a:lstStyle/>
          <a:p>
            <a:fld id="{F5000ACD-0348-4F47-9C35-586193A86BF3}" type="slidenum">
              <a:rPr lang="en-US" smtClean="0"/>
              <a:t>14</a:t>
            </a:fld>
            <a:endParaRPr lang="en-US"/>
          </a:p>
        </p:txBody>
      </p:sp>
    </p:spTree>
    <p:extLst>
      <p:ext uri="{BB962C8B-B14F-4D97-AF65-F5344CB8AC3E}">
        <p14:creationId xmlns:p14="http://schemas.microsoft.com/office/powerpoint/2010/main" val="713754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5CF97-B27D-4F19-22FE-00ADB108B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5161F1-B2D1-F312-4DED-001934633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73F1A6-E3E6-FF27-5297-647872B6EA33}"/>
              </a:ext>
            </a:extLst>
          </p:cNvPr>
          <p:cNvSpPr>
            <a:spLocks noGrp="1"/>
          </p:cNvSpPr>
          <p:nvPr>
            <p:ph type="body" idx="1"/>
          </p:nvPr>
        </p:nvSpPr>
        <p:spPr/>
        <p:txBody>
          <a:bodyPr/>
          <a:lstStyle/>
          <a:p>
            <a:r>
              <a:rPr lang="en-US" b="1" u="sng" dirty="0"/>
              <a:t>External Service Failures</a:t>
            </a:r>
            <a:endParaRPr lang="en-US" b="0" u="none" dirty="0"/>
          </a:p>
          <a:p>
            <a:r>
              <a:rPr lang="en-US" b="0" i="0" u="none" dirty="0"/>
              <a:t>Protects the system from cascading failures, allowing for graceful degradation and recovery.</a:t>
            </a:r>
          </a:p>
          <a:p>
            <a:endParaRPr lang="en-US" b="0" i="0" u="none" dirty="0"/>
          </a:p>
          <a:p>
            <a:r>
              <a:rPr lang="en-US" b="1" i="0" u="sng" dirty="0"/>
              <a:t>Temporary Overload</a:t>
            </a:r>
            <a:endParaRPr lang="en-US" b="0" i="0" u="none" dirty="0"/>
          </a:p>
          <a:p>
            <a:r>
              <a:rPr lang="en-US" b="0" i="0" u="none" dirty="0"/>
              <a:t>During period of high load, the circuit breaker can prevent the system from becoming overwhelmed by temporarily stopping requests to certain components.</a:t>
            </a:r>
          </a:p>
          <a:p>
            <a:endParaRPr lang="en-US" b="0" i="0" u="none" dirty="0"/>
          </a:p>
          <a:p>
            <a:r>
              <a:rPr lang="en-US" b="1" i="0" u="sng" dirty="0"/>
              <a:t>Error Threshold Management</a:t>
            </a:r>
            <a:endParaRPr lang="en-US" b="0" i="0" u="none" dirty="0"/>
          </a:p>
          <a:p>
            <a:r>
              <a:rPr lang="en-US" b="0" i="0" u="none" dirty="0"/>
              <a:t>Managing scenarios where the error rate for a particular eservice exceeds a predefined threshold, indicating a problem that needs to be address.</a:t>
            </a:r>
            <a:endParaRPr lang="en-US" b="1" i="0" u="sng" dirty="0"/>
          </a:p>
        </p:txBody>
      </p:sp>
      <p:sp>
        <p:nvSpPr>
          <p:cNvPr id="4" name="Slide Number Placeholder 3">
            <a:extLst>
              <a:ext uri="{FF2B5EF4-FFF2-40B4-BE49-F238E27FC236}">
                <a16:creationId xmlns:a16="http://schemas.microsoft.com/office/drawing/2014/main" id="{120C23AC-8EA3-1136-C25A-7D712BB97802}"/>
              </a:ext>
            </a:extLst>
          </p:cNvPr>
          <p:cNvSpPr>
            <a:spLocks noGrp="1"/>
          </p:cNvSpPr>
          <p:nvPr>
            <p:ph type="sldNum" sz="quarter" idx="5"/>
          </p:nvPr>
        </p:nvSpPr>
        <p:spPr/>
        <p:txBody>
          <a:bodyPr/>
          <a:lstStyle/>
          <a:p>
            <a:fld id="{F5000ACD-0348-4F47-9C35-586193A86BF3}" type="slidenum">
              <a:rPr lang="en-US" smtClean="0"/>
              <a:t>15</a:t>
            </a:fld>
            <a:endParaRPr lang="en-US"/>
          </a:p>
        </p:txBody>
      </p:sp>
    </p:spTree>
    <p:extLst>
      <p:ext uri="{BB962C8B-B14F-4D97-AF65-F5344CB8AC3E}">
        <p14:creationId xmlns:p14="http://schemas.microsoft.com/office/powerpoint/2010/main" val="5998161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Configure Thresholds</a:t>
            </a:r>
            <a:r>
              <a:rPr lang="en-US" b="0" dirty="0"/>
              <a:t>: Set appropriate failure thresholds and timings to ensure the circuit breaker trips only when necessary.</a:t>
            </a:r>
          </a:p>
          <a:p>
            <a:endParaRPr lang="en-US" b="0" dirty="0"/>
          </a:p>
          <a:p>
            <a:r>
              <a:rPr lang="en-US" b="1" dirty="0"/>
              <a:t>Implement Fallbacks</a:t>
            </a:r>
            <a:r>
              <a:rPr lang="en-US" b="0" dirty="0"/>
              <a:t>: Provide fallback mechanisms to handle requests when the circuit breaker is tripped, ensuring continued operation.</a:t>
            </a:r>
          </a:p>
          <a:p>
            <a:endParaRPr lang="en-US" b="0" dirty="0"/>
          </a:p>
          <a:p>
            <a:r>
              <a:rPr lang="en-US" b="1" dirty="0"/>
              <a:t>Monitor and Adjust</a:t>
            </a:r>
            <a:r>
              <a:rPr lang="en-US" b="0" dirty="0"/>
              <a:t>: Continuously monitor the circuit breaker state and adjust configurations as needed to optimize performance and resilience.</a:t>
            </a:r>
          </a:p>
          <a:p>
            <a:endParaRPr lang="en-US" b="0" dirty="0"/>
          </a:p>
          <a:p>
            <a:r>
              <a:rPr lang="en-US" b="1" dirty="0"/>
              <a:t>Test Recovery</a:t>
            </a:r>
            <a:r>
              <a:rPr lang="en-US" b="0" dirty="0"/>
              <a:t>: Implement recovery logic to periodically test the failing service and transition the circuit breaker to the “Half-Open” state to determine fi it can be closed.</a:t>
            </a:r>
            <a:endParaRPr lang="en-US" b="1" dirty="0"/>
          </a:p>
        </p:txBody>
      </p:sp>
      <p:sp>
        <p:nvSpPr>
          <p:cNvPr id="4" name="Slide Number Placeholder 3"/>
          <p:cNvSpPr>
            <a:spLocks noGrp="1"/>
          </p:cNvSpPr>
          <p:nvPr>
            <p:ph type="sldNum" sz="quarter" idx="5"/>
          </p:nvPr>
        </p:nvSpPr>
        <p:spPr/>
        <p:txBody>
          <a:bodyPr/>
          <a:lstStyle/>
          <a:p>
            <a:fld id="{F5000ACD-0348-4F47-9C35-586193A86BF3}" type="slidenum">
              <a:rPr lang="en-US" smtClean="0"/>
              <a:t>20</a:t>
            </a:fld>
            <a:endParaRPr lang="en-US"/>
          </a:p>
        </p:txBody>
      </p:sp>
    </p:spTree>
    <p:extLst>
      <p:ext uri="{BB962C8B-B14F-4D97-AF65-F5344CB8AC3E}">
        <p14:creationId xmlns:p14="http://schemas.microsoft.com/office/powerpoint/2010/main" val="2255824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521E5-E63B-A914-CBFF-3FA4BF8AD4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EE198-076C-7845-3483-D7EAB481B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B019B7-15B4-646A-2F39-FDE49B2E22B6}"/>
              </a:ext>
            </a:extLst>
          </p:cNvPr>
          <p:cNvSpPr>
            <a:spLocks noGrp="1"/>
          </p:cNvSpPr>
          <p:nvPr>
            <p:ph type="body" idx="1"/>
          </p:nvPr>
        </p:nvSpPr>
        <p:spPr/>
        <p:txBody>
          <a:bodyPr/>
          <a:lstStyle/>
          <a:p>
            <a:r>
              <a:rPr lang="en-US" b="1" u="sng" dirty="0"/>
              <a:t>Definition</a:t>
            </a:r>
            <a:endParaRPr lang="en-US" b="0" u="none" dirty="0"/>
          </a:p>
          <a:p>
            <a:r>
              <a:rPr lang="en-US" b="0" u="none" dirty="0"/>
              <a:t>The Saga pattern is a design pattern used to manage and coordinate long-running transactions in a distributed system. Instead of using a single monolithic transaction, the Saga pattern breaks the transaction into a series of smaller, independent steps, each with its own compensating action to undo the step in case of failure</a:t>
            </a:r>
          </a:p>
          <a:p>
            <a:endParaRPr lang="en-US" b="0" u="none" dirty="0"/>
          </a:p>
          <a:p>
            <a:r>
              <a:rPr lang="en-US" b="1" u="sng" dirty="0"/>
              <a:t>Purpose</a:t>
            </a:r>
            <a:endParaRPr lang="en-US" b="0" u="none" dirty="0"/>
          </a:p>
          <a:p>
            <a:r>
              <a:rPr lang="en-US" b="0" u="none" dirty="0"/>
              <a:t>The purpose of the Saga pattern is to ensure data consistency and reliability in distributed systems by managing long-running transactions and handling failures through compensating actions.</a:t>
            </a:r>
            <a:endParaRPr lang="en-US" b="1" u="sng" dirty="0"/>
          </a:p>
        </p:txBody>
      </p:sp>
      <p:sp>
        <p:nvSpPr>
          <p:cNvPr id="4" name="Slide Number Placeholder 3">
            <a:extLst>
              <a:ext uri="{FF2B5EF4-FFF2-40B4-BE49-F238E27FC236}">
                <a16:creationId xmlns:a16="http://schemas.microsoft.com/office/drawing/2014/main" id="{3E8C740F-A507-C3E0-D55A-4523D2EB87E3}"/>
              </a:ext>
            </a:extLst>
          </p:cNvPr>
          <p:cNvSpPr>
            <a:spLocks noGrp="1"/>
          </p:cNvSpPr>
          <p:nvPr>
            <p:ph type="sldNum" sz="quarter" idx="5"/>
          </p:nvPr>
        </p:nvSpPr>
        <p:spPr/>
        <p:txBody>
          <a:bodyPr/>
          <a:lstStyle/>
          <a:p>
            <a:fld id="{F5000ACD-0348-4F47-9C35-586193A86BF3}" type="slidenum">
              <a:rPr lang="en-US" smtClean="0"/>
              <a:t>22</a:t>
            </a:fld>
            <a:endParaRPr lang="en-US"/>
          </a:p>
        </p:txBody>
      </p:sp>
    </p:spTree>
    <p:extLst>
      <p:ext uri="{BB962C8B-B14F-4D97-AF65-F5344CB8AC3E}">
        <p14:creationId xmlns:p14="http://schemas.microsoft.com/office/powerpoint/2010/main" val="2435664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6BEF2-60EF-2F26-456C-F33847C14C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15F1B-A81D-B9E2-0452-C9C03DDF50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71863A-5D0E-E3B9-8A75-306C2DF66598}"/>
              </a:ext>
            </a:extLst>
          </p:cNvPr>
          <p:cNvSpPr>
            <a:spLocks noGrp="1"/>
          </p:cNvSpPr>
          <p:nvPr>
            <p:ph type="body" idx="1"/>
          </p:nvPr>
        </p:nvSpPr>
        <p:spPr/>
        <p:txBody>
          <a:bodyPr/>
          <a:lstStyle/>
          <a:p>
            <a:r>
              <a:rPr lang="en-US" b="1" dirty="0"/>
              <a:t>Saga Coordinator</a:t>
            </a:r>
            <a:r>
              <a:rPr lang="en-US" b="0" dirty="0"/>
              <a:t>: A component responsible for managing the execution of the Saga, including coordinating steps and handling compensations.</a:t>
            </a:r>
          </a:p>
          <a:p>
            <a:endParaRPr lang="en-US" b="0" dirty="0"/>
          </a:p>
          <a:p>
            <a:r>
              <a:rPr lang="en-US" b="1" dirty="0"/>
              <a:t>Transaction Steps</a:t>
            </a:r>
            <a:r>
              <a:rPr lang="en-US" b="0" dirty="0"/>
              <a:t>: Smaller, independent steps that make up the overall transaction, each with its own compensating action.</a:t>
            </a:r>
          </a:p>
          <a:p>
            <a:endParaRPr lang="en-US" b="0" dirty="0"/>
          </a:p>
          <a:p>
            <a:r>
              <a:rPr lang="en-US" b="1" dirty="0"/>
              <a:t>Compensating Actions</a:t>
            </a:r>
            <a:r>
              <a:rPr lang="en-US" b="0" dirty="0"/>
              <a:t>: Actions that undo the effects of a step in case of failure, ensuring data consistency.</a:t>
            </a:r>
          </a:p>
          <a:p>
            <a:endParaRPr lang="en-US" b="0" dirty="0"/>
          </a:p>
          <a:p>
            <a:r>
              <a:rPr lang="en-US" b="1" dirty="0"/>
              <a:t>State Management</a:t>
            </a:r>
            <a:r>
              <a:rPr lang="en-US" b="0" dirty="0"/>
              <a:t>: Mechanisms to track the progress and state of the Saga, ensuring proper execution and compensation.</a:t>
            </a:r>
            <a:endParaRPr lang="en-US" b="1" dirty="0"/>
          </a:p>
        </p:txBody>
      </p:sp>
      <p:sp>
        <p:nvSpPr>
          <p:cNvPr id="4" name="Slide Number Placeholder 3">
            <a:extLst>
              <a:ext uri="{FF2B5EF4-FFF2-40B4-BE49-F238E27FC236}">
                <a16:creationId xmlns:a16="http://schemas.microsoft.com/office/drawing/2014/main" id="{8F4E815F-BB9D-96BB-51F7-F8239A054977}"/>
              </a:ext>
            </a:extLst>
          </p:cNvPr>
          <p:cNvSpPr>
            <a:spLocks noGrp="1"/>
          </p:cNvSpPr>
          <p:nvPr>
            <p:ph type="sldNum" sz="quarter" idx="5"/>
          </p:nvPr>
        </p:nvSpPr>
        <p:spPr/>
        <p:txBody>
          <a:bodyPr/>
          <a:lstStyle/>
          <a:p>
            <a:fld id="{F5000ACD-0348-4F47-9C35-586193A86BF3}" type="slidenum">
              <a:rPr lang="en-US" smtClean="0"/>
              <a:t>23</a:t>
            </a:fld>
            <a:endParaRPr lang="en-US"/>
          </a:p>
        </p:txBody>
      </p:sp>
    </p:spTree>
    <p:extLst>
      <p:ext uri="{BB962C8B-B14F-4D97-AF65-F5344CB8AC3E}">
        <p14:creationId xmlns:p14="http://schemas.microsoft.com/office/powerpoint/2010/main" val="41641800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87BFB-66D8-BF2A-251A-2C757A737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CADC4-2ECE-76AE-3E91-A42C57D3B3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8ECAD-7AC5-4436-BAFA-3BEEBC98C261}"/>
              </a:ext>
            </a:extLst>
          </p:cNvPr>
          <p:cNvSpPr>
            <a:spLocks noGrp="1"/>
          </p:cNvSpPr>
          <p:nvPr>
            <p:ph type="body" idx="1"/>
          </p:nvPr>
        </p:nvSpPr>
        <p:spPr/>
        <p:txBody>
          <a:bodyPr/>
          <a:lstStyle/>
          <a:p>
            <a:r>
              <a:rPr lang="en-US" b="1" dirty="0"/>
              <a:t>Saga Coordinator</a:t>
            </a:r>
            <a:r>
              <a:rPr lang="en-US" b="0" dirty="0"/>
              <a:t>: A component responsible for managing the execution of the Saga, including coordinating steps and handling compensations.</a:t>
            </a:r>
          </a:p>
          <a:p>
            <a:endParaRPr lang="en-US" b="0" dirty="0"/>
          </a:p>
          <a:p>
            <a:r>
              <a:rPr lang="en-US" b="1" dirty="0"/>
              <a:t>Transaction Steps</a:t>
            </a:r>
            <a:r>
              <a:rPr lang="en-US" b="0" dirty="0"/>
              <a:t>: Smaller, independent steps that make up the overall transaction, each with its own compensating action.</a:t>
            </a:r>
          </a:p>
          <a:p>
            <a:endParaRPr lang="en-US" b="0" dirty="0"/>
          </a:p>
          <a:p>
            <a:r>
              <a:rPr lang="en-US" b="1" dirty="0"/>
              <a:t>Compensating Actions</a:t>
            </a:r>
            <a:r>
              <a:rPr lang="en-US" b="0" dirty="0"/>
              <a:t>: Actions that undo the effects of a step in case of failure, ensuring data consistency.</a:t>
            </a:r>
          </a:p>
          <a:p>
            <a:endParaRPr lang="en-US" b="0" dirty="0"/>
          </a:p>
          <a:p>
            <a:r>
              <a:rPr lang="en-US" b="1" dirty="0"/>
              <a:t>State Management</a:t>
            </a:r>
            <a:r>
              <a:rPr lang="en-US" b="0" dirty="0"/>
              <a:t>: Mechanisms to track the progress and state of the Saga, ensuring proper execution and compensation.</a:t>
            </a:r>
            <a:endParaRPr lang="en-US" b="1" dirty="0"/>
          </a:p>
        </p:txBody>
      </p:sp>
      <p:sp>
        <p:nvSpPr>
          <p:cNvPr id="4" name="Slide Number Placeholder 3">
            <a:extLst>
              <a:ext uri="{FF2B5EF4-FFF2-40B4-BE49-F238E27FC236}">
                <a16:creationId xmlns:a16="http://schemas.microsoft.com/office/drawing/2014/main" id="{6E83B2EB-4CD4-342A-B9B3-11BBDBD0DD16}"/>
              </a:ext>
            </a:extLst>
          </p:cNvPr>
          <p:cNvSpPr>
            <a:spLocks noGrp="1"/>
          </p:cNvSpPr>
          <p:nvPr>
            <p:ph type="sldNum" sz="quarter" idx="5"/>
          </p:nvPr>
        </p:nvSpPr>
        <p:spPr/>
        <p:txBody>
          <a:bodyPr/>
          <a:lstStyle/>
          <a:p>
            <a:fld id="{F5000ACD-0348-4F47-9C35-586193A86BF3}" type="slidenum">
              <a:rPr lang="en-US" smtClean="0"/>
              <a:t>24</a:t>
            </a:fld>
            <a:endParaRPr lang="en-US"/>
          </a:p>
        </p:txBody>
      </p:sp>
    </p:spTree>
    <p:extLst>
      <p:ext uri="{BB962C8B-B14F-4D97-AF65-F5344CB8AC3E}">
        <p14:creationId xmlns:p14="http://schemas.microsoft.com/office/powerpoint/2010/main" val="121529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1B0B6-9E11-CD17-6C5C-166856388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D3348F-530D-44BB-8AEB-CB2E7C45D8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66670C-F62A-3B7C-FE04-317CDFAC2563}"/>
              </a:ext>
            </a:extLst>
          </p:cNvPr>
          <p:cNvSpPr>
            <a:spLocks noGrp="1"/>
          </p:cNvSpPr>
          <p:nvPr>
            <p:ph type="body" idx="1"/>
          </p:nvPr>
        </p:nvSpPr>
        <p:spPr/>
        <p:txBody>
          <a:bodyPr/>
          <a:lstStyle/>
          <a:p>
            <a:r>
              <a:rPr lang="en-US" b="1" u="none" dirty="0"/>
              <a:t>Data Consistency</a:t>
            </a:r>
            <a:r>
              <a:rPr lang="en-US" b="0" u="none" dirty="0"/>
              <a:t>: Ensures data consistency across distributed services by managing long-running transactions and handling failures.</a:t>
            </a:r>
          </a:p>
          <a:p>
            <a:endParaRPr lang="en-US" b="0" u="none" dirty="0"/>
          </a:p>
          <a:p>
            <a:r>
              <a:rPr lang="en-US" b="1" u="none" dirty="0"/>
              <a:t>Fault Tolerance</a:t>
            </a:r>
            <a:r>
              <a:rPr lang="en-US" b="0" u="none" dirty="0"/>
              <a:t>: Provides a mechanism for gracefully handling failures and rolling back actions, improving system reliability.</a:t>
            </a:r>
          </a:p>
          <a:p>
            <a:endParaRPr lang="en-US" b="0" u="none" dirty="0"/>
          </a:p>
          <a:p>
            <a:r>
              <a:rPr lang="en-US" b="1" u="none" dirty="0"/>
              <a:t>Scalability</a:t>
            </a:r>
            <a:r>
              <a:rPr lang="en-US" b="0" u="none" dirty="0"/>
              <a:t>: Allows for scalable transaction management in distributed systems by breaking transactions into small, independent steps.</a:t>
            </a:r>
            <a:endParaRPr lang="en-US" b="1" u="none" dirty="0"/>
          </a:p>
        </p:txBody>
      </p:sp>
      <p:sp>
        <p:nvSpPr>
          <p:cNvPr id="4" name="Slide Number Placeholder 3">
            <a:extLst>
              <a:ext uri="{FF2B5EF4-FFF2-40B4-BE49-F238E27FC236}">
                <a16:creationId xmlns:a16="http://schemas.microsoft.com/office/drawing/2014/main" id="{211CA2E2-0610-DC24-C26F-921A5D2AC618}"/>
              </a:ext>
            </a:extLst>
          </p:cNvPr>
          <p:cNvSpPr>
            <a:spLocks noGrp="1"/>
          </p:cNvSpPr>
          <p:nvPr>
            <p:ph type="sldNum" sz="quarter" idx="5"/>
          </p:nvPr>
        </p:nvSpPr>
        <p:spPr/>
        <p:txBody>
          <a:bodyPr/>
          <a:lstStyle/>
          <a:p>
            <a:fld id="{F5000ACD-0348-4F47-9C35-586193A86BF3}" type="slidenum">
              <a:rPr lang="en-US" smtClean="0"/>
              <a:t>25</a:t>
            </a:fld>
            <a:endParaRPr lang="en-US"/>
          </a:p>
        </p:txBody>
      </p:sp>
    </p:spTree>
    <p:extLst>
      <p:ext uri="{BB962C8B-B14F-4D97-AF65-F5344CB8AC3E}">
        <p14:creationId xmlns:p14="http://schemas.microsoft.com/office/powerpoint/2010/main" val="47093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EA8DB-4FD6-3887-3AB9-244D76768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68587A-AD79-EDCB-368C-516C2D1A1C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E71B7-3005-5874-4575-7606228B231E}"/>
              </a:ext>
            </a:extLst>
          </p:cNvPr>
          <p:cNvSpPr>
            <a:spLocks noGrp="1"/>
          </p:cNvSpPr>
          <p:nvPr>
            <p:ph type="body" idx="1"/>
          </p:nvPr>
        </p:nvSpPr>
        <p:spPr/>
        <p:txBody>
          <a:bodyPr/>
          <a:lstStyle/>
          <a:p>
            <a:r>
              <a:rPr lang="en-US" b="1" u="none" dirty="0"/>
              <a:t>Increased Complexity</a:t>
            </a:r>
            <a:r>
              <a:rPr lang="en-US" b="0" u="none" dirty="0"/>
              <a:t>: Adds complexity to the system design, requiring careful coordination and management of transactions and compensating actions.</a:t>
            </a:r>
          </a:p>
          <a:p>
            <a:endParaRPr lang="en-US" b="0" u="none" dirty="0"/>
          </a:p>
          <a:p>
            <a:r>
              <a:rPr lang="en-US" b="1" u="none" dirty="0"/>
              <a:t>Compensating Logic</a:t>
            </a:r>
            <a:r>
              <a:rPr lang="en-US" b="0" u="none" dirty="0"/>
              <a:t>: Implementing compensating actions for each step can be challenging and requires thorough consideration.</a:t>
            </a:r>
          </a:p>
          <a:p>
            <a:endParaRPr lang="en-US" b="0" u="none" dirty="0"/>
          </a:p>
          <a:p>
            <a:r>
              <a:rPr lang="en-US" b="1" u="none" dirty="0"/>
              <a:t>Latency</a:t>
            </a:r>
            <a:r>
              <a:rPr lang="en-US" b="0" u="none" dirty="0"/>
              <a:t>: May introduce latency due to the need for coordinating multiple steps and handling compensations.</a:t>
            </a:r>
            <a:endParaRPr lang="en-US" b="1" u="none" dirty="0"/>
          </a:p>
        </p:txBody>
      </p:sp>
      <p:sp>
        <p:nvSpPr>
          <p:cNvPr id="4" name="Slide Number Placeholder 3">
            <a:extLst>
              <a:ext uri="{FF2B5EF4-FFF2-40B4-BE49-F238E27FC236}">
                <a16:creationId xmlns:a16="http://schemas.microsoft.com/office/drawing/2014/main" id="{CD21C049-79D9-9F72-FD2A-3ECF407FD0FF}"/>
              </a:ext>
            </a:extLst>
          </p:cNvPr>
          <p:cNvSpPr>
            <a:spLocks noGrp="1"/>
          </p:cNvSpPr>
          <p:nvPr>
            <p:ph type="sldNum" sz="quarter" idx="5"/>
          </p:nvPr>
        </p:nvSpPr>
        <p:spPr/>
        <p:txBody>
          <a:bodyPr/>
          <a:lstStyle/>
          <a:p>
            <a:fld id="{F5000ACD-0348-4F47-9C35-586193A86BF3}" type="slidenum">
              <a:rPr lang="en-US" smtClean="0"/>
              <a:t>26</a:t>
            </a:fld>
            <a:endParaRPr lang="en-US"/>
          </a:p>
        </p:txBody>
      </p:sp>
    </p:spTree>
    <p:extLst>
      <p:ext uri="{BB962C8B-B14F-4D97-AF65-F5344CB8AC3E}">
        <p14:creationId xmlns:p14="http://schemas.microsoft.com/office/powerpoint/2010/main" val="2603753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3CC86-EAA3-755B-CAA8-CEF387B0F9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3FD5B-9017-4BDF-182B-A428D6BD12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C368AD-D343-AC4E-DC7F-6DF9B46A6D56}"/>
              </a:ext>
            </a:extLst>
          </p:cNvPr>
          <p:cNvSpPr>
            <a:spLocks noGrp="1"/>
          </p:cNvSpPr>
          <p:nvPr>
            <p:ph type="body" idx="1"/>
          </p:nvPr>
        </p:nvSpPr>
        <p:spPr/>
        <p:txBody>
          <a:bodyPr/>
          <a:lstStyle/>
          <a:p>
            <a:r>
              <a:rPr lang="en-US" b="1" u="sng" dirty="0"/>
              <a:t>Microservices Architectures</a:t>
            </a:r>
          </a:p>
          <a:p>
            <a:r>
              <a:rPr lang="en-US" b="0" i="0" u="none" dirty="0"/>
              <a:t>Managing transactions across multiple microservices, ensuring that the entire process completes successfully or is rolled back if a failure occurs.</a:t>
            </a:r>
          </a:p>
          <a:p>
            <a:endParaRPr lang="en-US" b="0" i="0" u="none" dirty="0"/>
          </a:p>
          <a:p>
            <a:r>
              <a:rPr lang="en-US" b="1" i="0" u="sng" dirty="0"/>
              <a:t>E-Commerce Order Processing</a:t>
            </a:r>
            <a:endParaRPr lang="en-US" b="0" i="0" u="sng" dirty="0"/>
          </a:p>
          <a:p>
            <a:r>
              <a:rPr lang="en-US" b="0" i="0" u="none" dirty="0"/>
              <a:t>Coordinating multiple services (e.g., payment, inventory, shipping) to process an order, with compensating actions to roll back steps if one of the services fail.</a:t>
            </a:r>
          </a:p>
          <a:p>
            <a:endParaRPr lang="en-US" b="0" i="0" u="none" dirty="0"/>
          </a:p>
          <a:p>
            <a:r>
              <a:rPr lang="en-US" b="1" i="0" u="sng" dirty="0"/>
              <a:t>Travel Booking</a:t>
            </a:r>
            <a:endParaRPr lang="en-US" b="0" i="0" u="none" dirty="0"/>
          </a:p>
          <a:p>
            <a:r>
              <a:rPr lang="en-US" b="0" i="0" u="none" dirty="0"/>
              <a:t>Coordinating reservations for flights, hotels, and car rentals, with the ability to cancel and roll back bookings if one of the reservations fails.</a:t>
            </a:r>
            <a:endParaRPr lang="en-US" b="1" i="0" u="sng" dirty="0"/>
          </a:p>
        </p:txBody>
      </p:sp>
      <p:sp>
        <p:nvSpPr>
          <p:cNvPr id="4" name="Slide Number Placeholder 3">
            <a:extLst>
              <a:ext uri="{FF2B5EF4-FFF2-40B4-BE49-F238E27FC236}">
                <a16:creationId xmlns:a16="http://schemas.microsoft.com/office/drawing/2014/main" id="{A1A41F8C-6868-CACD-E3F4-789F3111DD4A}"/>
              </a:ext>
            </a:extLst>
          </p:cNvPr>
          <p:cNvSpPr>
            <a:spLocks noGrp="1"/>
          </p:cNvSpPr>
          <p:nvPr>
            <p:ph type="sldNum" sz="quarter" idx="5"/>
          </p:nvPr>
        </p:nvSpPr>
        <p:spPr/>
        <p:txBody>
          <a:bodyPr/>
          <a:lstStyle/>
          <a:p>
            <a:fld id="{F5000ACD-0348-4F47-9C35-586193A86BF3}" type="slidenum">
              <a:rPr lang="en-US" smtClean="0"/>
              <a:t>27</a:t>
            </a:fld>
            <a:endParaRPr lang="en-US"/>
          </a:p>
        </p:txBody>
      </p:sp>
    </p:spTree>
    <p:extLst>
      <p:ext uri="{BB962C8B-B14F-4D97-AF65-F5344CB8AC3E}">
        <p14:creationId xmlns:p14="http://schemas.microsoft.com/office/powerpoint/2010/main" val="32853446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641D3-8343-4218-04F8-7AE018105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E7F93-EE04-9689-217C-F54EAC8C92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CA6A12-E574-1F0D-1970-C884E49EB937}"/>
              </a:ext>
            </a:extLst>
          </p:cNvPr>
          <p:cNvSpPr>
            <a:spLocks noGrp="1"/>
          </p:cNvSpPr>
          <p:nvPr>
            <p:ph type="body" idx="1"/>
          </p:nvPr>
        </p:nvSpPr>
        <p:spPr/>
        <p:txBody>
          <a:bodyPr/>
          <a:lstStyle/>
          <a:p>
            <a:r>
              <a:rPr lang="en-US" b="1" dirty="0"/>
              <a:t>Define Compensating Actions</a:t>
            </a:r>
            <a:r>
              <a:rPr lang="en-US" b="0" dirty="0"/>
              <a:t>: Clearly define compensating actions for each transaction step to handle failures and maintain consistency.</a:t>
            </a:r>
          </a:p>
          <a:p>
            <a:endParaRPr lang="en-US" b="0" dirty="0"/>
          </a:p>
          <a:p>
            <a:r>
              <a:rPr lang="en-US" b="1" dirty="0"/>
              <a:t>Coordinate Steps</a:t>
            </a:r>
            <a:r>
              <a:rPr lang="en-US" b="0" dirty="0"/>
              <a:t>: Use a Saga coordinator to manage the execution and coordination of transaction steps.</a:t>
            </a:r>
          </a:p>
          <a:p>
            <a:endParaRPr lang="en-US" b="0" dirty="0"/>
          </a:p>
          <a:p>
            <a:r>
              <a:rPr lang="en-US" b="1" dirty="0"/>
              <a:t>Track State</a:t>
            </a:r>
            <a:r>
              <a:rPr lang="en-US" b="0" dirty="0"/>
              <a:t>: Implement state management to track the process and state of the Saga, ensuring proper execution and compensation.</a:t>
            </a:r>
          </a:p>
          <a:p>
            <a:endParaRPr lang="en-US" b="0" dirty="0"/>
          </a:p>
          <a:p>
            <a:r>
              <a:rPr lang="en-US" b="1" dirty="0"/>
              <a:t>Handle Failures Gracefully</a:t>
            </a:r>
            <a:r>
              <a:rPr lang="en-US" b="0" dirty="0"/>
              <a:t>: Ensure the system can gracefully handle failures by executing compensating actions and maintaining data consistency.</a:t>
            </a:r>
            <a:endParaRPr lang="en-US" b="1" dirty="0"/>
          </a:p>
        </p:txBody>
      </p:sp>
      <p:sp>
        <p:nvSpPr>
          <p:cNvPr id="4" name="Slide Number Placeholder 3">
            <a:extLst>
              <a:ext uri="{FF2B5EF4-FFF2-40B4-BE49-F238E27FC236}">
                <a16:creationId xmlns:a16="http://schemas.microsoft.com/office/drawing/2014/main" id="{AD14733E-0DDB-5014-B77C-BD53895A2F6A}"/>
              </a:ext>
            </a:extLst>
          </p:cNvPr>
          <p:cNvSpPr>
            <a:spLocks noGrp="1"/>
          </p:cNvSpPr>
          <p:nvPr>
            <p:ph type="sldNum" sz="quarter" idx="5"/>
          </p:nvPr>
        </p:nvSpPr>
        <p:spPr/>
        <p:txBody>
          <a:bodyPr/>
          <a:lstStyle/>
          <a:p>
            <a:fld id="{F5000ACD-0348-4F47-9C35-586193A86BF3}" type="slidenum">
              <a:rPr lang="en-US" smtClean="0"/>
              <a:t>37</a:t>
            </a:fld>
            <a:endParaRPr lang="en-US"/>
          </a:p>
        </p:txBody>
      </p:sp>
    </p:spTree>
    <p:extLst>
      <p:ext uri="{BB962C8B-B14F-4D97-AF65-F5344CB8AC3E}">
        <p14:creationId xmlns:p14="http://schemas.microsoft.com/office/powerpoint/2010/main" val="3381812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02B62-D3DA-82D3-21F7-FE0BE1696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9B0769-25E1-F1BA-82A3-C572EF200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75EBF3-D2C6-75A0-C52E-DA1A279CA1DF}"/>
              </a:ext>
            </a:extLst>
          </p:cNvPr>
          <p:cNvSpPr>
            <a:spLocks noGrp="1"/>
          </p:cNvSpPr>
          <p:nvPr>
            <p:ph type="body" idx="1"/>
          </p:nvPr>
        </p:nvSpPr>
        <p:spPr/>
        <p:txBody>
          <a:bodyPr/>
          <a:lstStyle/>
          <a:p>
            <a:r>
              <a:rPr lang="en-US" b="1" u="sng" dirty="0"/>
              <a:t>Definition</a:t>
            </a:r>
            <a:endParaRPr lang="en-US" b="0" u="none" dirty="0"/>
          </a:p>
          <a:p>
            <a:r>
              <a:rPr lang="en-US" b="0" u="none" dirty="0"/>
              <a:t>The Sequential Convoy pattern ensures that related messages are processed in a specific order. This pattern is particularly useful in scenarios where the order of message processing is critical to maintaining data integrity and consistency.</a:t>
            </a:r>
          </a:p>
          <a:p>
            <a:endParaRPr lang="en-US" b="0" u="none" dirty="0"/>
          </a:p>
          <a:p>
            <a:r>
              <a:rPr lang="en-US" b="1" u="sng" dirty="0"/>
              <a:t>Purpose</a:t>
            </a:r>
            <a:endParaRPr lang="en-US" b="0" u="none" dirty="0"/>
          </a:p>
          <a:p>
            <a:r>
              <a:rPr lang="en-US" b="0" u="none" dirty="0"/>
              <a:t>The purpose of the Sequential Convoy pattern is to enforce message ordering and guarantee that dependent messages are processed sequentially, preserving the intended sequence of operations.</a:t>
            </a:r>
            <a:endParaRPr lang="en-US" b="1" u="sng" dirty="0"/>
          </a:p>
        </p:txBody>
      </p:sp>
      <p:sp>
        <p:nvSpPr>
          <p:cNvPr id="4" name="Slide Number Placeholder 3">
            <a:extLst>
              <a:ext uri="{FF2B5EF4-FFF2-40B4-BE49-F238E27FC236}">
                <a16:creationId xmlns:a16="http://schemas.microsoft.com/office/drawing/2014/main" id="{B3BBEEFE-27E6-7711-6930-8F485F32CF84}"/>
              </a:ext>
            </a:extLst>
          </p:cNvPr>
          <p:cNvSpPr>
            <a:spLocks noGrp="1"/>
          </p:cNvSpPr>
          <p:nvPr>
            <p:ph type="sldNum" sz="quarter" idx="5"/>
          </p:nvPr>
        </p:nvSpPr>
        <p:spPr/>
        <p:txBody>
          <a:bodyPr/>
          <a:lstStyle/>
          <a:p>
            <a:fld id="{F5000ACD-0348-4F47-9C35-586193A86BF3}" type="slidenum">
              <a:rPr lang="en-US" smtClean="0"/>
              <a:t>40</a:t>
            </a:fld>
            <a:endParaRPr lang="en-US"/>
          </a:p>
        </p:txBody>
      </p:sp>
    </p:spTree>
    <p:extLst>
      <p:ext uri="{BB962C8B-B14F-4D97-AF65-F5344CB8AC3E}">
        <p14:creationId xmlns:p14="http://schemas.microsoft.com/office/powerpoint/2010/main" val="740009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9DB7B-243B-08A5-8BF2-47517CC3C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4EE22-5B9E-9A54-DACE-F69AA8FE3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4EE8A-C8FD-E106-9FA7-1DC5F739B03F}"/>
              </a:ext>
            </a:extLst>
          </p:cNvPr>
          <p:cNvSpPr>
            <a:spLocks noGrp="1"/>
          </p:cNvSpPr>
          <p:nvPr>
            <p:ph type="body" idx="1"/>
          </p:nvPr>
        </p:nvSpPr>
        <p:spPr/>
        <p:txBody>
          <a:bodyPr/>
          <a:lstStyle/>
          <a:p>
            <a:r>
              <a:rPr lang="en-US" b="1" dirty="0"/>
              <a:t>Message Queue</a:t>
            </a:r>
            <a:r>
              <a:rPr lang="en-US" b="0" dirty="0"/>
              <a:t>: A queue that holds messages and ensures they are processed in the order they were received.</a:t>
            </a:r>
          </a:p>
          <a:p>
            <a:endParaRPr lang="en-US" b="0" dirty="0"/>
          </a:p>
          <a:p>
            <a:r>
              <a:rPr lang="en-US" b="1" dirty="0"/>
              <a:t>Order Key</a:t>
            </a:r>
            <a:r>
              <a:rPr lang="en-US" b="0" dirty="0"/>
              <a:t>: A key or identifier used to group related messages and enforce their processing order.</a:t>
            </a:r>
          </a:p>
          <a:p>
            <a:endParaRPr lang="en-US" b="0" dirty="0"/>
          </a:p>
          <a:p>
            <a:r>
              <a:rPr lang="en-US" b="1" dirty="0"/>
              <a:t>Sequential Processor</a:t>
            </a:r>
            <a:r>
              <a:rPr lang="en-US" b="0" dirty="0"/>
              <a:t>: A component responsible for processing messages in the correct order based on the order key.</a:t>
            </a:r>
            <a:endParaRPr lang="en-US" b="1" dirty="0"/>
          </a:p>
        </p:txBody>
      </p:sp>
      <p:sp>
        <p:nvSpPr>
          <p:cNvPr id="4" name="Slide Number Placeholder 3">
            <a:extLst>
              <a:ext uri="{FF2B5EF4-FFF2-40B4-BE49-F238E27FC236}">
                <a16:creationId xmlns:a16="http://schemas.microsoft.com/office/drawing/2014/main" id="{CF2F24F4-4A0A-AF6E-8371-B5DB94CDB764}"/>
              </a:ext>
            </a:extLst>
          </p:cNvPr>
          <p:cNvSpPr>
            <a:spLocks noGrp="1"/>
          </p:cNvSpPr>
          <p:nvPr>
            <p:ph type="sldNum" sz="quarter" idx="5"/>
          </p:nvPr>
        </p:nvSpPr>
        <p:spPr/>
        <p:txBody>
          <a:bodyPr/>
          <a:lstStyle/>
          <a:p>
            <a:fld id="{F5000ACD-0348-4F47-9C35-586193A86BF3}" type="slidenum">
              <a:rPr lang="en-US" smtClean="0"/>
              <a:t>41</a:t>
            </a:fld>
            <a:endParaRPr lang="en-US"/>
          </a:p>
        </p:txBody>
      </p:sp>
    </p:spTree>
    <p:extLst>
      <p:ext uri="{BB962C8B-B14F-4D97-AF65-F5344CB8AC3E}">
        <p14:creationId xmlns:p14="http://schemas.microsoft.com/office/powerpoint/2010/main" val="3848489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3EAF1-3923-DB0C-9779-52F681FB8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B7510-C867-E0CE-2216-02E9C50E06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0598C-5EC7-CC88-AB1F-39931BB61B29}"/>
              </a:ext>
            </a:extLst>
          </p:cNvPr>
          <p:cNvSpPr>
            <a:spLocks noGrp="1"/>
          </p:cNvSpPr>
          <p:nvPr>
            <p:ph type="body" idx="1"/>
          </p:nvPr>
        </p:nvSpPr>
        <p:spPr/>
        <p:txBody>
          <a:bodyPr/>
          <a:lstStyle/>
          <a:p>
            <a:r>
              <a:rPr lang="en-US" b="1" dirty="0"/>
              <a:t>Message Queue</a:t>
            </a:r>
            <a:r>
              <a:rPr lang="en-US" b="0" dirty="0"/>
              <a:t>: A queue that holds messages and ensures they are processed in the order they were received.</a:t>
            </a:r>
          </a:p>
          <a:p>
            <a:endParaRPr lang="en-US" b="0" dirty="0"/>
          </a:p>
          <a:p>
            <a:r>
              <a:rPr lang="en-US" b="1" dirty="0"/>
              <a:t>Order Key</a:t>
            </a:r>
            <a:r>
              <a:rPr lang="en-US" b="0" dirty="0"/>
              <a:t>: A key or identifier used to group related messages and enforce their processing order.</a:t>
            </a:r>
          </a:p>
          <a:p>
            <a:endParaRPr lang="en-US" b="0" dirty="0"/>
          </a:p>
          <a:p>
            <a:r>
              <a:rPr lang="en-US" b="1" dirty="0"/>
              <a:t>Sequential Processor</a:t>
            </a:r>
            <a:r>
              <a:rPr lang="en-US" b="0" dirty="0"/>
              <a:t>: A component responsible for processing messages in the correct order based on the order key.</a:t>
            </a:r>
            <a:endParaRPr lang="en-US" b="1" dirty="0"/>
          </a:p>
        </p:txBody>
      </p:sp>
      <p:sp>
        <p:nvSpPr>
          <p:cNvPr id="4" name="Slide Number Placeholder 3">
            <a:extLst>
              <a:ext uri="{FF2B5EF4-FFF2-40B4-BE49-F238E27FC236}">
                <a16:creationId xmlns:a16="http://schemas.microsoft.com/office/drawing/2014/main" id="{56B6EC61-46C5-2109-B091-FFCD2A6F62BC}"/>
              </a:ext>
            </a:extLst>
          </p:cNvPr>
          <p:cNvSpPr>
            <a:spLocks noGrp="1"/>
          </p:cNvSpPr>
          <p:nvPr>
            <p:ph type="sldNum" sz="quarter" idx="5"/>
          </p:nvPr>
        </p:nvSpPr>
        <p:spPr/>
        <p:txBody>
          <a:bodyPr/>
          <a:lstStyle/>
          <a:p>
            <a:fld id="{F5000ACD-0348-4F47-9C35-586193A86BF3}" type="slidenum">
              <a:rPr lang="en-US" smtClean="0"/>
              <a:t>42</a:t>
            </a:fld>
            <a:endParaRPr lang="en-US"/>
          </a:p>
        </p:txBody>
      </p:sp>
    </p:spTree>
    <p:extLst>
      <p:ext uri="{BB962C8B-B14F-4D97-AF65-F5344CB8AC3E}">
        <p14:creationId xmlns:p14="http://schemas.microsoft.com/office/powerpoint/2010/main" val="2642206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E293D-9C48-6808-47F6-E05C5DED6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70D9F-3B63-138B-BF73-0A45D2544B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C2332C-A6A6-7C80-5468-633300C53F06}"/>
              </a:ext>
            </a:extLst>
          </p:cNvPr>
          <p:cNvSpPr>
            <a:spLocks noGrp="1"/>
          </p:cNvSpPr>
          <p:nvPr>
            <p:ph type="body" idx="1"/>
          </p:nvPr>
        </p:nvSpPr>
        <p:spPr/>
        <p:txBody>
          <a:bodyPr/>
          <a:lstStyle/>
          <a:p>
            <a:r>
              <a:rPr lang="en-US" b="1" u="none" dirty="0"/>
              <a:t>Data Integrity</a:t>
            </a:r>
            <a:r>
              <a:rPr lang="en-US" b="0" u="none" dirty="0"/>
              <a:t>: Preserves the order of message processing, ensuring that operations are performed in the correct sequence.</a:t>
            </a:r>
          </a:p>
          <a:p>
            <a:endParaRPr lang="en-US" b="0" u="none" dirty="0"/>
          </a:p>
          <a:p>
            <a:r>
              <a:rPr lang="en-US" b="1" u="none" dirty="0"/>
              <a:t>Consistency</a:t>
            </a:r>
            <a:r>
              <a:rPr lang="en-US" b="0" u="none" dirty="0"/>
              <a:t>: Maintains consistency in the system by guaranteeing the proper order of dependent operations.</a:t>
            </a:r>
          </a:p>
          <a:p>
            <a:endParaRPr lang="en-US" b="0" u="none" dirty="0"/>
          </a:p>
          <a:p>
            <a:r>
              <a:rPr lang="en-US" b="1" u="none" dirty="0"/>
              <a:t>Reliability</a:t>
            </a:r>
            <a:r>
              <a:rPr lang="en-US" b="0" u="none" dirty="0"/>
              <a:t>: Reduces the risk of errors and inconsistencies by enforcing message ordering.</a:t>
            </a:r>
            <a:endParaRPr lang="en-US" b="1" u="none" dirty="0"/>
          </a:p>
        </p:txBody>
      </p:sp>
      <p:sp>
        <p:nvSpPr>
          <p:cNvPr id="4" name="Slide Number Placeholder 3">
            <a:extLst>
              <a:ext uri="{FF2B5EF4-FFF2-40B4-BE49-F238E27FC236}">
                <a16:creationId xmlns:a16="http://schemas.microsoft.com/office/drawing/2014/main" id="{E78A91C1-8B64-ADEA-5A7D-AFCF2B58B17D}"/>
              </a:ext>
            </a:extLst>
          </p:cNvPr>
          <p:cNvSpPr>
            <a:spLocks noGrp="1"/>
          </p:cNvSpPr>
          <p:nvPr>
            <p:ph type="sldNum" sz="quarter" idx="5"/>
          </p:nvPr>
        </p:nvSpPr>
        <p:spPr/>
        <p:txBody>
          <a:bodyPr/>
          <a:lstStyle/>
          <a:p>
            <a:fld id="{F5000ACD-0348-4F47-9C35-586193A86BF3}" type="slidenum">
              <a:rPr lang="en-US" smtClean="0"/>
              <a:t>43</a:t>
            </a:fld>
            <a:endParaRPr lang="en-US"/>
          </a:p>
        </p:txBody>
      </p:sp>
    </p:spTree>
    <p:extLst>
      <p:ext uri="{BB962C8B-B14F-4D97-AF65-F5344CB8AC3E}">
        <p14:creationId xmlns:p14="http://schemas.microsoft.com/office/powerpoint/2010/main" val="12496887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819E3-8157-90EA-44E0-B7EBA03F25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E30938-8BC5-DF12-3FBA-D86E4E13AB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9F9F40-E097-CCEC-C5F9-9D9AB913E97A}"/>
              </a:ext>
            </a:extLst>
          </p:cNvPr>
          <p:cNvSpPr>
            <a:spLocks noGrp="1"/>
          </p:cNvSpPr>
          <p:nvPr>
            <p:ph type="body" idx="1"/>
          </p:nvPr>
        </p:nvSpPr>
        <p:spPr/>
        <p:txBody>
          <a:bodyPr/>
          <a:lstStyle/>
          <a:p>
            <a:r>
              <a:rPr lang="en-US" b="1" u="none" dirty="0"/>
              <a:t>Reduce Throughput</a:t>
            </a:r>
            <a:r>
              <a:rPr lang="en-US" b="0" u="none" dirty="0"/>
              <a:t>: Processing messages sequentially can reduce throughput compared to parallel processing.</a:t>
            </a:r>
          </a:p>
          <a:p>
            <a:endParaRPr lang="en-US" b="0" u="none" dirty="0"/>
          </a:p>
          <a:p>
            <a:r>
              <a:rPr lang="en-US" b="1" u="none" dirty="0"/>
              <a:t>Complexity</a:t>
            </a:r>
            <a:r>
              <a:rPr lang="en-US" b="0" u="none" dirty="0"/>
              <a:t>: Implementing and managing message ordering can add complexity to the system design.</a:t>
            </a:r>
          </a:p>
          <a:p>
            <a:endParaRPr lang="en-US" b="0" u="none" dirty="0"/>
          </a:p>
          <a:p>
            <a:r>
              <a:rPr lang="en-US" b="1" u="none" dirty="0"/>
              <a:t>Potential Latency</a:t>
            </a:r>
            <a:r>
              <a:rPr lang="en-US" b="0" u="none" dirty="0"/>
              <a:t>: Enforcing sequential processing may introduce latency, especially in high-volume scenarios.</a:t>
            </a:r>
            <a:endParaRPr lang="en-US" b="1" u="none" dirty="0"/>
          </a:p>
        </p:txBody>
      </p:sp>
      <p:sp>
        <p:nvSpPr>
          <p:cNvPr id="4" name="Slide Number Placeholder 3">
            <a:extLst>
              <a:ext uri="{FF2B5EF4-FFF2-40B4-BE49-F238E27FC236}">
                <a16:creationId xmlns:a16="http://schemas.microsoft.com/office/drawing/2014/main" id="{D20E98FC-FA76-420D-5DBF-5D047C96A36D}"/>
              </a:ext>
            </a:extLst>
          </p:cNvPr>
          <p:cNvSpPr>
            <a:spLocks noGrp="1"/>
          </p:cNvSpPr>
          <p:nvPr>
            <p:ph type="sldNum" sz="quarter" idx="5"/>
          </p:nvPr>
        </p:nvSpPr>
        <p:spPr/>
        <p:txBody>
          <a:bodyPr/>
          <a:lstStyle/>
          <a:p>
            <a:fld id="{F5000ACD-0348-4F47-9C35-586193A86BF3}" type="slidenum">
              <a:rPr lang="en-US" smtClean="0"/>
              <a:t>44</a:t>
            </a:fld>
            <a:endParaRPr lang="en-US"/>
          </a:p>
        </p:txBody>
      </p:sp>
    </p:spTree>
    <p:extLst>
      <p:ext uri="{BB962C8B-B14F-4D97-AF65-F5344CB8AC3E}">
        <p14:creationId xmlns:p14="http://schemas.microsoft.com/office/powerpoint/2010/main" val="10075873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B116E-0828-D9C7-9937-D1BBAA4E8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B6B96-585E-2C97-DD83-6A6AB1FD77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6C67F-A0BC-C82D-2F4F-EF97D0FC0688}"/>
              </a:ext>
            </a:extLst>
          </p:cNvPr>
          <p:cNvSpPr>
            <a:spLocks noGrp="1"/>
          </p:cNvSpPr>
          <p:nvPr>
            <p:ph type="body" idx="1"/>
          </p:nvPr>
        </p:nvSpPr>
        <p:spPr/>
        <p:txBody>
          <a:bodyPr/>
          <a:lstStyle/>
          <a:p>
            <a:r>
              <a:rPr lang="en-US" b="1" u="sng" dirty="0"/>
              <a:t>Order Processing</a:t>
            </a:r>
            <a:endParaRPr lang="en-US" b="0" u="none" dirty="0"/>
          </a:p>
          <a:p>
            <a:r>
              <a:rPr lang="en-US" b="0" i="0" u="none" dirty="0"/>
              <a:t>Ensuring that actions related to an order (e.g., order creation, payment, shipping) are processed in the correct sequence.</a:t>
            </a:r>
          </a:p>
          <a:p>
            <a:endParaRPr lang="en-US" b="0" i="0" u="none" dirty="0"/>
          </a:p>
          <a:p>
            <a:r>
              <a:rPr lang="en-US" b="1" i="0" u="sng" dirty="0"/>
              <a:t>Event Sourcing</a:t>
            </a:r>
            <a:endParaRPr lang="en-US" b="0" i="0" u="none" dirty="0"/>
          </a:p>
          <a:p>
            <a:r>
              <a:rPr lang="en-US" b="0" i="0" u="none" dirty="0"/>
              <a:t>Maintaining the order of events in an event-</a:t>
            </a:r>
            <a:r>
              <a:rPr lang="en-US" b="0" i="0" u="none" dirty="0" err="1"/>
              <a:t>soruced</a:t>
            </a:r>
            <a:r>
              <a:rPr lang="en-US" b="0" i="0" u="none" dirty="0"/>
              <a:t> system to ensure accurate reconstruction of state.</a:t>
            </a:r>
          </a:p>
          <a:p>
            <a:endParaRPr lang="en-US" b="0" i="0" u="none" dirty="0"/>
          </a:p>
          <a:p>
            <a:r>
              <a:rPr lang="en-US" b="1" i="0" u="sng" dirty="0"/>
              <a:t>Workflow Management</a:t>
            </a:r>
            <a:endParaRPr lang="en-US" b="0" i="0" u="none" dirty="0"/>
          </a:p>
          <a:p>
            <a:r>
              <a:rPr lang="en-US" b="0" i="0" u="none" dirty="0"/>
              <a:t>Executing steps in a workflow in the correct order to maintain consistency and data integrity.</a:t>
            </a:r>
            <a:endParaRPr lang="en-US" b="1" i="0" u="sng" dirty="0"/>
          </a:p>
        </p:txBody>
      </p:sp>
      <p:sp>
        <p:nvSpPr>
          <p:cNvPr id="4" name="Slide Number Placeholder 3">
            <a:extLst>
              <a:ext uri="{FF2B5EF4-FFF2-40B4-BE49-F238E27FC236}">
                <a16:creationId xmlns:a16="http://schemas.microsoft.com/office/drawing/2014/main" id="{7451C93D-8198-1BA0-AAE5-35F79D5961E2}"/>
              </a:ext>
            </a:extLst>
          </p:cNvPr>
          <p:cNvSpPr>
            <a:spLocks noGrp="1"/>
          </p:cNvSpPr>
          <p:nvPr>
            <p:ph type="sldNum" sz="quarter" idx="5"/>
          </p:nvPr>
        </p:nvSpPr>
        <p:spPr/>
        <p:txBody>
          <a:bodyPr/>
          <a:lstStyle/>
          <a:p>
            <a:fld id="{F5000ACD-0348-4F47-9C35-586193A86BF3}" type="slidenum">
              <a:rPr lang="en-US" smtClean="0"/>
              <a:t>45</a:t>
            </a:fld>
            <a:endParaRPr lang="en-US"/>
          </a:p>
        </p:txBody>
      </p:sp>
    </p:spTree>
    <p:extLst>
      <p:ext uri="{BB962C8B-B14F-4D97-AF65-F5344CB8AC3E}">
        <p14:creationId xmlns:p14="http://schemas.microsoft.com/office/powerpoint/2010/main" val="11144574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38780-62CF-80DB-B99D-BA063650F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A35343-F5AB-F1E2-F946-754F84DD66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D6204-B345-D61D-6CB1-484062E60C73}"/>
              </a:ext>
            </a:extLst>
          </p:cNvPr>
          <p:cNvSpPr>
            <a:spLocks noGrp="1"/>
          </p:cNvSpPr>
          <p:nvPr>
            <p:ph type="body" idx="1"/>
          </p:nvPr>
        </p:nvSpPr>
        <p:spPr/>
        <p:txBody>
          <a:bodyPr/>
          <a:lstStyle/>
          <a:p>
            <a:r>
              <a:rPr lang="en-US" b="1" dirty="0"/>
              <a:t>Use Order Keys</a:t>
            </a:r>
            <a:r>
              <a:rPr lang="en-US" b="0" dirty="0"/>
              <a:t>: Assign order keys to related messages to group and enforce their processing order.</a:t>
            </a:r>
          </a:p>
          <a:p>
            <a:endParaRPr lang="en-US" b="0" dirty="0"/>
          </a:p>
          <a:p>
            <a:r>
              <a:rPr lang="en-US" b="1" dirty="0"/>
              <a:t>Ensure Queue Ordering</a:t>
            </a:r>
            <a:r>
              <a:rPr lang="en-US" b="0" dirty="0"/>
              <a:t>: Use message queues that guarantee message ordering to maintain the correct sequence of operations.</a:t>
            </a:r>
          </a:p>
          <a:p>
            <a:endParaRPr lang="en-US" b="0" dirty="0"/>
          </a:p>
          <a:p>
            <a:r>
              <a:rPr lang="en-US" b="1" dirty="0"/>
              <a:t>Monitor and Adjust</a:t>
            </a:r>
            <a:r>
              <a:rPr lang="en-US" b="0" dirty="0"/>
              <a:t>: Continuously monitor the system to ensure that messages are being processed in the correct order and make adjustments as needed to optimize performance.</a:t>
            </a:r>
          </a:p>
          <a:p>
            <a:endParaRPr lang="en-US" b="0" dirty="0"/>
          </a:p>
          <a:p>
            <a:r>
              <a:rPr lang="en-US" b="1" dirty="0"/>
              <a:t>Handle Failures Gracefully</a:t>
            </a:r>
            <a:r>
              <a:rPr lang="en-US" b="0" dirty="0"/>
              <a:t>: Implement mechanisms to handle message processing failures and ensure that the correct order is maintained during retries.</a:t>
            </a:r>
            <a:endParaRPr lang="en-US" b="1" dirty="0"/>
          </a:p>
        </p:txBody>
      </p:sp>
      <p:sp>
        <p:nvSpPr>
          <p:cNvPr id="4" name="Slide Number Placeholder 3">
            <a:extLst>
              <a:ext uri="{FF2B5EF4-FFF2-40B4-BE49-F238E27FC236}">
                <a16:creationId xmlns:a16="http://schemas.microsoft.com/office/drawing/2014/main" id="{CD90A564-248F-1409-90DB-F9FF8CA89D40}"/>
              </a:ext>
            </a:extLst>
          </p:cNvPr>
          <p:cNvSpPr>
            <a:spLocks noGrp="1"/>
          </p:cNvSpPr>
          <p:nvPr>
            <p:ph type="sldNum" sz="quarter" idx="5"/>
          </p:nvPr>
        </p:nvSpPr>
        <p:spPr/>
        <p:txBody>
          <a:bodyPr/>
          <a:lstStyle/>
          <a:p>
            <a:fld id="{F5000ACD-0348-4F47-9C35-586193A86BF3}" type="slidenum">
              <a:rPr lang="en-US" smtClean="0"/>
              <a:t>51</a:t>
            </a:fld>
            <a:endParaRPr lang="en-US"/>
          </a:p>
        </p:txBody>
      </p:sp>
    </p:spTree>
    <p:extLst>
      <p:ext uri="{BB962C8B-B14F-4D97-AF65-F5344CB8AC3E}">
        <p14:creationId xmlns:p14="http://schemas.microsoft.com/office/powerpoint/2010/main" val="1139780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As we conclude the </a:t>
            </a:r>
            <a:r>
              <a:rPr lang="en-US" b="1" dirty="0"/>
              <a:t>Resilience and Reliability </a:t>
            </a:r>
            <a:r>
              <a:rPr lang="en-US" b="0" dirty="0"/>
              <a:t>module, let’s summarize the key patterns and insights we have covered and preview what’s next.</a:t>
            </a:r>
          </a:p>
        </p:txBody>
      </p:sp>
      <p:sp>
        <p:nvSpPr>
          <p:cNvPr id="4" name="Slide Number Placeholder 3"/>
          <p:cNvSpPr>
            <a:spLocks noGrp="1"/>
          </p:cNvSpPr>
          <p:nvPr>
            <p:ph type="sldNum" sz="quarter" idx="5"/>
          </p:nvPr>
        </p:nvSpPr>
        <p:spPr/>
        <p:txBody>
          <a:bodyPr/>
          <a:lstStyle/>
          <a:p>
            <a:fld id="{F5000ACD-0348-4F47-9C35-586193A86BF3}" type="slidenum">
              <a:rPr lang="en-US" smtClean="0"/>
              <a:t>52</a:t>
            </a:fld>
            <a:endParaRPr lang="en-US"/>
          </a:p>
        </p:txBody>
      </p:sp>
    </p:spTree>
    <p:extLst>
      <p:ext uri="{BB962C8B-B14F-4D97-AF65-F5344CB8AC3E}">
        <p14:creationId xmlns:p14="http://schemas.microsoft.com/office/powerpoint/2010/main" val="39964987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Takeaways</a:t>
            </a:r>
            <a:r>
              <a:rPr lang="en-US" b="0" dirty="0"/>
              <a:t>:</a:t>
            </a:r>
          </a:p>
          <a:p>
            <a:endParaRPr lang="en-US" b="0" dirty="0"/>
          </a:p>
          <a:p>
            <a:pPr marL="171450" indent="-171450">
              <a:buFont typeface="Arial" panose="020B0604020202020204" pitchFamily="34" charset="0"/>
              <a:buChar char="•"/>
            </a:pPr>
            <a:r>
              <a:rPr lang="en-US" b="1" dirty="0"/>
              <a:t>Circuit Breaker</a:t>
            </a:r>
            <a:r>
              <a:rPr lang="en-US" b="0" dirty="0"/>
              <a:t>: Introducing fault tolerance and resilience in your messaging solutions.</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1" dirty="0"/>
              <a:t>Saga</a:t>
            </a:r>
            <a:r>
              <a:rPr lang="en-US" b="0" dirty="0"/>
              <a:t>: Managing long-running transactions with distributed systems</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1" dirty="0"/>
              <a:t>Sequential Convoy</a:t>
            </a:r>
            <a:r>
              <a:rPr lang="en-US" b="0" dirty="0"/>
              <a:t>: Handling related messages in a specific order.</a:t>
            </a:r>
          </a:p>
          <a:p>
            <a:pPr marL="0" indent="0">
              <a:buFont typeface="Arial" panose="020B0604020202020204" pitchFamily="34" charset="0"/>
              <a:buNone/>
            </a:pPr>
            <a:endParaRPr lang="en-US" b="0" dirty="0"/>
          </a:p>
          <a:p>
            <a:pPr marL="0" indent="0">
              <a:buFont typeface="Arial" panose="020B0604020202020204" pitchFamily="34" charset="0"/>
              <a:buNone/>
            </a:pPr>
            <a:r>
              <a:rPr lang="en-US" b="0" dirty="0"/>
              <a:t>These patterns provide you with essential tools to ensure your messaging systems are resilient and reliable, capable of handling failures gracefully and maintaining high availability.</a:t>
            </a:r>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53</a:t>
            </a:fld>
            <a:endParaRPr lang="en-US"/>
          </a:p>
        </p:txBody>
      </p:sp>
    </p:spTree>
    <p:extLst>
      <p:ext uri="{BB962C8B-B14F-4D97-AF65-F5344CB8AC3E}">
        <p14:creationId xmlns:p14="http://schemas.microsoft.com/office/powerpoint/2010/main" val="3166949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next module, we will explore patterns that leverage continuous data streams and facilitate effective system integration. Here is a glimpse of what is to come:</a:t>
            </a:r>
          </a:p>
          <a:p>
            <a:endParaRPr lang="en-US" b="1" dirty="0"/>
          </a:p>
          <a:p>
            <a:pPr marL="171450" indent="-171450">
              <a:buFont typeface="Arial" panose="020B0604020202020204" pitchFamily="34" charset="0"/>
              <a:buChar char="•"/>
            </a:pPr>
            <a:r>
              <a:rPr lang="en-US" b="1" dirty="0"/>
              <a:t>Event Streaming</a:t>
            </a:r>
            <a:r>
              <a:rPr lang="en-US" b="0" dirty="0"/>
              <a:t>: Continuously process data streams for real-time applications.</a:t>
            </a:r>
          </a:p>
          <a:p>
            <a:pPr marL="0" indent="0">
              <a:buFont typeface="Arial" panose="020B0604020202020204" pitchFamily="34" charset="0"/>
              <a:buNone/>
            </a:pPr>
            <a:endParaRPr lang="en-US" b="0" dirty="0"/>
          </a:p>
          <a:p>
            <a:pPr marL="0" indent="0">
              <a:buFont typeface="Arial" panose="020B0604020202020204" pitchFamily="34" charset="0"/>
              <a:buNone/>
            </a:pPr>
            <a:r>
              <a:rPr lang="en-US" b="0" dirty="0"/>
              <a:t>These patterns will round out your messaging toolkit, equipping you with the knowledge to design comprehensive and efficient messaging solutions. Stay tuned as we go into the next module of our workshop and complete the world of messaging patterns!</a:t>
            </a:r>
            <a:endParaRPr lang="en-US" b="1" dirty="0"/>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55</a:t>
            </a:fld>
            <a:endParaRPr lang="en-US"/>
          </a:p>
        </p:txBody>
      </p:sp>
    </p:spTree>
    <p:extLst>
      <p:ext uri="{BB962C8B-B14F-4D97-AF65-F5344CB8AC3E}">
        <p14:creationId xmlns:p14="http://schemas.microsoft.com/office/powerpoint/2010/main" val="3871264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8872766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Presenation Title Footer">
            <a:extLst>
              <a:ext uri="{FF2B5EF4-FFF2-40B4-BE49-F238E27FC236}">
                <a16:creationId xmlns:a16="http://schemas.microsoft.com/office/drawing/2014/main" id="{3F8BB486-41EA-13B5-9AF0-42BBC8163251}"/>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3" name="Content Placeholder">
            <a:extLst>
              <a:ext uri="{FF2B5EF4-FFF2-40B4-BE49-F238E27FC236}">
                <a16:creationId xmlns:a16="http://schemas.microsoft.com/office/drawing/2014/main" id="{1206D206-CC76-B356-133C-0A969DA0AE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a:extLst>
              <a:ext uri="{FF2B5EF4-FFF2-40B4-BE49-F238E27FC236}">
                <a16:creationId xmlns:a16="http://schemas.microsoft.com/office/drawing/2014/main" id="{F798492D-9410-E54A-28DD-30F3F008EA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309583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5D7F92D-F719-DFA6-480F-E13D689414BC}"/>
              </a:ext>
            </a:extLst>
          </p:cNvPr>
          <p:cNvSpPr>
            <a:spLocks noGrp="1"/>
          </p:cNvSpPr>
          <p:nvPr>
            <p:ph type="title" hasCustomPrompt="1"/>
          </p:nvPr>
        </p:nvSpPr>
        <p:spPr>
          <a:xfrm>
            <a:off x="546099" y="583163"/>
            <a:ext cx="11099800" cy="2845837"/>
          </a:xfrm>
        </p:spPr>
        <p:txBody>
          <a:bodyPr anchor="b"/>
          <a:lstStyle>
            <a:lvl1pPr algn="ctr">
              <a:defRPr sz="6000">
                <a:solidFill>
                  <a:schemeClr val="bg2"/>
                </a:solidFill>
              </a:defRPr>
            </a:lvl1pPr>
          </a:lstStyle>
          <a:p>
            <a:r>
              <a:rPr lang="en-US" dirty="0"/>
              <a:t>Click to edit Section title</a:t>
            </a:r>
          </a:p>
        </p:txBody>
      </p:sp>
      <p:sp>
        <p:nvSpPr>
          <p:cNvPr id="3" name="Presentation Title">
            <a:extLst>
              <a:ext uri="{FF2B5EF4-FFF2-40B4-BE49-F238E27FC236}">
                <a16:creationId xmlns:a16="http://schemas.microsoft.com/office/drawing/2014/main" id="{F8450C63-0FDF-68E3-C430-6BE7AA1CDE18}"/>
              </a:ext>
            </a:extLst>
          </p:cNvPr>
          <p:cNvSpPr txBox="1"/>
          <p:nvPr userDrawn="1"/>
        </p:nvSpPr>
        <p:spPr>
          <a:xfrm>
            <a:off x="3486150" y="6396335"/>
            <a:ext cx="5219699" cy="461665"/>
          </a:xfrm>
          <a:prstGeom prst="rect">
            <a:avLst/>
          </a:prstGeom>
          <a:noFill/>
        </p:spPr>
        <p:txBody>
          <a:bodyPr wrap="none" rtlCol="0">
            <a:spAutoFit/>
          </a:bodyPr>
          <a:lstStyle/>
          <a:p>
            <a:r>
              <a:rPr lang="en-US" sz="2400" dirty="0">
                <a:solidFill>
                  <a:schemeClr val="accent6"/>
                </a:solidFill>
              </a:rPr>
              <a:t>Unlock the Power of Messaging Patterns</a:t>
            </a:r>
          </a:p>
        </p:txBody>
      </p:sp>
      <p:sp>
        <p:nvSpPr>
          <p:cNvPr id="9" name="Subection Title">
            <a:extLst>
              <a:ext uri="{FF2B5EF4-FFF2-40B4-BE49-F238E27FC236}">
                <a16:creationId xmlns:a16="http://schemas.microsoft.com/office/drawing/2014/main" id="{A24D9923-57B7-3F72-BDE9-973B963E0642}"/>
              </a:ext>
            </a:extLst>
          </p:cNvPr>
          <p:cNvSpPr>
            <a:spLocks noGrp="1"/>
          </p:cNvSpPr>
          <p:nvPr>
            <p:ph type="body" sz="quarter" idx="10" hasCustomPrompt="1"/>
          </p:nvPr>
        </p:nvSpPr>
        <p:spPr>
          <a:xfrm>
            <a:off x="642257" y="4455467"/>
            <a:ext cx="11003642" cy="914400"/>
          </a:xfrm>
        </p:spPr>
        <p:txBody>
          <a:bodyPr>
            <a:noAutofit/>
          </a:bodyPr>
          <a:lstStyle>
            <a:lvl1pPr marL="0" indent="0" algn="ctr">
              <a:buNone/>
              <a:defRPr lang="en-US" sz="4000" kern="1200" dirty="0">
                <a:solidFill>
                  <a:schemeClr val="bg2"/>
                </a:solidFill>
                <a:latin typeface="+mj-lt"/>
                <a:ea typeface="+mj-ea"/>
                <a:cs typeface="+mj-cs"/>
              </a:defRPr>
            </a:lvl1pPr>
          </a:lstStyle>
          <a:p>
            <a:pPr lvl="0"/>
            <a:r>
              <a:rPr lang="en-US" dirty="0"/>
              <a:t>Click to edit subsection title</a:t>
            </a:r>
          </a:p>
        </p:txBody>
      </p:sp>
    </p:spTree>
    <p:extLst>
      <p:ext uri="{BB962C8B-B14F-4D97-AF65-F5344CB8AC3E}">
        <p14:creationId xmlns:p14="http://schemas.microsoft.com/office/powerpoint/2010/main" val="19332208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Presenation Title Footer">
            <a:extLst>
              <a:ext uri="{FF2B5EF4-FFF2-40B4-BE49-F238E27FC236}">
                <a16:creationId xmlns:a16="http://schemas.microsoft.com/office/drawing/2014/main" id="{85E4057A-9753-03B7-9BF6-D812ABB82D5C}"/>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4" name="Secondary Content">
            <a:extLst>
              <a:ext uri="{FF2B5EF4-FFF2-40B4-BE49-F238E27FC236}">
                <a16:creationId xmlns:a16="http://schemas.microsoft.com/office/drawing/2014/main" id="{FDE02316-9F55-D549-0FD3-3FE4AE69933A}"/>
              </a:ext>
            </a:extLst>
          </p:cNvPr>
          <p:cNvSpPr>
            <a:spLocks noGrp="1"/>
          </p:cNvSpPr>
          <p:nvPr>
            <p:ph sz="half" idx="2"/>
          </p:nvPr>
        </p:nvSpPr>
        <p:spPr>
          <a:xfrm>
            <a:off x="6194778" y="1825625"/>
            <a:ext cx="5458968" cy="4389120"/>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rimary Content">
            <a:extLst>
              <a:ext uri="{FF2B5EF4-FFF2-40B4-BE49-F238E27FC236}">
                <a16:creationId xmlns:a16="http://schemas.microsoft.com/office/drawing/2014/main" id="{32C729A9-72A4-DC89-E3AD-B75906BA7649}"/>
              </a:ext>
            </a:extLst>
          </p:cNvPr>
          <p:cNvSpPr>
            <a:spLocks noGrp="1"/>
          </p:cNvSpPr>
          <p:nvPr>
            <p:ph sz="half" idx="1"/>
          </p:nvPr>
        </p:nvSpPr>
        <p:spPr>
          <a:xfrm>
            <a:off x="548640" y="1825625"/>
            <a:ext cx="5458968" cy="4389120"/>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a:extLst>
              <a:ext uri="{FF2B5EF4-FFF2-40B4-BE49-F238E27FC236}">
                <a16:creationId xmlns:a16="http://schemas.microsoft.com/office/drawing/2014/main" id="{026C142B-8301-F944-A303-6FF51130009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1965641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Presenation Title Footer">
            <a:extLst>
              <a:ext uri="{FF2B5EF4-FFF2-40B4-BE49-F238E27FC236}">
                <a16:creationId xmlns:a16="http://schemas.microsoft.com/office/drawing/2014/main" id="{9EC920BD-70A9-B7EA-30FB-13D1FAF82F20}"/>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6" name="Rigth Comparison">
            <a:extLst>
              <a:ext uri="{FF2B5EF4-FFF2-40B4-BE49-F238E27FC236}">
                <a16:creationId xmlns:a16="http://schemas.microsoft.com/office/drawing/2014/main" id="{787CCB16-0AAE-E45C-6993-A6FC55DBF3F3}"/>
              </a:ext>
            </a:extLst>
          </p:cNvPr>
          <p:cNvSpPr>
            <a:spLocks noGrp="1"/>
          </p:cNvSpPr>
          <p:nvPr>
            <p:ph sz="quarter" idx="4"/>
          </p:nvPr>
        </p:nvSpPr>
        <p:spPr>
          <a:xfrm>
            <a:off x="6373368" y="2441448"/>
            <a:ext cx="5276088"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ight Comparison Title">
            <a:extLst>
              <a:ext uri="{FF2B5EF4-FFF2-40B4-BE49-F238E27FC236}">
                <a16:creationId xmlns:a16="http://schemas.microsoft.com/office/drawing/2014/main" id="{0F73AC93-FC06-15C6-D0B8-36C019116720}"/>
              </a:ext>
            </a:extLst>
          </p:cNvPr>
          <p:cNvSpPr>
            <a:spLocks noGrp="1"/>
          </p:cNvSpPr>
          <p:nvPr>
            <p:ph type="body" sz="quarter" idx="3"/>
          </p:nvPr>
        </p:nvSpPr>
        <p:spPr>
          <a:xfrm>
            <a:off x="6369812" y="1581912"/>
            <a:ext cx="52760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2" name="Comparison Divider">
            <a:extLst>
              <a:ext uri="{FF2B5EF4-FFF2-40B4-BE49-F238E27FC236}">
                <a16:creationId xmlns:a16="http://schemas.microsoft.com/office/drawing/2014/main" id="{6061AE4D-4A1A-2767-57FB-93B7BCF30EEF}"/>
              </a:ext>
            </a:extLst>
          </p:cNvPr>
          <p:cNvCxnSpPr>
            <a:cxnSpLocks/>
          </p:cNvCxnSpPr>
          <p:nvPr userDrawn="1"/>
        </p:nvCxnSpPr>
        <p:spPr>
          <a:xfrm flipH="1">
            <a:off x="6099048" y="1645920"/>
            <a:ext cx="4644" cy="4663440"/>
          </a:xfrm>
          <a:prstGeom prst="line">
            <a:avLst/>
          </a:prstGeom>
          <a:ln w="15875">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Left Comparison">
            <a:extLst>
              <a:ext uri="{FF2B5EF4-FFF2-40B4-BE49-F238E27FC236}">
                <a16:creationId xmlns:a16="http://schemas.microsoft.com/office/drawing/2014/main" id="{D91756C4-37D6-0386-0375-9847BBAB699D}"/>
              </a:ext>
            </a:extLst>
          </p:cNvPr>
          <p:cNvSpPr>
            <a:spLocks noGrp="1"/>
          </p:cNvSpPr>
          <p:nvPr>
            <p:ph sz="half" idx="2"/>
          </p:nvPr>
        </p:nvSpPr>
        <p:spPr>
          <a:xfrm>
            <a:off x="548640" y="2441447"/>
            <a:ext cx="5276088"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ett Comparison Title">
            <a:extLst>
              <a:ext uri="{FF2B5EF4-FFF2-40B4-BE49-F238E27FC236}">
                <a16:creationId xmlns:a16="http://schemas.microsoft.com/office/drawing/2014/main" id="{327D5202-CBB7-F61D-FC1B-581B290B6DD1}"/>
              </a:ext>
            </a:extLst>
          </p:cNvPr>
          <p:cNvSpPr>
            <a:spLocks noGrp="1"/>
          </p:cNvSpPr>
          <p:nvPr>
            <p:ph type="body" idx="1"/>
          </p:nvPr>
        </p:nvSpPr>
        <p:spPr>
          <a:xfrm>
            <a:off x="548640" y="1581912"/>
            <a:ext cx="52760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a:extLst>
              <a:ext uri="{FF2B5EF4-FFF2-40B4-BE49-F238E27FC236}">
                <a16:creationId xmlns:a16="http://schemas.microsoft.com/office/drawing/2014/main" id="{63BB01E2-8C0E-379A-B14D-0A9CBFA0D1BF}"/>
              </a:ext>
            </a:extLst>
          </p:cNvPr>
          <p:cNvSpPr>
            <a:spLocks noGrp="1"/>
          </p:cNvSpPr>
          <p:nvPr>
            <p:ph type="title"/>
          </p:nvPr>
        </p:nvSpPr>
        <p:spPr>
          <a:xfrm>
            <a:off x="550236" y="457200"/>
            <a:ext cx="11100816" cy="1097280"/>
          </a:xfrm>
        </p:spPr>
        <p:txBody>
          <a:bodyPr/>
          <a:lstStyle/>
          <a:p>
            <a:r>
              <a:rPr lang="en-US"/>
              <a:t>Click to edit Master title style</a:t>
            </a:r>
          </a:p>
        </p:txBody>
      </p:sp>
    </p:spTree>
    <p:extLst>
      <p:ext uri="{BB962C8B-B14F-4D97-AF65-F5344CB8AC3E}">
        <p14:creationId xmlns:p14="http://schemas.microsoft.com/office/powerpoint/2010/main" val="46662727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Presenation Title Footer">
            <a:extLst>
              <a:ext uri="{FF2B5EF4-FFF2-40B4-BE49-F238E27FC236}">
                <a16:creationId xmlns:a16="http://schemas.microsoft.com/office/drawing/2014/main" id="{3536266B-EC88-1F4B-858A-5E89E4A47DD2}"/>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2" name="Title">
            <a:extLst>
              <a:ext uri="{FF2B5EF4-FFF2-40B4-BE49-F238E27FC236}">
                <a16:creationId xmlns:a16="http://schemas.microsoft.com/office/drawing/2014/main" id="{831C5808-D707-8E1E-FCFD-39439C86BA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85212499"/>
      </p:ext>
    </p:extLst>
  </p:cSld>
  <p:clrMapOvr>
    <a:masterClrMapping/>
  </p:clrMapOvr>
  <p:extLst>
    <p:ext uri="{DCECCB84-F9BA-43D5-87BE-67443E8EF086}">
      <p15:sldGuideLst xmlns:p15="http://schemas.microsoft.com/office/powerpoint/2012/main">
        <p15:guide id="1" userDrawn="1">
          <p15:clr>
            <a:srgbClr val="FBAE40"/>
          </p15:clr>
        </p15:guide>
        <p15:guide id="2" pos="7680" userDrawn="1">
          <p15:clr>
            <a:srgbClr val="FBAE40"/>
          </p15:clr>
        </p15:guide>
        <p15:guide id="3" pos="345" userDrawn="1">
          <p15:clr>
            <a:srgbClr val="FBAE40"/>
          </p15:clr>
        </p15:guide>
        <p15:guide id="4" pos="822" userDrawn="1">
          <p15:clr>
            <a:srgbClr val="FBAE40"/>
          </p15:clr>
        </p15:guide>
        <p15:guide id="5" pos="937" userDrawn="1">
          <p15:clr>
            <a:srgbClr val="FBAE40"/>
          </p15:clr>
        </p15:guide>
        <p15:guide id="6" pos="1414" userDrawn="1">
          <p15:clr>
            <a:srgbClr val="FBAE40"/>
          </p15:clr>
        </p15:guide>
        <p15:guide id="7" pos="1529" userDrawn="1">
          <p15:clr>
            <a:srgbClr val="FBAE40"/>
          </p15:clr>
        </p15:guide>
        <p15:guide id="8" pos="2006" userDrawn="1">
          <p15:clr>
            <a:srgbClr val="FBAE40"/>
          </p15:clr>
        </p15:guide>
        <p15:guide id="9" pos="2121" userDrawn="1">
          <p15:clr>
            <a:srgbClr val="FBAE40"/>
          </p15:clr>
        </p15:guide>
        <p15:guide id="10" pos="2598" userDrawn="1">
          <p15:clr>
            <a:srgbClr val="FBAE40"/>
          </p15:clr>
        </p15:guide>
        <p15:guide id="11" pos="2713" userDrawn="1">
          <p15:clr>
            <a:srgbClr val="FBAE40"/>
          </p15:clr>
        </p15:guide>
        <p15:guide id="12" pos="3190" userDrawn="1">
          <p15:clr>
            <a:srgbClr val="FBAE40"/>
          </p15:clr>
        </p15:guide>
        <p15:guide id="13" pos="3305" userDrawn="1">
          <p15:clr>
            <a:srgbClr val="FBAE40"/>
          </p15:clr>
        </p15:guide>
        <p15:guide id="14" pos="3782" userDrawn="1">
          <p15:clr>
            <a:srgbClr val="FBAE40"/>
          </p15:clr>
        </p15:guide>
        <p15:guide id="15" pos="3897" userDrawn="1">
          <p15:clr>
            <a:srgbClr val="FBAE40"/>
          </p15:clr>
        </p15:guide>
        <p15:guide id="16" pos="4374" userDrawn="1">
          <p15:clr>
            <a:srgbClr val="FBAE40"/>
          </p15:clr>
        </p15:guide>
        <p15:guide id="17" pos="4489" userDrawn="1">
          <p15:clr>
            <a:srgbClr val="FBAE40"/>
          </p15:clr>
        </p15:guide>
        <p15:guide id="18" pos="4966" userDrawn="1">
          <p15:clr>
            <a:srgbClr val="FBAE40"/>
          </p15:clr>
        </p15:guide>
        <p15:guide id="19" pos="5081" userDrawn="1">
          <p15:clr>
            <a:srgbClr val="FBAE40"/>
          </p15:clr>
        </p15:guide>
        <p15:guide id="20" pos="5558" userDrawn="1">
          <p15:clr>
            <a:srgbClr val="FBAE40"/>
          </p15:clr>
        </p15:guide>
        <p15:guide id="21" pos="5673" userDrawn="1">
          <p15:clr>
            <a:srgbClr val="FBAE40"/>
          </p15:clr>
        </p15:guide>
        <p15:guide id="22" pos="6150" userDrawn="1">
          <p15:clr>
            <a:srgbClr val="FBAE40"/>
          </p15:clr>
        </p15:guide>
        <p15:guide id="23" pos="6265" userDrawn="1">
          <p15:clr>
            <a:srgbClr val="FBAE40"/>
          </p15:clr>
        </p15:guide>
        <p15:guide id="24" pos="6742" userDrawn="1">
          <p15:clr>
            <a:srgbClr val="FBAE40"/>
          </p15:clr>
        </p15:guide>
        <p15:guide id="25" pos="6857" userDrawn="1">
          <p15:clr>
            <a:srgbClr val="FBAE40"/>
          </p15:clr>
        </p15:guide>
        <p15:guide id="26" pos="7334" userDrawn="1">
          <p15:clr>
            <a:srgbClr val="FBAE40"/>
          </p15:clr>
        </p15:guide>
        <p15:guide id="27" orient="horz" userDrawn="1">
          <p15:clr>
            <a:srgbClr val="FBAE40"/>
          </p15:clr>
        </p15:guide>
        <p15:guide id="28" orient="horz" pos="4320" userDrawn="1">
          <p15:clr>
            <a:srgbClr val="FBAE40"/>
          </p15:clr>
        </p15:guide>
        <p15:guide id="29" orient="horz" pos="288" userDrawn="1">
          <p15:clr>
            <a:srgbClr val="FBAE40"/>
          </p15:clr>
        </p15:guide>
        <p15:guide id="30" orient="horz" pos="816" userDrawn="1">
          <p15:clr>
            <a:srgbClr val="FBAE40"/>
          </p15:clr>
        </p15:guide>
        <p15:guide id="31" orient="horz" pos="931" userDrawn="1">
          <p15:clr>
            <a:srgbClr val="FBAE40"/>
          </p15:clr>
        </p15:guide>
        <p15:guide id="32" orient="horz" pos="1459" userDrawn="1">
          <p15:clr>
            <a:srgbClr val="FBAE40"/>
          </p15:clr>
        </p15:guide>
        <p15:guide id="33" orient="horz" pos="1574" userDrawn="1">
          <p15:clr>
            <a:srgbClr val="FBAE40"/>
          </p15:clr>
        </p15:guide>
        <p15:guide id="34" orient="horz" pos="2102" userDrawn="1">
          <p15:clr>
            <a:srgbClr val="FBAE40"/>
          </p15:clr>
        </p15:guide>
        <p15:guide id="35" orient="horz" pos="2217" userDrawn="1">
          <p15:clr>
            <a:srgbClr val="FBAE40"/>
          </p15:clr>
        </p15:guide>
        <p15:guide id="36" orient="horz" pos="2745" userDrawn="1">
          <p15:clr>
            <a:srgbClr val="FBAE40"/>
          </p15:clr>
        </p15:guide>
        <p15:guide id="37" orient="horz" pos="2860" userDrawn="1">
          <p15:clr>
            <a:srgbClr val="FBAE40"/>
          </p15:clr>
        </p15:guide>
        <p15:guide id="38" orient="horz" pos="3388" userDrawn="1">
          <p15:clr>
            <a:srgbClr val="FBAE40"/>
          </p15:clr>
        </p15:guide>
        <p15:guide id="39" orient="horz" pos="3504" userDrawn="1">
          <p15:clr>
            <a:srgbClr val="FBAE40"/>
          </p15:clr>
        </p15:guide>
        <p15:guide id="40" orient="horz" pos="403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Presenation Title Footer">
            <a:extLst>
              <a:ext uri="{FF2B5EF4-FFF2-40B4-BE49-F238E27FC236}">
                <a16:creationId xmlns:a16="http://schemas.microsoft.com/office/drawing/2014/main" id="{5743D3FB-D8B4-73B9-0972-DBFB37F5D69B}"/>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Tree>
    <p:extLst>
      <p:ext uri="{BB962C8B-B14F-4D97-AF65-F5344CB8AC3E}">
        <p14:creationId xmlns:p14="http://schemas.microsoft.com/office/powerpoint/2010/main" val="401137824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Presenation Title Footer">
            <a:extLst>
              <a:ext uri="{FF2B5EF4-FFF2-40B4-BE49-F238E27FC236}">
                <a16:creationId xmlns:a16="http://schemas.microsoft.com/office/drawing/2014/main" id="{827AF5A6-F851-FB63-1669-61D5739419EF}"/>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3" name="Content Placeholder">
            <a:extLst>
              <a:ext uri="{FF2B5EF4-FFF2-40B4-BE49-F238E27FC236}">
                <a16:creationId xmlns:a16="http://schemas.microsoft.com/office/drawing/2014/main" id="{E6ED642B-92EB-1734-E5D9-077003B8A6E2}"/>
              </a:ext>
            </a:extLst>
          </p:cNvPr>
          <p:cNvSpPr>
            <a:spLocks noGrp="1"/>
          </p:cNvSpPr>
          <p:nvPr>
            <p:ph idx="1"/>
          </p:nvPr>
        </p:nvSpPr>
        <p:spPr>
          <a:xfrm>
            <a:off x="4306824" y="457200"/>
            <a:ext cx="7336536" cy="576072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a:extLst>
              <a:ext uri="{FF2B5EF4-FFF2-40B4-BE49-F238E27FC236}">
                <a16:creationId xmlns:a16="http://schemas.microsoft.com/office/drawing/2014/main" id="{7CA6B0FB-DB4A-6DCB-F760-974288FA2820}"/>
              </a:ext>
            </a:extLst>
          </p:cNvPr>
          <p:cNvSpPr>
            <a:spLocks noGrp="1"/>
          </p:cNvSpPr>
          <p:nvPr>
            <p:ph type="body" sz="half" idx="2"/>
          </p:nvPr>
        </p:nvSpPr>
        <p:spPr>
          <a:xfrm>
            <a:off x="548640" y="1965960"/>
            <a:ext cx="3575304" cy="42519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a:extLst>
              <a:ext uri="{FF2B5EF4-FFF2-40B4-BE49-F238E27FC236}">
                <a16:creationId xmlns:a16="http://schemas.microsoft.com/office/drawing/2014/main" id="{F0AA9804-C8FE-28D4-18D5-7F9DCA5851F4}"/>
              </a:ext>
            </a:extLst>
          </p:cNvPr>
          <p:cNvSpPr>
            <a:spLocks noGrp="1"/>
          </p:cNvSpPr>
          <p:nvPr>
            <p:ph type="title"/>
          </p:nvPr>
        </p:nvSpPr>
        <p:spPr>
          <a:xfrm>
            <a:off x="548640" y="457200"/>
            <a:ext cx="3575304" cy="1417320"/>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95748551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Presenation Title Footer">
            <a:extLst>
              <a:ext uri="{FF2B5EF4-FFF2-40B4-BE49-F238E27FC236}">
                <a16:creationId xmlns:a16="http://schemas.microsoft.com/office/drawing/2014/main" id="{DF8F8D25-E665-0209-243E-C399F20D9620}"/>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3" name="Picture Placeholder 2">
            <a:extLst>
              <a:ext uri="{FF2B5EF4-FFF2-40B4-BE49-F238E27FC236}">
                <a16:creationId xmlns:a16="http://schemas.microsoft.com/office/drawing/2014/main" id="{69667B8E-3FB1-AED5-8499-96A869DE570A}"/>
              </a:ext>
            </a:extLst>
          </p:cNvPr>
          <p:cNvSpPr>
            <a:spLocks noGrp="1"/>
          </p:cNvSpPr>
          <p:nvPr>
            <p:ph type="pic" idx="1"/>
          </p:nvPr>
        </p:nvSpPr>
        <p:spPr>
          <a:xfrm>
            <a:off x="4306824" y="457200"/>
            <a:ext cx="7333488" cy="576072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860A7C2-6F8A-E515-E20F-4EDB3F618E15}"/>
              </a:ext>
            </a:extLst>
          </p:cNvPr>
          <p:cNvSpPr>
            <a:spLocks noGrp="1"/>
          </p:cNvSpPr>
          <p:nvPr>
            <p:ph type="body" sz="half" idx="2"/>
          </p:nvPr>
        </p:nvSpPr>
        <p:spPr>
          <a:xfrm>
            <a:off x="548640" y="1965960"/>
            <a:ext cx="3575304" cy="42519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a:extLst>
              <a:ext uri="{FF2B5EF4-FFF2-40B4-BE49-F238E27FC236}">
                <a16:creationId xmlns:a16="http://schemas.microsoft.com/office/drawing/2014/main" id="{649B8AEF-8CB1-ED90-43F3-6A746020190B}"/>
              </a:ext>
            </a:extLst>
          </p:cNvPr>
          <p:cNvSpPr>
            <a:spLocks noGrp="1"/>
          </p:cNvSpPr>
          <p:nvPr>
            <p:ph type="title"/>
          </p:nvPr>
        </p:nvSpPr>
        <p:spPr>
          <a:xfrm>
            <a:off x="548640" y="457200"/>
            <a:ext cx="3575304" cy="1417320"/>
          </a:xfrm>
        </p:spPr>
        <p:txBody>
          <a:bodyPr anchor="b"/>
          <a:lstStyle>
            <a:lvl1pPr>
              <a:defRPr sz="3200"/>
            </a:lvl1pPr>
          </a:lstStyle>
          <a:p>
            <a:r>
              <a:rPr lang="en-US"/>
              <a:t>Click to edit Master title style</a:t>
            </a:r>
          </a:p>
        </p:txBody>
      </p:sp>
    </p:spTree>
    <p:extLst>
      <p:ext uri="{BB962C8B-B14F-4D97-AF65-F5344CB8AC3E}">
        <p14:creationId xmlns:p14="http://schemas.microsoft.com/office/powerpoint/2010/main" val="81961407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E7B727-76AE-E598-387E-27D5ED6BA62B}"/>
              </a:ext>
            </a:extLst>
          </p:cNvPr>
          <p:cNvSpPr>
            <a:spLocks noGrp="1"/>
          </p:cNvSpPr>
          <p:nvPr>
            <p:ph type="body" idx="1"/>
          </p:nvPr>
        </p:nvSpPr>
        <p:spPr>
          <a:xfrm>
            <a:off x="546100" y="1825625"/>
            <a:ext cx="11099800" cy="43891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laceholder 1">
            <a:extLst>
              <a:ext uri="{FF2B5EF4-FFF2-40B4-BE49-F238E27FC236}">
                <a16:creationId xmlns:a16="http://schemas.microsoft.com/office/drawing/2014/main" id="{5A65C17A-A8EA-6066-3EC9-89C46D9275D6}"/>
              </a:ext>
            </a:extLst>
          </p:cNvPr>
          <p:cNvSpPr>
            <a:spLocks noGrp="1"/>
          </p:cNvSpPr>
          <p:nvPr>
            <p:ph type="title"/>
          </p:nvPr>
        </p:nvSpPr>
        <p:spPr>
          <a:xfrm>
            <a:off x="546100" y="457200"/>
            <a:ext cx="11099800" cy="109728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591290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4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4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8.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8.xml"/><Relationship Id="rId5" Type="http://schemas.openxmlformats.org/officeDocument/2006/relationships/image" Target="../media/image17.jpg"/><Relationship Id="rId4" Type="http://schemas.openxmlformats.org/officeDocument/2006/relationships/image" Target="../media/image16.jpg"/></Relationships>
</file>

<file path=ppt/slides/_rels/slide3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8" Type="http://schemas.openxmlformats.org/officeDocument/2006/relationships/image" Target="../media/image28.jpg"/><Relationship Id="rId13" Type="http://schemas.openxmlformats.org/officeDocument/2006/relationships/image" Target="../media/image33.jpg"/><Relationship Id="rId3" Type="http://schemas.openxmlformats.org/officeDocument/2006/relationships/image" Target="../media/image23.jpg"/><Relationship Id="rId7" Type="http://schemas.openxmlformats.org/officeDocument/2006/relationships/image" Target="../media/image27.jpg"/><Relationship Id="rId12" Type="http://schemas.openxmlformats.org/officeDocument/2006/relationships/image" Target="../media/image32.jpg"/><Relationship Id="rId2" Type="http://schemas.openxmlformats.org/officeDocument/2006/relationships/image" Target="../media/image22.jpg"/><Relationship Id="rId16" Type="http://schemas.openxmlformats.org/officeDocument/2006/relationships/image" Target="../media/image36.jpg"/><Relationship Id="rId1" Type="http://schemas.openxmlformats.org/officeDocument/2006/relationships/slideLayout" Target="../slideLayouts/slideLayout8.xml"/><Relationship Id="rId6" Type="http://schemas.openxmlformats.org/officeDocument/2006/relationships/image" Target="../media/image26.jpg"/><Relationship Id="rId11" Type="http://schemas.openxmlformats.org/officeDocument/2006/relationships/image" Target="../media/image31.jpg"/><Relationship Id="rId5" Type="http://schemas.openxmlformats.org/officeDocument/2006/relationships/image" Target="../media/image25.jpg"/><Relationship Id="rId15" Type="http://schemas.openxmlformats.org/officeDocument/2006/relationships/image" Target="../media/image35.jpg"/><Relationship Id="rId10" Type="http://schemas.openxmlformats.org/officeDocument/2006/relationships/image" Target="../media/image30.jpg"/><Relationship Id="rId4" Type="http://schemas.openxmlformats.org/officeDocument/2006/relationships/image" Target="../media/image24.jpg"/><Relationship Id="rId9" Type="http://schemas.openxmlformats.org/officeDocument/2006/relationships/image" Target="../media/image29.jpg"/><Relationship Id="rId14" Type="http://schemas.openxmlformats.org/officeDocument/2006/relationships/image" Target="../media/image34.jp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g"/><Relationship Id="rId1" Type="http://schemas.openxmlformats.org/officeDocument/2006/relationships/slideLayout" Target="../slideLayouts/slideLayout8.xml"/><Relationship Id="rId5" Type="http://schemas.openxmlformats.org/officeDocument/2006/relationships/image" Target="../media/image44.jpeg"/><Relationship Id="rId4" Type="http://schemas.openxmlformats.org/officeDocument/2006/relationships/image" Target="../media/image43.jpe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3BAF1-D41C-6ED0-3DDD-7C0F0AD82384}"/>
              </a:ext>
            </a:extLst>
          </p:cNvPr>
          <p:cNvSpPr>
            <a:spLocks noGrp="1"/>
          </p:cNvSpPr>
          <p:nvPr>
            <p:ph type="title"/>
          </p:nvPr>
        </p:nvSpPr>
        <p:spPr/>
        <p:txBody>
          <a:bodyPr/>
          <a:lstStyle/>
          <a:p>
            <a:r>
              <a:rPr lang="en-US" dirty="0"/>
              <a:t>Theme Style Guide</a:t>
            </a:r>
          </a:p>
        </p:txBody>
      </p:sp>
      <p:graphicFrame>
        <p:nvGraphicFramePr>
          <p:cNvPr id="3" name="Table 2">
            <a:extLst>
              <a:ext uri="{FF2B5EF4-FFF2-40B4-BE49-F238E27FC236}">
                <a16:creationId xmlns:a16="http://schemas.microsoft.com/office/drawing/2014/main" id="{D397CC35-0F6C-BAA3-5A01-32A5C8874FB7}"/>
              </a:ext>
            </a:extLst>
          </p:cNvPr>
          <p:cNvGraphicFramePr>
            <a:graphicFrameLocks noGrp="1"/>
          </p:cNvGraphicFramePr>
          <p:nvPr>
            <p:extLst>
              <p:ext uri="{D42A27DB-BD31-4B8C-83A1-F6EECF244321}">
                <p14:modId xmlns:p14="http://schemas.microsoft.com/office/powerpoint/2010/main" val="3420276839"/>
              </p:ext>
            </p:extLst>
          </p:nvPr>
        </p:nvGraphicFramePr>
        <p:xfrm>
          <a:off x="547688" y="1477963"/>
          <a:ext cx="7739994" cy="2595880"/>
        </p:xfrm>
        <a:graphic>
          <a:graphicData uri="http://schemas.openxmlformats.org/drawingml/2006/table">
            <a:tbl>
              <a:tblPr firstRow="1" bandRow="1">
                <a:tableStyleId>{5C22544A-7EE6-4342-B048-85BDC9FD1C3A}</a:tableStyleId>
              </a:tblPr>
              <a:tblGrid>
                <a:gridCol w="1295210">
                  <a:extLst>
                    <a:ext uri="{9D8B030D-6E8A-4147-A177-3AD203B41FA5}">
                      <a16:colId xmlns:a16="http://schemas.microsoft.com/office/drawing/2014/main" val="3749007155"/>
                    </a:ext>
                  </a:extLst>
                </a:gridCol>
                <a:gridCol w="2709333">
                  <a:extLst>
                    <a:ext uri="{9D8B030D-6E8A-4147-A177-3AD203B41FA5}">
                      <a16:colId xmlns:a16="http://schemas.microsoft.com/office/drawing/2014/main" val="1761761360"/>
                    </a:ext>
                  </a:extLst>
                </a:gridCol>
                <a:gridCol w="3735451">
                  <a:extLst>
                    <a:ext uri="{9D8B030D-6E8A-4147-A177-3AD203B41FA5}">
                      <a16:colId xmlns:a16="http://schemas.microsoft.com/office/drawing/2014/main" val="801812722"/>
                    </a:ext>
                  </a:extLst>
                </a:gridCol>
              </a:tblGrid>
              <a:tr h="370840">
                <a:tc>
                  <a:txBody>
                    <a:bodyPr/>
                    <a:lstStyle/>
                    <a:p>
                      <a:r>
                        <a:rPr lang="en-US" dirty="0"/>
                        <a:t>Accent Slot</a:t>
                      </a:r>
                    </a:p>
                  </a:txBody>
                  <a:tcPr/>
                </a:tc>
                <a:tc>
                  <a:txBody>
                    <a:bodyPr/>
                    <a:lstStyle/>
                    <a:p>
                      <a:r>
                        <a:rPr lang="en-US" dirty="0"/>
                        <a:t>Hext Color</a:t>
                      </a:r>
                    </a:p>
                  </a:txBody>
                  <a:tcPr/>
                </a:tc>
                <a:tc>
                  <a:txBody>
                    <a:bodyPr/>
                    <a:lstStyle/>
                    <a:p>
                      <a:r>
                        <a:rPr lang="en-US" dirty="0"/>
                        <a:t>Usage</a:t>
                      </a:r>
                    </a:p>
                  </a:txBody>
                  <a:tcPr/>
                </a:tc>
                <a:extLst>
                  <a:ext uri="{0D108BD9-81ED-4DB2-BD59-A6C34878D82A}">
                    <a16:rowId xmlns:a16="http://schemas.microsoft.com/office/drawing/2014/main" val="844874395"/>
                  </a:ext>
                </a:extLst>
              </a:tr>
              <a:tr h="370840">
                <a:tc>
                  <a:txBody>
                    <a:bodyPr/>
                    <a:lstStyle/>
                    <a:p>
                      <a:r>
                        <a:rPr lang="en-US" dirty="0"/>
                        <a:t>Accent 1</a:t>
                      </a:r>
                    </a:p>
                  </a:txBody>
                  <a:tcPr/>
                </a:tc>
                <a:tc>
                  <a:txBody>
                    <a:bodyPr/>
                    <a:lstStyle/>
                    <a:p>
                      <a:r>
                        <a:rPr lang="en-US" dirty="0"/>
                        <a:t>#XXXXXX</a:t>
                      </a:r>
                    </a:p>
                  </a:txBody>
                  <a:tcPr/>
                </a:tc>
                <a:tc>
                  <a:txBody>
                    <a:bodyPr/>
                    <a:lstStyle/>
                    <a:p>
                      <a:r>
                        <a:rPr lang="en-US" dirty="0"/>
                        <a:t>Slide Titles, major headings</a:t>
                      </a:r>
                    </a:p>
                  </a:txBody>
                  <a:tcPr/>
                </a:tc>
                <a:extLst>
                  <a:ext uri="{0D108BD9-81ED-4DB2-BD59-A6C34878D82A}">
                    <a16:rowId xmlns:a16="http://schemas.microsoft.com/office/drawing/2014/main" val="2448803630"/>
                  </a:ext>
                </a:extLst>
              </a:tr>
              <a:tr h="370840">
                <a:tc>
                  <a:txBody>
                    <a:bodyPr/>
                    <a:lstStyle/>
                    <a:p>
                      <a:r>
                        <a:rPr lang="en-US" dirty="0"/>
                        <a:t>Accent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Secondary Headers, comparison titles</a:t>
                      </a:r>
                    </a:p>
                  </a:txBody>
                  <a:tcPr/>
                </a:tc>
                <a:extLst>
                  <a:ext uri="{0D108BD9-81ED-4DB2-BD59-A6C34878D82A}">
                    <a16:rowId xmlns:a16="http://schemas.microsoft.com/office/drawing/2014/main" val="475053158"/>
                  </a:ext>
                </a:extLst>
              </a:tr>
              <a:tr h="370840">
                <a:tc>
                  <a:txBody>
                    <a:bodyPr/>
                    <a:lstStyle/>
                    <a:p>
                      <a:r>
                        <a:rPr lang="en-US" dirty="0"/>
                        <a:t>Accent 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Highlight callouts, icon files</a:t>
                      </a:r>
                    </a:p>
                  </a:txBody>
                  <a:tcPr/>
                </a:tc>
                <a:extLst>
                  <a:ext uri="{0D108BD9-81ED-4DB2-BD59-A6C34878D82A}">
                    <a16:rowId xmlns:a16="http://schemas.microsoft.com/office/drawing/2014/main" val="957745377"/>
                  </a:ext>
                </a:extLst>
              </a:tr>
              <a:tr h="370840">
                <a:tc>
                  <a:txBody>
                    <a:bodyPr/>
                    <a:lstStyle/>
                    <a:p>
                      <a:r>
                        <a:rPr lang="en-US" dirty="0"/>
                        <a:t>Accent 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Links, interactive elements</a:t>
                      </a:r>
                    </a:p>
                  </a:txBody>
                  <a:tcPr/>
                </a:tc>
                <a:extLst>
                  <a:ext uri="{0D108BD9-81ED-4DB2-BD59-A6C34878D82A}">
                    <a16:rowId xmlns:a16="http://schemas.microsoft.com/office/drawing/2014/main" val="1803543067"/>
                  </a:ext>
                </a:extLst>
              </a:tr>
              <a:tr h="370840">
                <a:tc>
                  <a:txBody>
                    <a:bodyPr/>
                    <a:lstStyle/>
                    <a:p>
                      <a:r>
                        <a:rPr lang="en-US" dirty="0"/>
                        <a:t>Accent 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Alerts, warnings, caution text</a:t>
                      </a:r>
                    </a:p>
                  </a:txBody>
                  <a:tcPr/>
                </a:tc>
                <a:extLst>
                  <a:ext uri="{0D108BD9-81ED-4DB2-BD59-A6C34878D82A}">
                    <a16:rowId xmlns:a16="http://schemas.microsoft.com/office/drawing/2014/main" val="1178434252"/>
                  </a:ext>
                </a:extLst>
              </a:tr>
              <a:tr h="370840">
                <a:tc>
                  <a:txBody>
                    <a:bodyPr/>
                    <a:lstStyle/>
                    <a:p>
                      <a:r>
                        <a:rPr lang="en-US" dirty="0"/>
                        <a:t>Accent 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Captions, footers, diver lines</a:t>
                      </a:r>
                    </a:p>
                  </a:txBody>
                  <a:tcPr/>
                </a:tc>
                <a:extLst>
                  <a:ext uri="{0D108BD9-81ED-4DB2-BD59-A6C34878D82A}">
                    <a16:rowId xmlns:a16="http://schemas.microsoft.com/office/drawing/2014/main" val="1282975798"/>
                  </a:ext>
                </a:extLst>
              </a:tr>
            </a:tbl>
          </a:graphicData>
        </a:graphic>
      </p:graphicFrame>
      <p:sp>
        <p:nvSpPr>
          <p:cNvPr id="4" name="Oval 3">
            <a:extLst>
              <a:ext uri="{FF2B5EF4-FFF2-40B4-BE49-F238E27FC236}">
                <a16:creationId xmlns:a16="http://schemas.microsoft.com/office/drawing/2014/main" id="{C8546C5D-A4EE-F35D-2D8E-680D80F57F86}"/>
              </a:ext>
            </a:extLst>
          </p:cNvPr>
          <p:cNvSpPr/>
          <p:nvPr/>
        </p:nvSpPr>
        <p:spPr>
          <a:xfrm>
            <a:off x="2915322" y="1904104"/>
            <a:ext cx="269203" cy="290456"/>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D2290A4-BDE2-054A-47EC-1BC2F77C3F33}"/>
              </a:ext>
            </a:extLst>
          </p:cNvPr>
          <p:cNvSpPr/>
          <p:nvPr/>
        </p:nvSpPr>
        <p:spPr>
          <a:xfrm>
            <a:off x="2915319" y="2252918"/>
            <a:ext cx="269203" cy="290456"/>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B8BC0E4-C53D-535E-002C-0BC51B95DDFF}"/>
              </a:ext>
            </a:extLst>
          </p:cNvPr>
          <p:cNvSpPr/>
          <p:nvPr/>
        </p:nvSpPr>
        <p:spPr>
          <a:xfrm>
            <a:off x="2915320" y="2620228"/>
            <a:ext cx="269203" cy="290456"/>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B4A3155-A736-C9A5-0EEF-D1AB8A2824C1}"/>
              </a:ext>
            </a:extLst>
          </p:cNvPr>
          <p:cNvSpPr/>
          <p:nvPr/>
        </p:nvSpPr>
        <p:spPr>
          <a:xfrm>
            <a:off x="2915321" y="2997244"/>
            <a:ext cx="269203" cy="290456"/>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EFC58A0-C84B-E800-A29F-8BD631821F0A}"/>
              </a:ext>
            </a:extLst>
          </p:cNvPr>
          <p:cNvSpPr/>
          <p:nvPr/>
        </p:nvSpPr>
        <p:spPr>
          <a:xfrm>
            <a:off x="2915322" y="3374260"/>
            <a:ext cx="269203" cy="290456"/>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7C5B36C-D344-37D5-096C-BF4411507B12}"/>
              </a:ext>
            </a:extLst>
          </p:cNvPr>
          <p:cNvSpPr/>
          <p:nvPr/>
        </p:nvSpPr>
        <p:spPr>
          <a:xfrm>
            <a:off x="2915322" y="3732740"/>
            <a:ext cx="269203" cy="29045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007BA981-2A48-EA4C-5096-8B38DBC5E421}"/>
              </a:ext>
            </a:extLst>
          </p:cNvPr>
          <p:cNvSpPr/>
          <p:nvPr/>
        </p:nvSpPr>
        <p:spPr>
          <a:xfrm>
            <a:off x="8566760" y="1539720"/>
            <a:ext cx="1783043" cy="838200"/>
          </a:xfrm>
          <a:prstGeom prst="roundRect">
            <a:avLst/>
          </a:prstGeom>
          <a:solidFill>
            <a:schemeClr val="accent3">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1" name="Rectangle: Rounded Corners 10">
            <a:extLst>
              <a:ext uri="{FF2B5EF4-FFF2-40B4-BE49-F238E27FC236}">
                <a16:creationId xmlns:a16="http://schemas.microsoft.com/office/drawing/2014/main" id="{D592430E-8DB5-913B-2AFF-669446BEA01F}"/>
              </a:ext>
            </a:extLst>
          </p:cNvPr>
          <p:cNvSpPr/>
          <p:nvPr/>
        </p:nvSpPr>
        <p:spPr>
          <a:xfrm>
            <a:off x="10408957" y="1539720"/>
            <a:ext cx="1783043" cy="838200"/>
          </a:xfrm>
          <a:prstGeom prst="roundRect">
            <a:avLst/>
          </a:prstGeom>
          <a:solidFill>
            <a:schemeClr val="accent2">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2" name="Rectangle: Rounded Corners 11">
            <a:extLst>
              <a:ext uri="{FF2B5EF4-FFF2-40B4-BE49-F238E27FC236}">
                <a16:creationId xmlns:a16="http://schemas.microsoft.com/office/drawing/2014/main" id="{D549884A-533C-05DF-3CBC-85C8D7E44BE9}"/>
              </a:ext>
            </a:extLst>
          </p:cNvPr>
          <p:cNvSpPr/>
          <p:nvPr/>
        </p:nvSpPr>
        <p:spPr>
          <a:xfrm>
            <a:off x="8566760" y="2498725"/>
            <a:ext cx="1783043" cy="838200"/>
          </a:xfrm>
          <a:prstGeom prst="roundRect">
            <a:avLst/>
          </a:prstGeom>
          <a:solidFill>
            <a:schemeClr val="accent6">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3" name="Rectangle: Rounded Corners 12">
            <a:extLst>
              <a:ext uri="{FF2B5EF4-FFF2-40B4-BE49-F238E27FC236}">
                <a16:creationId xmlns:a16="http://schemas.microsoft.com/office/drawing/2014/main" id="{AEA5219D-F32F-7171-90DA-CB4E8AA012EA}"/>
              </a:ext>
            </a:extLst>
          </p:cNvPr>
          <p:cNvSpPr/>
          <p:nvPr/>
        </p:nvSpPr>
        <p:spPr>
          <a:xfrm>
            <a:off x="10408957" y="2498725"/>
            <a:ext cx="1783043" cy="838200"/>
          </a:xfrm>
          <a:prstGeom prst="roundRect">
            <a:avLst/>
          </a:prstGeom>
          <a:solidFill>
            <a:schemeClr val="accent6">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4" name="Rectangle: Rounded Corners 13">
            <a:extLst>
              <a:ext uri="{FF2B5EF4-FFF2-40B4-BE49-F238E27FC236}">
                <a16:creationId xmlns:a16="http://schemas.microsoft.com/office/drawing/2014/main" id="{DC14154C-F259-183D-5E0C-FC0B09AACAB1}"/>
              </a:ext>
            </a:extLst>
          </p:cNvPr>
          <p:cNvSpPr/>
          <p:nvPr/>
        </p:nvSpPr>
        <p:spPr>
          <a:xfrm>
            <a:off x="8566760" y="3523786"/>
            <a:ext cx="1783043" cy="838200"/>
          </a:xfrm>
          <a:prstGeom prst="roundRect">
            <a:avLst/>
          </a:prstGeom>
          <a:solidFill>
            <a:schemeClr val="accent3">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5" name="Rectangle: Rounded Corners 14">
            <a:extLst>
              <a:ext uri="{FF2B5EF4-FFF2-40B4-BE49-F238E27FC236}">
                <a16:creationId xmlns:a16="http://schemas.microsoft.com/office/drawing/2014/main" id="{B488F650-984E-E7C0-6D02-1CECB16BD13C}"/>
              </a:ext>
            </a:extLst>
          </p:cNvPr>
          <p:cNvSpPr/>
          <p:nvPr/>
        </p:nvSpPr>
        <p:spPr>
          <a:xfrm>
            <a:off x="10408957" y="3523786"/>
            <a:ext cx="1783043" cy="838200"/>
          </a:xfrm>
          <a:prstGeom prst="roundRect">
            <a:avLst/>
          </a:prstGeom>
          <a:solidFill>
            <a:schemeClr val="accent2">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6" name="Rectangle: Rounded Corners 15">
            <a:extLst>
              <a:ext uri="{FF2B5EF4-FFF2-40B4-BE49-F238E27FC236}">
                <a16:creationId xmlns:a16="http://schemas.microsoft.com/office/drawing/2014/main" id="{B790FDD8-AFE3-FE0E-56D3-C277071100E3}"/>
              </a:ext>
            </a:extLst>
          </p:cNvPr>
          <p:cNvSpPr/>
          <p:nvPr/>
        </p:nvSpPr>
        <p:spPr>
          <a:xfrm>
            <a:off x="8566759" y="4724400"/>
            <a:ext cx="1783043" cy="838200"/>
          </a:xfrm>
          <a:prstGeom prst="roundRect">
            <a:avLst/>
          </a:prstGeom>
          <a:solidFill>
            <a:schemeClr val="tx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1002711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97B43D9-A147-6A34-1569-7E58AC1BC451}"/>
              </a:ext>
            </a:extLst>
          </p:cNvPr>
          <p:cNvGraphicFramePr>
            <a:graphicFrameLocks noGrp="1"/>
          </p:cNvGraphicFramePr>
          <p:nvPr>
            <p:ph idx="1"/>
            <p:extLst>
              <p:ext uri="{D42A27DB-BD31-4B8C-83A1-F6EECF244321}">
                <p14:modId xmlns:p14="http://schemas.microsoft.com/office/powerpoint/2010/main" val="3733884515"/>
              </p:ext>
            </p:extLst>
          </p:nvPr>
        </p:nvGraphicFramePr>
        <p:xfrm>
          <a:off x="546100" y="1825625"/>
          <a:ext cx="8950365" cy="2595880"/>
        </p:xfrm>
        <a:graphic>
          <a:graphicData uri="http://schemas.openxmlformats.org/drawingml/2006/table">
            <a:tbl>
              <a:tblPr firstRow="1" bandRow="1">
                <a:tableStyleId>{5C22544A-7EE6-4342-B048-85BDC9FD1C3A}</a:tableStyleId>
              </a:tblPr>
              <a:tblGrid>
                <a:gridCol w="2640076">
                  <a:extLst>
                    <a:ext uri="{9D8B030D-6E8A-4147-A177-3AD203B41FA5}">
                      <a16:colId xmlns:a16="http://schemas.microsoft.com/office/drawing/2014/main" val="1236994461"/>
                    </a:ext>
                  </a:extLst>
                </a:gridCol>
                <a:gridCol w="1653453">
                  <a:extLst>
                    <a:ext uri="{9D8B030D-6E8A-4147-A177-3AD203B41FA5}">
                      <a16:colId xmlns:a16="http://schemas.microsoft.com/office/drawing/2014/main" val="1424962408"/>
                    </a:ext>
                  </a:extLst>
                </a:gridCol>
                <a:gridCol w="4656836">
                  <a:extLst>
                    <a:ext uri="{9D8B030D-6E8A-4147-A177-3AD203B41FA5}">
                      <a16:colId xmlns:a16="http://schemas.microsoft.com/office/drawing/2014/main" val="277084313"/>
                    </a:ext>
                  </a:extLst>
                </a:gridCol>
              </a:tblGrid>
              <a:tr h="370840">
                <a:tc>
                  <a:txBody>
                    <a:bodyPr/>
                    <a:lstStyle/>
                    <a:p>
                      <a:r>
                        <a:rPr lang="en-US" dirty="0"/>
                        <a:t>Role</a:t>
                      </a:r>
                    </a:p>
                  </a:txBody>
                  <a:tcPr/>
                </a:tc>
                <a:tc>
                  <a:txBody>
                    <a:bodyPr/>
                    <a:lstStyle/>
                    <a:p>
                      <a:r>
                        <a:rPr lang="en-US" dirty="0"/>
                        <a:t>Hex Color</a:t>
                      </a:r>
                    </a:p>
                  </a:txBody>
                  <a:tcPr/>
                </a:tc>
                <a:tc>
                  <a:txBody>
                    <a:bodyPr/>
                    <a:lstStyle/>
                    <a:p>
                      <a:r>
                        <a:rPr lang="en-US" dirty="0"/>
                        <a:t>Usage</a:t>
                      </a:r>
                    </a:p>
                  </a:txBody>
                  <a:tcPr/>
                </a:tc>
                <a:extLst>
                  <a:ext uri="{0D108BD9-81ED-4DB2-BD59-A6C34878D82A}">
                    <a16:rowId xmlns:a16="http://schemas.microsoft.com/office/drawing/2014/main" val="1804221757"/>
                  </a:ext>
                </a:extLst>
              </a:tr>
              <a:tr h="370840">
                <a:tc>
                  <a:txBody>
                    <a:bodyPr/>
                    <a:lstStyle/>
                    <a:p>
                      <a:r>
                        <a:rPr lang="en-US" dirty="0"/>
                        <a:t>Text/Background – Dark 1</a:t>
                      </a:r>
                    </a:p>
                  </a:txBody>
                  <a:tcPr/>
                </a:tc>
                <a:tc>
                  <a:txBody>
                    <a:bodyPr/>
                    <a:lstStyle/>
                    <a:p>
                      <a:r>
                        <a:rPr lang="en-US" dirty="0"/>
                        <a:t>#333333</a:t>
                      </a:r>
                    </a:p>
                  </a:txBody>
                  <a:tcPr/>
                </a:tc>
                <a:tc>
                  <a:txBody>
                    <a:bodyPr/>
                    <a:lstStyle/>
                    <a:p>
                      <a:r>
                        <a:rPr lang="en-US" dirty="0"/>
                        <a:t>Primary text</a:t>
                      </a:r>
                    </a:p>
                  </a:txBody>
                  <a:tcPr/>
                </a:tc>
                <a:extLst>
                  <a:ext uri="{0D108BD9-81ED-4DB2-BD59-A6C34878D82A}">
                    <a16:rowId xmlns:a16="http://schemas.microsoft.com/office/drawing/2014/main" val="3627527593"/>
                  </a:ext>
                </a:extLst>
              </a:tr>
              <a:tr h="370840">
                <a:tc>
                  <a:txBody>
                    <a:bodyPr/>
                    <a:lstStyle/>
                    <a:p>
                      <a:r>
                        <a:rPr lang="en-US" dirty="0"/>
                        <a:t>Text/Background – Light 1</a:t>
                      </a:r>
                    </a:p>
                  </a:txBody>
                  <a:tcPr/>
                </a:tc>
                <a:tc>
                  <a:txBody>
                    <a:bodyPr/>
                    <a:lstStyle/>
                    <a:p>
                      <a:r>
                        <a:rPr lang="en-US" dirty="0"/>
                        <a:t>#FFFFFF</a:t>
                      </a:r>
                    </a:p>
                  </a:txBody>
                  <a:tcPr/>
                </a:tc>
                <a:tc>
                  <a:txBody>
                    <a:bodyPr/>
                    <a:lstStyle/>
                    <a:p>
                      <a:r>
                        <a:rPr lang="en-US" dirty="0"/>
                        <a:t>Slide background</a:t>
                      </a:r>
                    </a:p>
                  </a:txBody>
                  <a:tcPr/>
                </a:tc>
                <a:extLst>
                  <a:ext uri="{0D108BD9-81ED-4DB2-BD59-A6C34878D82A}">
                    <a16:rowId xmlns:a16="http://schemas.microsoft.com/office/drawing/2014/main" val="2337315819"/>
                  </a:ext>
                </a:extLst>
              </a:tr>
              <a:tr h="370840">
                <a:tc>
                  <a:txBody>
                    <a:bodyPr/>
                    <a:lstStyle/>
                    <a:p>
                      <a:r>
                        <a:rPr lang="en-US" dirty="0"/>
                        <a:t>Text/Background – Dark 2</a:t>
                      </a:r>
                    </a:p>
                  </a:txBody>
                  <a:tcPr/>
                </a:tc>
                <a:tc>
                  <a:txBody>
                    <a:bodyPr/>
                    <a:lstStyle/>
                    <a:p>
                      <a:r>
                        <a:rPr lang="en-US" dirty="0"/>
                        <a:t>#003366</a:t>
                      </a:r>
                    </a:p>
                  </a:txBody>
                  <a:tcPr/>
                </a:tc>
                <a:tc>
                  <a:txBody>
                    <a:bodyPr/>
                    <a:lstStyle/>
                    <a:p>
                      <a:r>
                        <a:rPr lang="en-US" dirty="0"/>
                        <a:t>High-contrast text (e.g., captions, data overlays)</a:t>
                      </a:r>
                    </a:p>
                  </a:txBody>
                  <a:tcPr/>
                </a:tc>
                <a:extLst>
                  <a:ext uri="{0D108BD9-81ED-4DB2-BD59-A6C34878D82A}">
                    <a16:rowId xmlns:a16="http://schemas.microsoft.com/office/drawing/2014/main" val="3523408919"/>
                  </a:ext>
                </a:extLst>
              </a:tr>
              <a:tr h="370840">
                <a:tc>
                  <a:txBody>
                    <a:bodyPr/>
                    <a:lstStyle/>
                    <a:p>
                      <a:r>
                        <a:rPr lang="en-US" dirty="0"/>
                        <a:t>Text/Background – Light 2</a:t>
                      </a:r>
                    </a:p>
                  </a:txBody>
                  <a:tcPr/>
                </a:tc>
                <a:tc>
                  <a:txBody>
                    <a:bodyPr/>
                    <a:lstStyle/>
                    <a:p>
                      <a:r>
                        <a:rPr lang="en-US" dirty="0"/>
                        <a:t>#F4F6F7</a:t>
                      </a:r>
                    </a:p>
                  </a:txBody>
                  <a:tcPr/>
                </a:tc>
                <a:tc>
                  <a:txBody>
                    <a:bodyPr/>
                    <a:lstStyle/>
                    <a:p>
                      <a:r>
                        <a:rPr lang="en-US" dirty="0"/>
                        <a:t>Soft fill areas, minimal containers</a:t>
                      </a:r>
                    </a:p>
                  </a:txBody>
                  <a:tcPr/>
                </a:tc>
                <a:extLst>
                  <a:ext uri="{0D108BD9-81ED-4DB2-BD59-A6C34878D82A}">
                    <a16:rowId xmlns:a16="http://schemas.microsoft.com/office/drawing/2014/main" val="3258488259"/>
                  </a:ext>
                </a:extLst>
              </a:tr>
              <a:tr h="370840">
                <a:tc>
                  <a:txBody>
                    <a:bodyPr/>
                    <a:lstStyle/>
                    <a:p>
                      <a:r>
                        <a:rPr lang="en-US" dirty="0"/>
                        <a:t>Hyperlink</a:t>
                      </a:r>
                    </a:p>
                  </a:txBody>
                  <a:tcPr/>
                </a:tc>
                <a:tc>
                  <a:txBody>
                    <a:bodyPr/>
                    <a:lstStyle/>
                    <a:p>
                      <a:r>
                        <a:rPr lang="en-US" dirty="0"/>
                        <a:t>#3399FF</a:t>
                      </a:r>
                    </a:p>
                  </a:txBody>
                  <a:tcPr/>
                </a:tc>
                <a:tc>
                  <a:txBody>
                    <a:bodyPr/>
                    <a:lstStyle/>
                    <a:p>
                      <a:r>
                        <a:rPr lang="en-US" dirty="0"/>
                        <a:t>Linked text in body placements</a:t>
                      </a:r>
                    </a:p>
                  </a:txBody>
                  <a:tcPr/>
                </a:tc>
                <a:extLst>
                  <a:ext uri="{0D108BD9-81ED-4DB2-BD59-A6C34878D82A}">
                    <a16:rowId xmlns:a16="http://schemas.microsoft.com/office/drawing/2014/main" val="2238284335"/>
                  </a:ext>
                </a:extLst>
              </a:tr>
              <a:tr h="370840">
                <a:tc>
                  <a:txBody>
                    <a:bodyPr/>
                    <a:lstStyle/>
                    <a:p>
                      <a:r>
                        <a:rPr lang="en-US" dirty="0"/>
                        <a:t>Followed Hyperlink</a:t>
                      </a:r>
                    </a:p>
                  </a:txBody>
                  <a:tcPr/>
                </a:tc>
                <a:tc>
                  <a:txBody>
                    <a:bodyPr/>
                    <a:lstStyle/>
                    <a:p>
                      <a:r>
                        <a:rPr lang="en-US" dirty="0"/>
                        <a:t>#DD3377</a:t>
                      </a:r>
                    </a:p>
                  </a:txBody>
                  <a:tcPr/>
                </a:tc>
                <a:tc>
                  <a:txBody>
                    <a:bodyPr/>
                    <a:lstStyle/>
                    <a:p>
                      <a:r>
                        <a:rPr lang="en-US" dirty="0"/>
                        <a:t>Previously click links</a:t>
                      </a:r>
                    </a:p>
                  </a:txBody>
                  <a:tcPr/>
                </a:tc>
                <a:extLst>
                  <a:ext uri="{0D108BD9-81ED-4DB2-BD59-A6C34878D82A}">
                    <a16:rowId xmlns:a16="http://schemas.microsoft.com/office/drawing/2014/main" val="2550797605"/>
                  </a:ext>
                </a:extLst>
              </a:tr>
            </a:tbl>
          </a:graphicData>
        </a:graphic>
      </p:graphicFrame>
      <p:sp>
        <p:nvSpPr>
          <p:cNvPr id="3" name="Title 2">
            <a:extLst>
              <a:ext uri="{FF2B5EF4-FFF2-40B4-BE49-F238E27FC236}">
                <a16:creationId xmlns:a16="http://schemas.microsoft.com/office/drawing/2014/main" id="{270477C2-9CCB-8D83-6BA3-EB75F9A12E44}"/>
              </a:ext>
            </a:extLst>
          </p:cNvPr>
          <p:cNvSpPr>
            <a:spLocks noGrp="1"/>
          </p:cNvSpPr>
          <p:nvPr>
            <p:ph type="title"/>
          </p:nvPr>
        </p:nvSpPr>
        <p:spPr/>
        <p:txBody>
          <a:bodyPr>
            <a:normAutofit fontScale="90000"/>
          </a:bodyPr>
          <a:lstStyle/>
          <a:p>
            <a:r>
              <a:rPr lang="en-US" dirty="0"/>
              <a:t>Style Guide: Color Palette (Base Colors)</a:t>
            </a:r>
          </a:p>
        </p:txBody>
      </p:sp>
      <p:sp>
        <p:nvSpPr>
          <p:cNvPr id="5" name="Oval 4">
            <a:extLst>
              <a:ext uri="{FF2B5EF4-FFF2-40B4-BE49-F238E27FC236}">
                <a16:creationId xmlns:a16="http://schemas.microsoft.com/office/drawing/2014/main" id="{D81F39CA-FCD8-9591-6DB8-F915367D0783}"/>
              </a:ext>
            </a:extLst>
          </p:cNvPr>
          <p:cNvSpPr/>
          <p:nvPr/>
        </p:nvSpPr>
        <p:spPr>
          <a:xfrm>
            <a:off x="4420738" y="2223165"/>
            <a:ext cx="269203" cy="290456"/>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26BA6E50-1F57-DF3D-392A-110826D3D05B}"/>
              </a:ext>
            </a:extLst>
          </p:cNvPr>
          <p:cNvSpPr/>
          <p:nvPr/>
        </p:nvSpPr>
        <p:spPr>
          <a:xfrm>
            <a:off x="4420737" y="2620705"/>
            <a:ext cx="269203" cy="2904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6AAD4E7-1689-F5C8-A3D1-2B2DFD5B66D6}"/>
              </a:ext>
            </a:extLst>
          </p:cNvPr>
          <p:cNvSpPr/>
          <p:nvPr/>
        </p:nvSpPr>
        <p:spPr>
          <a:xfrm>
            <a:off x="4420736" y="2978337"/>
            <a:ext cx="269203" cy="290456"/>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EBDABF1-6AC3-8A10-E24D-6B6FAB26B56E}"/>
              </a:ext>
            </a:extLst>
          </p:cNvPr>
          <p:cNvSpPr/>
          <p:nvPr/>
        </p:nvSpPr>
        <p:spPr>
          <a:xfrm>
            <a:off x="4420736" y="3331314"/>
            <a:ext cx="269203" cy="290456"/>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3FDB226-BF35-0E1C-9522-E4B1E058CFCE}"/>
              </a:ext>
            </a:extLst>
          </p:cNvPr>
          <p:cNvSpPr/>
          <p:nvPr/>
        </p:nvSpPr>
        <p:spPr>
          <a:xfrm>
            <a:off x="4420735" y="3684291"/>
            <a:ext cx="269203" cy="290456"/>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740C666-1CE1-6046-A2F9-56ED868276DC}"/>
              </a:ext>
            </a:extLst>
          </p:cNvPr>
          <p:cNvSpPr/>
          <p:nvPr/>
        </p:nvSpPr>
        <p:spPr>
          <a:xfrm>
            <a:off x="4420735" y="4079174"/>
            <a:ext cx="269203" cy="290456"/>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018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A6544A-2290-5C2E-DAA2-81E72FF45259}"/>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DD78E43-97A3-9D38-D9D2-07380E33F085}"/>
              </a:ext>
            </a:extLst>
          </p:cNvPr>
          <p:cNvGraphicFramePr>
            <a:graphicFrameLocks noGrp="1"/>
          </p:cNvGraphicFramePr>
          <p:nvPr>
            <p:ph idx="1"/>
            <p:extLst>
              <p:ext uri="{D42A27DB-BD31-4B8C-83A1-F6EECF244321}">
                <p14:modId xmlns:p14="http://schemas.microsoft.com/office/powerpoint/2010/main" val="847656239"/>
              </p:ext>
            </p:extLst>
          </p:nvPr>
        </p:nvGraphicFramePr>
        <p:xfrm>
          <a:off x="546100" y="1825625"/>
          <a:ext cx="9467011" cy="2595880"/>
        </p:xfrm>
        <a:graphic>
          <a:graphicData uri="http://schemas.openxmlformats.org/drawingml/2006/table">
            <a:tbl>
              <a:tblPr firstRow="1" bandRow="1">
                <a:tableStyleId>{5C22544A-7EE6-4342-B048-85BDC9FD1C3A}</a:tableStyleId>
              </a:tblPr>
              <a:tblGrid>
                <a:gridCol w="1295210">
                  <a:extLst>
                    <a:ext uri="{9D8B030D-6E8A-4147-A177-3AD203B41FA5}">
                      <a16:colId xmlns:a16="http://schemas.microsoft.com/office/drawing/2014/main" val="1236994461"/>
                    </a:ext>
                  </a:extLst>
                </a:gridCol>
                <a:gridCol w="1793988">
                  <a:extLst>
                    <a:ext uri="{9D8B030D-6E8A-4147-A177-3AD203B41FA5}">
                      <a16:colId xmlns:a16="http://schemas.microsoft.com/office/drawing/2014/main" val="1424962408"/>
                    </a:ext>
                  </a:extLst>
                </a:gridCol>
                <a:gridCol w="6377813">
                  <a:extLst>
                    <a:ext uri="{9D8B030D-6E8A-4147-A177-3AD203B41FA5}">
                      <a16:colId xmlns:a16="http://schemas.microsoft.com/office/drawing/2014/main" val="277084313"/>
                    </a:ext>
                  </a:extLst>
                </a:gridCol>
              </a:tblGrid>
              <a:tr h="370840">
                <a:tc>
                  <a:txBody>
                    <a:bodyPr/>
                    <a:lstStyle/>
                    <a:p>
                      <a:r>
                        <a:rPr lang="en-US" dirty="0"/>
                        <a:t>Accent Slot</a:t>
                      </a:r>
                    </a:p>
                  </a:txBody>
                  <a:tcPr/>
                </a:tc>
                <a:tc>
                  <a:txBody>
                    <a:bodyPr/>
                    <a:lstStyle/>
                    <a:p>
                      <a:r>
                        <a:rPr lang="en-US" dirty="0"/>
                        <a:t>Hex Color</a:t>
                      </a:r>
                    </a:p>
                  </a:txBody>
                  <a:tcPr/>
                </a:tc>
                <a:tc>
                  <a:txBody>
                    <a:bodyPr/>
                    <a:lstStyle/>
                    <a:p>
                      <a:r>
                        <a:rPr lang="en-US" dirty="0"/>
                        <a:t>Usage</a:t>
                      </a:r>
                    </a:p>
                  </a:txBody>
                  <a:tcPr/>
                </a:tc>
                <a:extLst>
                  <a:ext uri="{0D108BD9-81ED-4DB2-BD59-A6C34878D82A}">
                    <a16:rowId xmlns:a16="http://schemas.microsoft.com/office/drawing/2014/main" val="1804221757"/>
                  </a:ext>
                </a:extLst>
              </a:tr>
              <a:tr h="370840">
                <a:tc>
                  <a:txBody>
                    <a:bodyPr/>
                    <a:lstStyle/>
                    <a:p>
                      <a:r>
                        <a:rPr lang="en-US" dirty="0"/>
                        <a:t>Accent 1</a:t>
                      </a:r>
                    </a:p>
                  </a:txBody>
                  <a:tcPr/>
                </a:tc>
                <a:tc>
                  <a:txBody>
                    <a:bodyPr/>
                    <a:lstStyle/>
                    <a:p>
                      <a:r>
                        <a:rPr lang="en-US" dirty="0"/>
                        <a:t>#003366</a:t>
                      </a:r>
                    </a:p>
                  </a:txBody>
                  <a:tcPr/>
                </a:tc>
                <a:tc>
                  <a:txBody>
                    <a:bodyPr/>
                    <a:lstStyle/>
                    <a:p>
                      <a:r>
                        <a:rPr lang="en-US" dirty="0"/>
                        <a:t>Main slide titles, major headers</a:t>
                      </a:r>
                    </a:p>
                  </a:txBody>
                  <a:tcPr/>
                </a:tc>
                <a:extLst>
                  <a:ext uri="{0D108BD9-81ED-4DB2-BD59-A6C34878D82A}">
                    <a16:rowId xmlns:a16="http://schemas.microsoft.com/office/drawing/2014/main" val="2452585052"/>
                  </a:ext>
                </a:extLst>
              </a:tr>
              <a:tr h="370840">
                <a:tc>
                  <a:txBody>
                    <a:bodyPr/>
                    <a:lstStyle/>
                    <a:p>
                      <a:r>
                        <a:rPr lang="en-US" dirty="0"/>
                        <a:t>Accent 2</a:t>
                      </a:r>
                    </a:p>
                  </a:txBody>
                  <a:tcPr/>
                </a:tc>
                <a:tc>
                  <a:txBody>
                    <a:bodyPr/>
                    <a:lstStyle/>
                    <a:p>
                      <a:r>
                        <a:rPr lang="en-US" dirty="0"/>
                        <a:t>#008080</a:t>
                      </a:r>
                    </a:p>
                  </a:txBody>
                  <a:tcPr/>
                </a:tc>
                <a:tc>
                  <a:txBody>
                    <a:bodyPr/>
                    <a:lstStyle/>
                    <a:p>
                      <a:r>
                        <a:rPr lang="en-US" dirty="0"/>
                        <a:t>Primary box fills, minor headings, comparison titles</a:t>
                      </a:r>
                    </a:p>
                  </a:txBody>
                  <a:tcPr/>
                </a:tc>
                <a:extLst>
                  <a:ext uri="{0D108BD9-81ED-4DB2-BD59-A6C34878D82A}">
                    <a16:rowId xmlns:a16="http://schemas.microsoft.com/office/drawing/2014/main" val="642047992"/>
                  </a:ext>
                </a:extLst>
              </a:tr>
              <a:tr h="370840">
                <a:tc>
                  <a:txBody>
                    <a:bodyPr/>
                    <a:lstStyle/>
                    <a:p>
                      <a:r>
                        <a:rPr lang="en-US" dirty="0"/>
                        <a:t>Accent 3</a:t>
                      </a:r>
                    </a:p>
                  </a:txBody>
                  <a:tcPr/>
                </a:tc>
                <a:tc>
                  <a:txBody>
                    <a:bodyPr/>
                    <a:lstStyle/>
                    <a:p>
                      <a:r>
                        <a:rPr lang="en-US" dirty="0"/>
                        <a:t>#DD3377</a:t>
                      </a:r>
                    </a:p>
                  </a:txBody>
                  <a:tcPr/>
                </a:tc>
                <a:tc>
                  <a:txBody>
                    <a:bodyPr/>
                    <a:lstStyle/>
                    <a:p>
                      <a:r>
                        <a:rPr lang="en-US" dirty="0"/>
                        <a:t>Secondary content box fills, icon fills, highlight overlays</a:t>
                      </a:r>
                    </a:p>
                  </a:txBody>
                  <a:tcPr/>
                </a:tc>
                <a:extLst>
                  <a:ext uri="{0D108BD9-81ED-4DB2-BD59-A6C34878D82A}">
                    <a16:rowId xmlns:a16="http://schemas.microsoft.com/office/drawing/2014/main" val="2546115089"/>
                  </a:ext>
                </a:extLst>
              </a:tr>
              <a:tr h="370840">
                <a:tc>
                  <a:txBody>
                    <a:bodyPr/>
                    <a:lstStyle/>
                    <a:p>
                      <a:r>
                        <a:rPr lang="en-US" dirty="0"/>
                        <a:t>Accent 4</a:t>
                      </a:r>
                    </a:p>
                  </a:txBody>
                  <a:tcPr/>
                </a:tc>
                <a:tc>
                  <a:txBody>
                    <a:bodyPr/>
                    <a:lstStyle/>
                    <a:p>
                      <a:r>
                        <a:rPr lang="en-US" dirty="0"/>
                        <a:t>#FF6600</a:t>
                      </a:r>
                    </a:p>
                  </a:txBody>
                  <a:tcPr/>
                </a:tc>
                <a:tc>
                  <a:txBody>
                    <a:bodyPr/>
                    <a:lstStyle/>
                    <a:p>
                      <a:r>
                        <a:rPr lang="en-US" dirty="0"/>
                        <a:t>Links, callouts, interaction indicators</a:t>
                      </a:r>
                    </a:p>
                  </a:txBody>
                  <a:tcPr/>
                </a:tc>
                <a:extLst>
                  <a:ext uri="{0D108BD9-81ED-4DB2-BD59-A6C34878D82A}">
                    <a16:rowId xmlns:a16="http://schemas.microsoft.com/office/drawing/2014/main" val="3284001864"/>
                  </a:ext>
                </a:extLst>
              </a:tr>
              <a:tr h="370840">
                <a:tc>
                  <a:txBody>
                    <a:bodyPr/>
                    <a:lstStyle/>
                    <a:p>
                      <a:r>
                        <a:rPr lang="en-US" dirty="0"/>
                        <a:t>Accent 5</a:t>
                      </a:r>
                    </a:p>
                  </a:txBody>
                  <a:tcPr/>
                </a:tc>
                <a:tc>
                  <a:txBody>
                    <a:bodyPr/>
                    <a:lstStyle/>
                    <a:p>
                      <a:r>
                        <a:rPr lang="en-US" dirty="0"/>
                        <a:t>#3399FF</a:t>
                      </a:r>
                    </a:p>
                  </a:txBody>
                  <a:tcPr/>
                </a:tc>
                <a:tc>
                  <a:txBody>
                    <a:bodyPr/>
                    <a:lstStyle/>
                    <a:p>
                      <a:r>
                        <a:rPr lang="en-US" dirty="0"/>
                        <a:t>Alerts, caution text, emphasis on risks</a:t>
                      </a:r>
                    </a:p>
                  </a:txBody>
                  <a:tcPr/>
                </a:tc>
                <a:extLst>
                  <a:ext uri="{0D108BD9-81ED-4DB2-BD59-A6C34878D82A}">
                    <a16:rowId xmlns:a16="http://schemas.microsoft.com/office/drawing/2014/main" val="3688119333"/>
                  </a:ext>
                </a:extLst>
              </a:tr>
              <a:tr h="370840">
                <a:tc>
                  <a:txBody>
                    <a:bodyPr/>
                    <a:lstStyle/>
                    <a:p>
                      <a:r>
                        <a:rPr lang="en-US" dirty="0"/>
                        <a:t>Accent 6</a:t>
                      </a:r>
                    </a:p>
                  </a:txBody>
                  <a:tcPr/>
                </a:tc>
                <a:tc>
                  <a:txBody>
                    <a:bodyPr/>
                    <a:lstStyle/>
                    <a:p>
                      <a:r>
                        <a:rPr lang="en-US" dirty="0"/>
                        <a:t>#666666</a:t>
                      </a:r>
                    </a:p>
                  </a:txBody>
                  <a:tcPr/>
                </a:tc>
                <a:tc>
                  <a:txBody>
                    <a:bodyPr/>
                    <a:lstStyle/>
                    <a:p>
                      <a:r>
                        <a:rPr lang="en-US" dirty="0"/>
                        <a:t>Footer text, captions, divider lines, body text for inactive elements</a:t>
                      </a:r>
                    </a:p>
                  </a:txBody>
                  <a:tcPr/>
                </a:tc>
                <a:extLst>
                  <a:ext uri="{0D108BD9-81ED-4DB2-BD59-A6C34878D82A}">
                    <a16:rowId xmlns:a16="http://schemas.microsoft.com/office/drawing/2014/main" val="2419111572"/>
                  </a:ext>
                </a:extLst>
              </a:tr>
            </a:tbl>
          </a:graphicData>
        </a:graphic>
      </p:graphicFrame>
      <p:sp>
        <p:nvSpPr>
          <p:cNvPr id="3" name="Title 2">
            <a:extLst>
              <a:ext uri="{FF2B5EF4-FFF2-40B4-BE49-F238E27FC236}">
                <a16:creationId xmlns:a16="http://schemas.microsoft.com/office/drawing/2014/main" id="{16C8BACD-4BA2-2C7D-2FCB-767CA9FA5283}"/>
              </a:ext>
            </a:extLst>
          </p:cNvPr>
          <p:cNvSpPr>
            <a:spLocks noGrp="1"/>
          </p:cNvSpPr>
          <p:nvPr>
            <p:ph type="title"/>
          </p:nvPr>
        </p:nvSpPr>
        <p:spPr/>
        <p:txBody>
          <a:bodyPr>
            <a:normAutofit fontScale="90000"/>
          </a:bodyPr>
          <a:lstStyle/>
          <a:p>
            <a:r>
              <a:rPr lang="en-US" dirty="0"/>
              <a:t>Style Guide: Color Palette (Accent Colors)</a:t>
            </a:r>
          </a:p>
        </p:txBody>
      </p:sp>
      <p:sp>
        <p:nvSpPr>
          <p:cNvPr id="2" name="Oval 1">
            <a:extLst>
              <a:ext uri="{FF2B5EF4-FFF2-40B4-BE49-F238E27FC236}">
                <a16:creationId xmlns:a16="http://schemas.microsoft.com/office/drawing/2014/main" id="{A05EB66A-32F4-EE71-9527-21D6463D8D8B}"/>
              </a:ext>
            </a:extLst>
          </p:cNvPr>
          <p:cNvSpPr/>
          <p:nvPr/>
        </p:nvSpPr>
        <p:spPr>
          <a:xfrm>
            <a:off x="3138347" y="2223165"/>
            <a:ext cx="269203" cy="290456"/>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838C456-5C67-7188-30FF-1BDB032D5B6C}"/>
              </a:ext>
            </a:extLst>
          </p:cNvPr>
          <p:cNvSpPr/>
          <p:nvPr/>
        </p:nvSpPr>
        <p:spPr>
          <a:xfrm>
            <a:off x="3138346" y="2620705"/>
            <a:ext cx="269203" cy="290456"/>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66F026D-EAF9-6EFF-4380-B1042C436769}"/>
              </a:ext>
            </a:extLst>
          </p:cNvPr>
          <p:cNvSpPr/>
          <p:nvPr/>
        </p:nvSpPr>
        <p:spPr>
          <a:xfrm>
            <a:off x="3138345" y="2978337"/>
            <a:ext cx="269203" cy="290456"/>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13EA452-76E9-9C2D-DA3A-95FC8F72CC1D}"/>
              </a:ext>
            </a:extLst>
          </p:cNvPr>
          <p:cNvSpPr/>
          <p:nvPr/>
        </p:nvSpPr>
        <p:spPr>
          <a:xfrm>
            <a:off x="3138345" y="3331314"/>
            <a:ext cx="269203" cy="290456"/>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EEFD747-2C9A-BBA8-664E-14575A59DC1C}"/>
              </a:ext>
            </a:extLst>
          </p:cNvPr>
          <p:cNvSpPr/>
          <p:nvPr/>
        </p:nvSpPr>
        <p:spPr>
          <a:xfrm>
            <a:off x="3138344" y="3684291"/>
            <a:ext cx="269203" cy="290456"/>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6536802-8955-4BE7-C7AC-2507BB63403C}"/>
              </a:ext>
            </a:extLst>
          </p:cNvPr>
          <p:cNvSpPr/>
          <p:nvPr/>
        </p:nvSpPr>
        <p:spPr>
          <a:xfrm>
            <a:off x="3138344" y="4079174"/>
            <a:ext cx="269203" cy="29045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3116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76AE46D-8FC3-28DF-8AF5-0AAC9AADD8E6}"/>
              </a:ext>
            </a:extLst>
          </p:cNvPr>
          <p:cNvGraphicFramePr>
            <a:graphicFrameLocks noGrp="1"/>
          </p:cNvGraphicFramePr>
          <p:nvPr>
            <p:ph idx="1"/>
            <p:extLst>
              <p:ext uri="{D42A27DB-BD31-4B8C-83A1-F6EECF244321}">
                <p14:modId xmlns:p14="http://schemas.microsoft.com/office/powerpoint/2010/main" val="2729090793"/>
              </p:ext>
            </p:extLst>
          </p:nvPr>
        </p:nvGraphicFramePr>
        <p:xfrm>
          <a:off x="546100" y="1825625"/>
          <a:ext cx="11099800" cy="3708400"/>
        </p:xfrm>
        <a:graphic>
          <a:graphicData uri="http://schemas.openxmlformats.org/drawingml/2006/table">
            <a:tbl>
              <a:tblPr firstRow="1" bandRow="1">
                <a:tableStyleId>{5C22544A-7EE6-4342-B048-85BDC9FD1C3A}</a:tableStyleId>
              </a:tblPr>
              <a:tblGrid>
                <a:gridCol w="2219960">
                  <a:extLst>
                    <a:ext uri="{9D8B030D-6E8A-4147-A177-3AD203B41FA5}">
                      <a16:colId xmlns:a16="http://schemas.microsoft.com/office/drawing/2014/main" val="970077885"/>
                    </a:ext>
                  </a:extLst>
                </a:gridCol>
                <a:gridCol w="2219960">
                  <a:extLst>
                    <a:ext uri="{9D8B030D-6E8A-4147-A177-3AD203B41FA5}">
                      <a16:colId xmlns:a16="http://schemas.microsoft.com/office/drawing/2014/main" val="3681564178"/>
                    </a:ext>
                  </a:extLst>
                </a:gridCol>
                <a:gridCol w="2219960">
                  <a:extLst>
                    <a:ext uri="{9D8B030D-6E8A-4147-A177-3AD203B41FA5}">
                      <a16:colId xmlns:a16="http://schemas.microsoft.com/office/drawing/2014/main" val="783482089"/>
                    </a:ext>
                  </a:extLst>
                </a:gridCol>
                <a:gridCol w="2219960">
                  <a:extLst>
                    <a:ext uri="{9D8B030D-6E8A-4147-A177-3AD203B41FA5}">
                      <a16:colId xmlns:a16="http://schemas.microsoft.com/office/drawing/2014/main" val="1989604357"/>
                    </a:ext>
                  </a:extLst>
                </a:gridCol>
                <a:gridCol w="2219960">
                  <a:extLst>
                    <a:ext uri="{9D8B030D-6E8A-4147-A177-3AD203B41FA5}">
                      <a16:colId xmlns:a16="http://schemas.microsoft.com/office/drawing/2014/main" val="328472407"/>
                    </a:ext>
                  </a:extLst>
                </a:gridCol>
              </a:tblGrid>
              <a:tr h="370840">
                <a:tc>
                  <a:txBody>
                    <a:bodyPr/>
                    <a:lstStyle/>
                    <a:p>
                      <a:r>
                        <a:rPr lang="en-US" dirty="0"/>
                        <a:t>Slide Title</a:t>
                      </a:r>
                    </a:p>
                  </a:txBody>
                  <a:tcPr/>
                </a:tc>
                <a:tc>
                  <a:txBody>
                    <a:bodyPr/>
                    <a:lstStyle/>
                    <a:p>
                      <a:r>
                        <a:rPr lang="en-US" dirty="0"/>
                        <a:t>Font Family</a:t>
                      </a:r>
                    </a:p>
                  </a:txBody>
                  <a:tcPr/>
                </a:tc>
                <a:tc>
                  <a:txBody>
                    <a:bodyPr/>
                    <a:lstStyle/>
                    <a:p>
                      <a:r>
                        <a:rPr lang="en-US" dirty="0"/>
                        <a:t>Style</a:t>
                      </a:r>
                    </a:p>
                  </a:txBody>
                  <a:tcPr/>
                </a:tc>
                <a:tc>
                  <a:txBody>
                    <a:bodyPr/>
                    <a:lstStyle/>
                    <a:p>
                      <a:r>
                        <a:rPr lang="en-US" dirty="0"/>
                        <a:t>Size (pts)</a:t>
                      </a:r>
                    </a:p>
                  </a:txBody>
                  <a:tcPr/>
                </a:tc>
                <a:tc>
                  <a:txBody>
                    <a:bodyPr/>
                    <a:lstStyle/>
                    <a:p>
                      <a:r>
                        <a:rPr lang="en-US" dirty="0"/>
                        <a:t>Line Spacing</a:t>
                      </a:r>
                    </a:p>
                  </a:txBody>
                  <a:tcPr/>
                </a:tc>
                <a:extLst>
                  <a:ext uri="{0D108BD9-81ED-4DB2-BD59-A6C34878D82A}">
                    <a16:rowId xmlns:a16="http://schemas.microsoft.com/office/drawing/2014/main" val="392109651"/>
                  </a:ext>
                </a:extLst>
              </a:tr>
              <a:tr h="370840">
                <a:tc>
                  <a:txBody>
                    <a:bodyPr/>
                    <a:lstStyle/>
                    <a:p>
                      <a:r>
                        <a:rPr lang="en-US" dirty="0"/>
                        <a:t>Slide Title</a:t>
                      </a:r>
                    </a:p>
                  </a:txBody>
                  <a:tcPr/>
                </a:tc>
                <a:tc>
                  <a:txBody>
                    <a:bodyPr/>
                    <a:lstStyle/>
                    <a:p>
                      <a:r>
                        <a:rPr lang="en-US" dirty="0"/>
                        <a:t>Kamerik205 8</a:t>
                      </a:r>
                    </a:p>
                  </a:txBody>
                  <a:tcPr/>
                </a:tc>
                <a:tc>
                  <a:txBody>
                    <a:bodyPr/>
                    <a:lstStyle/>
                    <a:p>
                      <a:r>
                        <a:rPr lang="en-US" dirty="0"/>
                        <a:t>Regular</a:t>
                      </a:r>
                    </a:p>
                  </a:txBody>
                  <a:tcPr/>
                </a:tc>
                <a:tc>
                  <a:txBody>
                    <a:bodyPr/>
                    <a:lstStyle/>
                    <a:p>
                      <a:r>
                        <a:rPr lang="en-US" dirty="0"/>
                        <a:t>44</a:t>
                      </a:r>
                    </a:p>
                  </a:txBody>
                  <a:tcPr/>
                </a:tc>
                <a:tc>
                  <a:txBody>
                    <a:bodyPr/>
                    <a:lstStyle/>
                    <a:p>
                      <a:r>
                        <a:rPr lang="en-US" dirty="0"/>
                        <a:t>—</a:t>
                      </a:r>
                    </a:p>
                  </a:txBody>
                  <a:tcPr/>
                </a:tc>
                <a:extLst>
                  <a:ext uri="{0D108BD9-81ED-4DB2-BD59-A6C34878D82A}">
                    <a16:rowId xmlns:a16="http://schemas.microsoft.com/office/drawing/2014/main" val="83259215"/>
                  </a:ext>
                </a:extLst>
              </a:tr>
              <a:tr h="370840">
                <a:tc>
                  <a:txBody>
                    <a:bodyPr/>
                    <a:lstStyle/>
                    <a:p>
                      <a:r>
                        <a:rPr lang="en-US" dirty="0"/>
                        <a:t>Section Header</a:t>
                      </a:r>
                    </a:p>
                  </a:txBody>
                  <a:tcPr/>
                </a:tc>
                <a:tc>
                  <a:txBody>
                    <a:bodyPr/>
                    <a:lstStyle/>
                    <a:p>
                      <a:r>
                        <a:rPr lang="en-US" dirty="0"/>
                        <a:t>Inter</a:t>
                      </a:r>
                    </a:p>
                  </a:txBody>
                  <a:tcPr/>
                </a:tc>
                <a:tc>
                  <a:txBody>
                    <a:bodyPr/>
                    <a:lstStyle/>
                    <a:p>
                      <a:r>
                        <a:rPr lang="en-US" dirty="0"/>
                        <a:t>Semibold or Bold</a:t>
                      </a:r>
                    </a:p>
                  </a:txBody>
                  <a:tcPr/>
                </a:tc>
                <a:tc>
                  <a:txBody>
                    <a:bodyPr/>
                    <a:lstStyle/>
                    <a:p>
                      <a:r>
                        <a:rPr lang="en-US" dirty="0"/>
                        <a:t>36 / 20-22</a:t>
                      </a:r>
                    </a:p>
                  </a:txBody>
                  <a:tcPr/>
                </a:tc>
                <a:tc>
                  <a:txBody>
                    <a:bodyPr/>
                    <a:lstStyle/>
                    <a:p>
                      <a:r>
                        <a:rPr lang="en-US" dirty="0"/>
                        <a:t>—</a:t>
                      </a:r>
                    </a:p>
                  </a:txBody>
                  <a:tcPr/>
                </a:tc>
                <a:extLst>
                  <a:ext uri="{0D108BD9-81ED-4DB2-BD59-A6C34878D82A}">
                    <a16:rowId xmlns:a16="http://schemas.microsoft.com/office/drawing/2014/main" val="842953871"/>
                  </a:ext>
                </a:extLst>
              </a:tr>
              <a:tr h="370840">
                <a:tc>
                  <a:txBody>
                    <a:bodyPr/>
                    <a:lstStyle/>
                    <a:p>
                      <a:r>
                        <a:rPr lang="en-US" dirty="0"/>
                        <a:t>Body Level 1</a:t>
                      </a:r>
                    </a:p>
                  </a:txBody>
                  <a:tcPr/>
                </a:tc>
                <a:tc>
                  <a:txBody>
                    <a:bodyPr/>
                    <a:lstStyle/>
                    <a:p>
                      <a:r>
                        <a:rPr lang="en-US" dirty="0"/>
                        <a:t>Inter</a:t>
                      </a:r>
                    </a:p>
                  </a:txBody>
                  <a:tcPr/>
                </a:tc>
                <a:tc>
                  <a:txBody>
                    <a:bodyPr/>
                    <a:lstStyle/>
                    <a:p>
                      <a:r>
                        <a:rPr lang="en-US" dirty="0"/>
                        <a:t>Regular</a:t>
                      </a:r>
                    </a:p>
                  </a:txBody>
                  <a:tcPr/>
                </a:tc>
                <a:tc>
                  <a:txBody>
                    <a:bodyPr/>
                    <a:lstStyle/>
                    <a:p>
                      <a:r>
                        <a:rPr lang="en-US" dirty="0"/>
                        <a:t>28</a:t>
                      </a:r>
                    </a:p>
                  </a:txBody>
                  <a:tcPr/>
                </a:tc>
                <a:tc>
                  <a:txBody>
                    <a:bodyPr/>
                    <a:lstStyle/>
                    <a:p>
                      <a:r>
                        <a:rPr lang="en-US" dirty="0"/>
                        <a:t>Multiple 1.15</a:t>
                      </a:r>
                    </a:p>
                  </a:txBody>
                  <a:tcPr/>
                </a:tc>
                <a:extLst>
                  <a:ext uri="{0D108BD9-81ED-4DB2-BD59-A6C34878D82A}">
                    <a16:rowId xmlns:a16="http://schemas.microsoft.com/office/drawing/2014/main" val="147709112"/>
                  </a:ext>
                </a:extLst>
              </a:tr>
              <a:tr h="370840">
                <a:tc>
                  <a:txBody>
                    <a:bodyPr/>
                    <a:lstStyle/>
                    <a:p>
                      <a:r>
                        <a:rPr lang="en-US" dirty="0"/>
                        <a:t>Body Level 2</a:t>
                      </a:r>
                    </a:p>
                  </a:txBody>
                  <a:tcPr/>
                </a:tc>
                <a:tc>
                  <a:txBody>
                    <a:bodyPr/>
                    <a:lstStyle/>
                    <a:p>
                      <a:r>
                        <a:rPr lang="en-US" dirty="0"/>
                        <a:t>Inter</a:t>
                      </a:r>
                    </a:p>
                  </a:txBody>
                  <a:tcPr/>
                </a:tc>
                <a:tc>
                  <a:txBody>
                    <a:bodyPr/>
                    <a:lstStyle/>
                    <a:p>
                      <a:r>
                        <a:rPr lang="en-US" dirty="0"/>
                        <a:t>Regular</a:t>
                      </a:r>
                    </a:p>
                  </a:txBody>
                  <a:tcPr/>
                </a:tc>
                <a:tc>
                  <a:txBody>
                    <a:bodyPr/>
                    <a:lstStyle/>
                    <a:p>
                      <a:r>
                        <a:rPr lang="en-US" dirty="0"/>
                        <a:t>24</a:t>
                      </a:r>
                    </a:p>
                  </a:txBody>
                  <a:tcPr/>
                </a:tc>
                <a:tc>
                  <a:txBody>
                    <a:bodyPr/>
                    <a:lstStyle/>
                    <a:p>
                      <a:r>
                        <a:rPr lang="en-US" dirty="0"/>
                        <a:t>Multiple 1.15</a:t>
                      </a:r>
                    </a:p>
                  </a:txBody>
                  <a:tcPr/>
                </a:tc>
                <a:extLst>
                  <a:ext uri="{0D108BD9-81ED-4DB2-BD59-A6C34878D82A}">
                    <a16:rowId xmlns:a16="http://schemas.microsoft.com/office/drawing/2014/main" val="3648387029"/>
                  </a:ext>
                </a:extLst>
              </a:tr>
              <a:tr h="370840">
                <a:tc>
                  <a:txBody>
                    <a:bodyPr/>
                    <a:lstStyle/>
                    <a:p>
                      <a:r>
                        <a:rPr lang="en-US" dirty="0"/>
                        <a:t>Body Level 3</a:t>
                      </a:r>
                    </a:p>
                  </a:txBody>
                  <a:tcPr/>
                </a:tc>
                <a:tc>
                  <a:txBody>
                    <a:bodyPr/>
                    <a:lstStyle/>
                    <a:p>
                      <a:r>
                        <a:rPr lang="en-US" dirty="0"/>
                        <a:t>Inter</a:t>
                      </a:r>
                    </a:p>
                  </a:txBody>
                  <a:tcPr/>
                </a:tc>
                <a:tc>
                  <a:txBody>
                    <a:bodyPr/>
                    <a:lstStyle/>
                    <a:p>
                      <a:r>
                        <a:rPr lang="en-US" dirty="0"/>
                        <a:t>Regular</a:t>
                      </a:r>
                    </a:p>
                  </a:txBody>
                  <a:tcPr/>
                </a:tc>
                <a:tc>
                  <a:txBody>
                    <a:bodyPr/>
                    <a:lstStyle/>
                    <a:p>
                      <a:r>
                        <a:rPr lang="en-US" dirty="0"/>
                        <a:t>20</a:t>
                      </a:r>
                    </a:p>
                  </a:txBody>
                  <a:tcPr/>
                </a:tc>
                <a:tc>
                  <a:txBody>
                    <a:bodyPr/>
                    <a:lstStyle/>
                    <a:p>
                      <a:r>
                        <a:rPr lang="en-US" dirty="0"/>
                        <a:t>Multiple 1.15</a:t>
                      </a:r>
                    </a:p>
                  </a:txBody>
                  <a:tcPr/>
                </a:tc>
                <a:extLst>
                  <a:ext uri="{0D108BD9-81ED-4DB2-BD59-A6C34878D82A}">
                    <a16:rowId xmlns:a16="http://schemas.microsoft.com/office/drawing/2014/main" val="3930225304"/>
                  </a:ext>
                </a:extLst>
              </a:tr>
              <a:tr h="370840">
                <a:tc>
                  <a:txBody>
                    <a:bodyPr/>
                    <a:lstStyle/>
                    <a:p>
                      <a:r>
                        <a:rPr lang="en-US" dirty="0"/>
                        <a:t>Body Level 4</a:t>
                      </a:r>
                    </a:p>
                  </a:txBody>
                  <a:tcPr/>
                </a:tc>
                <a:tc>
                  <a:txBody>
                    <a:bodyPr/>
                    <a:lstStyle/>
                    <a:p>
                      <a:r>
                        <a:rPr lang="en-US" dirty="0"/>
                        <a:t>Inter</a:t>
                      </a:r>
                    </a:p>
                  </a:txBody>
                  <a:tcPr/>
                </a:tc>
                <a:tc>
                  <a:txBody>
                    <a:bodyPr/>
                    <a:lstStyle/>
                    <a:p>
                      <a:r>
                        <a:rPr lang="en-US" dirty="0"/>
                        <a:t>Regular</a:t>
                      </a:r>
                    </a:p>
                  </a:txBody>
                  <a:tcPr/>
                </a:tc>
                <a:tc>
                  <a:txBody>
                    <a:bodyPr/>
                    <a:lstStyle/>
                    <a:p>
                      <a:r>
                        <a:rPr lang="en-US" dirty="0"/>
                        <a:t>18</a:t>
                      </a:r>
                    </a:p>
                  </a:txBody>
                  <a:tcPr/>
                </a:tc>
                <a:tc>
                  <a:txBody>
                    <a:bodyPr/>
                    <a:lstStyle/>
                    <a:p>
                      <a:r>
                        <a:rPr lang="en-US" dirty="0"/>
                        <a:t>Multiple 0.90</a:t>
                      </a:r>
                    </a:p>
                  </a:txBody>
                  <a:tcPr/>
                </a:tc>
                <a:extLst>
                  <a:ext uri="{0D108BD9-81ED-4DB2-BD59-A6C34878D82A}">
                    <a16:rowId xmlns:a16="http://schemas.microsoft.com/office/drawing/2014/main" val="1907269638"/>
                  </a:ext>
                </a:extLst>
              </a:tr>
              <a:tr h="370840">
                <a:tc>
                  <a:txBody>
                    <a:bodyPr/>
                    <a:lstStyle/>
                    <a:p>
                      <a:r>
                        <a:rPr lang="en-US" dirty="0"/>
                        <a:t>Body Level 5</a:t>
                      </a:r>
                    </a:p>
                  </a:txBody>
                  <a:tcPr/>
                </a:tc>
                <a:tc>
                  <a:txBody>
                    <a:bodyPr/>
                    <a:lstStyle/>
                    <a:p>
                      <a:r>
                        <a:rPr lang="en-US" dirty="0"/>
                        <a:t>Inter</a:t>
                      </a:r>
                    </a:p>
                  </a:txBody>
                  <a:tcPr/>
                </a:tc>
                <a:tc>
                  <a:txBody>
                    <a:bodyPr/>
                    <a:lstStyle/>
                    <a:p>
                      <a:r>
                        <a:rPr lang="en-US" dirty="0"/>
                        <a:t>Regular</a:t>
                      </a:r>
                    </a:p>
                  </a:txBody>
                  <a:tcPr/>
                </a:tc>
                <a:tc>
                  <a:txBody>
                    <a:bodyPr/>
                    <a:lstStyle/>
                    <a:p>
                      <a:r>
                        <a:rPr lang="en-US" dirty="0"/>
                        <a:t>18</a:t>
                      </a:r>
                    </a:p>
                  </a:txBody>
                  <a:tcPr/>
                </a:tc>
                <a:tc>
                  <a:txBody>
                    <a:bodyPr/>
                    <a:lstStyle/>
                    <a:p>
                      <a:r>
                        <a:rPr lang="en-US" dirty="0"/>
                        <a:t>Multiple 0.90</a:t>
                      </a:r>
                    </a:p>
                  </a:txBody>
                  <a:tcPr/>
                </a:tc>
                <a:extLst>
                  <a:ext uri="{0D108BD9-81ED-4DB2-BD59-A6C34878D82A}">
                    <a16:rowId xmlns:a16="http://schemas.microsoft.com/office/drawing/2014/main" val="2156405795"/>
                  </a:ext>
                </a:extLst>
              </a:tr>
              <a:tr h="370840">
                <a:tc>
                  <a:txBody>
                    <a:bodyPr/>
                    <a:lstStyle/>
                    <a:p>
                      <a:r>
                        <a:rPr lang="en-US" dirty="0"/>
                        <a:t>Caption/Label Text</a:t>
                      </a:r>
                    </a:p>
                  </a:txBody>
                  <a:tcPr/>
                </a:tc>
                <a:tc>
                  <a:txBody>
                    <a:bodyPr/>
                    <a:lstStyle/>
                    <a:p>
                      <a:r>
                        <a:rPr lang="en-US" dirty="0"/>
                        <a:t>Inter</a:t>
                      </a:r>
                    </a:p>
                  </a:txBody>
                  <a:tcPr/>
                </a:tc>
                <a:tc>
                  <a:txBody>
                    <a:bodyPr/>
                    <a:lstStyle/>
                    <a:p>
                      <a:r>
                        <a:rPr lang="en-US" dirty="0"/>
                        <a:t>Medium</a:t>
                      </a:r>
                    </a:p>
                  </a:txBody>
                  <a:tcPr/>
                </a:tc>
                <a:tc>
                  <a:txBody>
                    <a:bodyPr/>
                    <a:lstStyle/>
                    <a:p>
                      <a:r>
                        <a:rPr lang="en-US" dirty="0"/>
                        <a:t>16</a:t>
                      </a:r>
                    </a:p>
                  </a:txBody>
                  <a:tcPr/>
                </a:tc>
                <a:tc>
                  <a:txBody>
                    <a:bodyPr/>
                    <a:lstStyle/>
                    <a:p>
                      <a:r>
                        <a:rPr lang="en-US" dirty="0"/>
                        <a:t>—</a:t>
                      </a:r>
                    </a:p>
                  </a:txBody>
                  <a:tcPr/>
                </a:tc>
                <a:extLst>
                  <a:ext uri="{0D108BD9-81ED-4DB2-BD59-A6C34878D82A}">
                    <a16:rowId xmlns:a16="http://schemas.microsoft.com/office/drawing/2014/main" val="3419601183"/>
                  </a:ext>
                </a:extLst>
              </a:tr>
              <a:tr h="370840">
                <a:tc>
                  <a:txBody>
                    <a:bodyPr/>
                    <a:lstStyle/>
                    <a:p>
                      <a:r>
                        <a:rPr lang="en-US" dirty="0"/>
                        <a:t>Footer Text</a:t>
                      </a:r>
                    </a:p>
                  </a:txBody>
                  <a:tcPr/>
                </a:tc>
                <a:tc>
                  <a:txBody>
                    <a:bodyPr/>
                    <a:lstStyle/>
                    <a:p>
                      <a:r>
                        <a:rPr lang="en-US" dirty="0"/>
                        <a:t>Inter</a:t>
                      </a:r>
                    </a:p>
                  </a:txBody>
                  <a:tcPr/>
                </a:tc>
                <a:tc>
                  <a:txBody>
                    <a:bodyPr/>
                    <a:lstStyle/>
                    <a:p>
                      <a:r>
                        <a:rPr lang="en-US" dirty="0"/>
                        <a:t>Italic</a:t>
                      </a:r>
                    </a:p>
                  </a:txBody>
                  <a:tcPr/>
                </a:tc>
                <a:tc>
                  <a:txBody>
                    <a:bodyPr/>
                    <a:lstStyle/>
                    <a:p>
                      <a:r>
                        <a:rPr lang="en-US" dirty="0"/>
                        <a:t>14</a:t>
                      </a:r>
                    </a:p>
                  </a:txBody>
                  <a:tcPr/>
                </a:tc>
                <a:tc>
                  <a:txBody>
                    <a:bodyPr/>
                    <a:lstStyle/>
                    <a:p>
                      <a:r>
                        <a:rPr lang="en-US" dirty="0"/>
                        <a:t>—</a:t>
                      </a:r>
                    </a:p>
                  </a:txBody>
                  <a:tcPr/>
                </a:tc>
                <a:extLst>
                  <a:ext uri="{0D108BD9-81ED-4DB2-BD59-A6C34878D82A}">
                    <a16:rowId xmlns:a16="http://schemas.microsoft.com/office/drawing/2014/main" val="3548302357"/>
                  </a:ext>
                </a:extLst>
              </a:tr>
            </a:tbl>
          </a:graphicData>
        </a:graphic>
      </p:graphicFrame>
      <p:sp>
        <p:nvSpPr>
          <p:cNvPr id="3" name="Title 2">
            <a:extLst>
              <a:ext uri="{FF2B5EF4-FFF2-40B4-BE49-F238E27FC236}">
                <a16:creationId xmlns:a16="http://schemas.microsoft.com/office/drawing/2014/main" id="{830BB40E-F7D1-6513-15B8-32815538B438}"/>
              </a:ext>
            </a:extLst>
          </p:cNvPr>
          <p:cNvSpPr>
            <a:spLocks noGrp="1"/>
          </p:cNvSpPr>
          <p:nvPr>
            <p:ph type="title"/>
          </p:nvPr>
        </p:nvSpPr>
        <p:spPr/>
        <p:txBody>
          <a:bodyPr/>
          <a:lstStyle/>
          <a:p>
            <a:r>
              <a:rPr lang="en-US" dirty="0"/>
              <a:t>Theme Style Guide: Typography</a:t>
            </a:r>
          </a:p>
        </p:txBody>
      </p:sp>
    </p:spTree>
    <p:extLst>
      <p:ext uri="{BB962C8B-B14F-4D97-AF65-F5344CB8AC3E}">
        <p14:creationId xmlns:p14="http://schemas.microsoft.com/office/powerpoint/2010/main" val="1638337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84CAABB-34E6-8082-2006-326DF033536D}"/>
              </a:ext>
            </a:extLst>
          </p:cNvPr>
          <p:cNvGraphicFramePr>
            <a:graphicFrameLocks noGrp="1"/>
          </p:cNvGraphicFramePr>
          <p:nvPr>
            <p:ph idx="1"/>
            <p:extLst>
              <p:ext uri="{D42A27DB-BD31-4B8C-83A1-F6EECF244321}">
                <p14:modId xmlns:p14="http://schemas.microsoft.com/office/powerpoint/2010/main" val="880213074"/>
              </p:ext>
            </p:extLst>
          </p:nvPr>
        </p:nvGraphicFramePr>
        <p:xfrm>
          <a:off x="575991" y="1554480"/>
          <a:ext cx="11040017" cy="5054600"/>
        </p:xfrm>
        <a:graphic>
          <a:graphicData uri="http://schemas.openxmlformats.org/drawingml/2006/table">
            <a:tbl>
              <a:tblPr firstRow="1" bandRow="1">
                <a:tableStyleId>{5C22544A-7EE6-4342-B048-85BDC9FD1C3A}</a:tableStyleId>
              </a:tblPr>
              <a:tblGrid>
                <a:gridCol w="2218309">
                  <a:extLst>
                    <a:ext uri="{9D8B030D-6E8A-4147-A177-3AD203B41FA5}">
                      <a16:colId xmlns:a16="http://schemas.microsoft.com/office/drawing/2014/main" val="2542438350"/>
                    </a:ext>
                  </a:extLst>
                </a:gridCol>
                <a:gridCol w="4410854">
                  <a:extLst>
                    <a:ext uri="{9D8B030D-6E8A-4147-A177-3AD203B41FA5}">
                      <a16:colId xmlns:a16="http://schemas.microsoft.com/office/drawing/2014/main" val="2408680192"/>
                    </a:ext>
                  </a:extLst>
                </a:gridCol>
                <a:gridCol w="4410854">
                  <a:extLst>
                    <a:ext uri="{9D8B030D-6E8A-4147-A177-3AD203B41FA5}">
                      <a16:colId xmlns:a16="http://schemas.microsoft.com/office/drawing/2014/main" val="689663117"/>
                    </a:ext>
                  </a:extLst>
                </a:gridCol>
              </a:tblGrid>
              <a:tr h="370840">
                <a:tc>
                  <a:txBody>
                    <a:bodyPr/>
                    <a:lstStyle/>
                    <a:p>
                      <a:r>
                        <a:rPr lang="en-US" dirty="0"/>
                        <a:t>Layout Name</a:t>
                      </a:r>
                    </a:p>
                  </a:txBody>
                  <a:tcPr/>
                </a:tc>
                <a:tc>
                  <a:txBody>
                    <a:bodyPr/>
                    <a:lstStyle/>
                    <a:p>
                      <a:r>
                        <a:rPr lang="en-US" dirty="0"/>
                        <a:t>Use Case</a:t>
                      </a:r>
                    </a:p>
                  </a:txBody>
                  <a:tcPr/>
                </a:tc>
                <a:tc>
                  <a:txBody>
                    <a:bodyPr/>
                    <a:lstStyle/>
                    <a:p>
                      <a:r>
                        <a:rPr lang="en-US" dirty="0"/>
                        <a:t>Key Features</a:t>
                      </a:r>
                    </a:p>
                  </a:txBody>
                  <a:tcPr/>
                </a:tc>
                <a:extLst>
                  <a:ext uri="{0D108BD9-81ED-4DB2-BD59-A6C34878D82A}">
                    <a16:rowId xmlns:a16="http://schemas.microsoft.com/office/drawing/2014/main" val="3854920225"/>
                  </a:ext>
                </a:extLst>
              </a:tr>
              <a:tr h="370840">
                <a:tc>
                  <a:txBody>
                    <a:bodyPr/>
                    <a:lstStyle/>
                    <a:p>
                      <a:r>
                        <a:rPr lang="en-US" dirty="0"/>
                        <a:t>Title Slide</a:t>
                      </a:r>
                    </a:p>
                  </a:txBody>
                  <a:tcPr/>
                </a:tc>
                <a:tc>
                  <a:txBody>
                    <a:bodyPr/>
                    <a:lstStyle/>
                    <a:p>
                      <a:r>
                        <a:rPr lang="en-US" dirty="0"/>
                        <a:t>Opening slide with workshop or session title</a:t>
                      </a:r>
                    </a:p>
                  </a:txBody>
                  <a:tcPr/>
                </a:tc>
                <a:tc>
                  <a:txBody>
                    <a:bodyPr/>
                    <a:lstStyle/>
                    <a:p>
                      <a:r>
                        <a:rPr lang="en-US" dirty="0"/>
                        <a:t>Completely blank; expects a title slide image to be used</a:t>
                      </a:r>
                    </a:p>
                  </a:txBody>
                  <a:tcPr/>
                </a:tc>
                <a:extLst>
                  <a:ext uri="{0D108BD9-81ED-4DB2-BD59-A6C34878D82A}">
                    <a16:rowId xmlns:a16="http://schemas.microsoft.com/office/drawing/2014/main" val="1619816349"/>
                  </a:ext>
                </a:extLst>
              </a:tr>
              <a:tr h="370840">
                <a:tc>
                  <a:txBody>
                    <a:bodyPr/>
                    <a:lstStyle/>
                    <a:p>
                      <a:r>
                        <a:rPr lang="en-US" dirty="0"/>
                        <a:t>Title and Content</a:t>
                      </a:r>
                    </a:p>
                  </a:txBody>
                  <a:tcPr/>
                </a:tc>
                <a:tc>
                  <a:txBody>
                    <a:bodyPr/>
                    <a:lstStyle/>
                    <a:p>
                      <a:r>
                        <a:rPr lang="en-US" dirty="0"/>
                        <a:t>General-purpose slides with bullets or visuals</a:t>
                      </a:r>
                    </a:p>
                  </a:txBody>
                  <a:tcPr/>
                </a:tc>
                <a:tc>
                  <a:txBody>
                    <a:bodyPr/>
                    <a:lstStyle/>
                    <a:p>
                      <a:r>
                        <a:rPr lang="en-US" dirty="0"/>
                        <a:t>Default layout with full-width title and body placeholder</a:t>
                      </a:r>
                    </a:p>
                  </a:txBody>
                  <a:tcPr/>
                </a:tc>
                <a:extLst>
                  <a:ext uri="{0D108BD9-81ED-4DB2-BD59-A6C34878D82A}">
                    <a16:rowId xmlns:a16="http://schemas.microsoft.com/office/drawing/2014/main" val="4006731156"/>
                  </a:ext>
                </a:extLst>
              </a:tr>
              <a:tr h="370840">
                <a:tc>
                  <a:txBody>
                    <a:bodyPr/>
                    <a:lstStyle/>
                    <a:p>
                      <a:r>
                        <a:rPr lang="en-US" dirty="0"/>
                        <a:t>Section Header</a:t>
                      </a:r>
                    </a:p>
                  </a:txBody>
                  <a:tcPr/>
                </a:tc>
                <a:tc>
                  <a:txBody>
                    <a:bodyPr/>
                    <a:lstStyle/>
                    <a:p>
                      <a:r>
                        <a:rPr lang="en-US" dirty="0"/>
                        <a:t>Slide breaks for new topics or modules</a:t>
                      </a:r>
                    </a:p>
                  </a:txBody>
                  <a:tcPr/>
                </a:tc>
                <a:tc>
                  <a:txBody>
                    <a:bodyPr/>
                    <a:lstStyle/>
                    <a:p>
                      <a:r>
                        <a:rPr lang="en-US" dirty="0"/>
                        <a:t>High-emphasis title, optional supporting visual or icon</a:t>
                      </a:r>
                    </a:p>
                  </a:txBody>
                  <a:tcPr/>
                </a:tc>
                <a:extLst>
                  <a:ext uri="{0D108BD9-81ED-4DB2-BD59-A6C34878D82A}">
                    <a16:rowId xmlns:a16="http://schemas.microsoft.com/office/drawing/2014/main" val="2866185097"/>
                  </a:ext>
                </a:extLst>
              </a:tr>
              <a:tr h="370840">
                <a:tc>
                  <a:txBody>
                    <a:bodyPr/>
                    <a:lstStyle/>
                    <a:p>
                      <a:r>
                        <a:rPr lang="en-US" dirty="0"/>
                        <a:t>Two Content</a:t>
                      </a:r>
                    </a:p>
                  </a:txBody>
                  <a:tcPr/>
                </a:tc>
                <a:tc>
                  <a:txBody>
                    <a:bodyPr/>
                    <a:lstStyle/>
                    <a:p>
                      <a:r>
                        <a:rPr lang="en-US" dirty="0"/>
                        <a:t>Binary workflows or parallel breakdowns</a:t>
                      </a:r>
                    </a:p>
                  </a:txBody>
                  <a:tcPr/>
                </a:tc>
                <a:tc>
                  <a:txBody>
                    <a:bodyPr/>
                    <a:lstStyle/>
                    <a:p>
                      <a:r>
                        <a:rPr lang="en-US" dirty="0"/>
                        <a:t>Equal width placeholders</a:t>
                      </a:r>
                    </a:p>
                  </a:txBody>
                  <a:tcPr/>
                </a:tc>
                <a:extLst>
                  <a:ext uri="{0D108BD9-81ED-4DB2-BD59-A6C34878D82A}">
                    <a16:rowId xmlns:a16="http://schemas.microsoft.com/office/drawing/2014/main" val="3431593222"/>
                  </a:ext>
                </a:extLst>
              </a:tr>
              <a:tr h="370840">
                <a:tc>
                  <a:txBody>
                    <a:bodyPr/>
                    <a:lstStyle/>
                    <a:p>
                      <a:r>
                        <a:rPr lang="en-US" dirty="0"/>
                        <a:t>Comparison</a:t>
                      </a:r>
                    </a:p>
                  </a:txBody>
                  <a:tcPr/>
                </a:tc>
                <a:tc>
                  <a:txBody>
                    <a:bodyPr/>
                    <a:lstStyle/>
                    <a:p>
                      <a:r>
                        <a:rPr lang="en-US" dirty="0"/>
                        <a:t>A vs B pattern contrasts</a:t>
                      </a:r>
                    </a:p>
                  </a:txBody>
                  <a:tcPr/>
                </a:tc>
                <a:tc>
                  <a:txBody>
                    <a:bodyPr/>
                    <a:lstStyle/>
                    <a:p>
                      <a:r>
                        <a:rPr lang="en-US" dirty="0"/>
                        <a:t>Titles above each content box, divider line</a:t>
                      </a:r>
                    </a:p>
                  </a:txBody>
                  <a:tcPr/>
                </a:tc>
                <a:extLst>
                  <a:ext uri="{0D108BD9-81ED-4DB2-BD59-A6C34878D82A}">
                    <a16:rowId xmlns:a16="http://schemas.microsoft.com/office/drawing/2014/main" val="2211899790"/>
                  </a:ext>
                </a:extLst>
              </a:tr>
              <a:tr h="370840">
                <a:tc>
                  <a:txBody>
                    <a:bodyPr/>
                    <a:lstStyle/>
                    <a:p>
                      <a:r>
                        <a:rPr lang="en-US" dirty="0"/>
                        <a:t>Title Only</a:t>
                      </a:r>
                    </a:p>
                  </a:txBody>
                  <a:tcPr/>
                </a:tc>
                <a:tc>
                  <a:txBody>
                    <a:bodyPr/>
                    <a:lstStyle/>
                    <a:p>
                      <a:r>
                        <a:rPr lang="en-US" dirty="0"/>
                        <a:t>Modular storytelling grid (1-4 content boxes per row)</a:t>
                      </a:r>
                    </a:p>
                  </a:txBody>
                  <a:tcPr/>
                </a:tc>
                <a:tc>
                  <a:txBody>
                    <a:bodyPr/>
                    <a:lstStyle/>
                    <a:p>
                      <a:r>
                        <a:rPr lang="en-US" dirty="0"/>
                        <a:t>Full-width title, guide-based grid (12 columns x 9 rows) box fills in Accent 3/2</a:t>
                      </a:r>
                    </a:p>
                  </a:txBody>
                  <a:tcPr/>
                </a:tc>
                <a:extLst>
                  <a:ext uri="{0D108BD9-81ED-4DB2-BD59-A6C34878D82A}">
                    <a16:rowId xmlns:a16="http://schemas.microsoft.com/office/drawing/2014/main" val="3927379485"/>
                  </a:ext>
                </a:extLst>
              </a:tr>
              <a:tr h="370840">
                <a:tc>
                  <a:txBody>
                    <a:bodyPr/>
                    <a:lstStyle/>
                    <a:p>
                      <a:r>
                        <a:rPr lang="en-US" dirty="0"/>
                        <a:t>Blank</a:t>
                      </a:r>
                    </a:p>
                  </a:txBody>
                  <a:tcPr/>
                </a:tc>
                <a:tc>
                  <a:txBody>
                    <a:bodyPr/>
                    <a:lstStyle/>
                    <a:p>
                      <a:r>
                        <a:rPr lang="en-US" dirty="0"/>
                        <a:t>Custom slides, visual experiments, isolated visuals</a:t>
                      </a:r>
                    </a:p>
                  </a:txBody>
                  <a:tcPr/>
                </a:tc>
                <a:tc>
                  <a:txBody>
                    <a:bodyPr/>
                    <a:lstStyle/>
                    <a:p>
                      <a:r>
                        <a:rPr lang="en-US" dirty="0"/>
                        <a:t>No placeholders, use guides or freestyle design</a:t>
                      </a:r>
                    </a:p>
                  </a:txBody>
                  <a:tcPr/>
                </a:tc>
                <a:extLst>
                  <a:ext uri="{0D108BD9-81ED-4DB2-BD59-A6C34878D82A}">
                    <a16:rowId xmlns:a16="http://schemas.microsoft.com/office/drawing/2014/main" val="3898505560"/>
                  </a:ext>
                </a:extLst>
              </a:tr>
              <a:tr h="370840">
                <a:tc>
                  <a:txBody>
                    <a:bodyPr/>
                    <a:lstStyle/>
                    <a:p>
                      <a:r>
                        <a:rPr lang="en-US" dirty="0"/>
                        <a:t>Content with Caption</a:t>
                      </a:r>
                    </a:p>
                  </a:txBody>
                  <a:tcPr/>
                </a:tc>
                <a:tc>
                  <a:txBody>
                    <a:bodyPr/>
                    <a:lstStyle/>
                    <a:p>
                      <a:r>
                        <a:rPr lang="en-US" dirty="0"/>
                        <a:t>Small narrative zone + major visual zone</a:t>
                      </a:r>
                    </a:p>
                  </a:txBody>
                  <a:tcPr/>
                </a:tc>
                <a:tc>
                  <a:txBody>
                    <a:bodyPr/>
                    <a:lstStyle/>
                    <a:p>
                      <a:r>
                        <a:rPr lang="en-US" dirty="0"/>
                        <a:t>Left text zone, right content zone</a:t>
                      </a:r>
                    </a:p>
                  </a:txBody>
                  <a:tcPr/>
                </a:tc>
                <a:extLst>
                  <a:ext uri="{0D108BD9-81ED-4DB2-BD59-A6C34878D82A}">
                    <a16:rowId xmlns:a16="http://schemas.microsoft.com/office/drawing/2014/main" val="1747395652"/>
                  </a:ext>
                </a:extLst>
              </a:tr>
              <a:tr h="370840">
                <a:tc>
                  <a:txBody>
                    <a:bodyPr/>
                    <a:lstStyle/>
                    <a:p>
                      <a:r>
                        <a:rPr lang="en-US" dirty="0"/>
                        <a:t>Picture with Caption</a:t>
                      </a:r>
                    </a:p>
                  </a:txBody>
                  <a:tcPr/>
                </a:tc>
                <a:tc>
                  <a:txBody>
                    <a:bodyPr/>
                    <a:lstStyle/>
                    <a:p>
                      <a:r>
                        <a:rPr lang="en-US" dirty="0"/>
                        <a:t>Image-driven slides with descriptive labeling</a:t>
                      </a:r>
                    </a:p>
                  </a:txBody>
                  <a:tcPr/>
                </a:tc>
                <a:tc>
                  <a:txBody>
                    <a:bodyPr/>
                    <a:lstStyle/>
                    <a:p>
                      <a:r>
                        <a:rPr lang="en-US" dirty="0"/>
                        <a:t>Full-width image placeholder</a:t>
                      </a:r>
                    </a:p>
                  </a:txBody>
                  <a:tcPr/>
                </a:tc>
                <a:extLst>
                  <a:ext uri="{0D108BD9-81ED-4DB2-BD59-A6C34878D82A}">
                    <a16:rowId xmlns:a16="http://schemas.microsoft.com/office/drawing/2014/main" val="3907292946"/>
                  </a:ext>
                </a:extLst>
              </a:tr>
            </a:tbl>
          </a:graphicData>
        </a:graphic>
      </p:graphicFrame>
      <p:sp>
        <p:nvSpPr>
          <p:cNvPr id="3" name="Title 2">
            <a:extLst>
              <a:ext uri="{FF2B5EF4-FFF2-40B4-BE49-F238E27FC236}">
                <a16:creationId xmlns:a16="http://schemas.microsoft.com/office/drawing/2014/main" id="{E744457C-C127-0CD7-36DF-088F21618439}"/>
              </a:ext>
            </a:extLst>
          </p:cNvPr>
          <p:cNvSpPr>
            <a:spLocks noGrp="1"/>
          </p:cNvSpPr>
          <p:nvPr>
            <p:ph type="title"/>
          </p:nvPr>
        </p:nvSpPr>
        <p:spPr/>
        <p:txBody>
          <a:bodyPr/>
          <a:lstStyle/>
          <a:p>
            <a:r>
              <a:rPr lang="en-US" dirty="0"/>
              <a:t>Style Guide: Layouts</a:t>
            </a:r>
          </a:p>
        </p:txBody>
      </p:sp>
    </p:spTree>
    <p:extLst>
      <p:ext uri="{BB962C8B-B14F-4D97-AF65-F5344CB8AC3E}">
        <p14:creationId xmlns:p14="http://schemas.microsoft.com/office/powerpoint/2010/main" val="2583517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Secondary Content Box">
            <a:extLst>
              <a:ext uri="{FF2B5EF4-FFF2-40B4-BE49-F238E27FC236}">
                <a16:creationId xmlns:a16="http://schemas.microsoft.com/office/drawing/2014/main" id="{B5F45A80-482C-50FD-FD17-349590C7FCBC}"/>
              </a:ext>
            </a:extLst>
          </p:cNvPr>
          <p:cNvSpPr/>
          <p:nvPr/>
        </p:nvSpPr>
        <p:spPr>
          <a:xfrm>
            <a:off x="6197092" y="1477963"/>
            <a:ext cx="169703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3" name="Primary Context Box">
            <a:extLst>
              <a:ext uri="{FF2B5EF4-FFF2-40B4-BE49-F238E27FC236}">
                <a16:creationId xmlns:a16="http://schemas.microsoft.com/office/drawing/2014/main" id="{7DFD9F75-9E06-D903-1688-2CB7C1C7F426}"/>
              </a:ext>
            </a:extLst>
          </p:cNvPr>
          <p:cNvSpPr/>
          <p:nvPr/>
        </p:nvSpPr>
        <p:spPr>
          <a:xfrm>
            <a:off x="546100" y="1481138"/>
            <a:ext cx="1697037"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 name="Title 1">
            <a:extLst>
              <a:ext uri="{FF2B5EF4-FFF2-40B4-BE49-F238E27FC236}">
                <a16:creationId xmlns:a16="http://schemas.microsoft.com/office/drawing/2014/main" id="{FA3E76A7-4E02-8BD8-7C58-479F50482378}"/>
              </a:ext>
            </a:extLst>
          </p:cNvPr>
          <p:cNvSpPr>
            <a:spLocks noGrp="1"/>
          </p:cNvSpPr>
          <p:nvPr>
            <p:ph type="title"/>
          </p:nvPr>
        </p:nvSpPr>
        <p:spPr/>
        <p:txBody>
          <a:bodyPr/>
          <a:lstStyle/>
          <a:p>
            <a:r>
              <a:rPr lang="en-US" dirty="0"/>
              <a:t>Style Guide: Content Box Styles</a:t>
            </a:r>
          </a:p>
        </p:txBody>
      </p:sp>
      <p:sp>
        <p:nvSpPr>
          <p:cNvPr id="14" name="Primary Context Box">
            <a:extLst>
              <a:ext uri="{FF2B5EF4-FFF2-40B4-BE49-F238E27FC236}">
                <a16:creationId xmlns:a16="http://schemas.microsoft.com/office/drawing/2014/main" id="{0A6C5995-CF25-8D72-16DD-B63F11B8677F}"/>
              </a:ext>
            </a:extLst>
          </p:cNvPr>
          <p:cNvSpPr/>
          <p:nvPr/>
        </p:nvSpPr>
        <p:spPr>
          <a:xfrm>
            <a:off x="2429764" y="1477963"/>
            <a:ext cx="1697037"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15" name="Primary Context Box">
            <a:extLst>
              <a:ext uri="{FF2B5EF4-FFF2-40B4-BE49-F238E27FC236}">
                <a16:creationId xmlns:a16="http://schemas.microsoft.com/office/drawing/2014/main" id="{8059C03E-9EA3-BD10-78CA-67C3B95628C4}"/>
              </a:ext>
            </a:extLst>
          </p:cNvPr>
          <p:cNvSpPr/>
          <p:nvPr/>
        </p:nvSpPr>
        <p:spPr>
          <a:xfrm>
            <a:off x="4313428" y="1477963"/>
            <a:ext cx="1697037"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16" name="Secondary Content Box">
            <a:extLst>
              <a:ext uri="{FF2B5EF4-FFF2-40B4-BE49-F238E27FC236}">
                <a16:creationId xmlns:a16="http://schemas.microsoft.com/office/drawing/2014/main" id="{DEB8787E-F8A2-A255-5A2B-ED192C6B8A26}"/>
              </a:ext>
            </a:extLst>
          </p:cNvPr>
          <p:cNvSpPr/>
          <p:nvPr/>
        </p:nvSpPr>
        <p:spPr>
          <a:xfrm>
            <a:off x="8080756" y="1477963"/>
            <a:ext cx="169703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17" name="Secondary Content Box">
            <a:extLst>
              <a:ext uri="{FF2B5EF4-FFF2-40B4-BE49-F238E27FC236}">
                <a16:creationId xmlns:a16="http://schemas.microsoft.com/office/drawing/2014/main" id="{B6C4831D-37CC-C0B0-45F0-CCC85D99909A}"/>
              </a:ext>
            </a:extLst>
          </p:cNvPr>
          <p:cNvSpPr/>
          <p:nvPr/>
        </p:nvSpPr>
        <p:spPr>
          <a:xfrm>
            <a:off x="9964420" y="1477963"/>
            <a:ext cx="169703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18" name="Primary Context Box">
            <a:extLst>
              <a:ext uri="{FF2B5EF4-FFF2-40B4-BE49-F238E27FC236}">
                <a16:creationId xmlns:a16="http://schemas.microsoft.com/office/drawing/2014/main" id="{AC2A9430-63ED-DF69-FA4D-FB6F89FECFA4}"/>
              </a:ext>
            </a:extLst>
          </p:cNvPr>
          <p:cNvSpPr/>
          <p:nvPr/>
        </p:nvSpPr>
        <p:spPr>
          <a:xfrm>
            <a:off x="546100" y="2498726"/>
            <a:ext cx="26358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19" name="Primary Context Box">
            <a:extLst>
              <a:ext uri="{FF2B5EF4-FFF2-40B4-BE49-F238E27FC236}">
                <a16:creationId xmlns:a16="http://schemas.microsoft.com/office/drawing/2014/main" id="{A10A7F50-700C-866D-40F5-5B516BB7CF56}"/>
              </a:ext>
            </a:extLst>
          </p:cNvPr>
          <p:cNvSpPr/>
          <p:nvPr/>
        </p:nvSpPr>
        <p:spPr>
          <a:xfrm>
            <a:off x="3374580" y="2498726"/>
            <a:ext cx="26358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0" name="Secondary Content Box">
            <a:extLst>
              <a:ext uri="{FF2B5EF4-FFF2-40B4-BE49-F238E27FC236}">
                <a16:creationId xmlns:a16="http://schemas.microsoft.com/office/drawing/2014/main" id="{E4F289BA-0B7E-1051-A3F8-906A6544028E}"/>
              </a:ext>
            </a:extLst>
          </p:cNvPr>
          <p:cNvSpPr/>
          <p:nvPr/>
        </p:nvSpPr>
        <p:spPr>
          <a:xfrm>
            <a:off x="6198680" y="2498726"/>
            <a:ext cx="2622105"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21" name="Secondary Content Box">
            <a:extLst>
              <a:ext uri="{FF2B5EF4-FFF2-40B4-BE49-F238E27FC236}">
                <a16:creationId xmlns:a16="http://schemas.microsoft.com/office/drawing/2014/main" id="{0A4203D3-4CDB-E016-7BC3-D1F5B279AD39}"/>
              </a:ext>
            </a:extLst>
          </p:cNvPr>
          <p:cNvSpPr/>
          <p:nvPr/>
        </p:nvSpPr>
        <p:spPr>
          <a:xfrm>
            <a:off x="9018715" y="2498726"/>
            <a:ext cx="2622105"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22" name="Primary Context Box">
            <a:extLst>
              <a:ext uri="{FF2B5EF4-FFF2-40B4-BE49-F238E27FC236}">
                <a16:creationId xmlns:a16="http://schemas.microsoft.com/office/drawing/2014/main" id="{C63A7252-345D-86FD-8550-0452A77401E6}"/>
              </a:ext>
            </a:extLst>
          </p:cNvPr>
          <p:cNvSpPr/>
          <p:nvPr/>
        </p:nvSpPr>
        <p:spPr>
          <a:xfrm>
            <a:off x="546100" y="3519488"/>
            <a:ext cx="35756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3" name="Primary Context Box">
            <a:extLst>
              <a:ext uri="{FF2B5EF4-FFF2-40B4-BE49-F238E27FC236}">
                <a16:creationId xmlns:a16="http://schemas.microsoft.com/office/drawing/2014/main" id="{E4235445-A472-6FBF-86AC-5BEFEB67D689}"/>
              </a:ext>
            </a:extLst>
          </p:cNvPr>
          <p:cNvSpPr/>
          <p:nvPr/>
        </p:nvSpPr>
        <p:spPr>
          <a:xfrm>
            <a:off x="4318444" y="3519488"/>
            <a:ext cx="35756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4" name="Secondary Content Box">
            <a:extLst>
              <a:ext uri="{FF2B5EF4-FFF2-40B4-BE49-F238E27FC236}">
                <a16:creationId xmlns:a16="http://schemas.microsoft.com/office/drawing/2014/main" id="{F25AEEB7-1C7B-6E4A-EABF-DAE98E3E4FE2}"/>
              </a:ext>
            </a:extLst>
          </p:cNvPr>
          <p:cNvSpPr/>
          <p:nvPr/>
        </p:nvSpPr>
        <p:spPr>
          <a:xfrm>
            <a:off x="8090788" y="3519488"/>
            <a:ext cx="354939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25" name="Primary Context Box">
            <a:extLst>
              <a:ext uri="{FF2B5EF4-FFF2-40B4-BE49-F238E27FC236}">
                <a16:creationId xmlns:a16="http://schemas.microsoft.com/office/drawing/2014/main" id="{C5201E87-41E4-56C0-5D60-D42F712CF66D}"/>
              </a:ext>
            </a:extLst>
          </p:cNvPr>
          <p:cNvSpPr/>
          <p:nvPr/>
        </p:nvSpPr>
        <p:spPr>
          <a:xfrm>
            <a:off x="1490439" y="4540250"/>
            <a:ext cx="35756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6" name="Secondary Content Box">
            <a:extLst>
              <a:ext uri="{FF2B5EF4-FFF2-40B4-BE49-F238E27FC236}">
                <a16:creationId xmlns:a16="http://schemas.microsoft.com/office/drawing/2014/main" id="{3E3FC4D5-1575-012D-86F7-DBDA202C2AE2}"/>
              </a:ext>
            </a:extLst>
          </p:cNvPr>
          <p:cNvSpPr/>
          <p:nvPr/>
        </p:nvSpPr>
        <p:spPr>
          <a:xfrm>
            <a:off x="7126288" y="4540250"/>
            <a:ext cx="354939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27" name="Primary Context Box">
            <a:extLst>
              <a:ext uri="{FF2B5EF4-FFF2-40B4-BE49-F238E27FC236}">
                <a16:creationId xmlns:a16="http://schemas.microsoft.com/office/drawing/2014/main" id="{D1471FFC-91FB-9A08-F3B5-9902AB16B560}"/>
              </a:ext>
            </a:extLst>
          </p:cNvPr>
          <p:cNvSpPr/>
          <p:nvPr/>
        </p:nvSpPr>
        <p:spPr>
          <a:xfrm>
            <a:off x="4318444" y="5562600"/>
            <a:ext cx="35756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9" name="Rectangle: Rounded Corners 28">
            <a:extLst>
              <a:ext uri="{FF2B5EF4-FFF2-40B4-BE49-F238E27FC236}">
                <a16:creationId xmlns:a16="http://schemas.microsoft.com/office/drawing/2014/main" id="{686968D7-5FD9-7DE7-ACD4-2720B1E1B44E}"/>
              </a:ext>
            </a:extLst>
          </p:cNvPr>
          <p:cNvSpPr/>
          <p:nvPr/>
        </p:nvSpPr>
        <p:spPr>
          <a:xfrm>
            <a:off x="9964420" y="1477963"/>
            <a:ext cx="1697038" cy="838200"/>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30" name="Rectangle: Rounded Corners 29">
            <a:extLst>
              <a:ext uri="{FF2B5EF4-FFF2-40B4-BE49-F238E27FC236}">
                <a16:creationId xmlns:a16="http://schemas.microsoft.com/office/drawing/2014/main" id="{3E801C26-C1EF-B4AC-867C-1A348DAB7A03}"/>
              </a:ext>
            </a:extLst>
          </p:cNvPr>
          <p:cNvSpPr/>
          <p:nvPr/>
        </p:nvSpPr>
        <p:spPr>
          <a:xfrm>
            <a:off x="4313427" y="1477963"/>
            <a:ext cx="1697038" cy="838200"/>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1398242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8A10B5C-0F75-79E5-96FF-83298216A440}"/>
              </a:ext>
            </a:extLst>
          </p:cNvPr>
          <p:cNvGraphicFramePr>
            <a:graphicFrameLocks noGrp="1"/>
          </p:cNvGraphicFramePr>
          <p:nvPr>
            <p:ph idx="1"/>
            <p:extLst>
              <p:ext uri="{D42A27DB-BD31-4B8C-83A1-F6EECF244321}">
                <p14:modId xmlns:p14="http://schemas.microsoft.com/office/powerpoint/2010/main" val="2786074639"/>
              </p:ext>
            </p:extLst>
          </p:nvPr>
        </p:nvGraphicFramePr>
        <p:xfrm>
          <a:off x="546100" y="1825625"/>
          <a:ext cx="11099800" cy="2291080"/>
        </p:xfrm>
        <a:graphic>
          <a:graphicData uri="http://schemas.openxmlformats.org/drawingml/2006/table">
            <a:tbl>
              <a:tblPr firstRow="1" bandRow="1">
                <a:tableStyleId>{5C22544A-7EE6-4342-B048-85BDC9FD1C3A}</a:tableStyleId>
              </a:tblPr>
              <a:tblGrid>
                <a:gridCol w="2219960">
                  <a:extLst>
                    <a:ext uri="{9D8B030D-6E8A-4147-A177-3AD203B41FA5}">
                      <a16:colId xmlns:a16="http://schemas.microsoft.com/office/drawing/2014/main" val="1574694223"/>
                    </a:ext>
                  </a:extLst>
                </a:gridCol>
                <a:gridCol w="2219960">
                  <a:extLst>
                    <a:ext uri="{9D8B030D-6E8A-4147-A177-3AD203B41FA5}">
                      <a16:colId xmlns:a16="http://schemas.microsoft.com/office/drawing/2014/main" val="1318526225"/>
                    </a:ext>
                  </a:extLst>
                </a:gridCol>
                <a:gridCol w="2219960">
                  <a:extLst>
                    <a:ext uri="{9D8B030D-6E8A-4147-A177-3AD203B41FA5}">
                      <a16:colId xmlns:a16="http://schemas.microsoft.com/office/drawing/2014/main" val="2421357009"/>
                    </a:ext>
                  </a:extLst>
                </a:gridCol>
                <a:gridCol w="2219960">
                  <a:extLst>
                    <a:ext uri="{9D8B030D-6E8A-4147-A177-3AD203B41FA5}">
                      <a16:colId xmlns:a16="http://schemas.microsoft.com/office/drawing/2014/main" val="4150466764"/>
                    </a:ext>
                  </a:extLst>
                </a:gridCol>
                <a:gridCol w="2219960">
                  <a:extLst>
                    <a:ext uri="{9D8B030D-6E8A-4147-A177-3AD203B41FA5}">
                      <a16:colId xmlns:a16="http://schemas.microsoft.com/office/drawing/2014/main" val="497724933"/>
                    </a:ext>
                  </a:extLst>
                </a:gridCol>
              </a:tblGrid>
              <a:tr h="370840">
                <a:tc>
                  <a:txBody>
                    <a:bodyPr/>
                    <a:lstStyle/>
                    <a:p>
                      <a:r>
                        <a:rPr lang="en-US" dirty="0"/>
                        <a:t>Box Type</a:t>
                      </a:r>
                    </a:p>
                  </a:txBody>
                  <a:tcPr/>
                </a:tc>
                <a:tc>
                  <a:txBody>
                    <a:bodyPr/>
                    <a:lstStyle/>
                    <a:p>
                      <a:r>
                        <a:rPr lang="en-US" dirty="0"/>
                        <a:t>Fill</a:t>
                      </a:r>
                    </a:p>
                  </a:txBody>
                  <a:tcPr/>
                </a:tc>
                <a:tc>
                  <a:txBody>
                    <a:bodyPr/>
                    <a:lstStyle/>
                    <a:p>
                      <a:r>
                        <a:rPr lang="en-US" dirty="0"/>
                        <a:t>Overlay</a:t>
                      </a:r>
                    </a:p>
                  </a:txBody>
                  <a:tcPr/>
                </a:tc>
                <a:tc>
                  <a:txBody>
                    <a:bodyPr/>
                    <a:lstStyle/>
                    <a:p>
                      <a:r>
                        <a:rPr lang="en-US" dirty="0"/>
                        <a:t>Text Color</a:t>
                      </a:r>
                    </a:p>
                  </a:txBody>
                  <a:tcPr/>
                </a:tc>
                <a:tc>
                  <a:txBody>
                    <a:bodyPr/>
                    <a:lstStyle/>
                    <a:p>
                      <a:r>
                        <a:rPr lang="en-US" dirty="0"/>
                        <a:t>Notes</a:t>
                      </a:r>
                    </a:p>
                  </a:txBody>
                  <a:tcPr/>
                </a:tc>
                <a:extLst>
                  <a:ext uri="{0D108BD9-81ED-4DB2-BD59-A6C34878D82A}">
                    <a16:rowId xmlns:a16="http://schemas.microsoft.com/office/drawing/2014/main" val="2141089410"/>
                  </a:ext>
                </a:extLst>
              </a:tr>
              <a:tr h="370840">
                <a:tc>
                  <a:txBody>
                    <a:bodyPr/>
                    <a:lstStyle/>
                    <a:p>
                      <a:r>
                        <a:rPr lang="en-US" dirty="0"/>
                        <a:t>Primary</a:t>
                      </a:r>
                    </a:p>
                  </a:txBody>
                  <a:tcPr/>
                </a:tc>
                <a:tc>
                  <a:txBody>
                    <a:bodyPr/>
                    <a:lstStyle/>
                    <a:p>
                      <a:r>
                        <a:rPr lang="en-US" dirty="0"/>
                        <a:t>Accent 3 @ 20%</a:t>
                      </a:r>
                    </a:p>
                  </a:txBody>
                  <a:tcPr/>
                </a:tc>
                <a:tc>
                  <a:txBody>
                    <a:bodyPr/>
                    <a:lstStyle/>
                    <a:p>
                      <a:r>
                        <a:rPr lang="en-US" dirty="0"/>
                        <a:t>None</a:t>
                      </a:r>
                    </a:p>
                  </a:txBody>
                  <a:tcPr/>
                </a:tc>
                <a:tc>
                  <a:txBody>
                    <a:bodyPr/>
                    <a:lstStyle/>
                    <a:p>
                      <a:r>
                        <a:rPr lang="en-US" dirty="0"/>
                        <a:t>Dark 1</a:t>
                      </a:r>
                    </a:p>
                  </a:txBody>
                  <a:tcPr/>
                </a:tc>
                <a:tc>
                  <a:txBody>
                    <a:bodyPr/>
                    <a:lstStyle/>
                    <a:p>
                      <a:r>
                        <a:rPr lang="en-US" dirty="0"/>
                        <a:t>For active context boxes</a:t>
                      </a:r>
                    </a:p>
                  </a:txBody>
                  <a:tcPr/>
                </a:tc>
                <a:extLst>
                  <a:ext uri="{0D108BD9-81ED-4DB2-BD59-A6C34878D82A}">
                    <a16:rowId xmlns:a16="http://schemas.microsoft.com/office/drawing/2014/main" val="2172972433"/>
                  </a:ext>
                </a:extLst>
              </a:tr>
              <a:tr h="370840">
                <a:tc>
                  <a:txBody>
                    <a:bodyPr/>
                    <a:lstStyle/>
                    <a:p>
                      <a:r>
                        <a:rPr lang="en-US" dirty="0"/>
                        <a:t>Secondary</a:t>
                      </a:r>
                    </a:p>
                  </a:txBody>
                  <a:tcPr/>
                </a:tc>
                <a:tc>
                  <a:txBody>
                    <a:bodyPr/>
                    <a:lstStyle/>
                    <a:p>
                      <a:r>
                        <a:rPr lang="en-US" dirty="0"/>
                        <a:t>Accent 2 @ 20%</a:t>
                      </a:r>
                    </a:p>
                  </a:txBody>
                  <a:tcPr/>
                </a:tc>
                <a:tc>
                  <a:txBody>
                    <a:bodyPr/>
                    <a:lstStyle/>
                    <a:p>
                      <a:r>
                        <a:rPr lang="en-US" dirty="0"/>
                        <a:t>None</a:t>
                      </a:r>
                    </a:p>
                  </a:txBody>
                  <a:tcPr/>
                </a:tc>
                <a:tc>
                  <a:txBody>
                    <a:bodyPr/>
                    <a:lstStyle/>
                    <a:p>
                      <a:r>
                        <a:rPr lang="en-US" dirty="0"/>
                        <a:t>Dark 1</a:t>
                      </a:r>
                    </a:p>
                  </a:txBody>
                  <a:tcPr/>
                </a:tc>
                <a:tc>
                  <a:txBody>
                    <a:bodyPr/>
                    <a:lstStyle/>
                    <a:p>
                      <a:r>
                        <a:rPr lang="en-US" dirty="0"/>
                        <a:t>Supporting or alternate boxes</a:t>
                      </a:r>
                    </a:p>
                  </a:txBody>
                  <a:tcPr/>
                </a:tc>
                <a:extLst>
                  <a:ext uri="{0D108BD9-81ED-4DB2-BD59-A6C34878D82A}">
                    <a16:rowId xmlns:a16="http://schemas.microsoft.com/office/drawing/2014/main" val="1901950008"/>
                  </a:ext>
                </a:extLst>
              </a:tr>
              <a:tr h="370840">
                <a:tc>
                  <a:txBody>
                    <a:bodyPr/>
                    <a:lstStyle/>
                    <a:p>
                      <a:r>
                        <a:rPr lang="en-US" dirty="0"/>
                        <a:t>Inactive</a:t>
                      </a:r>
                    </a:p>
                  </a:txBody>
                  <a:tcPr/>
                </a:tc>
                <a:tc>
                  <a:txBody>
                    <a:bodyPr/>
                    <a:lstStyle/>
                    <a:p>
                      <a:r>
                        <a:rPr lang="en-US" dirty="0"/>
                        <a:t>Accent 3 or 2</a:t>
                      </a:r>
                    </a:p>
                  </a:txBody>
                  <a:tcPr/>
                </a:tc>
                <a:tc>
                  <a:txBody>
                    <a:bodyPr/>
                    <a:lstStyle/>
                    <a:p>
                      <a:r>
                        <a:rPr lang="en-US" dirty="0"/>
                        <a:t>Shadow overlay @ 20% opacity</a:t>
                      </a:r>
                    </a:p>
                  </a:txBody>
                  <a:tcPr/>
                </a:tc>
                <a:tc>
                  <a:txBody>
                    <a:bodyPr/>
                    <a:lstStyle/>
                    <a:p>
                      <a:r>
                        <a:rPr lang="en-US" dirty="0"/>
                        <a:t>Accent 6</a:t>
                      </a:r>
                    </a:p>
                  </a:txBody>
                  <a:tcPr/>
                </a:tc>
                <a:tc>
                  <a:txBody>
                    <a:bodyPr/>
                    <a:lstStyle/>
                    <a:p>
                      <a:r>
                        <a:rPr lang="en-US" dirty="0"/>
                        <a:t>Creates depth, dims focus </a:t>
                      </a:r>
                      <a:r>
                        <a:rPr lang="en-US" dirty="0" err="1"/>
                        <a:t>interntionally</a:t>
                      </a:r>
                      <a:endParaRPr lang="en-US" dirty="0"/>
                    </a:p>
                  </a:txBody>
                  <a:tcPr/>
                </a:tc>
                <a:extLst>
                  <a:ext uri="{0D108BD9-81ED-4DB2-BD59-A6C34878D82A}">
                    <a16:rowId xmlns:a16="http://schemas.microsoft.com/office/drawing/2014/main" val="1018124002"/>
                  </a:ext>
                </a:extLst>
              </a:tr>
            </a:tbl>
          </a:graphicData>
        </a:graphic>
      </p:graphicFrame>
      <p:sp>
        <p:nvSpPr>
          <p:cNvPr id="3" name="Title 2">
            <a:extLst>
              <a:ext uri="{FF2B5EF4-FFF2-40B4-BE49-F238E27FC236}">
                <a16:creationId xmlns:a16="http://schemas.microsoft.com/office/drawing/2014/main" id="{5EBC1767-F74D-07B5-0B3C-CD23EF1A803C}"/>
              </a:ext>
            </a:extLst>
          </p:cNvPr>
          <p:cNvSpPr>
            <a:spLocks noGrp="1"/>
          </p:cNvSpPr>
          <p:nvPr>
            <p:ph type="title"/>
          </p:nvPr>
        </p:nvSpPr>
        <p:spPr/>
        <p:txBody>
          <a:bodyPr/>
          <a:lstStyle/>
          <a:p>
            <a:r>
              <a:rPr lang="en-US" dirty="0"/>
              <a:t>Style Guide: Content Box Fill Styling</a:t>
            </a:r>
          </a:p>
        </p:txBody>
      </p:sp>
    </p:spTree>
    <p:extLst>
      <p:ext uri="{BB962C8B-B14F-4D97-AF65-F5344CB8AC3E}">
        <p14:creationId xmlns:p14="http://schemas.microsoft.com/office/powerpoint/2010/main" val="982892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8A398-6BB4-E1B2-C725-B911387700B6}"/>
              </a:ext>
            </a:extLst>
          </p:cNvPr>
          <p:cNvSpPr>
            <a:spLocks noGrp="1"/>
          </p:cNvSpPr>
          <p:nvPr>
            <p:ph type="title"/>
          </p:nvPr>
        </p:nvSpPr>
        <p:spPr/>
        <p:txBody>
          <a:bodyPr/>
          <a:lstStyle/>
          <a:p>
            <a:r>
              <a:rPr lang="en-US" dirty="0"/>
              <a:t>Resilience &amp; Reliability</a:t>
            </a:r>
          </a:p>
        </p:txBody>
      </p:sp>
    </p:spTree>
    <p:extLst>
      <p:ext uri="{BB962C8B-B14F-4D97-AF65-F5344CB8AC3E}">
        <p14:creationId xmlns:p14="http://schemas.microsoft.com/office/powerpoint/2010/main" val="2462097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99252-CD32-4B27-60F9-9070BC611465}"/>
              </a:ext>
            </a:extLst>
          </p:cNvPr>
          <p:cNvSpPr>
            <a:spLocks noGrp="1"/>
          </p:cNvSpPr>
          <p:nvPr>
            <p:ph type="title"/>
          </p:nvPr>
        </p:nvSpPr>
        <p:spPr/>
        <p:txBody>
          <a:bodyPr/>
          <a:lstStyle/>
          <a:p>
            <a:r>
              <a:rPr lang="en-US" dirty="0"/>
              <a:t>Resilience &amp; </a:t>
            </a:r>
            <a:r>
              <a:rPr lang="en-US" dirty="0" err="1"/>
              <a:t>Reliablity</a:t>
            </a:r>
            <a:endParaRPr lang="en-US" dirty="0"/>
          </a:p>
        </p:txBody>
      </p:sp>
      <p:sp>
        <p:nvSpPr>
          <p:cNvPr id="3" name="Text Placeholder 2">
            <a:extLst>
              <a:ext uri="{FF2B5EF4-FFF2-40B4-BE49-F238E27FC236}">
                <a16:creationId xmlns:a16="http://schemas.microsoft.com/office/drawing/2014/main" id="{8875017E-4C80-F15D-0465-078C6C3E91F2}"/>
              </a:ext>
            </a:extLst>
          </p:cNvPr>
          <p:cNvSpPr>
            <a:spLocks noGrp="1"/>
          </p:cNvSpPr>
          <p:nvPr>
            <p:ph type="body" sz="quarter" idx="10"/>
          </p:nvPr>
        </p:nvSpPr>
        <p:spPr/>
        <p:txBody>
          <a:bodyPr/>
          <a:lstStyle/>
          <a:p>
            <a:r>
              <a:rPr lang="en-US" dirty="0"/>
              <a:t>Pattern 1: Circuit Breaker</a:t>
            </a:r>
          </a:p>
        </p:txBody>
      </p:sp>
    </p:spTree>
    <p:extLst>
      <p:ext uri="{BB962C8B-B14F-4D97-AF65-F5344CB8AC3E}">
        <p14:creationId xmlns:p14="http://schemas.microsoft.com/office/powerpoint/2010/main" val="2805776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69F86-118A-0F08-8294-CFDD5249E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C870E-27EB-E96D-6F66-0F6B90168116}"/>
              </a:ext>
            </a:extLst>
          </p:cNvPr>
          <p:cNvSpPr>
            <a:spLocks noGrp="1"/>
          </p:cNvSpPr>
          <p:nvPr>
            <p:ph type="title"/>
          </p:nvPr>
        </p:nvSpPr>
        <p:spPr/>
        <p:txBody>
          <a:bodyPr>
            <a:normAutofit/>
          </a:bodyPr>
          <a:lstStyle/>
          <a:p>
            <a:r>
              <a:rPr lang="en-US" dirty="0"/>
              <a:t>What is the Circuit Breaker Pattern</a:t>
            </a:r>
          </a:p>
        </p:txBody>
      </p:sp>
      <p:sp>
        <p:nvSpPr>
          <p:cNvPr id="3" name="Primary Context Box">
            <a:extLst>
              <a:ext uri="{FF2B5EF4-FFF2-40B4-BE49-F238E27FC236}">
                <a16:creationId xmlns:a16="http://schemas.microsoft.com/office/drawing/2014/main" id="{F4A35A1A-F1C9-5787-D115-E3D4C9BFEDFF}"/>
              </a:ext>
            </a:extLst>
          </p:cNvPr>
          <p:cNvSpPr/>
          <p:nvPr/>
        </p:nvSpPr>
        <p:spPr>
          <a:xfrm>
            <a:off x="1178332" y="2498725"/>
            <a:ext cx="4553977" cy="185896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Detects and handles failures gracefully</a:t>
            </a:r>
          </a:p>
        </p:txBody>
      </p:sp>
      <p:sp>
        <p:nvSpPr>
          <p:cNvPr id="4" name="Secondary Content Box">
            <a:extLst>
              <a:ext uri="{FF2B5EF4-FFF2-40B4-BE49-F238E27FC236}">
                <a16:creationId xmlns:a16="http://schemas.microsoft.com/office/drawing/2014/main" id="{49A20458-A20F-A955-6B97-5B4341DBB087}"/>
              </a:ext>
            </a:extLst>
          </p:cNvPr>
          <p:cNvSpPr/>
          <p:nvPr/>
        </p:nvSpPr>
        <p:spPr>
          <a:xfrm>
            <a:off x="6459690" y="2498724"/>
            <a:ext cx="4515485" cy="1858963"/>
          </a:xfrm>
          <a:prstGeom prst="roundRect">
            <a:avLst>
              <a:gd name="adj" fmla="val 16667"/>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Improve system resilience and stability</a:t>
            </a:r>
          </a:p>
        </p:txBody>
      </p:sp>
    </p:spTree>
    <p:extLst>
      <p:ext uri="{BB962C8B-B14F-4D97-AF65-F5344CB8AC3E}">
        <p14:creationId xmlns:p14="http://schemas.microsoft.com/office/powerpoint/2010/main" val="1717261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800D9-E063-5A79-EE7F-5497A6C49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09A378-85CE-E1DC-8C2A-3AC72D3262C2}"/>
              </a:ext>
            </a:extLst>
          </p:cNvPr>
          <p:cNvSpPr>
            <a:spLocks noGrp="1"/>
          </p:cNvSpPr>
          <p:nvPr>
            <p:ph type="title"/>
          </p:nvPr>
        </p:nvSpPr>
        <p:spPr/>
        <p:txBody>
          <a:bodyPr/>
          <a:lstStyle/>
          <a:p>
            <a:r>
              <a:rPr lang="en-US" dirty="0"/>
              <a:t>Key Components &amp; Flow</a:t>
            </a:r>
          </a:p>
        </p:txBody>
      </p:sp>
      <p:sp>
        <p:nvSpPr>
          <p:cNvPr id="104" name="Rectangle: Rounded Corners 103">
            <a:extLst>
              <a:ext uri="{FF2B5EF4-FFF2-40B4-BE49-F238E27FC236}">
                <a16:creationId xmlns:a16="http://schemas.microsoft.com/office/drawing/2014/main" id="{E5E5B047-BD40-3FBA-6FCD-FBB32386029A}"/>
              </a:ext>
            </a:extLst>
          </p:cNvPr>
          <p:cNvSpPr/>
          <p:nvPr/>
        </p:nvSpPr>
        <p:spPr>
          <a:xfrm>
            <a:off x="1958975" y="2589212"/>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Circuit Breaker State</a:t>
            </a:r>
          </a:p>
        </p:txBody>
      </p:sp>
      <p:sp>
        <p:nvSpPr>
          <p:cNvPr id="105" name="Rectangle: Rounded Corners 104">
            <a:extLst>
              <a:ext uri="{FF2B5EF4-FFF2-40B4-BE49-F238E27FC236}">
                <a16:creationId xmlns:a16="http://schemas.microsoft.com/office/drawing/2014/main" id="{83757A5E-618D-5A32-12BC-FAD963081A27}"/>
              </a:ext>
            </a:extLst>
          </p:cNvPr>
          <p:cNvSpPr/>
          <p:nvPr/>
        </p:nvSpPr>
        <p:spPr>
          <a:xfrm>
            <a:off x="6656387" y="2609056"/>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Failure Threshold</a:t>
            </a:r>
          </a:p>
        </p:txBody>
      </p:sp>
      <p:sp>
        <p:nvSpPr>
          <p:cNvPr id="106" name="Rectangle: Rounded Corners 105">
            <a:extLst>
              <a:ext uri="{FF2B5EF4-FFF2-40B4-BE49-F238E27FC236}">
                <a16:creationId xmlns:a16="http://schemas.microsoft.com/office/drawing/2014/main" id="{F7C29DFD-E0A3-00C8-5EB8-73F19DA22AA9}"/>
              </a:ext>
            </a:extLst>
          </p:cNvPr>
          <p:cNvSpPr/>
          <p:nvPr/>
        </p:nvSpPr>
        <p:spPr>
          <a:xfrm>
            <a:off x="1958975" y="3631407"/>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Fallback Mechanism</a:t>
            </a:r>
          </a:p>
        </p:txBody>
      </p:sp>
      <p:sp>
        <p:nvSpPr>
          <p:cNvPr id="3" name="Rectangle: Rounded Corners 2">
            <a:extLst>
              <a:ext uri="{FF2B5EF4-FFF2-40B4-BE49-F238E27FC236}">
                <a16:creationId xmlns:a16="http://schemas.microsoft.com/office/drawing/2014/main" id="{00294123-BAF1-E5A8-A80D-DDDBC2BB2D2B}"/>
              </a:ext>
            </a:extLst>
          </p:cNvPr>
          <p:cNvSpPr/>
          <p:nvPr/>
        </p:nvSpPr>
        <p:spPr>
          <a:xfrm>
            <a:off x="6656387" y="3631407"/>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Recovery Logic</a:t>
            </a:r>
          </a:p>
        </p:txBody>
      </p:sp>
    </p:spTree>
    <p:extLst>
      <p:ext uri="{BB962C8B-B14F-4D97-AF65-F5344CB8AC3E}">
        <p14:creationId xmlns:p14="http://schemas.microsoft.com/office/powerpoint/2010/main" val="2942604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C9B6A-C757-E935-D9F9-C40C6CA0F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0A4FD-E0D4-5821-AF74-3EAA4158AB5E}"/>
              </a:ext>
            </a:extLst>
          </p:cNvPr>
          <p:cNvSpPr>
            <a:spLocks noGrp="1"/>
          </p:cNvSpPr>
          <p:nvPr>
            <p:ph type="title"/>
          </p:nvPr>
        </p:nvSpPr>
        <p:spPr/>
        <p:txBody>
          <a:bodyPr/>
          <a:lstStyle/>
          <a:p>
            <a:r>
              <a:rPr lang="en-US" dirty="0"/>
              <a:t>Key Components &amp; Flow</a:t>
            </a:r>
          </a:p>
        </p:txBody>
      </p:sp>
      <p:sp>
        <p:nvSpPr>
          <p:cNvPr id="104" name="Rectangle: Rounded Corners 103">
            <a:extLst>
              <a:ext uri="{FF2B5EF4-FFF2-40B4-BE49-F238E27FC236}">
                <a16:creationId xmlns:a16="http://schemas.microsoft.com/office/drawing/2014/main" id="{FF75EE29-F013-5598-2C2B-69218153CD54}"/>
              </a:ext>
            </a:extLst>
          </p:cNvPr>
          <p:cNvSpPr/>
          <p:nvPr/>
        </p:nvSpPr>
        <p:spPr>
          <a:xfrm>
            <a:off x="547688" y="189384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Circuit Breaker State</a:t>
            </a:r>
          </a:p>
        </p:txBody>
      </p:sp>
      <p:sp>
        <p:nvSpPr>
          <p:cNvPr id="105" name="Rectangle: Rounded Corners 104">
            <a:extLst>
              <a:ext uri="{FF2B5EF4-FFF2-40B4-BE49-F238E27FC236}">
                <a16:creationId xmlns:a16="http://schemas.microsoft.com/office/drawing/2014/main" id="{229A2DE9-9696-4539-4986-FB8BC06A363C}"/>
              </a:ext>
            </a:extLst>
          </p:cNvPr>
          <p:cNvSpPr/>
          <p:nvPr/>
        </p:nvSpPr>
        <p:spPr>
          <a:xfrm>
            <a:off x="536431" y="292265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Failure Threshold</a:t>
            </a:r>
          </a:p>
        </p:txBody>
      </p:sp>
      <p:sp>
        <p:nvSpPr>
          <p:cNvPr id="106" name="Rectangle: Rounded Corners 105">
            <a:extLst>
              <a:ext uri="{FF2B5EF4-FFF2-40B4-BE49-F238E27FC236}">
                <a16:creationId xmlns:a16="http://schemas.microsoft.com/office/drawing/2014/main" id="{F5B180C1-9D25-AC3B-7DEA-E11AC5AD6DDB}"/>
              </a:ext>
            </a:extLst>
          </p:cNvPr>
          <p:cNvSpPr/>
          <p:nvPr/>
        </p:nvSpPr>
        <p:spPr>
          <a:xfrm>
            <a:off x="546100" y="3943414"/>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Fallback Mechanism</a:t>
            </a:r>
          </a:p>
        </p:txBody>
      </p:sp>
      <p:sp>
        <p:nvSpPr>
          <p:cNvPr id="3" name="Rectangle: Rounded Corners 2">
            <a:extLst>
              <a:ext uri="{FF2B5EF4-FFF2-40B4-BE49-F238E27FC236}">
                <a16:creationId xmlns:a16="http://schemas.microsoft.com/office/drawing/2014/main" id="{1821475E-3B3D-C7DE-466E-3DCD68969F71}"/>
              </a:ext>
            </a:extLst>
          </p:cNvPr>
          <p:cNvSpPr/>
          <p:nvPr/>
        </p:nvSpPr>
        <p:spPr>
          <a:xfrm>
            <a:off x="547688" y="4972224"/>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Recovery Logic</a:t>
            </a:r>
          </a:p>
        </p:txBody>
      </p:sp>
      <p:sp>
        <p:nvSpPr>
          <p:cNvPr id="6" name="Rectangle: Rounded Corners 5">
            <a:extLst>
              <a:ext uri="{FF2B5EF4-FFF2-40B4-BE49-F238E27FC236}">
                <a16:creationId xmlns:a16="http://schemas.microsoft.com/office/drawing/2014/main" id="{F2B0D088-8E9C-2C94-03D4-FA303273A316}"/>
              </a:ext>
            </a:extLst>
          </p:cNvPr>
          <p:cNvSpPr/>
          <p:nvPr/>
        </p:nvSpPr>
        <p:spPr>
          <a:xfrm>
            <a:off x="7263777" y="3162248"/>
            <a:ext cx="3422076"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7" name="Oval 6">
            <a:extLst>
              <a:ext uri="{FF2B5EF4-FFF2-40B4-BE49-F238E27FC236}">
                <a16:creationId xmlns:a16="http://schemas.microsoft.com/office/drawing/2014/main" id="{C9F6A555-C333-59C0-D5F1-830DE0498102}"/>
              </a:ext>
            </a:extLst>
          </p:cNvPr>
          <p:cNvSpPr/>
          <p:nvPr/>
        </p:nvSpPr>
        <p:spPr>
          <a:xfrm>
            <a:off x="11327729" y="310065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8" name="Oval 7">
            <a:extLst>
              <a:ext uri="{FF2B5EF4-FFF2-40B4-BE49-F238E27FC236}">
                <a16:creationId xmlns:a16="http://schemas.microsoft.com/office/drawing/2014/main" id="{380BBEA0-D60F-9563-AF8F-D24686F390AC}"/>
              </a:ext>
            </a:extLst>
          </p:cNvPr>
          <p:cNvSpPr/>
          <p:nvPr/>
        </p:nvSpPr>
        <p:spPr>
          <a:xfrm>
            <a:off x="4276944" y="308550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9" name="Rectangle: Rounded Corners 8">
            <a:extLst>
              <a:ext uri="{FF2B5EF4-FFF2-40B4-BE49-F238E27FC236}">
                <a16:creationId xmlns:a16="http://schemas.microsoft.com/office/drawing/2014/main" id="{82665D44-B0F8-360B-745C-DFBE4DE60403}"/>
              </a:ext>
            </a:extLst>
          </p:cNvPr>
          <p:cNvSpPr/>
          <p:nvPr/>
        </p:nvSpPr>
        <p:spPr>
          <a:xfrm>
            <a:off x="5648445" y="2582777"/>
            <a:ext cx="599440" cy="1722743"/>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2E240444-69B6-1D13-79AC-AB057994AE4E}"/>
              </a:ext>
            </a:extLst>
          </p:cNvPr>
          <p:cNvCxnSpPr>
            <a:cxnSpLocks/>
            <a:stCxn id="8" idx="6"/>
            <a:endCxn id="9" idx="1"/>
          </p:cNvCxnSpPr>
          <p:nvPr/>
        </p:nvCxnSpPr>
        <p:spPr>
          <a:xfrm>
            <a:off x="5006569" y="3429000"/>
            <a:ext cx="641876" cy="15149"/>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48CCFB9-A9F7-590D-D207-A8C244567468}"/>
              </a:ext>
            </a:extLst>
          </p:cNvPr>
          <p:cNvCxnSpPr>
            <a:cxnSpLocks/>
            <a:stCxn id="9" idx="3"/>
            <a:endCxn id="6" idx="1"/>
          </p:cNvCxnSpPr>
          <p:nvPr/>
        </p:nvCxnSpPr>
        <p:spPr>
          <a:xfrm>
            <a:off x="6247885" y="3444149"/>
            <a:ext cx="1015892"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7837BF5-9509-610B-8FE0-47E43106F3E3}"/>
              </a:ext>
            </a:extLst>
          </p:cNvPr>
          <p:cNvCxnSpPr>
            <a:stCxn id="6" idx="3"/>
            <a:endCxn id="7" idx="2"/>
          </p:cNvCxnSpPr>
          <p:nvPr/>
        </p:nvCxnSpPr>
        <p:spPr>
          <a:xfrm>
            <a:off x="10685853" y="3444149"/>
            <a:ext cx="641876"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BD23BF7-DEAD-DB5B-B827-06E2F46458B2}"/>
              </a:ext>
            </a:extLst>
          </p:cNvPr>
          <p:cNvSpPr txBox="1"/>
          <p:nvPr/>
        </p:nvSpPr>
        <p:spPr>
          <a:xfrm>
            <a:off x="5495573" y="4481402"/>
            <a:ext cx="905184" cy="646331"/>
          </a:xfrm>
          <a:prstGeom prst="rect">
            <a:avLst/>
          </a:prstGeom>
          <a:noFill/>
        </p:spPr>
        <p:txBody>
          <a:bodyPr wrap="none" rtlCol="0">
            <a:spAutoFit/>
          </a:bodyPr>
          <a:lstStyle/>
          <a:p>
            <a:pPr algn="ctr"/>
            <a:r>
              <a:rPr lang="en-US" dirty="0"/>
              <a:t>Circuit</a:t>
            </a:r>
            <a:br>
              <a:rPr lang="en-US" dirty="0"/>
            </a:br>
            <a:r>
              <a:rPr lang="en-US" dirty="0"/>
              <a:t>Breaker</a:t>
            </a:r>
          </a:p>
        </p:txBody>
      </p:sp>
      <p:sp>
        <p:nvSpPr>
          <p:cNvPr id="14" name="TextBox 13">
            <a:extLst>
              <a:ext uri="{FF2B5EF4-FFF2-40B4-BE49-F238E27FC236}">
                <a16:creationId xmlns:a16="http://schemas.microsoft.com/office/drawing/2014/main" id="{E237FA75-9F58-CB54-9EAC-B49CC771F61F}"/>
              </a:ext>
            </a:extLst>
          </p:cNvPr>
          <p:cNvSpPr txBox="1"/>
          <p:nvPr/>
        </p:nvSpPr>
        <p:spPr>
          <a:xfrm>
            <a:off x="8279592" y="3913730"/>
            <a:ext cx="1390445" cy="369332"/>
          </a:xfrm>
          <a:prstGeom prst="rect">
            <a:avLst/>
          </a:prstGeom>
          <a:noFill/>
        </p:spPr>
        <p:txBody>
          <a:bodyPr wrap="none" rtlCol="0">
            <a:spAutoFit/>
          </a:bodyPr>
          <a:lstStyle/>
          <a:p>
            <a:r>
              <a:rPr lang="en-US" dirty="0"/>
              <a:t>Queue/Topic</a:t>
            </a:r>
          </a:p>
        </p:txBody>
      </p:sp>
      <p:sp>
        <p:nvSpPr>
          <p:cNvPr id="15" name="TextBox 14">
            <a:extLst>
              <a:ext uri="{FF2B5EF4-FFF2-40B4-BE49-F238E27FC236}">
                <a16:creationId xmlns:a16="http://schemas.microsoft.com/office/drawing/2014/main" id="{36D1273D-0C99-0373-3564-0F69DD83F486}"/>
              </a:ext>
            </a:extLst>
          </p:cNvPr>
          <p:cNvSpPr txBox="1"/>
          <p:nvPr/>
        </p:nvSpPr>
        <p:spPr>
          <a:xfrm>
            <a:off x="11059869" y="3914471"/>
            <a:ext cx="1143262" cy="369332"/>
          </a:xfrm>
          <a:prstGeom prst="rect">
            <a:avLst/>
          </a:prstGeom>
          <a:noFill/>
        </p:spPr>
        <p:txBody>
          <a:bodyPr wrap="none" rtlCol="0">
            <a:spAutoFit/>
          </a:bodyPr>
          <a:lstStyle/>
          <a:p>
            <a:r>
              <a:rPr lang="en-US" dirty="0"/>
              <a:t>Consumer</a:t>
            </a:r>
          </a:p>
        </p:txBody>
      </p:sp>
      <p:pic>
        <p:nvPicPr>
          <p:cNvPr id="16" name="Picture 15" descr="Free Envelope Clipart Black And White, Download Free Envelope Clipart Black  And White png images, Free ClipArts on Clipart Library">
            <a:extLst>
              <a:ext uri="{FF2B5EF4-FFF2-40B4-BE49-F238E27FC236}">
                <a16:creationId xmlns:a16="http://schemas.microsoft.com/office/drawing/2014/main" id="{8DDBDD31-E28B-089C-DD6A-8A5A7885A6A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375143" y="324447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Free Envelope Clipart Black And White, Download Free Envelope Clipart Black  And White png images, Free ClipArts on Clipart Library">
            <a:extLst>
              <a:ext uri="{FF2B5EF4-FFF2-40B4-BE49-F238E27FC236}">
                <a16:creationId xmlns:a16="http://schemas.microsoft.com/office/drawing/2014/main" id="{17B6C09A-AA9D-8606-1421-4E150CB9282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673109" y="3259622"/>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4616B204-263F-FF5C-391D-325D4F72AC59}"/>
              </a:ext>
            </a:extLst>
          </p:cNvPr>
          <p:cNvSpPr txBox="1"/>
          <p:nvPr/>
        </p:nvSpPr>
        <p:spPr>
          <a:xfrm>
            <a:off x="6271988" y="3464883"/>
            <a:ext cx="809837" cy="369332"/>
          </a:xfrm>
          <a:prstGeom prst="rect">
            <a:avLst/>
          </a:prstGeom>
          <a:noFill/>
        </p:spPr>
        <p:txBody>
          <a:bodyPr wrap="square" rtlCol="0">
            <a:spAutoFit/>
          </a:bodyPr>
          <a:lstStyle/>
          <a:p>
            <a:r>
              <a:rPr lang="en-US" b="1" dirty="0">
                <a:solidFill>
                  <a:srgbClr val="FF0000"/>
                </a:solidFill>
              </a:rPr>
              <a:t>Closed</a:t>
            </a:r>
          </a:p>
        </p:txBody>
      </p:sp>
      <p:sp>
        <p:nvSpPr>
          <p:cNvPr id="31" name="TextBox 30">
            <a:extLst>
              <a:ext uri="{FF2B5EF4-FFF2-40B4-BE49-F238E27FC236}">
                <a16:creationId xmlns:a16="http://schemas.microsoft.com/office/drawing/2014/main" id="{41F7849A-1870-4C73-BBF7-D29E14881600}"/>
              </a:ext>
            </a:extLst>
          </p:cNvPr>
          <p:cNvSpPr txBox="1"/>
          <p:nvPr/>
        </p:nvSpPr>
        <p:spPr>
          <a:xfrm>
            <a:off x="6339533" y="3062667"/>
            <a:ext cx="702436" cy="369332"/>
          </a:xfrm>
          <a:prstGeom prst="rect">
            <a:avLst/>
          </a:prstGeom>
          <a:noFill/>
        </p:spPr>
        <p:txBody>
          <a:bodyPr wrap="none" rtlCol="0">
            <a:spAutoFit/>
          </a:bodyPr>
          <a:lstStyle/>
          <a:p>
            <a:r>
              <a:rPr lang="en-US" b="1" dirty="0">
                <a:solidFill>
                  <a:srgbClr val="00B050"/>
                </a:solidFill>
              </a:rPr>
              <a:t>Open</a:t>
            </a:r>
          </a:p>
        </p:txBody>
      </p:sp>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D3C274E7-4A99-1A78-C0CB-182DC557A9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00938" y="325204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081C7A44-DE41-1D54-B52C-3195E346A1B4}"/>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424644" y="326346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FDEE8DAE-B95C-C08F-683F-9FEF46A585B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373896" y="324447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59E5B4B1-8C62-9571-0780-23128E4CE91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672110" y="324945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37F8BB41-3F88-F3D6-CF70-AA45BDDE2D7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377605" y="324447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C47725FA-5F49-3599-D09C-2EB2C6A144E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680305" y="325204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C4656996-8408-E4F1-EA2F-160C097D260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00938" y="32596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69E950E1-E491-182C-ABC9-F4E88D78189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424644" y="3269001"/>
            <a:ext cx="535720" cy="369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2585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42" presetClass="path" presetSubtype="0" accel="50000" decel="50000" fill="hold" nodeType="afterEffect">
                                  <p:stCondLst>
                                    <p:cond delay="0"/>
                                  </p:stCondLst>
                                  <p:childTnLst>
                                    <p:animMotion origin="layout" path="M 5E-6 0 L 0.10691 0.00231 " pathEditMode="relative" rAng="0" ptsTypes="AA">
                                      <p:cBhvr>
                                        <p:cTn id="10" dur="500" fill="hold"/>
                                        <p:tgtEl>
                                          <p:spTgt spid="16"/>
                                        </p:tgtEl>
                                        <p:attrNameLst>
                                          <p:attrName>ppt_x</p:attrName>
                                          <p:attrName>ppt_y</p:attrName>
                                        </p:attrNameLst>
                                      </p:cBhvr>
                                      <p:rCtr x="5339" y="116"/>
                                    </p:animMotion>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16"/>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nodeType="clickEffect">
                                  <p:stCondLst>
                                    <p:cond delay="0"/>
                                  </p:stCondLst>
                                  <p:childTnLst>
                                    <p:animMotion origin="layout" path="M 4.58333E-6 -3.33333E-6 L 0.35494 -3.33333E-6 " pathEditMode="relative" rAng="0" ptsTypes="AA">
                                      <p:cBhvr>
                                        <p:cTn id="19" dur="500" fill="hold"/>
                                        <p:tgtEl>
                                          <p:spTgt spid="17"/>
                                        </p:tgtEl>
                                        <p:attrNameLst>
                                          <p:attrName>ppt_x</p:attrName>
                                          <p:attrName>ppt_y</p:attrName>
                                        </p:attrNameLst>
                                      </p:cBhvr>
                                      <p:rCtr x="17747" y="0"/>
                                    </p:animMotion>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17"/>
                                        </p:tgtEl>
                                        <p:attrNameLst>
                                          <p:attrName>style.visibility</p:attrName>
                                        </p:attrNameLst>
                                      </p:cBhvr>
                                      <p:to>
                                        <p:strVal val="hidden"/>
                                      </p:to>
                                    </p:set>
                                  </p:childTnLst>
                                </p:cTn>
                              </p:par>
                            </p:childTnLst>
                          </p:cTn>
                        </p:par>
                        <p:par>
                          <p:cTn id="25" fill="hold">
                            <p:stCondLst>
                              <p:cond delay="500"/>
                            </p:stCondLst>
                            <p:childTnLst>
                              <p:par>
                                <p:cTn id="26" presetID="42" presetClass="path" presetSubtype="0" accel="50000" decel="50000" fill="hold" nodeType="afterEffect">
                                  <p:stCondLst>
                                    <p:cond delay="0"/>
                                  </p:stCondLst>
                                  <p:childTnLst>
                                    <p:animMotion origin="layout" path="M -3.33333E-6 2.59259E-6 L 0.11758 0.00115 " pathEditMode="relative" rAng="0" ptsTypes="AA">
                                      <p:cBhvr>
                                        <p:cTn id="27" dur="500" fill="hold"/>
                                        <p:tgtEl>
                                          <p:spTgt spid="32"/>
                                        </p:tgtEl>
                                        <p:attrNameLst>
                                          <p:attrName>ppt_x</p:attrName>
                                          <p:attrName>ppt_y</p:attrName>
                                        </p:attrNameLst>
                                      </p:cBhvr>
                                      <p:rCtr x="5872" y="46"/>
                                    </p:animMotion>
                                  </p:childTnLst>
                                </p:cTn>
                              </p:par>
                            </p:childTnLst>
                          </p:cTn>
                        </p:par>
                        <p:par>
                          <p:cTn id="28" fill="hold">
                            <p:stCondLst>
                              <p:cond delay="1000"/>
                            </p:stCondLst>
                            <p:childTnLst>
                              <p:par>
                                <p:cTn id="29" presetID="1" presetClass="entr" presetSubtype="0"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32"/>
                                        </p:tgtEl>
                                        <p:attrNameLst>
                                          <p:attrName>style.visibility</p:attrName>
                                        </p:attrNameLst>
                                      </p:cBhvr>
                                      <p:to>
                                        <p:strVal val="hidden"/>
                                      </p:to>
                                    </p:set>
                                  </p:childTnLst>
                                </p:cTn>
                              </p:par>
                            </p:childTnLst>
                          </p:cTn>
                        </p:par>
                        <p:par>
                          <p:cTn id="33" fill="hold">
                            <p:stCondLst>
                              <p:cond delay="1000"/>
                            </p:stCondLst>
                            <p:childTnLst>
                              <p:par>
                                <p:cTn id="34" presetID="9" presetClass="exit" presetSubtype="0" fill="hold" nodeType="afterEffect">
                                  <p:stCondLst>
                                    <p:cond delay="0"/>
                                  </p:stCondLst>
                                  <p:childTnLst>
                                    <p:animEffect transition="out" filter="dissolve">
                                      <p:cBhvr>
                                        <p:cTn id="35" dur="500"/>
                                        <p:tgtEl>
                                          <p:spTgt spid="33"/>
                                        </p:tgtEl>
                                      </p:cBhvr>
                                    </p:animEffect>
                                    <p:set>
                                      <p:cBhvr>
                                        <p:cTn id="36" dur="1" fill="hold">
                                          <p:stCondLst>
                                            <p:cond delay="499"/>
                                          </p:stCondLst>
                                        </p:cTn>
                                        <p:tgtEl>
                                          <p:spTgt spid="33"/>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xit"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500"/>
                                        <p:tgtEl>
                                          <p:spTgt spid="34"/>
                                        </p:tgtEl>
                                      </p:cBhvr>
                                    </p:animEffect>
                                  </p:childTnLst>
                                </p:cTn>
                              </p:par>
                            </p:childTnLst>
                          </p:cTn>
                        </p:par>
                        <p:par>
                          <p:cTn id="50" fill="hold">
                            <p:stCondLst>
                              <p:cond delay="500"/>
                            </p:stCondLst>
                            <p:childTnLst>
                              <p:par>
                                <p:cTn id="51" presetID="42" presetClass="path" presetSubtype="0" accel="50000" decel="50000" fill="hold" nodeType="afterEffect">
                                  <p:stCondLst>
                                    <p:cond delay="0"/>
                                  </p:stCondLst>
                                  <p:childTnLst>
                                    <p:animMotion origin="layout" path="M -4.79167E-6 0 L 0.10664 0.00208 " pathEditMode="relative" rAng="0" ptsTypes="AA">
                                      <p:cBhvr>
                                        <p:cTn id="52" dur="500" fill="hold"/>
                                        <p:tgtEl>
                                          <p:spTgt spid="34"/>
                                        </p:tgtEl>
                                        <p:attrNameLst>
                                          <p:attrName>ppt_x</p:attrName>
                                          <p:attrName>ppt_y</p:attrName>
                                        </p:attrNameLst>
                                      </p:cBhvr>
                                      <p:rCtr x="5260" y="0"/>
                                    </p:animMotion>
                                  </p:childTnLst>
                                </p:cTn>
                              </p:par>
                            </p:childTnLst>
                          </p:cTn>
                        </p:par>
                        <p:par>
                          <p:cTn id="53" fill="hold">
                            <p:stCondLst>
                              <p:cond delay="1000"/>
                            </p:stCondLst>
                            <p:childTnLst>
                              <p:par>
                                <p:cTn id="54" presetID="1" presetClass="entr" presetSubtype="0" fill="hold" nodeType="afterEffect">
                                  <p:stCondLst>
                                    <p:cond delay="0"/>
                                  </p:stCondLst>
                                  <p:childTnLst>
                                    <p:set>
                                      <p:cBhvr>
                                        <p:cTn id="55" dur="1" fill="hold">
                                          <p:stCondLst>
                                            <p:cond delay="0"/>
                                          </p:stCondLst>
                                        </p:cTn>
                                        <p:tgtEl>
                                          <p:spTgt spid="35"/>
                                        </p:tgtEl>
                                        <p:attrNameLst>
                                          <p:attrName>style.visibility</p:attrName>
                                        </p:attrNameLst>
                                      </p:cBhvr>
                                      <p:to>
                                        <p:strVal val="visible"/>
                                      </p:to>
                                    </p:set>
                                  </p:childTnLst>
                                </p:cTn>
                              </p:par>
                              <p:par>
                                <p:cTn id="56" presetID="1" presetClass="exit" presetSubtype="0" fill="hold" nodeType="withEffect">
                                  <p:stCondLst>
                                    <p:cond delay="0"/>
                                  </p:stCondLst>
                                  <p:childTnLst>
                                    <p:set>
                                      <p:cBhvr>
                                        <p:cTn id="57" dur="1" fill="hold">
                                          <p:stCondLst>
                                            <p:cond delay="0"/>
                                          </p:stCondLst>
                                        </p:cTn>
                                        <p:tgtEl>
                                          <p:spTgt spid="34"/>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0"/>
                                  </p:stCondLst>
                                  <p:childTnLst>
                                    <p:animEffect transition="out" filter="fade">
                                      <p:cBhvr>
                                        <p:cTn id="61" dur="500"/>
                                        <p:tgtEl>
                                          <p:spTgt spid="35"/>
                                        </p:tgtEl>
                                      </p:cBhvr>
                                    </p:animEffect>
                                    <p:set>
                                      <p:cBhvr>
                                        <p:cTn id="62" dur="1" fill="hold">
                                          <p:stCondLst>
                                            <p:cond delay="499"/>
                                          </p:stCondLst>
                                        </p:cTn>
                                        <p:tgtEl>
                                          <p:spTgt spid="3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1"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30"/>
                                        </p:tgtEl>
                                        <p:attrNameLst>
                                          <p:attrName>style.visibility</p:attrName>
                                        </p:attrNameLst>
                                      </p:cBhvr>
                                      <p:to>
                                        <p:strVal val="hidden"/>
                                      </p:to>
                                    </p:set>
                                  </p:childTnLst>
                                </p:cTn>
                              </p:par>
                              <p:par>
                                <p:cTn id="69" presetID="22" presetClass="entr" presetSubtype="8" fill="hold" nodeType="with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wipe(left)">
                                      <p:cBhvr>
                                        <p:cTn id="71" dur="500"/>
                                        <p:tgtEl>
                                          <p:spTgt spid="11"/>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500"/>
                                        <p:tgtEl>
                                          <p:spTgt spid="36"/>
                                        </p:tgtEl>
                                      </p:cBhvr>
                                    </p:animEffect>
                                  </p:childTnLst>
                                </p:cTn>
                              </p:par>
                            </p:childTnLst>
                          </p:cTn>
                        </p:par>
                        <p:par>
                          <p:cTn id="77" fill="hold">
                            <p:stCondLst>
                              <p:cond delay="500"/>
                            </p:stCondLst>
                            <p:childTnLst>
                              <p:par>
                                <p:cTn id="78" presetID="42" presetClass="path" presetSubtype="0" accel="50000" decel="50000" fill="hold" nodeType="afterEffect">
                                  <p:stCondLst>
                                    <p:cond delay="0"/>
                                  </p:stCondLst>
                                  <p:childTnLst>
                                    <p:animMotion origin="layout" path="M 4.79167E-6 0 L 0.10638 0.00208 " pathEditMode="relative" rAng="0" ptsTypes="AA">
                                      <p:cBhvr>
                                        <p:cTn id="79" dur="500" fill="hold"/>
                                        <p:tgtEl>
                                          <p:spTgt spid="36"/>
                                        </p:tgtEl>
                                        <p:attrNameLst>
                                          <p:attrName>ppt_x</p:attrName>
                                          <p:attrName>ppt_y</p:attrName>
                                        </p:attrNameLst>
                                      </p:cBhvr>
                                      <p:rCtr x="5339" y="116"/>
                                    </p:animMotion>
                                  </p:childTnLst>
                                </p:cTn>
                              </p:par>
                            </p:childTnLst>
                          </p:cTn>
                        </p:par>
                        <p:par>
                          <p:cTn id="80" fill="hold">
                            <p:stCondLst>
                              <p:cond delay="1000"/>
                            </p:stCondLst>
                            <p:childTnLst>
                              <p:par>
                                <p:cTn id="81" presetID="1" presetClass="entr" presetSubtype="0" fill="hold" nodeType="afterEffect">
                                  <p:stCondLst>
                                    <p:cond delay="0"/>
                                  </p:stCondLst>
                                  <p:childTnLst>
                                    <p:set>
                                      <p:cBhvr>
                                        <p:cTn id="82" dur="1" fill="hold">
                                          <p:stCondLst>
                                            <p:cond delay="0"/>
                                          </p:stCondLst>
                                        </p:cTn>
                                        <p:tgtEl>
                                          <p:spTgt spid="37"/>
                                        </p:tgtEl>
                                        <p:attrNameLst>
                                          <p:attrName>style.visibility</p:attrName>
                                        </p:attrNameLst>
                                      </p:cBhvr>
                                      <p:to>
                                        <p:strVal val="visible"/>
                                      </p:to>
                                    </p:set>
                                  </p:childTnLst>
                                </p:cTn>
                              </p:par>
                              <p:par>
                                <p:cTn id="83" presetID="1" presetClass="exit" presetSubtype="0" fill="hold" nodeType="withEffect">
                                  <p:stCondLst>
                                    <p:cond delay="0"/>
                                  </p:stCondLst>
                                  <p:childTnLst>
                                    <p:set>
                                      <p:cBhvr>
                                        <p:cTn id="84" dur="1" fill="hold">
                                          <p:stCondLst>
                                            <p:cond delay="0"/>
                                          </p:stCondLst>
                                        </p:cTn>
                                        <p:tgtEl>
                                          <p:spTgt spid="36"/>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42" presetClass="path" presetSubtype="0" accel="50000" decel="50000" fill="hold" nodeType="clickEffect">
                                  <p:stCondLst>
                                    <p:cond delay="0"/>
                                  </p:stCondLst>
                                  <p:childTnLst>
                                    <p:animMotion origin="layout" path="M 3.75E-6 2.59259E-6 L 0.35442 -7.40741E-7 " pathEditMode="relative" rAng="0" ptsTypes="AA">
                                      <p:cBhvr>
                                        <p:cTn id="88" dur="500" fill="hold"/>
                                        <p:tgtEl>
                                          <p:spTgt spid="37"/>
                                        </p:tgtEl>
                                        <p:attrNameLst>
                                          <p:attrName>ppt_x</p:attrName>
                                          <p:attrName>ppt_y</p:attrName>
                                        </p:attrNameLst>
                                      </p:cBhvr>
                                      <p:rCtr x="17734" y="93"/>
                                    </p:animMotion>
                                  </p:childTnLst>
                                </p:cTn>
                              </p:par>
                            </p:childTnLst>
                          </p:cTn>
                        </p:par>
                        <p:par>
                          <p:cTn id="89" fill="hold">
                            <p:stCondLst>
                              <p:cond delay="500"/>
                            </p:stCondLst>
                            <p:childTnLst>
                              <p:par>
                                <p:cTn id="90" presetID="1" presetClass="entr" presetSubtype="0" fill="hold" nodeType="afterEffect">
                                  <p:stCondLst>
                                    <p:cond delay="0"/>
                                  </p:stCondLst>
                                  <p:childTnLst>
                                    <p:set>
                                      <p:cBhvr>
                                        <p:cTn id="91" dur="1" fill="hold">
                                          <p:stCondLst>
                                            <p:cond delay="0"/>
                                          </p:stCondLst>
                                        </p:cTn>
                                        <p:tgtEl>
                                          <p:spTgt spid="38"/>
                                        </p:tgtEl>
                                        <p:attrNameLst>
                                          <p:attrName>style.visibility</p:attrName>
                                        </p:attrNameLst>
                                      </p:cBhvr>
                                      <p:to>
                                        <p:strVal val="visible"/>
                                      </p:to>
                                    </p:set>
                                  </p:childTnLst>
                                </p:cTn>
                              </p:par>
                              <p:par>
                                <p:cTn id="92" presetID="1" presetClass="exit" presetSubtype="0" fill="hold" nodeType="withEffect">
                                  <p:stCondLst>
                                    <p:cond delay="0"/>
                                  </p:stCondLst>
                                  <p:childTnLst>
                                    <p:set>
                                      <p:cBhvr>
                                        <p:cTn id="93" dur="1" fill="hold">
                                          <p:stCondLst>
                                            <p:cond delay="0"/>
                                          </p:stCondLst>
                                        </p:cTn>
                                        <p:tgtEl>
                                          <p:spTgt spid="37"/>
                                        </p:tgtEl>
                                        <p:attrNameLst>
                                          <p:attrName>style.visibility</p:attrName>
                                        </p:attrNameLst>
                                      </p:cBhvr>
                                      <p:to>
                                        <p:strVal val="hidden"/>
                                      </p:to>
                                    </p:set>
                                  </p:childTnLst>
                                </p:cTn>
                              </p:par>
                            </p:childTnLst>
                          </p:cTn>
                        </p:par>
                        <p:par>
                          <p:cTn id="94" fill="hold">
                            <p:stCondLst>
                              <p:cond delay="500"/>
                            </p:stCondLst>
                            <p:childTnLst>
                              <p:par>
                                <p:cTn id="95" presetID="42" presetClass="path" presetSubtype="0" accel="50000" decel="50000" fill="hold" nodeType="afterEffect">
                                  <p:stCondLst>
                                    <p:cond delay="0"/>
                                  </p:stCondLst>
                                  <p:childTnLst>
                                    <p:animMotion origin="layout" path="M -3.33333E-6 -3.33333E-6 L 0.11758 0.00093 " pathEditMode="relative" rAng="0" ptsTypes="AA">
                                      <p:cBhvr>
                                        <p:cTn id="96" dur="500" fill="hold"/>
                                        <p:tgtEl>
                                          <p:spTgt spid="38"/>
                                        </p:tgtEl>
                                        <p:attrNameLst>
                                          <p:attrName>ppt_x</p:attrName>
                                          <p:attrName>ppt_y</p:attrName>
                                        </p:attrNameLst>
                                      </p:cBhvr>
                                      <p:rCtr x="5872" y="46"/>
                                    </p:animMotion>
                                  </p:childTnLst>
                                </p:cTn>
                              </p:par>
                            </p:childTnLst>
                          </p:cTn>
                        </p:par>
                        <p:par>
                          <p:cTn id="97" fill="hold">
                            <p:stCondLst>
                              <p:cond delay="1000"/>
                            </p:stCondLst>
                            <p:childTnLst>
                              <p:par>
                                <p:cTn id="98" presetID="1" presetClass="entr" presetSubtype="0" fill="hold" nodeType="afterEffect">
                                  <p:stCondLst>
                                    <p:cond delay="0"/>
                                  </p:stCondLst>
                                  <p:childTnLst>
                                    <p:set>
                                      <p:cBhvr>
                                        <p:cTn id="99" dur="1" fill="hold">
                                          <p:stCondLst>
                                            <p:cond delay="0"/>
                                          </p:stCondLst>
                                        </p:cTn>
                                        <p:tgtEl>
                                          <p:spTgt spid="39"/>
                                        </p:tgtEl>
                                        <p:attrNameLst>
                                          <p:attrName>style.visibility</p:attrName>
                                        </p:attrNameLst>
                                      </p:cBhvr>
                                      <p:to>
                                        <p:strVal val="visible"/>
                                      </p:to>
                                    </p:set>
                                  </p:childTnLst>
                                </p:cTn>
                              </p:par>
                              <p:par>
                                <p:cTn id="100" presetID="1" presetClass="exit" presetSubtype="0" fill="hold" nodeType="withEffect">
                                  <p:stCondLst>
                                    <p:cond delay="0"/>
                                  </p:stCondLst>
                                  <p:childTnLst>
                                    <p:set>
                                      <p:cBhvr>
                                        <p:cTn id="101" dur="1" fill="hold">
                                          <p:stCondLst>
                                            <p:cond delay="0"/>
                                          </p:stCondLst>
                                        </p:cTn>
                                        <p:tgtEl>
                                          <p:spTgt spid="38"/>
                                        </p:tgtEl>
                                        <p:attrNameLst>
                                          <p:attrName>style.visibility</p:attrName>
                                        </p:attrNameLst>
                                      </p:cBhvr>
                                      <p:to>
                                        <p:strVal val="hidden"/>
                                      </p:to>
                                    </p:set>
                                  </p:childTnLst>
                                </p:cTn>
                              </p:par>
                            </p:childTnLst>
                          </p:cTn>
                        </p:par>
                        <p:par>
                          <p:cTn id="102" fill="hold">
                            <p:stCondLst>
                              <p:cond delay="1000"/>
                            </p:stCondLst>
                            <p:childTnLst>
                              <p:par>
                                <p:cTn id="103" presetID="9" presetClass="exit" presetSubtype="0" fill="hold" nodeType="afterEffect">
                                  <p:stCondLst>
                                    <p:cond delay="0"/>
                                  </p:stCondLst>
                                  <p:childTnLst>
                                    <p:animEffect transition="out" filter="dissolve">
                                      <p:cBhvr>
                                        <p:cTn id="104" dur="500"/>
                                        <p:tgtEl>
                                          <p:spTgt spid="39"/>
                                        </p:tgtEl>
                                      </p:cBhvr>
                                    </p:animEffect>
                                    <p:set>
                                      <p:cBhvr>
                                        <p:cTn id="105" dur="1" fill="hold">
                                          <p:stCondLst>
                                            <p:cond delay="499"/>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31" grpId="0"/>
      <p:bldP spid="31"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2300B-C57B-5895-0E7B-CBBEC81487FF}"/>
              </a:ext>
            </a:extLst>
          </p:cNvPr>
          <p:cNvSpPr>
            <a:spLocks noGrp="1"/>
          </p:cNvSpPr>
          <p:nvPr>
            <p:ph type="title"/>
          </p:nvPr>
        </p:nvSpPr>
        <p:spPr/>
        <p:txBody>
          <a:bodyPr/>
          <a:lstStyle/>
          <a:p>
            <a:r>
              <a:rPr lang="en-US" dirty="0"/>
              <a:t>Benefits</a:t>
            </a:r>
          </a:p>
        </p:txBody>
      </p:sp>
      <p:sp>
        <p:nvSpPr>
          <p:cNvPr id="3" name="Primary Context Box">
            <a:extLst>
              <a:ext uri="{FF2B5EF4-FFF2-40B4-BE49-F238E27FC236}">
                <a16:creationId xmlns:a16="http://schemas.microsoft.com/office/drawing/2014/main" id="{B67CBD39-2E04-7A21-4ABE-E362B7846376}"/>
              </a:ext>
            </a:extLst>
          </p:cNvPr>
          <p:cNvSpPr/>
          <p:nvPr/>
        </p:nvSpPr>
        <p:spPr>
          <a:xfrm>
            <a:off x="552767"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Resiliency</a:t>
            </a:r>
          </a:p>
        </p:txBody>
      </p:sp>
      <p:sp>
        <p:nvSpPr>
          <p:cNvPr id="4" name="Primary Context Box">
            <a:extLst>
              <a:ext uri="{FF2B5EF4-FFF2-40B4-BE49-F238E27FC236}">
                <a16:creationId xmlns:a16="http://schemas.microsoft.com/office/drawing/2014/main" id="{C59A3531-8EC5-227B-6691-66F5D606ED95}"/>
              </a:ext>
            </a:extLst>
          </p:cNvPr>
          <p:cNvSpPr/>
          <p:nvPr/>
        </p:nvSpPr>
        <p:spPr>
          <a:xfrm>
            <a:off x="4325111"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Faster Failure Detection</a:t>
            </a:r>
          </a:p>
        </p:txBody>
      </p:sp>
      <p:sp>
        <p:nvSpPr>
          <p:cNvPr id="5" name="Secondary Content Box">
            <a:extLst>
              <a:ext uri="{FF2B5EF4-FFF2-40B4-BE49-F238E27FC236}">
                <a16:creationId xmlns:a16="http://schemas.microsoft.com/office/drawing/2014/main" id="{BF8C3571-7125-F6CB-3902-33FA6B3B20FD}"/>
              </a:ext>
            </a:extLst>
          </p:cNvPr>
          <p:cNvSpPr/>
          <p:nvPr/>
        </p:nvSpPr>
        <p:spPr>
          <a:xfrm>
            <a:off x="8070215" y="246661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Resource Optimization</a:t>
            </a:r>
          </a:p>
        </p:txBody>
      </p:sp>
      <p:sp>
        <p:nvSpPr>
          <p:cNvPr id="11" name="Rectangle: Rounded Corners 10">
            <a:extLst>
              <a:ext uri="{FF2B5EF4-FFF2-40B4-BE49-F238E27FC236}">
                <a16:creationId xmlns:a16="http://schemas.microsoft.com/office/drawing/2014/main" id="{0B7FBF9B-2A2F-A4E6-F95B-C01704360A09}"/>
              </a:ext>
            </a:extLst>
          </p:cNvPr>
          <p:cNvSpPr/>
          <p:nvPr/>
        </p:nvSpPr>
        <p:spPr>
          <a:xfrm>
            <a:off x="552767"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4" name="Rectangle: Rounded Corners 13">
            <a:extLst>
              <a:ext uri="{FF2B5EF4-FFF2-40B4-BE49-F238E27FC236}">
                <a16:creationId xmlns:a16="http://schemas.microsoft.com/office/drawing/2014/main" id="{35595E8E-A61B-3488-8037-76E9DF84A148}"/>
              </a:ext>
            </a:extLst>
          </p:cNvPr>
          <p:cNvSpPr/>
          <p:nvPr/>
        </p:nvSpPr>
        <p:spPr>
          <a:xfrm>
            <a:off x="4325111"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290961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5BD87-0AFE-BF32-4E56-62CD5EE67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FB345-C0D4-D693-8D8F-69C01C01C518}"/>
              </a:ext>
            </a:extLst>
          </p:cNvPr>
          <p:cNvSpPr>
            <a:spLocks noGrp="1"/>
          </p:cNvSpPr>
          <p:nvPr>
            <p:ph type="title"/>
          </p:nvPr>
        </p:nvSpPr>
        <p:spPr/>
        <p:txBody>
          <a:bodyPr/>
          <a:lstStyle/>
          <a:p>
            <a:r>
              <a:rPr lang="en-US" dirty="0"/>
              <a:t>Drawbacks</a:t>
            </a:r>
          </a:p>
        </p:txBody>
      </p:sp>
      <p:sp>
        <p:nvSpPr>
          <p:cNvPr id="3" name="Primary Context Box">
            <a:extLst>
              <a:ext uri="{FF2B5EF4-FFF2-40B4-BE49-F238E27FC236}">
                <a16:creationId xmlns:a16="http://schemas.microsoft.com/office/drawing/2014/main" id="{95303198-781E-8A77-4A78-B86AAB7AF8ED}"/>
              </a:ext>
            </a:extLst>
          </p:cNvPr>
          <p:cNvSpPr/>
          <p:nvPr/>
        </p:nvSpPr>
        <p:spPr>
          <a:xfrm>
            <a:off x="551426"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Complexity</a:t>
            </a:r>
          </a:p>
        </p:txBody>
      </p:sp>
      <p:sp>
        <p:nvSpPr>
          <p:cNvPr id="4" name="Primary Context Box">
            <a:extLst>
              <a:ext uri="{FF2B5EF4-FFF2-40B4-BE49-F238E27FC236}">
                <a16:creationId xmlns:a16="http://schemas.microsoft.com/office/drawing/2014/main" id="{720F4C92-E6A9-6D09-BAB5-428C2FA8D317}"/>
              </a:ext>
            </a:extLst>
          </p:cNvPr>
          <p:cNvSpPr/>
          <p:nvPr/>
        </p:nvSpPr>
        <p:spPr>
          <a:xfrm>
            <a:off x="4308157"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Latency</a:t>
            </a:r>
          </a:p>
        </p:txBody>
      </p:sp>
      <p:sp>
        <p:nvSpPr>
          <p:cNvPr id="11" name="Rectangle: Rounded Corners 10">
            <a:extLst>
              <a:ext uri="{FF2B5EF4-FFF2-40B4-BE49-F238E27FC236}">
                <a16:creationId xmlns:a16="http://schemas.microsoft.com/office/drawing/2014/main" id="{39BAAC20-4C25-64FD-6B6F-C086D5BAB82C}"/>
              </a:ext>
            </a:extLst>
          </p:cNvPr>
          <p:cNvSpPr/>
          <p:nvPr/>
        </p:nvSpPr>
        <p:spPr>
          <a:xfrm>
            <a:off x="551426" y="2404804"/>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5" name="Rectangle: Rounded Corners 4">
            <a:extLst>
              <a:ext uri="{FF2B5EF4-FFF2-40B4-BE49-F238E27FC236}">
                <a16:creationId xmlns:a16="http://schemas.microsoft.com/office/drawing/2014/main" id="{1C894678-8D5A-CABC-B790-FCB7A9A3AED2}"/>
              </a:ext>
            </a:extLst>
          </p:cNvPr>
          <p:cNvSpPr/>
          <p:nvPr/>
        </p:nvSpPr>
        <p:spPr>
          <a:xfrm>
            <a:off x="4308157" y="2404804"/>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6" name="Rectangle: Rounded Corners 5">
            <a:extLst>
              <a:ext uri="{FF2B5EF4-FFF2-40B4-BE49-F238E27FC236}">
                <a16:creationId xmlns:a16="http://schemas.microsoft.com/office/drawing/2014/main" id="{70B92DE5-FDBC-975F-0A7C-BC2461099E81}"/>
              </a:ext>
            </a:extLst>
          </p:cNvPr>
          <p:cNvSpPr/>
          <p:nvPr/>
        </p:nvSpPr>
        <p:spPr>
          <a:xfrm>
            <a:off x="8064888"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False Positives</a:t>
            </a:r>
          </a:p>
        </p:txBody>
      </p:sp>
    </p:spTree>
    <p:extLst>
      <p:ext uri="{BB962C8B-B14F-4D97-AF65-F5344CB8AC3E}">
        <p14:creationId xmlns:p14="http://schemas.microsoft.com/office/powerpoint/2010/main" val="2658902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AA19F-85AB-B2F7-FCDD-34A185B47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F6D58-C470-6EA6-4901-61F0FB00AD20}"/>
              </a:ext>
            </a:extLst>
          </p:cNvPr>
          <p:cNvSpPr>
            <a:spLocks noGrp="1"/>
          </p:cNvSpPr>
          <p:nvPr>
            <p:ph type="title"/>
          </p:nvPr>
        </p:nvSpPr>
        <p:spPr/>
        <p:txBody>
          <a:bodyPr/>
          <a:lstStyle/>
          <a:p>
            <a:r>
              <a:rPr lang="en-US" dirty="0"/>
              <a:t>Use Cases</a:t>
            </a:r>
          </a:p>
        </p:txBody>
      </p:sp>
      <p:sp>
        <p:nvSpPr>
          <p:cNvPr id="3" name="Primary Context Box">
            <a:extLst>
              <a:ext uri="{FF2B5EF4-FFF2-40B4-BE49-F238E27FC236}">
                <a16:creationId xmlns:a16="http://schemas.microsoft.com/office/drawing/2014/main" id="{C04BEB5D-C485-820C-CEEF-DB99D18ECB30}"/>
              </a:ext>
            </a:extLst>
          </p:cNvPr>
          <p:cNvSpPr/>
          <p:nvPr/>
        </p:nvSpPr>
        <p:spPr>
          <a:xfrm>
            <a:off x="731203"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External Service Failures</a:t>
            </a:r>
          </a:p>
        </p:txBody>
      </p:sp>
      <p:sp>
        <p:nvSpPr>
          <p:cNvPr id="4" name="Primary Context Box">
            <a:extLst>
              <a:ext uri="{FF2B5EF4-FFF2-40B4-BE49-F238E27FC236}">
                <a16:creationId xmlns:a16="http://schemas.microsoft.com/office/drawing/2014/main" id="{970B6E92-72F9-4850-37A6-55794A730712}"/>
              </a:ext>
            </a:extLst>
          </p:cNvPr>
          <p:cNvSpPr/>
          <p:nvPr/>
        </p:nvSpPr>
        <p:spPr>
          <a:xfrm>
            <a:off x="4503547"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Temporary Overload</a:t>
            </a:r>
          </a:p>
        </p:txBody>
      </p:sp>
      <p:sp>
        <p:nvSpPr>
          <p:cNvPr id="5" name="Secondary Content Box">
            <a:extLst>
              <a:ext uri="{FF2B5EF4-FFF2-40B4-BE49-F238E27FC236}">
                <a16:creationId xmlns:a16="http://schemas.microsoft.com/office/drawing/2014/main" id="{05CB7902-FEF7-9FAC-E715-971C46AB6CA9}"/>
              </a:ext>
            </a:extLst>
          </p:cNvPr>
          <p:cNvSpPr/>
          <p:nvPr/>
        </p:nvSpPr>
        <p:spPr>
          <a:xfrm>
            <a:off x="8275891" y="2914680"/>
            <a:ext cx="3549397"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Error Threshold Management</a:t>
            </a:r>
          </a:p>
        </p:txBody>
      </p:sp>
    </p:spTree>
    <p:extLst>
      <p:ext uri="{BB962C8B-B14F-4D97-AF65-F5344CB8AC3E}">
        <p14:creationId xmlns:p14="http://schemas.microsoft.com/office/powerpoint/2010/main" val="3277833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screenshot of a computer program&#10;&#10;AI-generated content may be incorrect.">
            <a:extLst>
              <a:ext uri="{FF2B5EF4-FFF2-40B4-BE49-F238E27FC236}">
                <a16:creationId xmlns:a16="http://schemas.microsoft.com/office/drawing/2014/main" id="{A2C51280-D4D2-EC67-1D8A-2A75D1A0AFF5}"/>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6084094" y="1232694"/>
            <a:ext cx="3781425" cy="4210050"/>
          </a:xfrm>
        </p:spPr>
      </p:pic>
      <p:sp>
        <p:nvSpPr>
          <p:cNvPr id="5" name="Title 3">
            <a:extLst>
              <a:ext uri="{FF2B5EF4-FFF2-40B4-BE49-F238E27FC236}">
                <a16:creationId xmlns:a16="http://schemas.microsoft.com/office/drawing/2014/main" id="{913C95E0-008B-D965-BB4D-F0AD020623BB}"/>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FC4E355F-7C6A-A02B-C208-1452AB61DF9B}"/>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Tree>
    <p:extLst>
      <p:ext uri="{BB962C8B-B14F-4D97-AF65-F5344CB8AC3E}">
        <p14:creationId xmlns:p14="http://schemas.microsoft.com/office/powerpoint/2010/main" val="2945962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computer screen shot of a code&#10;&#10;AI-generated content may be incorrect.">
            <a:extLst>
              <a:ext uri="{FF2B5EF4-FFF2-40B4-BE49-F238E27FC236}">
                <a16:creationId xmlns:a16="http://schemas.microsoft.com/office/drawing/2014/main" id="{C5307C0F-5E6D-86DC-B839-A46CB3B4445F}"/>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488656" y="942181"/>
            <a:ext cx="6972300" cy="4791075"/>
          </a:xfrm>
        </p:spPr>
      </p:pic>
      <p:sp>
        <p:nvSpPr>
          <p:cNvPr id="5" name="Title 3">
            <a:extLst>
              <a:ext uri="{FF2B5EF4-FFF2-40B4-BE49-F238E27FC236}">
                <a16:creationId xmlns:a16="http://schemas.microsoft.com/office/drawing/2014/main" id="{4F6EC94D-AA79-29CB-CC91-BC181554B7BE}"/>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029FF7CA-D66D-CB78-DDCC-10D38E51BA18}"/>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B015E6A4-8B42-6365-BEB2-ED915E83E9CB}"/>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BC4A9425-E94A-3DCF-8D2C-3FE0FE7D727F}"/>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949044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descr="A screenshot of a computer program&#10;&#10;AI-generated content may be incorrect.">
            <a:extLst>
              <a:ext uri="{FF2B5EF4-FFF2-40B4-BE49-F238E27FC236}">
                <a16:creationId xmlns:a16="http://schemas.microsoft.com/office/drawing/2014/main" id="{129071F0-DC33-27FE-8335-211818272A4D}"/>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669742" y="752856"/>
            <a:ext cx="5707635" cy="5514156"/>
          </a:xfrm>
        </p:spPr>
      </p:pic>
      <p:sp>
        <p:nvSpPr>
          <p:cNvPr id="5" name="Title 3">
            <a:extLst>
              <a:ext uri="{FF2B5EF4-FFF2-40B4-BE49-F238E27FC236}">
                <a16:creationId xmlns:a16="http://schemas.microsoft.com/office/drawing/2014/main" id="{2AB21BE3-814D-F67B-3174-CB7E24C39652}"/>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F911AB63-6565-CE48-E2F4-56E86D917634}"/>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A5A3EBD8-C03D-8D71-1362-FBC1E84D66CD}"/>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FCAD521A-496F-860B-24F7-990486510BC2}"/>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77AE6520-ECB7-EA26-37C4-7211BDECCF4B}"/>
              </a:ext>
            </a:extLst>
          </p:cNvPr>
          <p:cNvSpPr/>
          <p:nvPr/>
        </p:nvSpPr>
        <p:spPr>
          <a:xfrm>
            <a:off x="548255"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Producer</a:t>
            </a:r>
          </a:p>
        </p:txBody>
      </p:sp>
      <p:sp>
        <p:nvSpPr>
          <p:cNvPr id="10" name="Rectangle: Rounded Corners 9">
            <a:extLst>
              <a:ext uri="{FF2B5EF4-FFF2-40B4-BE49-F238E27FC236}">
                <a16:creationId xmlns:a16="http://schemas.microsoft.com/office/drawing/2014/main" id="{6F4E2659-CEBD-371C-EFB6-69C1E012E3BB}"/>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14" name="Picture 13" descr="A white background with black text&#10;&#10;AI-generated content may be incorrect.">
            <a:extLst>
              <a:ext uri="{FF2B5EF4-FFF2-40B4-BE49-F238E27FC236}">
                <a16:creationId xmlns:a16="http://schemas.microsoft.com/office/drawing/2014/main" id="{51C378D9-AF24-2510-96B5-F6A0EA352722}"/>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669739" y="767669"/>
            <a:ext cx="6745235" cy="1427993"/>
          </a:xfrm>
          <a:prstGeom prst="rect">
            <a:avLst/>
          </a:prstGeom>
        </p:spPr>
      </p:pic>
      <p:pic>
        <p:nvPicPr>
          <p:cNvPr id="16" name="Picture 15" descr="A screenshot of a computer program&#10;&#10;AI-generated content may be incorrect.">
            <a:extLst>
              <a:ext uri="{FF2B5EF4-FFF2-40B4-BE49-F238E27FC236}">
                <a16:creationId xmlns:a16="http://schemas.microsoft.com/office/drawing/2014/main" id="{08ACA4E5-3171-49B4-2AA4-5EE84721CDBE}"/>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23887" y="1566862"/>
            <a:ext cx="10944225" cy="3724275"/>
          </a:xfrm>
          <a:prstGeom prst="rect">
            <a:avLst/>
          </a:prstGeom>
        </p:spPr>
      </p:pic>
      <p:pic>
        <p:nvPicPr>
          <p:cNvPr id="18" name="Picture 17" descr="A computer screen shot of a program&#10;&#10;AI-generated content may be incorrect.">
            <a:extLst>
              <a:ext uri="{FF2B5EF4-FFF2-40B4-BE49-F238E27FC236}">
                <a16:creationId xmlns:a16="http://schemas.microsoft.com/office/drawing/2014/main" id="{91633557-B926-EA94-248D-FA1891257D0F}"/>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695769" y="767669"/>
            <a:ext cx="7461661" cy="5514156"/>
          </a:xfrm>
          <a:prstGeom prst="rect">
            <a:avLst/>
          </a:prstGeom>
        </p:spPr>
      </p:pic>
      <p:pic>
        <p:nvPicPr>
          <p:cNvPr id="20" name="Picture 19" descr="A computer screen shot of text&#10;&#10;AI-generated content may be incorrect.">
            <a:extLst>
              <a:ext uri="{FF2B5EF4-FFF2-40B4-BE49-F238E27FC236}">
                <a16:creationId xmlns:a16="http://schemas.microsoft.com/office/drawing/2014/main" id="{FCD09BA2-208A-F90B-06D5-9916C94C07ED}"/>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669739" y="1435739"/>
            <a:ext cx="7467600" cy="2257425"/>
          </a:xfrm>
          <a:prstGeom prst="rect">
            <a:avLst/>
          </a:prstGeom>
        </p:spPr>
      </p:pic>
    </p:spTree>
    <p:extLst>
      <p:ext uri="{BB962C8B-B14F-4D97-AF65-F5344CB8AC3E}">
        <p14:creationId xmlns:p14="http://schemas.microsoft.com/office/powerpoint/2010/main" val="21934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p:cTn id="6" dur="indefinite"/>
                                        <p:tgtEl>
                                          <p:spTgt spid="12"/>
                                        </p:tgtEl>
                                        <p:attrNameLst>
                                          <p:attrName>style.opacity</p:attrName>
                                        </p:attrNameLst>
                                      </p:cBhvr>
                                      <p:to>
                                        <p:strVal val="0.25"/>
                                      </p:to>
                                    </p:set>
                                    <p:animEffect filter="image" prLst="opacity: 0.25">
                                      <p:cBhvr rctx="IE">
                                        <p:cTn id="7" dur="indefinite"/>
                                        <p:tgtEl>
                                          <p:spTgt spid="12"/>
                                        </p:tgtEl>
                                      </p:cBhvr>
                                    </p:animEffect>
                                  </p:childTnLst>
                                </p:cTn>
                              </p:par>
                              <p:par>
                                <p:cTn id="8" presetID="53" presetClass="entr" presetSubtype="16"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p:cTn id="10" dur="500" fill="hold"/>
                                        <p:tgtEl>
                                          <p:spTgt spid="14"/>
                                        </p:tgtEl>
                                        <p:attrNameLst>
                                          <p:attrName>ppt_w</p:attrName>
                                        </p:attrNameLst>
                                      </p:cBhvr>
                                      <p:tavLst>
                                        <p:tav tm="0">
                                          <p:val>
                                            <p:fltVal val="0"/>
                                          </p:val>
                                        </p:tav>
                                        <p:tav tm="100000">
                                          <p:val>
                                            <p:strVal val="#ppt_w"/>
                                          </p:val>
                                        </p:tav>
                                      </p:tavLst>
                                    </p:anim>
                                    <p:anim calcmode="lin" valueType="num">
                                      <p:cBhvr>
                                        <p:cTn id="11" dur="500" fill="hold"/>
                                        <p:tgtEl>
                                          <p:spTgt spid="14"/>
                                        </p:tgtEl>
                                        <p:attrNameLst>
                                          <p:attrName>ppt_h</p:attrName>
                                        </p:attrNameLst>
                                      </p:cBhvr>
                                      <p:tavLst>
                                        <p:tav tm="0">
                                          <p:val>
                                            <p:fltVal val="0"/>
                                          </p:val>
                                        </p:tav>
                                        <p:tav tm="100000">
                                          <p:val>
                                            <p:strVal val="#ppt_h"/>
                                          </p:val>
                                        </p:tav>
                                      </p:tavLst>
                                    </p:anim>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4"/>
                                        </p:tgtEl>
                                      </p:cBhvr>
                                    </p:animEffect>
                                    <p:set>
                                      <p:cBhvr>
                                        <p:cTn id="17" dur="1" fill="hold">
                                          <p:stCondLst>
                                            <p:cond delay="499"/>
                                          </p:stCondLst>
                                        </p:cTn>
                                        <p:tgtEl>
                                          <p:spTgt spid="14"/>
                                        </p:tgtEl>
                                        <p:attrNameLst>
                                          <p:attrName>style.visibility</p:attrName>
                                        </p:attrNameLst>
                                      </p:cBhvr>
                                      <p:to>
                                        <p:strVal val="hidden"/>
                                      </p:to>
                                    </p:set>
                                  </p:childTnLst>
                                </p:cTn>
                              </p:par>
                              <p:par>
                                <p:cTn id="18" presetID="53" presetClass="entr" presetSubtype="16"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p:cTn id="20" dur="500" fill="hold"/>
                                        <p:tgtEl>
                                          <p:spTgt spid="16"/>
                                        </p:tgtEl>
                                        <p:attrNameLst>
                                          <p:attrName>ppt_w</p:attrName>
                                        </p:attrNameLst>
                                      </p:cBhvr>
                                      <p:tavLst>
                                        <p:tav tm="0">
                                          <p:val>
                                            <p:fltVal val="0"/>
                                          </p:val>
                                        </p:tav>
                                        <p:tav tm="100000">
                                          <p:val>
                                            <p:strVal val="#ppt_w"/>
                                          </p:val>
                                        </p:tav>
                                      </p:tavLst>
                                    </p:anim>
                                    <p:anim calcmode="lin" valueType="num">
                                      <p:cBhvr>
                                        <p:cTn id="21" dur="500" fill="hold"/>
                                        <p:tgtEl>
                                          <p:spTgt spid="16"/>
                                        </p:tgtEl>
                                        <p:attrNameLst>
                                          <p:attrName>ppt_h</p:attrName>
                                        </p:attrNameLst>
                                      </p:cBhvr>
                                      <p:tavLst>
                                        <p:tav tm="0">
                                          <p:val>
                                            <p:fltVal val="0"/>
                                          </p:val>
                                        </p:tav>
                                        <p:tav tm="100000">
                                          <p:val>
                                            <p:strVal val="#ppt_h"/>
                                          </p:val>
                                        </p:tav>
                                      </p:tavLst>
                                    </p:anim>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16"/>
                                        </p:tgtEl>
                                      </p:cBhvr>
                                    </p:animEffect>
                                    <p:set>
                                      <p:cBhvr>
                                        <p:cTn id="27" dur="1" fill="hold">
                                          <p:stCondLst>
                                            <p:cond delay="499"/>
                                          </p:stCondLst>
                                        </p:cTn>
                                        <p:tgtEl>
                                          <p:spTgt spid="16"/>
                                        </p:tgtEl>
                                        <p:attrNameLst>
                                          <p:attrName>style.visibility</p:attrName>
                                        </p:attrNameLst>
                                      </p:cBhvr>
                                      <p:to>
                                        <p:strVal val="hidden"/>
                                      </p:to>
                                    </p:set>
                                  </p:childTnLst>
                                </p:cTn>
                              </p:par>
                              <p:par>
                                <p:cTn id="28" presetID="53" presetClass="entr" presetSubtype="16"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 calcmode="lin" valueType="num">
                                      <p:cBhvr>
                                        <p:cTn id="30" dur="500" fill="hold"/>
                                        <p:tgtEl>
                                          <p:spTgt spid="18"/>
                                        </p:tgtEl>
                                        <p:attrNameLst>
                                          <p:attrName>ppt_w</p:attrName>
                                        </p:attrNameLst>
                                      </p:cBhvr>
                                      <p:tavLst>
                                        <p:tav tm="0">
                                          <p:val>
                                            <p:fltVal val="0"/>
                                          </p:val>
                                        </p:tav>
                                        <p:tav tm="100000">
                                          <p:val>
                                            <p:strVal val="#ppt_w"/>
                                          </p:val>
                                        </p:tav>
                                      </p:tavLst>
                                    </p:anim>
                                    <p:anim calcmode="lin" valueType="num">
                                      <p:cBhvr>
                                        <p:cTn id="31" dur="500" fill="hold"/>
                                        <p:tgtEl>
                                          <p:spTgt spid="18"/>
                                        </p:tgtEl>
                                        <p:attrNameLst>
                                          <p:attrName>ppt_h</p:attrName>
                                        </p:attrNameLst>
                                      </p:cBhvr>
                                      <p:tavLst>
                                        <p:tav tm="0">
                                          <p:val>
                                            <p:fltVal val="0"/>
                                          </p:val>
                                        </p:tav>
                                        <p:tav tm="100000">
                                          <p:val>
                                            <p:strVal val="#ppt_h"/>
                                          </p:val>
                                        </p:tav>
                                      </p:tavLst>
                                    </p:anim>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18"/>
                                        </p:tgtEl>
                                      </p:cBhvr>
                                    </p:animEffect>
                                    <p:set>
                                      <p:cBhvr>
                                        <p:cTn id="37" dur="1" fill="hold">
                                          <p:stCondLst>
                                            <p:cond delay="499"/>
                                          </p:stCondLst>
                                        </p:cTn>
                                        <p:tgtEl>
                                          <p:spTgt spid="18"/>
                                        </p:tgtEl>
                                        <p:attrNameLst>
                                          <p:attrName>style.visibility</p:attrName>
                                        </p:attrNameLst>
                                      </p:cBhvr>
                                      <p:to>
                                        <p:strVal val="hidden"/>
                                      </p:to>
                                    </p:set>
                                  </p:childTnLst>
                                </p:cTn>
                              </p:par>
                              <p:par>
                                <p:cTn id="38" presetID="53" presetClass="entr" presetSubtype="16" fill="hold" nodeType="withEffect">
                                  <p:stCondLst>
                                    <p:cond delay="0"/>
                                  </p:stCondLst>
                                  <p:childTnLst>
                                    <p:set>
                                      <p:cBhvr>
                                        <p:cTn id="39" dur="1" fill="hold">
                                          <p:stCondLst>
                                            <p:cond delay="0"/>
                                          </p:stCondLst>
                                        </p:cTn>
                                        <p:tgtEl>
                                          <p:spTgt spid="20"/>
                                        </p:tgtEl>
                                        <p:attrNameLst>
                                          <p:attrName>style.visibility</p:attrName>
                                        </p:attrNameLst>
                                      </p:cBhvr>
                                      <p:to>
                                        <p:strVal val="visible"/>
                                      </p:to>
                                    </p:set>
                                    <p:anim calcmode="lin" valueType="num">
                                      <p:cBhvr>
                                        <p:cTn id="40" dur="500" fill="hold"/>
                                        <p:tgtEl>
                                          <p:spTgt spid="20"/>
                                        </p:tgtEl>
                                        <p:attrNameLst>
                                          <p:attrName>ppt_w</p:attrName>
                                        </p:attrNameLst>
                                      </p:cBhvr>
                                      <p:tavLst>
                                        <p:tav tm="0">
                                          <p:val>
                                            <p:fltVal val="0"/>
                                          </p:val>
                                        </p:tav>
                                        <p:tav tm="100000">
                                          <p:val>
                                            <p:strVal val="#ppt_w"/>
                                          </p:val>
                                        </p:tav>
                                      </p:tavLst>
                                    </p:anim>
                                    <p:anim calcmode="lin" valueType="num">
                                      <p:cBhvr>
                                        <p:cTn id="41" dur="500" fill="hold"/>
                                        <p:tgtEl>
                                          <p:spTgt spid="20"/>
                                        </p:tgtEl>
                                        <p:attrNameLst>
                                          <p:attrName>ppt_h</p:attrName>
                                        </p:attrNameLst>
                                      </p:cBhvr>
                                      <p:tavLst>
                                        <p:tav tm="0">
                                          <p:val>
                                            <p:fltVal val="0"/>
                                          </p:val>
                                        </p:tav>
                                        <p:tav tm="100000">
                                          <p:val>
                                            <p:strVal val="#ppt_h"/>
                                          </p:val>
                                        </p:tav>
                                      </p:tavLst>
                                    </p:anim>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black screen with a black background&#10;&#10;AI-generated content may be incorrect.">
            <a:extLst>
              <a:ext uri="{FF2B5EF4-FFF2-40B4-BE49-F238E27FC236}">
                <a16:creationId xmlns:a16="http://schemas.microsoft.com/office/drawing/2014/main" id="{A3180E6A-CBF7-F991-5E93-A959D05CA521}"/>
              </a:ext>
            </a:extLst>
          </p:cNvPr>
          <p:cNvPicPr>
            <a:picLocks noChangeAspect="1"/>
          </p:cNvPicPr>
          <p:nvPr/>
        </p:nvPicPr>
        <p:blipFill rotWithShape="1">
          <a:blip r:embed="rId2">
            <a:extLst>
              <a:ext uri="{28A0092B-C50C-407E-A947-70E740481C1C}">
                <a14:useLocalDpi xmlns:a14="http://schemas.microsoft.com/office/drawing/2010/main"/>
              </a:ext>
            </a:extLst>
          </a:blip>
          <a:srcRect/>
          <a:stretch>
            <a:fillRect/>
          </a:stretch>
        </p:blipFill>
        <p:spPr>
          <a:xfrm>
            <a:off x="4680515" y="-1"/>
            <a:ext cx="5271558" cy="6838778"/>
          </a:xfrm>
          <a:prstGeom prst="rect">
            <a:avLst/>
          </a:prstGeom>
        </p:spPr>
      </p:pic>
      <p:pic>
        <p:nvPicPr>
          <p:cNvPr id="14" name="Content Placeholder 13" descr="A screenshot of a computer&#10;&#10;AI-generated content may be incorrect.">
            <a:extLst>
              <a:ext uri="{FF2B5EF4-FFF2-40B4-BE49-F238E27FC236}">
                <a16:creationId xmlns:a16="http://schemas.microsoft.com/office/drawing/2014/main" id="{223BCE71-A59E-F391-C0D3-8979E6E4B5CB}"/>
              </a:ext>
            </a:extLst>
          </p:cNvPr>
          <p:cNvPicPr>
            <a:picLocks noGrp="1" noChangeAspect="1"/>
          </p:cNvPicPr>
          <p:nvPr>
            <p:ph idx="1"/>
          </p:nvPr>
        </p:nvPicPr>
        <p:blipFill>
          <a:blip r:embed="rId3">
            <a:extLst>
              <a:ext uri="{28A0092B-C50C-407E-A947-70E740481C1C}">
                <a14:useLocalDpi xmlns:a14="http://schemas.microsoft.com/office/drawing/2010/main"/>
              </a:ext>
            </a:extLst>
          </a:blip>
          <a:stretch>
            <a:fillRect/>
          </a:stretch>
        </p:blipFill>
        <p:spPr>
          <a:xfrm>
            <a:off x="4680516" y="-1"/>
            <a:ext cx="5271558" cy="6838778"/>
          </a:xfrm>
        </p:spPr>
      </p:pic>
      <p:sp>
        <p:nvSpPr>
          <p:cNvPr id="5" name="Title 3">
            <a:extLst>
              <a:ext uri="{FF2B5EF4-FFF2-40B4-BE49-F238E27FC236}">
                <a16:creationId xmlns:a16="http://schemas.microsoft.com/office/drawing/2014/main" id="{F34B454A-F22A-8DE1-8715-438C493A632D}"/>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8D1CA7CE-B0A5-E129-A257-2EE3AC191662}"/>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968DEC4B-DDD0-34CE-4379-629D2E6D75C8}"/>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43D23E3E-31B1-8048-BBB4-53AD5EF8ACD9}"/>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6561CA5E-8F36-77DF-016A-70C3FC01AF96}"/>
              </a:ext>
            </a:extLst>
          </p:cNvPr>
          <p:cNvSpPr/>
          <p:nvPr/>
        </p:nvSpPr>
        <p:spPr>
          <a:xfrm>
            <a:off x="548255"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Producer</a:t>
            </a:r>
          </a:p>
        </p:txBody>
      </p:sp>
      <p:sp>
        <p:nvSpPr>
          <p:cNvPr id="10" name="Rectangle: Rounded Corners 9">
            <a:extLst>
              <a:ext uri="{FF2B5EF4-FFF2-40B4-BE49-F238E27FC236}">
                <a16:creationId xmlns:a16="http://schemas.microsoft.com/office/drawing/2014/main" id="{9550A877-BA17-2754-D3A0-50A1C5DE2FBC}"/>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AABCA8F2-505F-BF41-659A-BBFDDBCA7A57}"/>
              </a:ext>
            </a:extLst>
          </p:cNvPr>
          <p:cNvSpPr/>
          <p:nvPr/>
        </p:nvSpPr>
        <p:spPr>
          <a:xfrm>
            <a:off x="548255" y="2942350"/>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Run the Demo</a:t>
            </a:r>
          </a:p>
        </p:txBody>
      </p:sp>
      <p:sp>
        <p:nvSpPr>
          <p:cNvPr id="12" name="Rectangle: Rounded Corners 11">
            <a:extLst>
              <a:ext uri="{FF2B5EF4-FFF2-40B4-BE49-F238E27FC236}">
                <a16:creationId xmlns:a16="http://schemas.microsoft.com/office/drawing/2014/main" id="{9891CE98-6464-2D64-7E1E-1D4E554CD836}"/>
              </a:ext>
            </a:extLst>
          </p:cNvPr>
          <p:cNvSpPr/>
          <p:nvPr/>
        </p:nvSpPr>
        <p:spPr>
          <a:xfrm>
            <a:off x="548255"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2101239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5BDA1-1D29-37C5-FE7A-76EB0C0E2ED6}"/>
              </a:ext>
            </a:extLst>
          </p:cNvPr>
          <p:cNvSpPr>
            <a:spLocks noGrp="1"/>
          </p:cNvSpPr>
          <p:nvPr>
            <p:ph type="title"/>
          </p:nvPr>
        </p:nvSpPr>
        <p:spPr/>
        <p:txBody>
          <a:bodyPr/>
          <a:lstStyle/>
          <a:p>
            <a:r>
              <a:rPr lang="en-US" dirty="0"/>
              <a:t>Key Points to Remember</a:t>
            </a:r>
          </a:p>
        </p:txBody>
      </p:sp>
      <p:sp>
        <p:nvSpPr>
          <p:cNvPr id="4" name="Rectangle: Rounded Corners 3">
            <a:extLst>
              <a:ext uri="{FF2B5EF4-FFF2-40B4-BE49-F238E27FC236}">
                <a16:creationId xmlns:a16="http://schemas.microsoft.com/office/drawing/2014/main" id="{A5E46940-96A3-FC3F-2084-52E260FBCB03}"/>
              </a:ext>
            </a:extLst>
          </p:cNvPr>
          <p:cNvSpPr/>
          <p:nvPr/>
        </p:nvSpPr>
        <p:spPr>
          <a:xfrm>
            <a:off x="1489076" y="1554480"/>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Configure Thresholds</a:t>
            </a:r>
          </a:p>
        </p:txBody>
      </p:sp>
      <p:sp>
        <p:nvSpPr>
          <p:cNvPr id="5" name="Rectangle: Rounded Corners 4">
            <a:extLst>
              <a:ext uri="{FF2B5EF4-FFF2-40B4-BE49-F238E27FC236}">
                <a16:creationId xmlns:a16="http://schemas.microsoft.com/office/drawing/2014/main" id="{17F27129-58A4-C3E8-9D37-03A1B4069ECB}"/>
              </a:ext>
            </a:extLst>
          </p:cNvPr>
          <p:cNvSpPr/>
          <p:nvPr/>
        </p:nvSpPr>
        <p:spPr>
          <a:xfrm>
            <a:off x="7126288" y="1554480"/>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Implement Fallbacks</a:t>
            </a:r>
          </a:p>
        </p:txBody>
      </p:sp>
      <p:sp>
        <p:nvSpPr>
          <p:cNvPr id="6" name="Rectangle: Rounded Corners 5">
            <a:extLst>
              <a:ext uri="{FF2B5EF4-FFF2-40B4-BE49-F238E27FC236}">
                <a16:creationId xmlns:a16="http://schemas.microsoft.com/office/drawing/2014/main" id="{98B9AF3E-A581-B8DB-FF13-6C1CF63D4A82}"/>
              </a:ext>
            </a:extLst>
          </p:cNvPr>
          <p:cNvSpPr/>
          <p:nvPr/>
        </p:nvSpPr>
        <p:spPr>
          <a:xfrm>
            <a:off x="1487488" y="3570487"/>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Monitor and Adjust</a:t>
            </a:r>
          </a:p>
        </p:txBody>
      </p:sp>
      <p:sp>
        <p:nvSpPr>
          <p:cNvPr id="7" name="Rectangle: Rounded Corners 6">
            <a:extLst>
              <a:ext uri="{FF2B5EF4-FFF2-40B4-BE49-F238E27FC236}">
                <a16:creationId xmlns:a16="http://schemas.microsoft.com/office/drawing/2014/main" id="{3AF3A5EF-53F8-7C1E-91C6-54733333F437}"/>
              </a:ext>
            </a:extLst>
          </p:cNvPr>
          <p:cNvSpPr/>
          <p:nvPr/>
        </p:nvSpPr>
        <p:spPr>
          <a:xfrm>
            <a:off x="7126288" y="3519488"/>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Test Recovery</a:t>
            </a:r>
          </a:p>
        </p:txBody>
      </p:sp>
    </p:spTree>
    <p:extLst>
      <p:ext uri="{BB962C8B-B14F-4D97-AF65-F5344CB8AC3E}">
        <p14:creationId xmlns:p14="http://schemas.microsoft.com/office/powerpoint/2010/main" val="3790900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707C9-62B0-7366-EAAF-245A76655C95}"/>
              </a:ext>
            </a:extLst>
          </p:cNvPr>
          <p:cNvSpPr>
            <a:spLocks noGrp="1"/>
          </p:cNvSpPr>
          <p:nvPr>
            <p:ph type="title"/>
          </p:nvPr>
        </p:nvSpPr>
        <p:spPr/>
        <p:txBody>
          <a:bodyPr/>
          <a:lstStyle/>
          <a:p>
            <a:r>
              <a:rPr lang="en-US" dirty="0"/>
              <a:t>Resilience &amp; </a:t>
            </a:r>
            <a:r>
              <a:rPr lang="en-US" dirty="0" err="1"/>
              <a:t>Reliabiity</a:t>
            </a:r>
            <a:endParaRPr lang="en-US" dirty="0"/>
          </a:p>
        </p:txBody>
      </p:sp>
      <p:sp>
        <p:nvSpPr>
          <p:cNvPr id="3" name="Text Placeholder 2">
            <a:extLst>
              <a:ext uri="{FF2B5EF4-FFF2-40B4-BE49-F238E27FC236}">
                <a16:creationId xmlns:a16="http://schemas.microsoft.com/office/drawing/2014/main" id="{14A2175C-2A3E-8B01-5FCE-7C953485557A}"/>
              </a:ext>
            </a:extLst>
          </p:cNvPr>
          <p:cNvSpPr>
            <a:spLocks noGrp="1"/>
          </p:cNvSpPr>
          <p:nvPr>
            <p:ph type="body" sz="quarter" idx="10"/>
          </p:nvPr>
        </p:nvSpPr>
        <p:spPr/>
        <p:txBody>
          <a:bodyPr/>
          <a:lstStyle/>
          <a:p>
            <a:r>
              <a:rPr lang="en-US" dirty="0"/>
              <a:t>Pattern 2: Saga Pattern</a:t>
            </a:r>
          </a:p>
        </p:txBody>
      </p:sp>
    </p:spTree>
    <p:extLst>
      <p:ext uri="{BB962C8B-B14F-4D97-AF65-F5344CB8AC3E}">
        <p14:creationId xmlns:p14="http://schemas.microsoft.com/office/powerpoint/2010/main" val="3546256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1E436-FD53-44AA-43C4-472F07E8D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2C64EC-6F2A-F3D6-8CF0-B639E4AE5482}"/>
              </a:ext>
            </a:extLst>
          </p:cNvPr>
          <p:cNvSpPr>
            <a:spLocks noGrp="1"/>
          </p:cNvSpPr>
          <p:nvPr>
            <p:ph type="title"/>
          </p:nvPr>
        </p:nvSpPr>
        <p:spPr/>
        <p:txBody>
          <a:bodyPr>
            <a:normAutofit/>
          </a:bodyPr>
          <a:lstStyle/>
          <a:p>
            <a:r>
              <a:rPr lang="en-US" dirty="0"/>
              <a:t>What is the Saga Pattern</a:t>
            </a:r>
          </a:p>
        </p:txBody>
      </p:sp>
      <p:sp>
        <p:nvSpPr>
          <p:cNvPr id="3" name="Primary Context Box">
            <a:extLst>
              <a:ext uri="{FF2B5EF4-FFF2-40B4-BE49-F238E27FC236}">
                <a16:creationId xmlns:a16="http://schemas.microsoft.com/office/drawing/2014/main" id="{C46D8A7F-C232-A774-91AC-666DF05EA621}"/>
              </a:ext>
            </a:extLst>
          </p:cNvPr>
          <p:cNvSpPr/>
          <p:nvPr/>
        </p:nvSpPr>
        <p:spPr>
          <a:xfrm>
            <a:off x="1178332" y="2498725"/>
            <a:ext cx="4553977" cy="185896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Breaks the transaction into a series of smaller, independent steps</a:t>
            </a:r>
          </a:p>
        </p:txBody>
      </p:sp>
      <p:sp>
        <p:nvSpPr>
          <p:cNvPr id="4" name="Secondary Content Box">
            <a:extLst>
              <a:ext uri="{FF2B5EF4-FFF2-40B4-BE49-F238E27FC236}">
                <a16:creationId xmlns:a16="http://schemas.microsoft.com/office/drawing/2014/main" id="{8ACFE2CF-C0CE-6B2E-67D8-28D9B8790D0F}"/>
              </a:ext>
            </a:extLst>
          </p:cNvPr>
          <p:cNvSpPr/>
          <p:nvPr/>
        </p:nvSpPr>
        <p:spPr>
          <a:xfrm>
            <a:off x="6459690" y="2498724"/>
            <a:ext cx="4515485" cy="1858963"/>
          </a:xfrm>
          <a:prstGeom prst="roundRect">
            <a:avLst>
              <a:gd name="adj" fmla="val 16667"/>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Managing long-running transactions</a:t>
            </a:r>
          </a:p>
        </p:txBody>
      </p:sp>
    </p:spTree>
    <p:extLst>
      <p:ext uri="{BB962C8B-B14F-4D97-AF65-F5344CB8AC3E}">
        <p14:creationId xmlns:p14="http://schemas.microsoft.com/office/powerpoint/2010/main" val="13193004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D6E91-5BA6-FF9E-900D-FAB0ACC84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5D8C7-5603-6783-11E4-FC9B0261BE10}"/>
              </a:ext>
            </a:extLst>
          </p:cNvPr>
          <p:cNvSpPr>
            <a:spLocks noGrp="1"/>
          </p:cNvSpPr>
          <p:nvPr>
            <p:ph type="title"/>
          </p:nvPr>
        </p:nvSpPr>
        <p:spPr/>
        <p:txBody>
          <a:bodyPr/>
          <a:lstStyle/>
          <a:p>
            <a:r>
              <a:rPr lang="en-US" dirty="0"/>
              <a:t>Key Components &amp; Flow</a:t>
            </a:r>
          </a:p>
        </p:txBody>
      </p:sp>
      <p:sp>
        <p:nvSpPr>
          <p:cNvPr id="104" name="Rectangle: Rounded Corners 103">
            <a:extLst>
              <a:ext uri="{FF2B5EF4-FFF2-40B4-BE49-F238E27FC236}">
                <a16:creationId xmlns:a16="http://schemas.microsoft.com/office/drawing/2014/main" id="{7C5EF432-3469-2C61-DED9-4F9D1718ECCD}"/>
              </a:ext>
            </a:extLst>
          </p:cNvPr>
          <p:cNvSpPr/>
          <p:nvPr/>
        </p:nvSpPr>
        <p:spPr>
          <a:xfrm>
            <a:off x="1958975" y="2589212"/>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Saga Coordinator</a:t>
            </a:r>
          </a:p>
        </p:txBody>
      </p:sp>
      <p:sp>
        <p:nvSpPr>
          <p:cNvPr id="105" name="Rectangle: Rounded Corners 104">
            <a:extLst>
              <a:ext uri="{FF2B5EF4-FFF2-40B4-BE49-F238E27FC236}">
                <a16:creationId xmlns:a16="http://schemas.microsoft.com/office/drawing/2014/main" id="{B41F08ED-310C-7D31-01DC-811A0053AB6B}"/>
              </a:ext>
            </a:extLst>
          </p:cNvPr>
          <p:cNvSpPr/>
          <p:nvPr/>
        </p:nvSpPr>
        <p:spPr>
          <a:xfrm>
            <a:off x="6656387" y="2609056"/>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Transaction Steps</a:t>
            </a:r>
          </a:p>
        </p:txBody>
      </p:sp>
      <p:sp>
        <p:nvSpPr>
          <p:cNvPr id="106" name="Rectangle: Rounded Corners 105">
            <a:extLst>
              <a:ext uri="{FF2B5EF4-FFF2-40B4-BE49-F238E27FC236}">
                <a16:creationId xmlns:a16="http://schemas.microsoft.com/office/drawing/2014/main" id="{B60D9B54-EFB6-1029-61F7-0243CE71850A}"/>
              </a:ext>
            </a:extLst>
          </p:cNvPr>
          <p:cNvSpPr/>
          <p:nvPr/>
        </p:nvSpPr>
        <p:spPr>
          <a:xfrm>
            <a:off x="1958975" y="3631407"/>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Compensating Actions</a:t>
            </a:r>
          </a:p>
        </p:txBody>
      </p:sp>
      <p:sp>
        <p:nvSpPr>
          <p:cNvPr id="3" name="Rectangle: Rounded Corners 2">
            <a:extLst>
              <a:ext uri="{FF2B5EF4-FFF2-40B4-BE49-F238E27FC236}">
                <a16:creationId xmlns:a16="http://schemas.microsoft.com/office/drawing/2014/main" id="{62B19420-4045-3CC6-1C66-8D8F491E00F9}"/>
              </a:ext>
            </a:extLst>
          </p:cNvPr>
          <p:cNvSpPr/>
          <p:nvPr/>
        </p:nvSpPr>
        <p:spPr>
          <a:xfrm>
            <a:off x="6656387" y="3631407"/>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State Management</a:t>
            </a:r>
          </a:p>
        </p:txBody>
      </p:sp>
    </p:spTree>
    <p:extLst>
      <p:ext uri="{BB962C8B-B14F-4D97-AF65-F5344CB8AC3E}">
        <p14:creationId xmlns:p14="http://schemas.microsoft.com/office/powerpoint/2010/main" val="680784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992D7-3AAD-134A-0940-250CCF3F6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4275F-FF3C-476E-2F48-6E140C062646}"/>
              </a:ext>
            </a:extLst>
          </p:cNvPr>
          <p:cNvSpPr>
            <a:spLocks noGrp="1"/>
          </p:cNvSpPr>
          <p:nvPr>
            <p:ph type="title"/>
          </p:nvPr>
        </p:nvSpPr>
        <p:spPr/>
        <p:txBody>
          <a:bodyPr/>
          <a:lstStyle/>
          <a:p>
            <a:r>
              <a:rPr lang="en-US" dirty="0"/>
              <a:t>Key Components &amp; Flow</a:t>
            </a:r>
          </a:p>
        </p:txBody>
      </p:sp>
      <p:sp>
        <p:nvSpPr>
          <p:cNvPr id="104" name="Rectangle: Rounded Corners 103">
            <a:extLst>
              <a:ext uri="{FF2B5EF4-FFF2-40B4-BE49-F238E27FC236}">
                <a16:creationId xmlns:a16="http://schemas.microsoft.com/office/drawing/2014/main" id="{090E969C-CE35-E726-BACA-1B387F770200}"/>
              </a:ext>
            </a:extLst>
          </p:cNvPr>
          <p:cNvSpPr/>
          <p:nvPr/>
        </p:nvSpPr>
        <p:spPr>
          <a:xfrm>
            <a:off x="547688" y="1893841"/>
            <a:ext cx="26368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Saga Coordinator</a:t>
            </a:r>
          </a:p>
        </p:txBody>
      </p:sp>
      <p:sp>
        <p:nvSpPr>
          <p:cNvPr id="105" name="Rectangle: Rounded Corners 104">
            <a:extLst>
              <a:ext uri="{FF2B5EF4-FFF2-40B4-BE49-F238E27FC236}">
                <a16:creationId xmlns:a16="http://schemas.microsoft.com/office/drawing/2014/main" id="{6DEB382A-1FEA-68E6-7BA7-3B853849FE8D}"/>
              </a:ext>
            </a:extLst>
          </p:cNvPr>
          <p:cNvSpPr/>
          <p:nvPr/>
        </p:nvSpPr>
        <p:spPr>
          <a:xfrm>
            <a:off x="536431" y="2922651"/>
            <a:ext cx="26368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Transaction Steps</a:t>
            </a:r>
          </a:p>
        </p:txBody>
      </p:sp>
      <p:sp>
        <p:nvSpPr>
          <p:cNvPr id="106" name="Rectangle: Rounded Corners 105">
            <a:extLst>
              <a:ext uri="{FF2B5EF4-FFF2-40B4-BE49-F238E27FC236}">
                <a16:creationId xmlns:a16="http://schemas.microsoft.com/office/drawing/2014/main" id="{ED020EE1-021B-4FEE-A694-8BDDFCFD6FA2}"/>
              </a:ext>
            </a:extLst>
          </p:cNvPr>
          <p:cNvSpPr/>
          <p:nvPr/>
        </p:nvSpPr>
        <p:spPr>
          <a:xfrm>
            <a:off x="546100" y="3943414"/>
            <a:ext cx="26368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Compensating Actions</a:t>
            </a:r>
          </a:p>
        </p:txBody>
      </p:sp>
      <p:sp>
        <p:nvSpPr>
          <p:cNvPr id="3" name="Rectangle: Rounded Corners 2">
            <a:extLst>
              <a:ext uri="{FF2B5EF4-FFF2-40B4-BE49-F238E27FC236}">
                <a16:creationId xmlns:a16="http://schemas.microsoft.com/office/drawing/2014/main" id="{A14D3E1A-E9C9-CE0A-7EF7-2524E092075F}"/>
              </a:ext>
            </a:extLst>
          </p:cNvPr>
          <p:cNvSpPr/>
          <p:nvPr/>
        </p:nvSpPr>
        <p:spPr>
          <a:xfrm>
            <a:off x="547688" y="4972224"/>
            <a:ext cx="26368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State Management</a:t>
            </a:r>
          </a:p>
        </p:txBody>
      </p:sp>
      <p:sp>
        <p:nvSpPr>
          <p:cNvPr id="4" name="Rectangle: Rounded Corners 3">
            <a:extLst>
              <a:ext uri="{FF2B5EF4-FFF2-40B4-BE49-F238E27FC236}">
                <a16:creationId xmlns:a16="http://schemas.microsoft.com/office/drawing/2014/main" id="{5DD4C153-3968-238A-89BB-2D3E8195D9EC}"/>
              </a:ext>
            </a:extLst>
          </p:cNvPr>
          <p:cNvSpPr/>
          <p:nvPr/>
        </p:nvSpPr>
        <p:spPr>
          <a:xfrm>
            <a:off x="5623124" y="2256232"/>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5" name="Oval 4">
            <a:extLst>
              <a:ext uri="{FF2B5EF4-FFF2-40B4-BE49-F238E27FC236}">
                <a16:creationId xmlns:a16="http://schemas.microsoft.com/office/drawing/2014/main" id="{ED47C5FE-46FC-43A4-A1C7-8A00BA71135A}"/>
              </a:ext>
            </a:extLst>
          </p:cNvPr>
          <p:cNvSpPr/>
          <p:nvPr/>
        </p:nvSpPr>
        <p:spPr>
          <a:xfrm>
            <a:off x="8437395" y="2194640"/>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8" name="Oval 17">
            <a:extLst>
              <a:ext uri="{FF2B5EF4-FFF2-40B4-BE49-F238E27FC236}">
                <a16:creationId xmlns:a16="http://schemas.microsoft.com/office/drawing/2014/main" id="{54C3E2B2-4592-E0F4-1F86-41CA07CF25C3}"/>
              </a:ext>
            </a:extLst>
          </p:cNvPr>
          <p:cNvSpPr/>
          <p:nvPr/>
        </p:nvSpPr>
        <p:spPr>
          <a:xfrm>
            <a:off x="4068852" y="308550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cxnSp>
        <p:nvCxnSpPr>
          <p:cNvPr id="19" name="Straight Arrow Connector 18">
            <a:extLst>
              <a:ext uri="{FF2B5EF4-FFF2-40B4-BE49-F238E27FC236}">
                <a16:creationId xmlns:a16="http://schemas.microsoft.com/office/drawing/2014/main" id="{12D798F2-C817-53AE-BCC9-3129CB823408}"/>
              </a:ext>
            </a:extLst>
          </p:cNvPr>
          <p:cNvCxnSpPr>
            <a:cxnSpLocks/>
            <a:stCxn id="18" idx="6"/>
            <a:endCxn id="22" idx="1"/>
          </p:cNvCxnSpPr>
          <p:nvPr/>
        </p:nvCxnSpPr>
        <p:spPr>
          <a:xfrm>
            <a:off x="4798477" y="3429000"/>
            <a:ext cx="824648" cy="1514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4323274-EFA9-0130-6133-B2F3AB122D0B}"/>
              </a:ext>
            </a:extLst>
          </p:cNvPr>
          <p:cNvSpPr txBox="1"/>
          <p:nvPr/>
        </p:nvSpPr>
        <p:spPr>
          <a:xfrm>
            <a:off x="3778420" y="3913730"/>
            <a:ext cx="1310487" cy="646331"/>
          </a:xfrm>
          <a:prstGeom prst="rect">
            <a:avLst/>
          </a:prstGeom>
          <a:noFill/>
        </p:spPr>
        <p:txBody>
          <a:bodyPr wrap="none" rtlCol="0">
            <a:spAutoFit/>
          </a:bodyPr>
          <a:lstStyle/>
          <a:p>
            <a:pPr algn="ctr"/>
            <a:r>
              <a:rPr lang="en-US" dirty="0"/>
              <a:t>Saga</a:t>
            </a:r>
            <a:br>
              <a:rPr lang="en-US" dirty="0"/>
            </a:br>
            <a:r>
              <a:rPr lang="en-US" dirty="0"/>
              <a:t>Coordinator</a:t>
            </a:r>
          </a:p>
        </p:txBody>
      </p:sp>
      <p:sp>
        <p:nvSpPr>
          <p:cNvPr id="21" name="TextBox 20">
            <a:extLst>
              <a:ext uri="{FF2B5EF4-FFF2-40B4-BE49-F238E27FC236}">
                <a16:creationId xmlns:a16="http://schemas.microsoft.com/office/drawing/2014/main" id="{AB85EE85-E749-0D5B-36EA-588F510A4DA0}"/>
              </a:ext>
            </a:extLst>
          </p:cNvPr>
          <p:cNvSpPr txBox="1"/>
          <p:nvPr/>
        </p:nvSpPr>
        <p:spPr>
          <a:xfrm>
            <a:off x="5353812" y="4761463"/>
            <a:ext cx="2505109" cy="369332"/>
          </a:xfrm>
          <a:prstGeom prst="rect">
            <a:avLst/>
          </a:prstGeom>
          <a:noFill/>
        </p:spPr>
        <p:txBody>
          <a:bodyPr wrap="none" rtlCol="0">
            <a:spAutoFit/>
          </a:bodyPr>
          <a:lstStyle/>
          <a:p>
            <a:r>
              <a:rPr lang="en-US" dirty="0"/>
              <a:t>Transaction Step Queues</a:t>
            </a:r>
          </a:p>
        </p:txBody>
      </p:sp>
      <p:sp>
        <p:nvSpPr>
          <p:cNvPr id="22" name="Rectangle: Rounded Corners 21">
            <a:extLst>
              <a:ext uri="{FF2B5EF4-FFF2-40B4-BE49-F238E27FC236}">
                <a16:creationId xmlns:a16="http://schemas.microsoft.com/office/drawing/2014/main" id="{F5F0E09A-58A6-07C0-2C0E-99537AE5A174}"/>
              </a:ext>
            </a:extLst>
          </p:cNvPr>
          <p:cNvSpPr/>
          <p:nvPr/>
        </p:nvSpPr>
        <p:spPr>
          <a:xfrm>
            <a:off x="5623125" y="3162247"/>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3" name="Rectangle: Rounded Corners 22">
            <a:extLst>
              <a:ext uri="{FF2B5EF4-FFF2-40B4-BE49-F238E27FC236}">
                <a16:creationId xmlns:a16="http://schemas.microsoft.com/office/drawing/2014/main" id="{990C5803-F5CE-3669-9550-0A1EADEC3D02}"/>
              </a:ext>
            </a:extLst>
          </p:cNvPr>
          <p:cNvSpPr/>
          <p:nvPr/>
        </p:nvSpPr>
        <p:spPr>
          <a:xfrm>
            <a:off x="5601666" y="4054188"/>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4" name="Oval 23">
            <a:extLst>
              <a:ext uri="{FF2B5EF4-FFF2-40B4-BE49-F238E27FC236}">
                <a16:creationId xmlns:a16="http://schemas.microsoft.com/office/drawing/2014/main" id="{33C8A4A0-BD88-CD6A-2F28-E4DE596FE015}"/>
              </a:ext>
            </a:extLst>
          </p:cNvPr>
          <p:cNvSpPr/>
          <p:nvPr/>
        </p:nvSpPr>
        <p:spPr>
          <a:xfrm>
            <a:off x="8437395" y="3100655"/>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25" name="Oval 24">
            <a:extLst>
              <a:ext uri="{FF2B5EF4-FFF2-40B4-BE49-F238E27FC236}">
                <a16:creationId xmlns:a16="http://schemas.microsoft.com/office/drawing/2014/main" id="{DD45AB43-A35A-053A-16F0-C1C752AC589E}"/>
              </a:ext>
            </a:extLst>
          </p:cNvPr>
          <p:cNvSpPr/>
          <p:nvPr/>
        </p:nvSpPr>
        <p:spPr>
          <a:xfrm>
            <a:off x="8437396" y="399259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26" name="Rectangle: Rounded Corners 25">
            <a:extLst>
              <a:ext uri="{FF2B5EF4-FFF2-40B4-BE49-F238E27FC236}">
                <a16:creationId xmlns:a16="http://schemas.microsoft.com/office/drawing/2014/main" id="{889A3706-3AAD-52F5-4116-75A71F93207F}"/>
              </a:ext>
            </a:extLst>
          </p:cNvPr>
          <p:cNvSpPr/>
          <p:nvPr/>
        </p:nvSpPr>
        <p:spPr>
          <a:xfrm>
            <a:off x="9971888" y="3162247"/>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cxnSp>
        <p:nvCxnSpPr>
          <p:cNvPr id="27" name="Straight Arrow Connector 26">
            <a:extLst>
              <a:ext uri="{FF2B5EF4-FFF2-40B4-BE49-F238E27FC236}">
                <a16:creationId xmlns:a16="http://schemas.microsoft.com/office/drawing/2014/main" id="{5FB11962-9442-7D3C-D018-5E67A4D438FC}"/>
              </a:ext>
            </a:extLst>
          </p:cNvPr>
          <p:cNvCxnSpPr>
            <a:stCxn id="18" idx="7"/>
            <a:endCxn id="4" idx="1"/>
          </p:cNvCxnSpPr>
          <p:nvPr/>
        </p:nvCxnSpPr>
        <p:spPr>
          <a:xfrm flipV="1">
            <a:off x="4691626" y="2538133"/>
            <a:ext cx="931498" cy="647981"/>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FD2308A-14BD-9FA1-4383-D29E62FA13AA}"/>
              </a:ext>
            </a:extLst>
          </p:cNvPr>
          <p:cNvCxnSpPr>
            <a:stCxn id="18" idx="5"/>
            <a:endCxn id="23" idx="1"/>
          </p:cNvCxnSpPr>
          <p:nvPr/>
        </p:nvCxnSpPr>
        <p:spPr>
          <a:xfrm>
            <a:off x="4691626" y="3671885"/>
            <a:ext cx="910040" cy="664204"/>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765FA3B-8C7C-7838-17C8-F42DBC5475B9}"/>
              </a:ext>
            </a:extLst>
          </p:cNvPr>
          <p:cNvCxnSpPr>
            <a:stCxn id="4" idx="3"/>
            <a:endCxn id="5" idx="2"/>
          </p:cNvCxnSpPr>
          <p:nvPr/>
        </p:nvCxnSpPr>
        <p:spPr>
          <a:xfrm>
            <a:off x="7632527" y="2538133"/>
            <a:ext cx="804868"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19E258C8-C4DB-2185-3F40-AEE63E2185C0}"/>
              </a:ext>
            </a:extLst>
          </p:cNvPr>
          <p:cNvCxnSpPr>
            <a:stCxn id="22" idx="3"/>
            <a:endCxn id="24" idx="2"/>
          </p:cNvCxnSpPr>
          <p:nvPr/>
        </p:nvCxnSpPr>
        <p:spPr>
          <a:xfrm>
            <a:off x="7632528" y="3444148"/>
            <a:ext cx="804867"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7AFE2C8-18B4-43BF-176C-738CAA5F36A9}"/>
              </a:ext>
            </a:extLst>
          </p:cNvPr>
          <p:cNvCxnSpPr>
            <a:stCxn id="23" idx="3"/>
            <a:endCxn id="25" idx="2"/>
          </p:cNvCxnSpPr>
          <p:nvPr/>
        </p:nvCxnSpPr>
        <p:spPr>
          <a:xfrm>
            <a:off x="7611069" y="4336089"/>
            <a:ext cx="826327"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612088B-6778-BD48-9F1D-AE04B182114C}"/>
              </a:ext>
            </a:extLst>
          </p:cNvPr>
          <p:cNvCxnSpPr>
            <a:stCxn id="5" idx="6"/>
          </p:cNvCxnSpPr>
          <p:nvPr/>
        </p:nvCxnSpPr>
        <p:spPr>
          <a:xfrm>
            <a:off x="9167020" y="2538133"/>
            <a:ext cx="804869" cy="81799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53C572A-599D-F25C-4E94-6770ADE2D77B}"/>
              </a:ext>
            </a:extLst>
          </p:cNvPr>
          <p:cNvCxnSpPr>
            <a:stCxn id="24" idx="6"/>
            <a:endCxn id="26" idx="1"/>
          </p:cNvCxnSpPr>
          <p:nvPr/>
        </p:nvCxnSpPr>
        <p:spPr>
          <a:xfrm>
            <a:off x="9167020" y="3444148"/>
            <a:ext cx="804868"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4D5B180C-2AAD-722F-F875-F380B1D7C952}"/>
              </a:ext>
            </a:extLst>
          </p:cNvPr>
          <p:cNvCxnSpPr>
            <a:stCxn id="25" idx="6"/>
          </p:cNvCxnSpPr>
          <p:nvPr/>
        </p:nvCxnSpPr>
        <p:spPr>
          <a:xfrm flipV="1">
            <a:off x="9167021" y="3576320"/>
            <a:ext cx="804867" cy="759769"/>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F5B4D408-D5E9-9FF0-DC62-10E34A0CA210}"/>
              </a:ext>
            </a:extLst>
          </p:cNvPr>
          <p:cNvCxnSpPr>
            <a:stCxn id="26" idx="0"/>
            <a:endCxn id="18" idx="0"/>
          </p:cNvCxnSpPr>
          <p:nvPr/>
        </p:nvCxnSpPr>
        <p:spPr>
          <a:xfrm rot="16200000" flipV="1">
            <a:off x="7666758" y="-147586"/>
            <a:ext cx="76740" cy="6542925"/>
          </a:xfrm>
          <a:prstGeom prst="bentConnector3">
            <a:avLst>
              <a:gd name="adj1" fmla="val 1840996"/>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DCF6DFE1-C131-3F53-9150-9843D7222C03}"/>
              </a:ext>
            </a:extLst>
          </p:cNvPr>
          <p:cNvSpPr txBox="1"/>
          <p:nvPr/>
        </p:nvSpPr>
        <p:spPr>
          <a:xfrm>
            <a:off x="8171168" y="4766363"/>
            <a:ext cx="1262077" cy="923330"/>
          </a:xfrm>
          <a:prstGeom prst="rect">
            <a:avLst/>
          </a:prstGeom>
          <a:noFill/>
        </p:spPr>
        <p:txBody>
          <a:bodyPr wrap="none" rtlCol="0">
            <a:spAutoFit/>
          </a:bodyPr>
          <a:lstStyle/>
          <a:p>
            <a:pPr algn="ctr"/>
            <a:r>
              <a:rPr lang="en-US" dirty="0"/>
              <a:t>Transaction</a:t>
            </a:r>
          </a:p>
          <a:p>
            <a:pPr algn="ctr"/>
            <a:r>
              <a:rPr lang="en-US" dirty="0"/>
              <a:t>Step</a:t>
            </a:r>
          </a:p>
          <a:p>
            <a:pPr algn="ctr"/>
            <a:r>
              <a:rPr lang="en-US" dirty="0"/>
              <a:t>Consumers</a:t>
            </a:r>
          </a:p>
        </p:txBody>
      </p:sp>
      <p:sp>
        <p:nvSpPr>
          <p:cNvPr id="47" name="TextBox 46">
            <a:extLst>
              <a:ext uri="{FF2B5EF4-FFF2-40B4-BE49-F238E27FC236}">
                <a16:creationId xmlns:a16="http://schemas.microsoft.com/office/drawing/2014/main" id="{D251BC95-0EBF-44DD-8728-254529B55A0B}"/>
              </a:ext>
            </a:extLst>
          </p:cNvPr>
          <p:cNvSpPr txBox="1"/>
          <p:nvPr/>
        </p:nvSpPr>
        <p:spPr>
          <a:xfrm>
            <a:off x="10008279" y="3846927"/>
            <a:ext cx="1936620" cy="646331"/>
          </a:xfrm>
          <a:prstGeom prst="rect">
            <a:avLst/>
          </a:prstGeom>
          <a:noFill/>
        </p:spPr>
        <p:txBody>
          <a:bodyPr wrap="none" rtlCol="0">
            <a:spAutoFit/>
          </a:bodyPr>
          <a:lstStyle/>
          <a:p>
            <a:pPr algn="ctr"/>
            <a:r>
              <a:rPr lang="en-US" dirty="0"/>
              <a:t>Acknowledgement</a:t>
            </a:r>
            <a:br>
              <a:rPr lang="en-US" dirty="0"/>
            </a:br>
            <a:r>
              <a:rPr lang="en-US" dirty="0"/>
              <a:t>Queue</a:t>
            </a:r>
          </a:p>
        </p:txBody>
      </p:sp>
      <p:pic>
        <p:nvPicPr>
          <p:cNvPr id="48" name="Picture 47" descr="Free Envelope Clipart Black And White, Download Free Envelope Clipart Black  And White png images, Free ClipArts on Clipart Library">
            <a:extLst>
              <a:ext uri="{FF2B5EF4-FFF2-40B4-BE49-F238E27FC236}">
                <a16:creationId xmlns:a16="http://schemas.microsoft.com/office/drawing/2014/main" id="{0AEC17FE-A4CB-7383-BDE8-453674ADD76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165803" y="325640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Free Envelope Clipart Black And White, Download Free Envelope Clipart Black  And White png images, Free ClipArts on Clipart Library">
            <a:extLst>
              <a:ext uri="{FF2B5EF4-FFF2-40B4-BE49-F238E27FC236}">
                <a16:creationId xmlns:a16="http://schemas.microsoft.com/office/drawing/2014/main" id="{3C264291-FB07-C1BE-E579-C36C3C1B8E3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999855" y="233717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Free Envelope Clipart Black And White, Download Free Envelope Clipart Black  And White png images, Free ClipArts on Clipart Library">
            <a:extLst>
              <a:ext uri="{FF2B5EF4-FFF2-40B4-BE49-F238E27FC236}">
                <a16:creationId xmlns:a16="http://schemas.microsoft.com/office/drawing/2014/main" id="{9A90AFC2-4E02-BAD2-317C-62C2A305171B}"/>
              </a:ext>
            </a:extLst>
          </p:cNvPr>
          <p:cNvPicPr>
            <a:picLocks noChangeAspect="1" noChangeArrowheads="1"/>
          </p:cNvPicPr>
          <p:nvPr/>
        </p:nvPicPr>
        <p:blipFill>
          <a:blip r:embed="rId3" cstate="email">
            <a:duotone>
              <a:prstClr val="black"/>
              <a:schemeClr val="accent2">
                <a:tint val="45000"/>
                <a:satMod val="400000"/>
              </a:schemeClr>
            </a:duotone>
            <a:extLst>
              <a:ext uri="{28A0092B-C50C-407E-A947-70E740481C1C}">
                <a14:useLocalDpi xmlns:a14="http://schemas.microsoft.com/office/drawing/2010/main"/>
              </a:ext>
            </a:extLst>
          </a:blip>
          <a:srcRect/>
          <a:stretch>
            <a:fillRect/>
          </a:stretch>
        </p:blipFill>
        <p:spPr bwMode="auto">
          <a:xfrm>
            <a:off x="11361453" y="325640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Free Envelope Clipart Black And White, Download Free Envelope Clipart Black  And White png images, Free ClipArts on Clipart Library">
            <a:extLst>
              <a:ext uri="{FF2B5EF4-FFF2-40B4-BE49-F238E27FC236}">
                <a16:creationId xmlns:a16="http://schemas.microsoft.com/office/drawing/2014/main" id="{7B08FD0E-7F43-24A5-860A-AC75F91604A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534346" y="233893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descr="Free Envelope Clipart Black And White, Download Free Envelope Clipart Black  And White png images, Free ClipArts on Clipart Library">
            <a:extLst>
              <a:ext uri="{FF2B5EF4-FFF2-40B4-BE49-F238E27FC236}">
                <a16:creationId xmlns:a16="http://schemas.microsoft.com/office/drawing/2014/main" id="{30CFA1DF-3BBF-59F1-80A4-8113E678645D}"/>
              </a:ext>
            </a:extLst>
          </p:cNvPr>
          <p:cNvPicPr>
            <a:picLocks noChangeAspect="1" noChangeArrowheads="1"/>
          </p:cNvPicPr>
          <p:nvPr/>
        </p:nvPicPr>
        <p:blipFill>
          <a:blip r:embed="rId3" cstate="email">
            <a:duotone>
              <a:prstClr val="black"/>
              <a:schemeClr val="accent2">
                <a:tint val="45000"/>
                <a:satMod val="400000"/>
              </a:schemeClr>
            </a:duotone>
            <a:extLst>
              <a:ext uri="{28A0092B-C50C-407E-A947-70E740481C1C}">
                <a14:useLocalDpi xmlns:a14="http://schemas.microsoft.com/office/drawing/2010/main"/>
              </a:ext>
            </a:extLst>
          </a:blip>
          <a:srcRect/>
          <a:stretch>
            <a:fillRect/>
          </a:stretch>
        </p:blipFill>
        <p:spPr bwMode="auto">
          <a:xfrm>
            <a:off x="8534346" y="233194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descr="Free Envelope Clipart Black And White, Download Free Envelope Clipart Black  And White png images, Free ClipArts on Clipart Library">
            <a:extLst>
              <a:ext uri="{FF2B5EF4-FFF2-40B4-BE49-F238E27FC236}">
                <a16:creationId xmlns:a16="http://schemas.microsoft.com/office/drawing/2014/main" id="{48215E5C-AACC-9668-9399-1E15D8F4DF47}"/>
              </a:ext>
            </a:extLst>
          </p:cNvPr>
          <p:cNvPicPr>
            <a:picLocks noChangeAspect="1" noChangeArrowheads="1"/>
          </p:cNvPicPr>
          <p:nvPr/>
        </p:nvPicPr>
        <p:blipFill>
          <a:blip r:embed="rId3" cstate="email">
            <a:duotone>
              <a:prstClr val="black"/>
              <a:schemeClr val="accent2">
                <a:tint val="45000"/>
                <a:satMod val="400000"/>
              </a:schemeClr>
            </a:duotone>
            <a:extLst>
              <a:ext uri="{28A0092B-C50C-407E-A947-70E740481C1C}">
                <a14:useLocalDpi xmlns:a14="http://schemas.microsoft.com/office/drawing/2010/main"/>
              </a:ext>
            </a:extLst>
          </a:blip>
          <a:srcRect/>
          <a:stretch>
            <a:fillRect/>
          </a:stretch>
        </p:blipFill>
        <p:spPr bwMode="auto">
          <a:xfrm>
            <a:off x="4165803"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53" descr="Free Envelope Clipart Black And White, Download Free Envelope Clipart Black  And White png images, Free ClipArts on Clipart Library">
            <a:extLst>
              <a:ext uri="{FF2B5EF4-FFF2-40B4-BE49-F238E27FC236}">
                <a16:creationId xmlns:a16="http://schemas.microsoft.com/office/drawing/2014/main" id="{B0F4500C-3485-FE2B-4BF7-E83BD1EC091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165803" y="325204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54" descr="Free Envelope Clipart Black And White, Download Free Envelope Clipart Black  And White png images, Free ClipArts on Clipart Library">
            <a:extLst>
              <a:ext uri="{FF2B5EF4-FFF2-40B4-BE49-F238E27FC236}">
                <a16:creationId xmlns:a16="http://schemas.microsoft.com/office/drawing/2014/main" id="{721EF041-0DB9-B5B1-AEA4-C7A6B24DFEB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999855"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descr="Free Envelope Clipart Black And White, Download Free Envelope Clipart Black  And White png images, Free ClipArts on Clipart Library">
            <a:extLst>
              <a:ext uri="{FF2B5EF4-FFF2-40B4-BE49-F238E27FC236}">
                <a16:creationId xmlns:a16="http://schemas.microsoft.com/office/drawing/2014/main" id="{AEC45379-5DEF-CB65-0CA7-CAE0DC698F9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534346" y="324319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56" descr="Free Envelope Clipart Black And White, Download Free Envelope Clipart Black  And White png images, Free ClipArts on Clipart Library">
            <a:extLst>
              <a:ext uri="{FF2B5EF4-FFF2-40B4-BE49-F238E27FC236}">
                <a16:creationId xmlns:a16="http://schemas.microsoft.com/office/drawing/2014/main" id="{74123B77-8ADD-BE72-81DE-C88AE665D2D0}"/>
              </a:ext>
            </a:extLst>
          </p:cNvPr>
          <p:cNvPicPr>
            <a:picLocks noChangeAspect="1" noChangeArrowheads="1"/>
          </p:cNvPicPr>
          <p:nvPr/>
        </p:nvPicPr>
        <p:blipFill>
          <a:blip r:embed="rId3" cstate="email">
            <a:duotone>
              <a:prstClr val="black"/>
              <a:schemeClr val="accent2">
                <a:tint val="45000"/>
                <a:satMod val="400000"/>
              </a:schemeClr>
            </a:duotone>
            <a:extLst>
              <a:ext uri="{28A0092B-C50C-407E-A947-70E740481C1C}">
                <a14:useLocalDpi xmlns:a14="http://schemas.microsoft.com/office/drawing/2010/main"/>
              </a:ext>
            </a:extLst>
          </a:blip>
          <a:srcRect/>
          <a:stretch>
            <a:fillRect/>
          </a:stretch>
        </p:blipFill>
        <p:spPr bwMode="auto">
          <a:xfrm>
            <a:off x="8534345" y="324319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57" descr="Free Envelope Clipart Black And White, Download Free Envelope Clipart Black  And White png images, Free ClipArts on Clipart Library">
            <a:extLst>
              <a:ext uri="{FF2B5EF4-FFF2-40B4-BE49-F238E27FC236}">
                <a16:creationId xmlns:a16="http://schemas.microsoft.com/office/drawing/2014/main" id="{CDA4309A-2435-26E0-2F60-0B326210E7A0}"/>
              </a:ext>
            </a:extLst>
          </p:cNvPr>
          <p:cNvPicPr>
            <a:picLocks noChangeAspect="1" noChangeArrowheads="1"/>
          </p:cNvPicPr>
          <p:nvPr/>
        </p:nvPicPr>
        <p:blipFill>
          <a:blip r:embed="rId3" cstate="email">
            <a:duotone>
              <a:prstClr val="black"/>
              <a:schemeClr val="accent2">
                <a:tint val="45000"/>
                <a:satMod val="400000"/>
              </a:schemeClr>
            </a:duotone>
            <a:extLst>
              <a:ext uri="{28A0092B-C50C-407E-A947-70E740481C1C}">
                <a14:useLocalDpi xmlns:a14="http://schemas.microsoft.com/office/drawing/2010/main"/>
              </a:ext>
            </a:extLst>
          </a:blip>
          <a:srcRect/>
          <a:stretch>
            <a:fillRect/>
          </a:stretch>
        </p:blipFill>
        <p:spPr bwMode="auto">
          <a:xfrm>
            <a:off x="11361452"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descr="Free Envelope Clipart Black And White, Download Free Envelope Clipart Black  And White png images, Free ClipArts on Clipart Library">
            <a:extLst>
              <a:ext uri="{FF2B5EF4-FFF2-40B4-BE49-F238E27FC236}">
                <a16:creationId xmlns:a16="http://schemas.microsoft.com/office/drawing/2014/main" id="{DBCEB289-AC47-242C-DB82-6C0497A61C24}"/>
              </a:ext>
            </a:extLst>
          </p:cNvPr>
          <p:cNvPicPr>
            <a:picLocks noChangeAspect="1" noChangeArrowheads="1"/>
          </p:cNvPicPr>
          <p:nvPr/>
        </p:nvPicPr>
        <p:blipFill>
          <a:blip r:embed="rId3" cstate="email">
            <a:duotone>
              <a:prstClr val="black"/>
              <a:schemeClr val="accent2">
                <a:tint val="45000"/>
                <a:satMod val="400000"/>
              </a:schemeClr>
            </a:duotone>
            <a:extLst>
              <a:ext uri="{28A0092B-C50C-407E-A947-70E740481C1C}">
                <a14:useLocalDpi xmlns:a14="http://schemas.microsoft.com/office/drawing/2010/main"/>
              </a:ext>
            </a:extLst>
          </a:blip>
          <a:srcRect/>
          <a:stretch>
            <a:fillRect/>
          </a:stretch>
        </p:blipFill>
        <p:spPr bwMode="auto">
          <a:xfrm>
            <a:off x="4162496" y="326706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59" descr="Free Envelope Clipart Black And White, Download Free Envelope Clipart Black  And White png images, Free ClipArts on Clipart Library">
            <a:extLst>
              <a:ext uri="{FF2B5EF4-FFF2-40B4-BE49-F238E27FC236}">
                <a16:creationId xmlns:a16="http://schemas.microsoft.com/office/drawing/2014/main" id="{E1954FF0-5D99-28C8-C9C3-CB9A91D975B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162496" y="3256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0" descr="Free Envelope Clipart Black And White, Download Free Envelope Clipart Black  And White png images, Free ClipArts on Clipart Library">
            <a:extLst>
              <a:ext uri="{FF2B5EF4-FFF2-40B4-BE49-F238E27FC236}">
                <a16:creationId xmlns:a16="http://schemas.microsoft.com/office/drawing/2014/main" id="{87D69792-687E-CCDA-140C-CD7AAB63A481}"/>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999855" y="4151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1" descr="Free Envelope Clipart Black And White, Download Free Envelope Clipart Black  And White png images, Free ClipArts on Clipart Library">
            <a:extLst>
              <a:ext uri="{FF2B5EF4-FFF2-40B4-BE49-F238E27FC236}">
                <a16:creationId xmlns:a16="http://schemas.microsoft.com/office/drawing/2014/main" id="{9770116E-6631-5FFE-D689-FDAAA0A4D49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534345" y="416069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62" descr="Free Envelope Clipart Black And White, Download Free Envelope Clipart Black  And White png images, Free ClipArts on Clipart Library">
            <a:extLst>
              <a:ext uri="{FF2B5EF4-FFF2-40B4-BE49-F238E27FC236}">
                <a16:creationId xmlns:a16="http://schemas.microsoft.com/office/drawing/2014/main" id="{27D0AEFF-A52A-015C-38E6-11E3556044F0}"/>
              </a:ext>
            </a:extLst>
          </p:cNvPr>
          <p:cNvPicPr>
            <a:picLocks noChangeAspect="1" noChangeArrowheads="1"/>
          </p:cNvPicPr>
          <p:nvPr/>
        </p:nvPicPr>
        <p:blipFill>
          <a:blip r:embed="rId3" cstate="email">
            <a:duotone>
              <a:prstClr val="black"/>
              <a:schemeClr val="accent2">
                <a:tint val="45000"/>
                <a:satMod val="400000"/>
              </a:schemeClr>
            </a:duotone>
            <a:extLst>
              <a:ext uri="{28A0092B-C50C-407E-A947-70E740481C1C}">
                <a14:useLocalDpi xmlns:a14="http://schemas.microsoft.com/office/drawing/2010/main"/>
              </a:ext>
            </a:extLst>
          </a:blip>
          <a:srcRect/>
          <a:stretch>
            <a:fillRect/>
          </a:stretch>
        </p:blipFill>
        <p:spPr bwMode="auto">
          <a:xfrm>
            <a:off x="8534345" y="415991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3" descr="Free Envelope Clipart Black And White, Download Free Envelope Clipart Black  And White png images, Free ClipArts on Clipart Library">
            <a:extLst>
              <a:ext uri="{FF2B5EF4-FFF2-40B4-BE49-F238E27FC236}">
                <a16:creationId xmlns:a16="http://schemas.microsoft.com/office/drawing/2014/main" id="{642E2181-8172-AD93-F895-682B5A021C7F}"/>
              </a:ext>
            </a:extLst>
          </p:cNvPr>
          <p:cNvPicPr>
            <a:picLocks noChangeAspect="1" noChangeArrowheads="1"/>
          </p:cNvPicPr>
          <p:nvPr/>
        </p:nvPicPr>
        <p:blipFill>
          <a:blip r:embed="rId3" cstate="email">
            <a:duotone>
              <a:prstClr val="black"/>
              <a:schemeClr val="accent2">
                <a:tint val="45000"/>
                <a:satMod val="400000"/>
              </a:schemeClr>
            </a:duotone>
            <a:extLst>
              <a:ext uri="{28A0092B-C50C-407E-A947-70E740481C1C}">
                <a14:useLocalDpi xmlns:a14="http://schemas.microsoft.com/office/drawing/2010/main"/>
              </a:ext>
            </a:extLst>
          </a:blip>
          <a:srcRect/>
          <a:stretch>
            <a:fillRect/>
          </a:stretch>
        </p:blipFill>
        <p:spPr bwMode="auto">
          <a:xfrm>
            <a:off x="11361451" y="326706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descr="Free Envelope Clipart Black And White, Download Free Envelope Clipart Black  And White png images, Free ClipArts on Clipart Library">
            <a:extLst>
              <a:ext uri="{FF2B5EF4-FFF2-40B4-BE49-F238E27FC236}">
                <a16:creationId xmlns:a16="http://schemas.microsoft.com/office/drawing/2014/main" id="{76921FBE-40DF-A5CA-C70E-FEF0EFAAF9A5}"/>
              </a:ext>
            </a:extLst>
          </p:cNvPr>
          <p:cNvPicPr>
            <a:picLocks noChangeAspect="1" noChangeArrowheads="1"/>
          </p:cNvPicPr>
          <p:nvPr/>
        </p:nvPicPr>
        <p:blipFill>
          <a:blip r:embed="rId3" cstate="email">
            <a:duotone>
              <a:prstClr val="black"/>
              <a:schemeClr val="accent2">
                <a:tint val="45000"/>
                <a:satMod val="400000"/>
              </a:schemeClr>
            </a:duotone>
            <a:extLst>
              <a:ext uri="{28A0092B-C50C-407E-A947-70E740481C1C}">
                <a14:useLocalDpi xmlns:a14="http://schemas.microsoft.com/office/drawing/2010/main"/>
              </a:ext>
            </a:extLst>
          </a:blip>
          <a:srcRect/>
          <a:stretch>
            <a:fillRect/>
          </a:stretch>
        </p:blipFill>
        <p:spPr bwMode="auto">
          <a:xfrm>
            <a:off x="4155906" y="3252048"/>
            <a:ext cx="535720" cy="369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032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0.00026 -0.00023 L 0.10378 -0.13495 L 0.23294 -0.13403 " pathEditMode="relative" rAng="0" ptsTypes="AAA">
                                      <p:cBhvr>
                                        <p:cTn id="11" dur="1000" fill="hold"/>
                                        <p:tgtEl>
                                          <p:spTgt spid="48"/>
                                        </p:tgtEl>
                                        <p:attrNameLst>
                                          <p:attrName>ppt_x</p:attrName>
                                          <p:attrName>ppt_y</p:attrName>
                                        </p:attrNameLst>
                                      </p:cBhvr>
                                      <p:rCtr x="11654" y="-6736"/>
                                    </p:animMotion>
                                  </p:childTnLst>
                                </p:cTn>
                              </p:par>
                              <p:par>
                                <p:cTn id="12" presetID="22" presetClass="entr" presetSubtype="8" fill="hold" nodeType="with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wipe(left)">
                                      <p:cBhvr>
                                        <p:cTn id="14" dur="500"/>
                                        <p:tgtEl>
                                          <p:spTgt spid="27"/>
                                        </p:tgtEl>
                                      </p:cBhvr>
                                    </p:animEffec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0"/>
                                          </p:stCondLst>
                                        </p:cTn>
                                        <p:tgtEl>
                                          <p:spTgt spid="49"/>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48"/>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42" presetClass="path" presetSubtype="0" accel="50000" decel="50000" fill="hold" nodeType="clickEffect">
                                  <p:stCondLst>
                                    <p:cond delay="0"/>
                                  </p:stCondLst>
                                  <p:childTnLst>
                                    <p:animMotion origin="layout" path="M -3.75E-6 -2.59259E-6 L 0.12592 -2.59259E-6 " pathEditMode="relative" rAng="0" ptsTypes="AA">
                                      <p:cBhvr>
                                        <p:cTn id="23" dur="1000" fill="hold"/>
                                        <p:tgtEl>
                                          <p:spTgt spid="49"/>
                                        </p:tgtEl>
                                        <p:attrNameLst>
                                          <p:attrName>ppt_x</p:attrName>
                                          <p:attrName>ppt_y</p:attrName>
                                        </p:attrNameLst>
                                      </p:cBhvr>
                                      <p:rCtr x="6289" y="0"/>
                                    </p:animMotion>
                                  </p:childTnLst>
                                </p:cTn>
                              </p:par>
                              <p:par>
                                <p:cTn id="24" presetID="22" presetClass="entr" presetSubtype="8" fill="hold"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left)">
                                      <p:cBhvr>
                                        <p:cTn id="26" dur="500"/>
                                        <p:tgtEl>
                                          <p:spTgt spid="29"/>
                                        </p:tgtEl>
                                      </p:cBhvr>
                                    </p:animEffect>
                                  </p:childTnLst>
                                </p:cTn>
                              </p:par>
                            </p:childTnLst>
                          </p:cTn>
                        </p:par>
                        <p:par>
                          <p:cTn id="27" fill="hold">
                            <p:stCondLst>
                              <p:cond delay="1000"/>
                            </p:stCondLst>
                            <p:childTnLst>
                              <p:par>
                                <p:cTn id="28" presetID="1" presetClass="entr" presetSubtype="0" fill="hold" nodeType="after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49"/>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fade">
                                      <p:cBhvr>
                                        <p:cTn id="36" dur="500"/>
                                        <p:tgtEl>
                                          <p:spTgt spid="52"/>
                                        </p:tgtEl>
                                      </p:cBhvr>
                                    </p:animEffect>
                                  </p:childTnLst>
                                </p:cTn>
                              </p:par>
                            </p:childTnLst>
                          </p:cTn>
                        </p:par>
                        <p:par>
                          <p:cTn id="37" fill="hold">
                            <p:stCondLst>
                              <p:cond delay="500"/>
                            </p:stCondLst>
                            <p:childTnLst>
                              <p:par>
                                <p:cTn id="38" presetID="1" presetClass="exit" presetSubtype="0" fill="hold" nodeType="afterEffect">
                                  <p:stCondLst>
                                    <p:cond delay="0"/>
                                  </p:stCondLst>
                                  <p:childTnLst>
                                    <p:set>
                                      <p:cBhvr>
                                        <p:cTn id="39" dur="1" fill="hold">
                                          <p:stCondLst>
                                            <p:cond delay="0"/>
                                          </p:stCondLst>
                                        </p:cTn>
                                        <p:tgtEl>
                                          <p:spTgt spid="51"/>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0" presetClass="path" presetSubtype="0" accel="50000" decel="50000" fill="hold" nodeType="clickEffect">
                                  <p:stCondLst>
                                    <p:cond delay="0"/>
                                  </p:stCondLst>
                                  <p:childTnLst>
                                    <p:animMotion origin="layout" path="M 5E-6 0.00069 L 0.03217 0.00671 L 0.10704 0.13541 L 0.23139 0.13541 " pathEditMode="relative" rAng="0" ptsTypes="AAAA">
                                      <p:cBhvr>
                                        <p:cTn id="43" dur="1000" fill="hold"/>
                                        <p:tgtEl>
                                          <p:spTgt spid="52"/>
                                        </p:tgtEl>
                                        <p:attrNameLst>
                                          <p:attrName>ppt_x</p:attrName>
                                          <p:attrName>ppt_y</p:attrName>
                                        </p:attrNameLst>
                                      </p:cBhvr>
                                      <p:rCtr x="11563" y="6736"/>
                                    </p:animMotion>
                                  </p:childTnLst>
                                </p:cTn>
                              </p:par>
                              <p:par>
                                <p:cTn id="44" presetID="22" presetClass="entr" presetSubtype="8" fill="hold" nodeType="with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wipe(left)">
                                      <p:cBhvr>
                                        <p:cTn id="46" dur="500"/>
                                        <p:tgtEl>
                                          <p:spTgt spid="42"/>
                                        </p:tgtEl>
                                      </p:cBhvr>
                                    </p:animEffect>
                                  </p:childTnLst>
                                </p:cTn>
                              </p:par>
                            </p:childTnLst>
                          </p:cTn>
                        </p:par>
                        <p:par>
                          <p:cTn id="47" fill="hold">
                            <p:stCondLst>
                              <p:cond delay="1000"/>
                            </p:stCondLst>
                            <p:childTnLst>
                              <p:par>
                                <p:cTn id="48" presetID="1" presetClass="entr" presetSubtype="0" fill="hold" nodeType="afterEffect">
                                  <p:stCondLst>
                                    <p:cond delay="0"/>
                                  </p:stCondLst>
                                  <p:childTnLst>
                                    <p:set>
                                      <p:cBhvr>
                                        <p:cTn id="49" dur="1" fill="hold">
                                          <p:stCondLst>
                                            <p:cond delay="0"/>
                                          </p:stCondLst>
                                        </p:cTn>
                                        <p:tgtEl>
                                          <p:spTgt spid="50"/>
                                        </p:tgtEl>
                                        <p:attrNameLst>
                                          <p:attrName>style.visibility</p:attrName>
                                        </p:attrNameLst>
                                      </p:cBhvr>
                                      <p:to>
                                        <p:strVal val="visible"/>
                                      </p:to>
                                    </p:set>
                                  </p:childTnLst>
                                </p:cTn>
                              </p:par>
                              <p:par>
                                <p:cTn id="50" presetID="1" presetClass="exit" presetSubtype="0" fill="hold" nodeType="withEffect">
                                  <p:stCondLst>
                                    <p:cond delay="0"/>
                                  </p:stCondLst>
                                  <p:childTnLst>
                                    <p:set>
                                      <p:cBhvr>
                                        <p:cTn id="51" dur="1" fill="hold">
                                          <p:stCondLst>
                                            <p:cond delay="0"/>
                                          </p:stCondLst>
                                        </p:cTn>
                                        <p:tgtEl>
                                          <p:spTgt spid="52"/>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0" presetClass="path" presetSubtype="0" accel="50000" decel="50000" fill="hold" nodeType="clickEffect">
                                  <p:stCondLst>
                                    <p:cond delay="0"/>
                                  </p:stCondLst>
                                  <p:childTnLst>
                                    <p:animMotion origin="layout" path="M -0.00052 0.00069 L -0.05326 -0.0463 L -0.05482 -0.26528 L -0.58946 -0.26366 C -0.58972 -0.17639 -0.59011 -0.08912 -0.59024 -0.00185 L -0.59024 -0.00162 " pathEditMode="relative" rAng="0" ptsTypes="AAAAAA">
                                      <p:cBhvr>
                                        <p:cTn id="55" dur="1000" fill="hold"/>
                                        <p:tgtEl>
                                          <p:spTgt spid="50"/>
                                        </p:tgtEl>
                                        <p:attrNameLst>
                                          <p:attrName>ppt_x</p:attrName>
                                          <p:attrName>ppt_y</p:attrName>
                                        </p:attrNameLst>
                                      </p:cBhvr>
                                      <p:rCtr x="-29492" y="-13310"/>
                                    </p:animMotion>
                                  </p:childTnLst>
                                </p:cTn>
                              </p:par>
                              <p:par>
                                <p:cTn id="56" presetID="22" presetClass="entr" presetSubtype="2" fill="hold" nodeType="with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wipe(right)">
                                      <p:cBhvr>
                                        <p:cTn id="58" dur="500"/>
                                        <p:tgtEl>
                                          <p:spTgt spid="45"/>
                                        </p:tgtEl>
                                      </p:cBhvr>
                                    </p:animEffect>
                                  </p:childTnLst>
                                </p:cTn>
                              </p:par>
                            </p:childTnLst>
                          </p:cTn>
                        </p:par>
                        <p:par>
                          <p:cTn id="59" fill="hold">
                            <p:stCondLst>
                              <p:cond delay="1000"/>
                            </p:stCondLst>
                            <p:childTnLst>
                              <p:par>
                                <p:cTn id="60" presetID="1" presetClass="entr" presetSubtype="0" fill="hold" nodeType="afterEffect">
                                  <p:stCondLst>
                                    <p:cond delay="0"/>
                                  </p:stCondLst>
                                  <p:childTnLst>
                                    <p:set>
                                      <p:cBhvr>
                                        <p:cTn id="61" dur="1" fill="hold">
                                          <p:stCondLst>
                                            <p:cond delay="0"/>
                                          </p:stCondLst>
                                        </p:cTn>
                                        <p:tgtEl>
                                          <p:spTgt spid="53"/>
                                        </p:tgtEl>
                                        <p:attrNameLst>
                                          <p:attrName>style.visibility</p:attrName>
                                        </p:attrNameLst>
                                      </p:cBhvr>
                                      <p:to>
                                        <p:strVal val="visible"/>
                                      </p:to>
                                    </p:set>
                                  </p:childTnLst>
                                </p:cTn>
                              </p:par>
                              <p:par>
                                <p:cTn id="62" presetID="1" presetClass="exit" presetSubtype="0" fill="hold" nodeType="withEffect">
                                  <p:stCondLst>
                                    <p:cond delay="0"/>
                                  </p:stCondLst>
                                  <p:childTnLst>
                                    <p:set>
                                      <p:cBhvr>
                                        <p:cTn id="63" dur="1" fill="hold">
                                          <p:stCondLst>
                                            <p:cond delay="0"/>
                                          </p:stCondLst>
                                        </p:cTn>
                                        <p:tgtEl>
                                          <p:spTgt spid="50"/>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9" presetClass="exit" presetSubtype="0" fill="hold" nodeType="clickEffect">
                                  <p:stCondLst>
                                    <p:cond delay="0"/>
                                  </p:stCondLst>
                                  <p:childTnLst>
                                    <p:animEffect transition="out" filter="dissolve">
                                      <p:cBhvr>
                                        <p:cTn id="67" dur="500"/>
                                        <p:tgtEl>
                                          <p:spTgt spid="53"/>
                                        </p:tgtEl>
                                      </p:cBhvr>
                                    </p:animEffect>
                                    <p:set>
                                      <p:cBhvr>
                                        <p:cTn id="68" dur="1" fill="hold">
                                          <p:stCondLst>
                                            <p:cond delay="499"/>
                                          </p:stCondLst>
                                        </p:cTn>
                                        <p:tgtEl>
                                          <p:spTgt spid="53"/>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54"/>
                                        </p:tgtEl>
                                        <p:attrNameLst>
                                          <p:attrName>style.visibility</p:attrName>
                                        </p:attrNameLst>
                                      </p:cBhvr>
                                      <p:to>
                                        <p:strVal val="visible"/>
                                      </p:to>
                                    </p:set>
                                    <p:animEffect transition="in" filter="fade">
                                      <p:cBhvr>
                                        <p:cTn id="73" dur="500"/>
                                        <p:tgtEl>
                                          <p:spTgt spid="54"/>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path" presetSubtype="0" accel="50000" decel="50000" fill="hold" nodeType="clickEffect">
                                  <p:stCondLst>
                                    <p:cond delay="0"/>
                                  </p:stCondLst>
                                  <p:childTnLst>
                                    <p:animMotion origin="layout" path="M -1.875E-6 2.59259E-6 L 0.23255 0.00115 " pathEditMode="relative" rAng="0" ptsTypes="AA">
                                      <p:cBhvr>
                                        <p:cTn id="77" dur="1000" fill="hold"/>
                                        <p:tgtEl>
                                          <p:spTgt spid="54"/>
                                        </p:tgtEl>
                                        <p:attrNameLst>
                                          <p:attrName>ppt_x</p:attrName>
                                          <p:attrName>ppt_y</p:attrName>
                                        </p:attrNameLst>
                                      </p:cBhvr>
                                      <p:rCtr x="11628" y="46"/>
                                    </p:animMotion>
                                  </p:childTnLst>
                                </p:cTn>
                              </p:par>
                              <p:par>
                                <p:cTn id="78" presetID="22" presetClass="entr" presetSubtype="8" fill="hold"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wipe(left)">
                                      <p:cBhvr>
                                        <p:cTn id="80" dur="500"/>
                                        <p:tgtEl>
                                          <p:spTgt spid="19"/>
                                        </p:tgtEl>
                                      </p:cBhvr>
                                    </p:animEffect>
                                  </p:childTnLst>
                                </p:cTn>
                              </p:par>
                            </p:childTnLst>
                          </p:cTn>
                        </p:par>
                        <p:par>
                          <p:cTn id="81" fill="hold">
                            <p:stCondLst>
                              <p:cond delay="1000"/>
                            </p:stCondLst>
                            <p:childTnLst>
                              <p:par>
                                <p:cTn id="82" presetID="1" presetClass="entr" presetSubtype="0" fill="hold" nodeType="afterEffect">
                                  <p:stCondLst>
                                    <p:cond delay="0"/>
                                  </p:stCondLst>
                                  <p:childTnLst>
                                    <p:set>
                                      <p:cBhvr>
                                        <p:cTn id="83" dur="1" fill="hold">
                                          <p:stCondLst>
                                            <p:cond delay="0"/>
                                          </p:stCondLst>
                                        </p:cTn>
                                        <p:tgtEl>
                                          <p:spTgt spid="55"/>
                                        </p:tgtEl>
                                        <p:attrNameLst>
                                          <p:attrName>style.visibility</p:attrName>
                                        </p:attrNameLst>
                                      </p:cBhvr>
                                      <p:to>
                                        <p:strVal val="visible"/>
                                      </p:to>
                                    </p:set>
                                  </p:childTnLst>
                                </p:cTn>
                              </p:par>
                              <p:par>
                                <p:cTn id="84" presetID="1" presetClass="exit" presetSubtype="0" fill="hold" nodeType="withEffect">
                                  <p:stCondLst>
                                    <p:cond delay="0"/>
                                  </p:stCondLst>
                                  <p:childTnLst>
                                    <p:set>
                                      <p:cBhvr>
                                        <p:cTn id="85" dur="1" fill="hold">
                                          <p:stCondLst>
                                            <p:cond delay="0"/>
                                          </p:stCondLst>
                                        </p:cTn>
                                        <p:tgtEl>
                                          <p:spTgt spid="54"/>
                                        </p:tgtEl>
                                        <p:attrNameLst>
                                          <p:attrName>style.visibility</p:attrName>
                                        </p:attrNameLst>
                                      </p:cBhvr>
                                      <p:to>
                                        <p:strVal val="hidden"/>
                                      </p:to>
                                    </p:set>
                                  </p:childTnLst>
                                </p:cTn>
                              </p:par>
                            </p:childTnLst>
                          </p:cTn>
                        </p:par>
                        <p:par>
                          <p:cTn id="86" fill="hold">
                            <p:stCondLst>
                              <p:cond delay="1000"/>
                            </p:stCondLst>
                            <p:childTnLst>
                              <p:par>
                                <p:cTn id="87" presetID="42" presetClass="path" presetSubtype="0" accel="50000" decel="50000" fill="hold" nodeType="afterEffect">
                                  <p:stCondLst>
                                    <p:cond delay="0"/>
                                  </p:stCondLst>
                                  <p:childTnLst>
                                    <p:animMotion origin="layout" path="M -3.75E-6 -3.33333E-6 L 0.12618 -0.00231 " pathEditMode="relative" rAng="0" ptsTypes="AA">
                                      <p:cBhvr>
                                        <p:cTn id="88" dur="1000" fill="hold"/>
                                        <p:tgtEl>
                                          <p:spTgt spid="55"/>
                                        </p:tgtEl>
                                        <p:attrNameLst>
                                          <p:attrName>ppt_x</p:attrName>
                                          <p:attrName>ppt_y</p:attrName>
                                        </p:attrNameLst>
                                      </p:cBhvr>
                                      <p:rCtr x="6302" y="-116"/>
                                    </p:animMotion>
                                  </p:childTnLst>
                                </p:cTn>
                              </p:par>
                              <p:par>
                                <p:cTn id="89" presetID="22" presetClass="entr" presetSubtype="8" fill="hold" nodeType="withEffect">
                                  <p:stCondLst>
                                    <p:cond delay="0"/>
                                  </p:stCondLst>
                                  <p:childTnLst>
                                    <p:set>
                                      <p:cBhvr>
                                        <p:cTn id="90" dur="1" fill="hold">
                                          <p:stCondLst>
                                            <p:cond delay="0"/>
                                          </p:stCondLst>
                                        </p:cTn>
                                        <p:tgtEl>
                                          <p:spTgt spid="40"/>
                                        </p:tgtEl>
                                        <p:attrNameLst>
                                          <p:attrName>style.visibility</p:attrName>
                                        </p:attrNameLst>
                                      </p:cBhvr>
                                      <p:to>
                                        <p:strVal val="visible"/>
                                      </p:to>
                                    </p:set>
                                    <p:animEffect transition="in" filter="wipe(left)">
                                      <p:cBhvr>
                                        <p:cTn id="91" dur="500"/>
                                        <p:tgtEl>
                                          <p:spTgt spid="40"/>
                                        </p:tgtEl>
                                      </p:cBhvr>
                                    </p:animEffect>
                                  </p:childTnLst>
                                </p:cTn>
                              </p:par>
                            </p:childTnLst>
                          </p:cTn>
                        </p:par>
                        <p:par>
                          <p:cTn id="92" fill="hold">
                            <p:stCondLst>
                              <p:cond delay="2000"/>
                            </p:stCondLst>
                            <p:childTnLst>
                              <p:par>
                                <p:cTn id="93" presetID="1" presetClass="entr" presetSubtype="0" fill="hold" nodeType="afterEffect">
                                  <p:stCondLst>
                                    <p:cond delay="0"/>
                                  </p:stCondLst>
                                  <p:childTnLst>
                                    <p:set>
                                      <p:cBhvr>
                                        <p:cTn id="94" dur="1" fill="hold">
                                          <p:stCondLst>
                                            <p:cond delay="0"/>
                                          </p:stCondLst>
                                        </p:cTn>
                                        <p:tgtEl>
                                          <p:spTgt spid="56"/>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0"/>
                                          </p:stCondLst>
                                        </p:cTn>
                                        <p:tgtEl>
                                          <p:spTgt spid="55"/>
                                        </p:tgtEl>
                                        <p:attrNameLst>
                                          <p:attrName>style.visibility</p:attrName>
                                        </p:attrNameLst>
                                      </p:cBhvr>
                                      <p:to>
                                        <p:strVal val="hidden"/>
                                      </p:to>
                                    </p:set>
                                  </p:childTnLst>
                                </p:cTn>
                              </p:par>
                            </p:childTnLst>
                          </p:cTn>
                        </p:par>
                        <p:par>
                          <p:cTn id="97" fill="hold">
                            <p:stCondLst>
                              <p:cond delay="2000"/>
                            </p:stCondLst>
                            <p:childTnLst>
                              <p:par>
                                <p:cTn id="98" presetID="10" presetClass="entr" presetSubtype="0" fill="hold" nodeType="afterEffect">
                                  <p:stCondLst>
                                    <p:cond delay="0"/>
                                  </p:stCondLst>
                                  <p:childTnLst>
                                    <p:set>
                                      <p:cBhvr>
                                        <p:cTn id="99" dur="1" fill="hold">
                                          <p:stCondLst>
                                            <p:cond delay="0"/>
                                          </p:stCondLst>
                                        </p:cTn>
                                        <p:tgtEl>
                                          <p:spTgt spid="57"/>
                                        </p:tgtEl>
                                        <p:attrNameLst>
                                          <p:attrName>style.visibility</p:attrName>
                                        </p:attrNameLst>
                                      </p:cBhvr>
                                      <p:to>
                                        <p:strVal val="visible"/>
                                      </p:to>
                                    </p:set>
                                    <p:animEffect transition="in" filter="fade">
                                      <p:cBhvr>
                                        <p:cTn id="100" dur="500"/>
                                        <p:tgtEl>
                                          <p:spTgt spid="57"/>
                                        </p:tgtEl>
                                      </p:cBhvr>
                                    </p:animEffect>
                                  </p:childTnLst>
                                </p:cTn>
                              </p:par>
                              <p:par>
                                <p:cTn id="101" presetID="1" presetClass="exit" presetSubtype="0" fill="hold" nodeType="withEffect">
                                  <p:stCondLst>
                                    <p:cond delay="0"/>
                                  </p:stCondLst>
                                  <p:childTnLst>
                                    <p:set>
                                      <p:cBhvr>
                                        <p:cTn id="102" dur="1" fill="hold">
                                          <p:stCondLst>
                                            <p:cond delay="0"/>
                                          </p:stCondLst>
                                        </p:cTn>
                                        <p:tgtEl>
                                          <p:spTgt spid="56"/>
                                        </p:tgtEl>
                                        <p:attrNameLst>
                                          <p:attrName>style.visibility</p:attrName>
                                        </p:attrNameLst>
                                      </p:cBhvr>
                                      <p:to>
                                        <p:strVal val="hidden"/>
                                      </p:to>
                                    </p:set>
                                  </p:childTnLst>
                                </p:cTn>
                              </p:par>
                            </p:childTnLst>
                          </p:cTn>
                        </p:par>
                        <p:par>
                          <p:cTn id="103" fill="hold">
                            <p:stCondLst>
                              <p:cond delay="2500"/>
                            </p:stCondLst>
                            <p:childTnLst>
                              <p:par>
                                <p:cTn id="104" presetID="42" presetClass="path" presetSubtype="0" accel="50000" decel="50000" fill="hold" nodeType="afterEffect">
                                  <p:stCondLst>
                                    <p:cond delay="0"/>
                                  </p:stCondLst>
                                  <p:childTnLst>
                                    <p:animMotion origin="layout" path="M 5E-6 1.48148E-6 L 0.23139 0.00254 " pathEditMode="relative" rAng="0" ptsTypes="AA">
                                      <p:cBhvr>
                                        <p:cTn id="105" dur="1000" fill="hold"/>
                                        <p:tgtEl>
                                          <p:spTgt spid="57"/>
                                        </p:tgtEl>
                                        <p:attrNameLst>
                                          <p:attrName>ppt_x</p:attrName>
                                          <p:attrName>ppt_y</p:attrName>
                                        </p:attrNameLst>
                                      </p:cBhvr>
                                      <p:rCtr x="11563" y="116"/>
                                    </p:animMotion>
                                  </p:childTnLst>
                                </p:cTn>
                              </p:par>
                              <p:par>
                                <p:cTn id="106" presetID="22" presetClass="entr" presetSubtype="8" fill="hold" nodeType="with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wipe(left)">
                                      <p:cBhvr>
                                        <p:cTn id="108" dur="500"/>
                                        <p:tgtEl>
                                          <p:spTgt spid="43"/>
                                        </p:tgtEl>
                                      </p:cBhvr>
                                    </p:animEffect>
                                  </p:childTnLst>
                                </p:cTn>
                              </p:par>
                            </p:childTnLst>
                          </p:cTn>
                        </p:par>
                        <p:par>
                          <p:cTn id="109" fill="hold">
                            <p:stCondLst>
                              <p:cond delay="3500"/>
                            </p:stCondLst>
                            <p:childTnLst>
                              <p:par>
                                <p:cTn id="110" presetID="1" presetClass="entr" presetSubtype="0" fill="hold" nodeType="afterEffect">
                                  <p:stCondLst>
                                    <p:cond delay="0"/>
                                  </p:stCondLst>
                                  <p:childTnLst>
                                    <p:set>
                                      <p:cBhvr>
                                        <p:cTn id="111" dur="1" fill="hold">
                                          <p:stCondLst>
                                            <p:cond delay="0"/>
                                          </p:stCondLst>
                                        </p:cTn>
                                        <p:tgtEl>
                                          <p:spTgt spid="58"/>
                                        </p:tgtEl>
                                        <p:attrNameLst>
                                          <p:attrName>style.visibility</p:attrName>
                                        </p:attrNameLst>
                                      </p:cBhvr>
                                      <p:to>
                                        <p:strVal val="visible"/>
                                      </p:to>
                                    </p:set>
                                  </p:childTnLst>
                                </p:cTn>
                              </p:par>
                              <p:par>
                                <p:cTn id="112" presetID="1" presetClass="exit" presetSubtype="0" fill="hold" nodeType="withEffect">
                                  <p:stCondLst>
                                    <p:cond delay="0"/>
                                  </p:stCondLst>
                                  <p:childTnLst>
                                    <p:set>
                                      <p:cBhvr>
                                        <p:cTn id="113" dur="1" fill="hold">
                                          <p:stCondLst>
                                            <p:cond delay="0"/>
                                          </p:stCondLst>
                                        </p:cTn>
                                        <p:tgtEl>
                                          <p:spTgt spid="57"/>
                                        </p:tgtEl>
                                        <p:attrNameLst>
                                          <p:attrName>style.visibility</p:attrName>
                                        </p:attrNameLst>
                                      </p:cBhvr>
                                      <p:to>
                                        <p:strVal val="hidden"/>
                                      </p:to>
                                    </p:set>
                                  </p:childTnLst>
                                </p:cTn>
                              </p:par>
                            </p:childTnLst>
                          </p:cTn>
                        </p:par>
                        <p:par>
                          <p:cTn id="114" fill="hold">
                            <p:stCondLst>
                              <p:cond delay="3500"/>
                            </p:stCondLst>
                            <p:childTnLst>
                              <p:par>
                                <p:cTn id="115" presetID="0" presetClass="path" presetSubtype="0" accel="50000" decel="50000" fill="hold" nodeType="afterEffect">
                                  <p:stCondLst>
                                    <p:cond delay="0"/>
                                  </p:stCondLst>
                                  <p:childTnLst>
                                    <p:animMotion origin="layout" path="M -0.00105 0.0044 L -0.05287 -0.0449 L -0.0543 -0.24606 L -0.58894 -0.24537 L -0.59037 -0.0037 " pathEditMode="relative" rAng="0" ptsTypes="AAAAA">
                                      <p:cBhvr>
                                        <p:cTn id="116" dur="1000" fill="hold"/>
                                        <p:tgtEl>
                                          <p:spTgt spid="58"/>
                                        </p:tgtEl>
                                        <p:attrNameLst>
                                          <p:attrName>ppt_x</p:attrName>
                                          <p:attrName>ppt_y</p:attrName>
                                        </p:attrNameLst>
                                      </p:cBhvr>
                                      <p:rCtr x="-29466" y="-12523"/>
                                    </p:animMotion>
                                  </p:childTnLst>
                                </p:cTn>
                              </p:par>
                            </p:childTnLst>
                          </p:cTn>
                        </p:par>
                        <p:par>
                          <p:cTn id="117" fill="hold">
                            <p:stCondLst>
                              <p:cond delay="4500"/>
                            </p:stCondLst>
                            <p:childTnLst>
                              <p:par>
                                <p:cTn id="118" presetID="1" presetClass="entr" presetSubtype="0" fill="hold" nodeType="afterEffect">
                                  <p:stCondLst>
                                    <p:cond delay="0"/>
                                  </p:stCondLst>
                                  <p:childTnLst>
                                    <p:set>
                                      <p:cBhvr>
                                        <p:cTn id="119" dur="1" fill="hold">
                                          <p:stCondLst>
                                            <p:cond delay="0"/>
                                          </p:stCondLst>
                                        </p:cTn>
                                        <p:tgtEl>
                                          <p:spTgt spid="59"/>
                                        </p:tgtEl>
                                        <p:attrNameLst>
                                          <p:attrName>style.visibility</p:attrName>
                                        </p:attrNameLst>
                                      </p:cBhvr>
                                      <p:to>
                                        <p:strVal val="visible"/>
                                      </p:to>
                                    </p:set>
                                  </p:childTnLst>
                                </p:cTn>
                              </p:par>
                              <p:par>
                                <p:cTn id="120" presetID="1" presetClass="exit" presetSubtype="0" fill="hold" nodeType="withEffect">
                                  <p:stCondLst>
                                    <p:cond delay="0"/>
                                  </p:stCondLst>
                                  <p:childTnLst>
                                    <p:set>
                                      <p:cBhvr>
                                        <p:cTn id="121" dur="1" fill="hold">
                                          <p:stCondLst>
                                            <p:cond delay="0"/>
                                          </p:stCondLst>
                                        </p:cTn>
                                        <p:tgtEl>
                                          <p:spTgt spid="58"/>
                                        </p:tgtEl>
                                        <p:attrNameLst>
                                          <p:attrName>style.visibility</p:attrName>
                                        </p:attrNameLst>
                                      </p:cBhvr>
                                      <p:to>
                                        <p:strVal val="hidden"/>
                                      </p:to>
                                    </p:set>
                                  </p:childTnLst>
                                </p:cTn>
                              </p:par>
                            </p:childTnLst>
                          </p:cTn>
                        </p:par>
                        <p:par>
                          <p:cTn id="122" fill="hold">
                            <p:stCondLst>
                              <p:cond delay="4500"/>
                            </p:stCondLst>
                            <p:childTnLst>
                              <p:par>
                                <p:cTn id="123" presetID="9" presetClass="exit" presetSubtype="0" fill="hold" nodeType="afterEffect">
                                  <p:stCondLst>
                                    <p:cond delay="0"/>
                                  </p:stCondLst>
                                  <p:childTnLst>
                                    <p:animEffect transition="out" filter="dissolve">
                                      <p:cBhvr>
                                        <p:cTn id="124" dur="500"/>
                                        <p:tgtEl>
                                          <p:spTgt spid="59"/>
                                        </p:tgtEl>
                                      </p:cBhvr>
                                    </p:animEffect>
                                    <p:set>
                                      <p:cBhvr>
                                        <p:cTn id="125" dur="1" fill="hold">
                                          <p:stCondLst>
                                            <p:cond delay="499"/>
                                          </p:stCondLst>
                                        </p:cTn>
                                        <p:tgtEl>
                                          <p:spTgt spid="59"/>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60"/>
                                        </p:tgtEl>
                                        <p:attrNameLst>
                                          <p:attrName>style.visibility</p:attrName>
                                        </p:attrNameLst>
                                      </p:cBhvr>
                                      <p:to>
                                        <p:strVal val="visible"/>
                                      </p:to>
                                    </p:set>
                                    <p:animEffect transition="in" filter="fade">
                                      <p:cBhvr>
                                        <p:cTn id="130" dur="500"/>
                                        <p:tgtEl>
                                          <p:spTgt spid="60"/>
                                        </p:tgtEl>
                                      </p:cBhvr>
                                    </p:animEffect>
                                  </p:childTnLst>
                                </p:cTn>
                              </p:par>
                            </p:childTnLst>
                          </p:cTn>
                        </p:par>
                        <p:par>
                          <p:cTn id="131" fill="hold">
                            <p:stCondLst>
                              <p:cond delay="500"/>
                            </p:stCondLst>
                            <p:childTnLst>
                              <p:par>
                                <p:cTn id="132" presetID="0" presetClass="path" presetSubtype="0" accel="50000" decel="50000" fill="hold" nodeType="afterEffect">
                                  <p:stCondLst>
                                    <p:cond delay="0"/>
                                  </p:stCondLst>
                                  <p:childTnLst>
                                    <p:animMotion origin="layout" path="M -1.45833E-6 -3.7037E-7 L 0.02422 0.03565 L 0.10078 0.13102 L 0.23164 0.13102 " pathEditMode="relative" rAng="0" ptsTypes="AAAA">
                                      <p:cBhvr>
                                        <p:cTn id="133" dur="1000" fill="hold"/>
                                        <p:tgtEl>
                                          <p:spTgt spid="60"/>
                                        </p:tgtEl>
                                        <p:attrNameLst>
                                          <p:attrName>ppt_x</p:attrName>
                                          <p:attrName>ppt_y</p:attrName>
                                        </p:attrNameLst>
                                      </p:cBhvr>
                                      <p:rCtr x="11576" y="6551"/>
                                    </p:animMotion>
                                  </p:childTnLst>
                                </p:cTn>
                              </p:par>
                              <p:par>
                                <p:cTn id="134" presetID="22" presetClass="entr" presetSubtype="8" fill="hold" nodeType="withEffect">
                                  <p:stCondLst>
                                    <p:cond delay="0"/>
                                  </p:stCondLst>
                                  <p:childTnLst>
                                    <p:set>
                                      <p:cBhvr>
                                        <p:cTn id="135" dur="1" fill="hold">
                                          <p:stCondLst>
                                            <p:cond delay="0"/>
                                          </p:stCondLst>
                                        </p:cTn>
                                        <p:tgtEl>
                                          <p:spTgt spid="28"/>
                                        </p:tgtEl>
                                        <p:attrNameLst>
                                          <p:attrName>style.visibility</p:attrName>
                                        </p:attrNameLst>
                                      </p:cBhvr>
                                      <p:to>
                                        <p:strVal val="visible"/>
                                      </p:to>
                                    </p:set>
                                    <p:animEffect transition="in" filter="wipe(left)">
                                      <p:cBhvr>
                                        <p:cTn id="136" dur="500"/>
                                        <p:tgtEl>
                                          <p:spTgt spid="28"/>
                                        </p:tgtEl>
                                      </p:cBhvr>
                                    </p:animEffect>
                                  </p:childTnLst>
                                </p:cTn>
                              </p:par>
                            </p:childTnLst>
                          </p:cTn>
                        </p:par>
                        <p:par>
                          <p:cTn id="137" fill="hold">
                            <p:stCondLst>
                              <p:cond delay="1500"/>
                            </p:stCondLst>
                            <p:childTnLst>
                              <p:par>
                                <p:cTn id="138" presetID="1" presetClass="entr" presetSubtype="0" fill="hold" nodeType="afterEffect">
                                  <p:stCondLst>
                                    <p:cond delay="0"/>
                                  </p:stCondLst>
                                  <p:childTnLst>
                                    <p:set>
                                      <p:cBhvr>
                                        <p:cTn id="139" dur="1" fill="hold">
                                          <p:stCondLst>
                                            <p:cond delay="0"/>
                                          </p:stCondLst>
                                        </p:cTn>
                                        <p:tgtEl>
                                          <p:spTgt spid="61"/>
                                        </p:tgtEl>
                                        <p:attrNameLst>
                                          <p:attrName>style.visibility</p:attrName>
                                        </p:attrNameLst>
                                      </p:cBhvr>
                                      <p:to>
                                        <p:strVal val="visible"/>
                                      </p:to>
                                    </p:set>
                                  </p:childTnLst>
                                </p:cTn>
                              </p:par>
                              <p:par>
                                <p:cTn id="140" presetID="1" presetClass="exit" presetSubtype="0" fill="hold" nodeType="withEffect">
                                  <p:stCondLst>
                                    <p:cond delay="0"/>
                                  </p:stCondLst>
                                  <p:childTnLst>
                                    <p:set>
                                      <p:cBhvr>
                                        <p:cTn id="141" dur="1" fill="hold">
                                          <p:stCondLst>
                                            <p:cond delay="0"/>
                                          </p:stCondLst>
                                        </p:cTn>
                                        <p:tgtEl>
                                          <p:spTgt spid="60"/>
                                        </p:tgtEl>
                                        <p:attrNameLst>
                                          <p:attrName>style.visibility</p:attrName>
                                        </p:attrNameLst>
                                      </p:cBhvr>
                                      <p:to>
                                        <p:strVal val="hidden"/>
                                      </p:to>
                                    </p:set>
                                  </p:childTnLst>
                                </p:cTn>
                              </p:par>
                            </p:childTnLst>
                          </p:cTn>
                        </p:par>
                        <p:par>
                          <p:cTn id="142" fill="hold">
                            <p:stCondLst>
                              <p:cond delay="1500"/>
                            </p:stCondLst>
                            <p:childTnLst>
                              <p:par>
                                <p:cTn id="143" presetID="42" presetClass="path" presetSubtype="0" accel="50000" decel="50000" fill="hold" nodeType="afterEffect">
                                  <p:stCondLst>
                                    <p:cond delay="0"/>
                                  </p:stCondLst>
                                  <p:childTnLst>
                                    <p:animMotion origin="layout" path="M -3.75E-6 4.07407E-6 L 0.12592 4.07407E-6 " pathEditMode="relative" rAng="0" ptsTypes="AA">
                                      <p:cBhvr>
                                        <p:cTn id="144" dur="1000" fill="hold"/>
                                        <p:tgtEl>
                                          <p:spTgt spid="61"/>
                                        </p:tgtEl>
                                        <p:attrNameLst>
                                          <p:attrName>ppt_x</p:attrName>
                                          <p:attrName>ppt_y</p:attrName>
                                        </p:attrNameLst>
                                      </p:cBhvr>
                                      <p:rCtr x="6289" y="0"/>
                                    </p:animMotion>
                                  </p:childTnLst>
                                </p:cTn>
                              </p:par>
                              <p:par>
                                <p:cTn id="145" presetID="22" presetClass="entr" presetSubtype="8" fill="hold" nodeType="withEffect">
                                  <p:stCondLst>
                                    <p:cond delay="0"/>
                                  </p:stCondLst>
                                  <p:childTnLst>
                                    <p:set>
                                      <p:cBhvr>
                                        <p:cTn id="146" dur="1" fill="hold">
                                          <p:stCondLst>
                                            <p:cond delay="0"/>
                                          </p:stCondLst>
                                        </p:cTn>
                                        <p:tgtEl>
                                          <p:spTgt spid="41"/>
                                        </p:tgtEl>
                                        <p:attrNameLst>
                                          <p:attrName>style.visibility</p:attrName>
                                        </p:attrNameLst>
                                      </p:cBhvr>
                                      <p:to>
                                        <p:strVal val="visible"/>
                                      </p:to>
                                    </p:set>
                                    <p:animEffect transition="in" filter="wipe(left)">
                                      <p:cBhvr>
                                        <p:cTn id="147" dur="500"/>
                                        <p:tgtEl>
                                          <p:spTgt spid="41"/>
                                        </p:tgtEl>
                                      </p:cBhvr>
                                    </p:animEffect>
                                  </p:childTnLst>
                                </p:cTn>
                              </p:par>
                            </p:childTnLst>
                          </p:cTn>
                        </p:par>
                        <p:par>
                          <p:cTn id="148" fill="hold">
                            <p:stCondLst>
                              <p:cond delay="2500"/>
                            </p:stCondLst>
                            <p:childTnLst>
                              <p:par>
                                <p:cTn id="149" presetID="1" presetClass="entr" presetSubtype="0" fill="hold" nodeType="afterEffect">
                                  <p:stCondLst>
                                    <p:cond delay="0"/>
                                  </p:stCondLst>
                                  <p:childTnLst>
                                    <p:set>
                                      <p:cBhvr>
                                        <p:cTn id="150" dur="1" fill="hold">
                                          <p:stCondLst>
                                            <p:cond delay="0"/>
                                          </p:stCondLst>
                                        </p:cTn>
                                        <p:tgtEl>
                                          <p:spTgt spid="62"/>
                                        </p:tgtEl>
                                        <p:attrNameLst>
                                          <p:attrName>style.visibility</p:attrName>
                                        </p:attrNameLst>
                                      </p:cBhvr>
                                      <p:to>
                                        <p:strVal val="visible"/>
                                      </p:to>
                                    </p:set>
                                  </p:childTnLst>
                                </p:cTn>
                              </p:par>
                              <p:par>
                                <p:cTn id="151" presetID="1" presetClass="exit" presetSubtype="0" fill="hold" nodeType="withEffect">
                                  <p:stCondLst>
                                    <p:cond delay="0"/>
                                  </p:stCondLst>
                                  <p:childTnLst>
                                    <p:set>
                                      <p:cBhvr>
                                        <p:cTn id="152" dur="1" fill="hold">
                                          <p:stCondLst>
                                            <p:cond delay="0"/>
                                          </p:stCondLst>
                                        </p:cTn>
                                        <p:tgtEl>
                                          <p:spTgt spid="61"/>
                                        </p:tgtEl>
                                        <p:attrNameLst>
                                          <p:attrName>style.visibility</p:attrName>
                                        </p:attrNameLst>
                                      </p:cBhvr>
                                      <p:to>
                                        <p:strVal val="hidden"/>
                                      </p:to>
                                    </p:set>
                                  </p:childTnLst>
                                </p:cTn>
                              </p:par>
                            </p:childTnLst>
                          </p:cTn>
                        </p:par>
                        <p:par>
                          <p:cTn id="153" fill="hold">
                            <p:stCondLst>
                              <p:cond delay="2500"/>
                            </p:stCondLst>
                            <p:childTnLst>
                              <p:par>
                                <p:cTn id="154" presetID="10" presetClass="entr" presetSubtype="0" fill="hold" nodeType="afterEffect">
                                  <p:stCondLst>
                                    <p:cond delay="0"/>
                                  </p:stCondLst>
                                  <p:childTnLst>
                                    <p:set>
                                      <p:cBhvr>
                                        <p:cTn id="155" dur="1" fill="hold">
                                          <p:stCondLst>
                                            <p:cond delay="0"/>
                                          </p:stCondLst>
                                        </p:cTn>
                                        <p:tgtEl>
                                          <p:spTgt spid="63"/>
                                        </p:tgtEl>
                                        <p:attrNameLst>
                                          <p:attrName>style.visibility</p:attrName>
                                        </p:attrNameLst>
                                      </p:cBhvr>
                                      <p:to>
                                        <p:strVal val="visible"/>
                                      </p:to>
                                    </p:set>
                                    <p:animEffect transition="in" filter="fade">
                                      <p:cBhvr>
                                        <p:cTn id="156" dur="500"/>
                                        <p:tgtEl>
                                          <p:spTgt spid="63"/>
                                        </p:tgtEl>
                                      </p:cBhvr>
                                    </p:animEffect>
                                  </p:childTnLst>
                                </p:cTn>
                              </p:par>
                              <p:par>
                                <p:cTn id="157" presetID="1" presetClass="exit" presetSubtype="0" fill="hold" nodeType="withEffect">
                                  <p:stCondLst>
                                    <p:cond delay="0"/>
                                  </p:stCondLst>
                                  <p:childTnLst>
                                    <p:set>
                                      <p:cBhvr>
                                        <p:cTn id="158" dur="1" fill="hold">
                                          <p:stCondLst>
                                            <p:cond delay="0"/>
                                          </p:stCondLst>
                                        </p:cTn>
                                        <p:tgtEl>
                                          <p:spTgt spid="62"/>
                                        </p:tgtEl>
                                        <p:attrNameLst>
                                          <p:attrName>style.visibility</p:attrName>
                                        </p:attrNameLst>
                                      </p:cBhvr>
                                      <p:to>
                                        <p:strVal val="hidden"/>
                                      </p:to>
                                    </p:set>
                                  </p:childTnLst>
                                </p:cTn>
                              </p:par>
                            </p:childTnLst>
                          </p:cTn>
                        </p:par>
                        <p:par>
                          <p:cTn id="159" fill="hold">
                            <p:stCondLst>
                              <p:cond delay="3000"/>
                            </p:stCondLst>
                            <p:childTnLst>
                              <p:par>
                                <p:cTn id="160" presetID="0" presetClass="path" presetSubtype="0" accel="50000" decel="50000" fill="hold" nodeType="afterEffect">
                                  <p:stCondLst>
                                    <p:cond delay="0"/>
                                  </p:stCondLst>
                                  <p:childTnLst>
                                    <p:animMotion origin="layout" path="M 5E-6 -0.00115 L 0.03152 -0.00231 L 0.10834 -0.13217 L 0.23112 -0.13217 " pathEditMode="relative" rAng="0" ptsTypes="AAAA">
                                      <p:cBhvr>
                                        <p:cTn id="161" dur="1000" fill="hold"/>
                                        <p:tgtEl>
                                          <p:spTgt spid="63"/>
                                        </p:tgtEl>
                                        <p:attrNameLst>
                                          <p:attrName>ppt_x</p:attrName>
                                          <p:attrName>ppt_y</p:attrName>
                                        </p:attrNameLst>
                                      </p:cBhvr>
                                      <p:rCtr x="11549" y="-6551"/>
                                    </p:animMotion>
                                  </p:childTnLst>
                                </p:cTn>
                              </p:par>
                              <p:par>
                                <p:cTn id="162" presetID="22" presetClass="entr" presetSubtype="8" fill="hold" nodeType="withEffect">
                                  <p:stCondLst>
                                    <p:cond delay="0"/>
                                  </p:stCondLst>
                                  <p:childTnLst>
                                    <p:set>
                                      <p:cBhvr>
                                        <p:cTn id="163" dur="1" fill="hold">
                                          <p:stCondLst>
                                            <p:cond delay="0"/>
                                          </p:stCondLst>
                                        </p:cTn>
                                        <p:tgtEl>
                                          <p:spTgt spid="44"/>
                                        </p:tgtEl>
                                        <p:attrNameLst>
                                          <p:attrName>style.visibility</p:attrName>
                                        </p:attrNameLst>
                                      </p:cBhvr>
                                      <p:to>
                                        <p:strVal val="visible"/>
                                      </p:to>
                                    </p:set>
                                    <p:animEffect transition="in" filter="wipe(left)">
                                      <p:cBhvr>
                                        <p:cTn id="164" dur="500"/>
                                        <p:tgtEl>
                                          <p:spTgt spid="44"/>
                                        </p:tgtEl>
                                      </p:cBhvr>
                                    </p:animEffect>
                                  </p:childTnLst>
                                </p:cTn>
                              </p:par>
                            </p:childTnLst>
                          </p:cTn>
                        </p:par>
                        <p:par>
                          <p:cTn id="165" fill="hold">
                            <p:stCondLst>
                              <p:cond delay="4000"/>
                            </p:stCondLst>
                            <p:childTnLst>
                              <p:par>
                                <p:cTn id="166" presetID="1" presetClass="entr" presetSubtype="0" fill="hold" nodeType="afterEffect">
                                  <p:stCondLst>
                                    <p:cond delay="0"/>
                                  </p:stCondLst>
                                  <p:childTnLst>
                                    <p:set>
                                      <p:cBhvr>
                                        <p:cTn id="167" dur="1" fill="hold">
                                          <p:stCondLst>
                                            <p:cond delay="0"/>
                                          </p:stCondLst>
                                        </p:cTn>
                                        <p:tgtEl>
                                          <p:spTgt spid="64"/>
                                        </p:tgtEl>
                                        <p:attrNameLst>
                                          <p:attrName>style.visibility</p:attrName>
                                        </p:attrNameLst>
                                      </p:cBhvr>
                                      <p:to>
                                        <p:strVal val="visible"/>
                                      </p:to>
                                    </p:set>
                                  </p:childTnLst>
                                </p:cTn>
                              </p:par>
                              <p:par>
                                <p:cTn id="168" presetID="1" presetClass="exit" presetSubtype="0" fill="hold" nodeType="withEffect">
                                  <p:stCondLst>
                                    <p:cond delay="0"/>
                                  </p:stCondLst>
                                  <p:childTnLst>
                                    <p:set>
                                      <p:cBhvr>
                                        <p:cTn id="169" dur="1" fill="hold">
                                          <p:stCondLst>
                                            <p:cond delay="0"/>
                                          </p:stCondLst>
                                        </p:cTn>
                                        <p:tgtEl>
                                          <p:spTgt spid="63"/>
                                        </p:tgtEl>
                                        <p:attrNameLst>
                                          <p:attrName>style.visibility</p:attrName>
                                        </p:attrNameLst>
                                      </p:cBhvr>
                                      <p:to>
                                        <p:strVal val="hidden"/>
                                      </p:to>
                                    </p:set>
                                  </p:childTnLst>
                                </p:cTn>
                              </p:par>
                            </p:childTnLst>
                          </p:cTn>
                        </p:par>
                        <p:par>
                          <p:cTn id="170" fill="hold">
                            <p:stCondLst>
                              <p:cond delay="4000"/>
                            </p:stCondLst>
                            <p:childTnLst>
                              <p:par>
                                <p:cTn id="171" presetID="0" presetClass="path" presetSubtype="0" accel="50000" decel="50000" fill="hold" nodeType="afterEffect">
                                  <p:stCondLst>
                                    <p:cond delay="0"/>
                                  </p:stCondLst>
                                  <p:childTnLst>
                                    <p:animMotion origin="layout" path="M -0.00209 -0.00301 L -0.05287 -0.04421 L -0.05391 -0.24722 L -0.58985 -0.24722 L -0.59232 -0.00393 " pathEditMode="relative" rAng="0" ptsTypes="AAAAA">
                                      <p:cBhvr>
                                        <p:cTn id="172" dur="1000" fill="hold"/>
                                        <p:tgtEl>
                                          <p:spTgt spid="64"/>
                                        </p:tgtEl>
                                        <p:attrNameLst>
                                          <p:attrName>ppt_x</p:attrName>
                                          <p:attrName>ppt_y</p:attrName>
                                        </p:attrNameLst>
                                      </p:cBhvr>
                                      <p:rCtr x="-29518" y="-12222"/>
                                    </p:animMotion>
                                  </p:childTnLst>
                                </p:cTn>
                              </p:par>
                            </p:childTnLst>
                          </p:cTn>
                        </p:par>
                        <p:par>
                          <p:cTn id="173" fill="hold">
                            <p:stCondLst>
                              <p:cond delay="5000"/>
                            </p:stCondLst>
                            <p:childTnLst>
                              <p:par>
                                <p:cTn id="174" presetID="1" presetClass="entr" presetSubtype="0" fill="hold" nodeType="afterEffect">
                                  <p:stCondLst>
                                    <p:cond delay="0"/>
                                  </p:stCondLst>
                                  <p:childTnLst>
                                    <p:set>
                                      <p:cBhvr>
                                        <p:cTn id="175" dur="1" fill="hold">
                                          <p:stCondLst>
                                            <p:cond delay="0"/>
                                          </p:stCondLst>
                                        </p:cTn>
                                        <p:tgtEl>
                                          <p:spTgt spid="65"/>
                                        </p:tgtEl>
                                        <p:attrNameLst>
                                          <p:attrName>style.visibility</p:attrName>
                                        </p:attrNameLst>
                                      </p:cBhvr>
                                      <p:to>
                                        <p:strVal val="visible"/>
                                      </p:to>
                                    </p:set>
                                  </p:childTnLst>
                                </p:cTn>
                              </p:par>
                              <p:par>
                                <p:cTn id="176" presetID="1" presetClass="exit" presetSubtype="0" fill="hold" nodeType="withEffect">
                                  <p:stCondLst>
                                    <p:cond delay="0"/>
                                  </p:stCondLst>
                                  <p:childTnLst>
                                    <p:set>
                                      <p:cBhvr>
                                        <p:cTn id="177" dur="1" fill="hold">
                                          <p:stCondLst>
                                            <p:cond delay="0"/>
                                          </p:stCondLst>
                                        </p:cTn>
                                        <p:tgtEl>
                                          <p:spTgt spid="64"/>
                                        </p:tgtEl>
                                        <p:attrNameLst>
                                          <p:attrName>style.visibility</p:attrName>
                                        </p:attrNameLst>
                                      </p:cBhvr>
                                      <p:to>
                                        <p:strVal val="hidden"/>
                                      </p:to>
                                    </p:set>
                                  </p:childTnLst>
                                </p:cTn>
                              </p:par>
                            </p:childTnLst>
                          </p:cTn>
                        </p:par>
                        <p:par>
                          <p:cTn id="178" fill="hold">
                            <p:stCondLst>
                              <p:cond delay="5000"/>
                            </p:stCondLst>
                            <p:childTnLst>
                              <p:par>
                                <p:cTn id="179" presetID="9" presetClass="exit" presetSubtype="0" fill="hold" nodeType="afterEffect">
                                  <p:stCondLst>
                                    <p:cond delay="0"/>
                                  </p:stCondLst>
                                  <p:childTnLst>
                                    <p:animEffect transition="out" filter="dissolve">
                                      <p:cBhvr>
                                        <p:cTn id="180" dur="500"/>
                                        <p:tgtEl>
                                          <p:spTgt spid="65"/>
                                        </p:tgtEl>
                                      </p:cBhvr>
                                    </p:animEffect>
                                    <p:set>
                                      <p:cBhvr>
                                        <p:cTn id="181" dur="1" fill="hold">
                                          <p:stCondLst>
                                            <p:cond delay="499"/>
                                          </p:stCondLst>
                                        </p:cTn>
                                        <p:tgtEl>
                                          <p:spTgt spid="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8D76D-D407-4DED-E304-ECB361E77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7D28A-32D8-8752-D431-1E7ADA4E6285}"/>
              </a:ext>
            </a:extLst>
          </p:cNvPr>
          <p:cNvSpPr>
            <a:spLocks noGrp="1"/>
          </p:cNvSpPr>
          <p:nvPr>
            <p:ph type="title"/>
          </p:nvPr>
        </p:nvSpPr>
        <p:spPr/>
        <p:txBody>
          <a:bodyPr/>
          <a:lstStyle/>
          <a:p>
            <a:r>
              <a:rPr lang="en-US" dirty="0"/>
              <a:t>Benefits</a:t>
            </a:r>
          </a:p>
        </p:txBody>
      </p:sp>
      <p:sp>
        <p:nvSpPr>
          <p:cNvPr id="3" name="Primary Context Box">
            <a:extLst>
              <a:ext uri="{FF2B5EF4-FFF2-40B4-BE49-F238E27FC236}">
                <a16:creationId xmlns:a16="http://schemas.microsoft.com/office/drawing/2014/main" id="{D129CE48-422A-B344-921F-082FC135B19E}"/>
              </a:ext>
            </a:extLst>
          </p:cNvPr>
          <p:cNvSpPr/>
          <p:nvPr/>
        </p:nvSpPr>
        <p:spPr>
          <a:xfrm>
            <a:off x="552767"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Data Consistency</a:t>
            </a:r>
          </a:p>
        </p:txBody>
      </p:sp>
      <p:sp>
        <p:nvSpPr>
          <p:cNvPr id="4" name="Primary Context Box">
            <a:extLst>
              <a:ext uri="{FF2B5EF4-FFF2-40B4-BE49-F238E27FC236}">
                <a16:creationId xmlns:a16="http://schemas.microsoft.com/office/drawing/2014/main" id="{5B7093C8-F728-4966-0B63-FFF5D94847DB}"/>
              </a:ext>
            </a:extLst>
          </p:cNvPr>
          <p:cNvSpPr/>
          <p:nvPr/>
        </p:nvSpPr>
        <p:spPr>
          <a:xfrm>
            <a:off x="4325111"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Fault Tolerance</a:t>
            </a:r>
          </a:p>
        </p:txBody>
      </p:sp>
      <p:sp>
        <p:nvSpPr>
          <p:cNvPr id="5" name="Secondary Content Box">
            <a:extLst>
              <a:ext uri="{FF2B5EF4-FFF2-40B4-BE49-F238E27FC236}">
                <a16:creationId xmlns:a16="http://schemas.microsoft.com/office/drawing/2014/main" id="{6BB6CFF1-6BF1-A5D4-EECF-E312FA92F8C5}"/>
              </a:ext>
            </a:extLst>
          </p:cNvPr>
          <p:cNvSpPr/>
          <p:nvPr/>
        </p:nvSpPr>
        <p:spPr>
          <a:xfrm>
            <a:off x="8070215" y="246661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Scalability</a:t>
            </a:r>
          </a:p>
        </p:txBody>
      </p:sp>
      <p:sp>
        <p:nvSpPr>
          <p:cNvPr id="11" name="Rectangle: Rounded Corners 10">
            <a:extLst>
              <a:ext uri="{FF2B5EF4-FFF2-40B4-BE49-F238E27FC236}">
                <a16:creationId xmlns:a16="http://schemas.microsoft.com/office/drawing/2014/main" id="{1F1ABE6B-9238-4A57-B5B4-0F369AC537D8}"/>
              </a:ext>
            </a:extLst>
          </p:cNvPr>
          <p:cNvSpPr/>
          <p:nvPr/>
        </p:nvSpPr>
        <p:spPr>
          <a:xfrm>
            <a:off x="552767"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4" name="Rectangle: Rounded Corners 13">
            <a:extLst>
              <a:ext uri="{FF2B5EF4-FFF2-40B4-BE49-F238E27FC236}">
                <a16:creationId xmlns:a16="http://schemas.microsoft.com/office/drawing/2014/main" id="{E70FD50A-6F30-0734-E527-84F467C60A35}"/>
              </a:ext>
            </a:extLst>
          </p:cNvPr>
          <p:cNvSpPr/>
          <p:nvPr/>
        </p:nvSpPr>
        <p:spPr>
          <a:xfrm>
            <a:off x="4325111"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189876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52695-CB63-86E1-2144-7CFF3068D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33987-A40A-CFF2-D1E6-946CC7849434}"/>
              </a:ext>
            </a:extLst>
          </p:cNvPr>
          <p:cNvSpPr>
            <a:spLocks noGrp="1"/>
          </p:cNvSpPr>
          <p:nvPr>
            <p:ph type="title"/>
          </p:nvPr>
        </p:nvSpPr>
        <p:spPr/>
        <p:txBody>
          <a:bodyPr/>
          <a:lstStyle/>
          <a:p>
            <a:r>
              <a:rPr lang="en-US" dirty="0"/>
              <a:t>Drawbacks</a:t>
            </a:r>
          </a:p>
        </p:txBody>
      </p:sp>
      <p:sp>
        <p:nvSpPr>
          <p:cNvPr id="3" name="Primary Context Box">
            <a:extLst>
              <a:ext uri="{FF2B5EF4-FFF2-40B4-BE49-F238E27FC236}">
                <a16:creationId xmlns:a16="http://schemas.microsoft.com/office/drawing/2014/main" id="{C2A816CB-1879-9C2C-C79A-EF5A4FF82C6E}"/>
              </a:ext>
            </a:extLst>
          </p:cNvPr>
          <p:cNvSpPr/>
          <p:nvPr/>
        </p:nvSpPr>
        <p:spPr>
          <a:xfrm>
            <a:off x="551426"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Complexity</a:t>
            </a:r>
          </a:p>
        </p:txBody>
      </p:sp>
      <p:sp>
        <p:nvSpPr>
          <p:cNvPr id="4" name="Primary Context Box">
            <a:extLst>
              <a:ext uri="{FF2B5EF4-FFF2-40B4-BE49-F238E27FC236}">
                <a16:creationId xmlns:a16="http://schemas.microsoft.com/office/drawing/2014/main" id="{5834C4AF-6FA2-FDE9-894A-5AEE4C8DC53E}"/>
              </a:ext>
            </a:extLst>
          </p:cNvPr>
          <p:cNvSpPr/>
          <p:nvPr/>
        </p:nvSpPr>
        <p:spPr>
          <a:xfrm>
            <a:off x="4308157"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Compensating Logic</a:t>
            </a:r>
          </a:p>
        </p:txBody>
      </p:sp>
      <p:sp>
        <p:nvSpPr>
          <p:cNvPr id="11" name="Rectangle: Rounded Corners 10">
            <a:extLst>
              <a:ext uri="{FF2B5EF4-FFF2-40B4-BE49-F238E27FC236}">
                <a16:creationId xmlns:a16="http://schemas.microsoft.com/office/drawing/2014/main" id="{8C62FD85-B109-285D-BECA-F3166C7DEB0E}"/>
              </a:ext>
            </a:extLst>
          </p:cNvPr>
          <p:cNvSpPr/>
          <p:nvPr/>
        </p:nvSpPr>
        <p:spPr>
          <a:xfrm>
            <a:off x="551426" y="2404804"/>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5" name="Rectangle: Rounded Corners 4">
            <a:extLst>
              <a:ext uri="{FF2B5EF4-FFF2-40B4-BE49-F238E27FC236}">
                <a16:creationId xmlns:a16="http://schemas.microsoft.com/office/drawing/2014/main" id="{F5D3B454-091A-646B-4A25-7BEDFA1C387E}"/>
              </a:ext>
            </a:extLst>
          </p:cNvPr>
          <p:cNvSpPr/>
          <p:nvPr/>
        </p:nvSpPr>
        <p:spPr>
          <a:xfrm>
            <a:off x="4308157" y="2404804"/>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6" name="Rectangle: Rounded Corners 5">
            <a:extLst>
              <a:ext uri="{FF2B5EF4-FFF2-40B4-BE49-F238E27FC236}">
                <a16:creationId xmlns:a16="http://schemas.microsoft.com/office/drawing/2014/main" id="{FEFE436F-4172-B829-C8D5-F87FB0F6702A}"/>
              </a:ext>
            </a:extLst>
          </p:cNvPr>
          <p:cNvSpPr/>
          <p:nvPr/>
        </p:nvSpPr>
        <p:spPr>
          <a:xfrm>
            <a:off x="8064888"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Latency</a:t>
            </a:r>
          </a:p>
        </p:txBody>
      </p:sp>
    </p:spTree>
    <p:extLst>
      <p:ext uri="{BB962C8B-B14F-4D97-AF65-F5344CB8AC3E}">
        <p14:creationId xmlns:p14="http://schemas.microsoft.com/office/powerpoint/2010/main" val="1670912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0E06E-7680-9320-70BD-E34FF2255F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47EA17-39C4-1D0C-9E2F-5068A131DC4A}"/>
              </a:ext>
            </a:extLst>
          </p:cNvPr>
          <p:cNvSpPr>
            <a:spLocks noGrp="1"/>
          </p:cNvSpPr>
          <p:nvPr>
            <p:ph type="title"/>
          </p:nvPr>
        </p:nvSpPr>
        <p:spPr/>
        <p:txBody>
          <a:bodyPr/>
          <a:lstStyle/>
          <a:p>
            <a:r>
              <a:rPr lang="en-US" dirty="0"/>
              <a:t>Use Cases</a:t>
            </a:r>
          </a:p>
        </p:txBody>
      </p:sp>
      <p:sp>
        <p:nvSpPr>
          <p:cNvPr id="3" name="Primary Context Box">
            <a:extLst>
              <a:ext uri="{FF2B5EF4-FFF2-40B4-BE49-F238E27FC236}">
                <a16:creationId xmlns:a16="http://schemas.microsoft.com/office/drawing/2014/main" id="{98F7A08D-7B8A-5357-5756-0C4E9EC9FDCF}"/>
              </a:ext>
            </a:extLst>
          </p:cNvPr>
          <p:cNvSpPr/>
          <p:nvPr/>
        </p:nvSpPr>
        <p:spPr>
          <a:xfrm>
            <a:off x="731203"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Microservices Architecture</a:t>
            </a:r>
          </a:p>
        </p:txBody>
      </p:sp>
      <p:sp>
        <p:nvSpPr>
          <p:cNvPr id="4" name="Primary Context Box">
            <a:extLst>
              <a:ext uri="{FF2B5EF4-FFF2-40B4-BE49-F238E27FC236}">
                <a16:creationId xmlns:a16="http://schemas.microsoft.com/office/drawing/2014/main" id="{1B83E586-5D98-A8D0-D554-4467B16E4E39}"/>
              </a:ext>
            </a:extLst>
          </p:cNvPr>
          <p:cNvSpPr/>
          <p:nvPr/>
        </p:nvSpPr>
        <p:spPr>
          <a:xfrm>
            <a:off x="4503547"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E-Commerce Order Processing</a:t>
            </a:r>
          </a:p>
        </p:txBody>
      </p:sp>
      <p:sp>
        <p:nvSpPr>
          <p:cNvPr id="5" name="Secondary Content Box">
            <a:extLst>
              <a:ext uri="{FF2B5EF4-FFF2-40B4-BE49-F238E27FC236}">
                <a16:creationId xmlns:a16="http://schemas.microsoft.com/office/drawing/2014/main" id="{0810B9D8-C942-98F7-FAF0-48532572BC5D}"/>
              </a:ext>
            </a:extLst>
          </p:cNvPr>
          <p:cNvSpPr/>
          <p:nvPr/>
        </p:nvSpPr>
        <p:spPr>
          <a:xfrm>
            <a:off x="8275891" y="2914680"/>
            <a:ext cx="3549397"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Travel Booking</a:t>
            </a:r>
          </a:p>
        </p:txBody>
      </p:sp>
    </p:spTree>
    <p:extLst>
      <p:ext uri="{BB962C8B-B14F-4D97-AF65-F5344CB8AC3E}">
        <p14:creationId xmlns:p14="http://schemas.microsoft.com/office/powerpoint/2010/main" val="303095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Content Placeholder 15" descr="A screenshot of a computer program&#10;&#10;AI-generated content may be incorrect.">
            <a:extLst>
              <a:ext uri="{FF2B5EF4-FFF2-40B4-BE49-F238E27FC236}">
                <a16:creationId xmlns:a16="http://schemas.microsoft.com/office/drawing/2014/main" id="{3EABA4D5-5579-92D5-9AD7-C8561616A36C}"/>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6084094" y="1232694"/>
            <a:ext cx="3781425" cy="4210050"/>
          </a:xfrm>
        </p:spPr>
      </p:pic>
      <p:sp>
        <p:nvSpPr>
          <p:cNvPr id="11" name="Title 3">
            <a:extLst>
              <a:ext uri="{FF2B5EF4-FFF2-40B4-BE49-F238E27FC236}">
                <a16:creationId xmlns:a16="http://schemas.microsoft.com/office/drawing/2014/main" id="{4400F7C5-BA1E-5B83-50FD-6F48D1B2F32A}"/>
              </a:ext>
            </a:extLst>
          </p:cNvPr>
          <p:cNvSpPr>
            <a:spLocks noGrp="1"/>
          </p:cNvSpPr>
          <p:nvPr>
            <p:ph type="title"/>
          </p:nvPr>
        </p:nvSpPr>
        <p:spPr>
          <a:xfrm>
            <a:off x="548640" y="457200"/>
            <a:ext cx="3575304" cy="591312"/>
          </a:xfrm>
        </p:spPr>
        <p:txBody>
          <a:bodyPr/>
          <a:lstStyle/>
          <a:p>
            <a:r>
              <a:rPr lang="en-US" dirty="0"/>
              <a:t>Documentation</a:t>
            </a:r>
          </a:p>
        </p:txBody>
      </p:sp>
      <p:sp>
        <p:nvSpPr>
          <p:cNvPr id="12" name="Primary Context Box">
            <a:extLst>
              <a:ext uri="{FF2B5EF4-FFF2-40B4-BE49-F238E27FC236}">
                <a16:creationId xmlns:a16="http://schemas.microsoft.com/office/drawing/2014/main" id="{832C9C7A-971E-BFB4-FA65-98929184A677}"/>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Tree>
    <p:extLst>
      <p:ext uri="{BB962C8B-B14F-4D97-AF65-F5344CB8AC3E}">
        <p14:creationId xmlns:p14="http://schemas.microsoft.com/office/powerpoint/2010/main" val="34662119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screenshot of a computer code&#10;&#10;AI-generated content may be incorrect.">
            <a:extLst>
              <a:ext uri="{FF2B5EF4-FFF2-40B4-BE49-F238E27FC236}">
                <a16:creationId xmlns:a16="http://schemas.microsoft.com/office/drawing/2014/main" id="{53473E3F-ADB0-168D-2163-F65551555008}"/>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532515" y="752856"/>
            <a:ext cx="2453076" cy="5587562"/>
          </a:xfrm>
        </p:spPr>
      </p:pic>
      <p:sp>
        <p:nvSpPr>
          <p:cNvPr id="5" name="Title 3">
            <a:extLst>
              <a:ext uri="{FF2B5EF4-FFF2-40B4-BE49-F238E27FC236}">
                <a16:creationId xmlns:a16="http://schemas.microsoft.com/office/drawing/2014/main" id="{47750152-2F1F-266B-1D31-CA9E7FADE4A8}"/>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D6E960DB-0929-290A-E797-77720D7A663C}"/>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4AE4AF19-3EC5-C954-892E-CAD7E8A91E2B}"/>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8" name="Rectangle: Rounded Corners 7">
            <a:extLst>
              <a:ext uri="{FF2B5EF4-FFF2-40B4-BE49-F238E27FC236}">
                <a16:creationId xmlns:a16="http://schemas.microsoft.com/office/drawing/2014/main" id="{8362C0B4-297C-B657-7838-B396DC587311}"/>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TextBox 10">
            <a:extLst>
              <a:ext uri="{FF2B5EF4-FFF2-40B4-BE49-F238E27FC236}">
                <a16:creationId xmlns:a16="http://schemas.microsoft.com/office/drawing/2014/main" id="{B6D6A087-4A0B-4DF9-C9CF-94C8235ABFB4}"/>
              </a:ext>
            </a:extLst>
          </p:cNvPr>
          <p:cNvSpPr txBox="1"/>
          <p:nvPr/>
        </p:nvSpPr>
        <p:spPr>
          <a:xfrm>
            <a:off x="7889357" y="871869"/>
            <a:ext cx="2922210" cy="2062103"/>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3200" dirty="0" err="1"/>
              <a:t>saga.order</a:t>
            </a:r>
            <a:endParaRPr lang="en-US" sz="3200" dirty="0"/>
          </a:p>
          <a:p>
            <a:r>
              <a:rPr lang="en-US" sz="3200" dirty="0" err="1"/>
              <a:t>saga.payment</a:t>
            </a:r>
            <a:endParaRPr lang="en-US" sz="3200" dirty="0"/>
          </a:p>
          <a:p>
            <a:r>
              <a:rPr lang="en-US" sz="3200" dirty="0" err="1"/>
              <a:t>saga.inventory</a:t>
            </a:r>
            <a:endParaRPr lang="en-US" sz="3200" dirty="0"/>
          </a:p>
          <a:p>
            <a:r>
              <a:rPr lang="en-US" sz="3200" dirty="0" err="1"/>
              <a:t>saga.completion</a:t>
            </a:r>
            <a:endParaRPr lang="en-US" sz="3200" dirty="0"/>
          </a:p>
        </p:txBody>
      </p:sp>
    </p:spTree>
    <p:extLst>
      <p:ext uri="{BB962C8B-B14F-4D97-AF65-F5344CB8AC3E}">
        <p14:creationId xmlns:p14="http://schemas.microsoft.com/office/powerpoint/2010/main" val="31619989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descr="A screenshot of a computer code&#10;&#10;AI-generated content may be incorrect.">
            <a:extLst>
              <a:ext uri="{FF2B5EF4-FFF2-40B4-BE49-F238E27FC236}">
                <a16:creationId xmlns:a16="http://schemas.microsoft.com/office/drawing/2014/main" id="{1167239D-34CC-A546-2BC5-C01E08CB7651}"/>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307904" y="1048512"/>
            <a:ext cx="7335837" cy="2121779"/>
          </a:xfrm>
        </p:spPr>
      </p:pic>
      <p:sp>
        <p:nvSpPr>
          <p:cNvPr id="5" name="Title 3">
            <a:extLst>
              <a:ext uri="{FF2B5EF4-FFF2-40B4-BE49-F238E27FC236}">
                <a16:creationId xmlns:a16="http://schemas.microsoft.com/office/drawing/2014/main" id="{5CEE76CD-13CE-074A-EA42-94A70E91E17F}"/>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D6296FDE-C98C-3FE8-84B4-CDA0A3326101}"/>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ED9761E0-251C-1D77-61DA-7643EA634898}"/>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8" name="Rectangle: Rounded Corners 7">
            <a:extLst>
              <a:ext uri="{FF2B5EF4-FFF2-40B4-BE49-F238E27FC236}">
                <a16:creationId xmlns:a16="http://schemas.microsoft.com/office/drawing/2014/main" id="{C294177E-1D9E-5207-A0F8-713959AE9543}"/>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0CECA1A0-F105-3FE8-BA0D-F96ED8EF4A49}"/>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10" name="Rectangle: Rounded Corners 9">
            <a:extLst>
              <a:ext uri="{FF2B5EF4-FFF2-40B4-BE49-F238E27FC236}">
                <a16:creationId xmlns:a16="http://schemas.microsoft.com/office/drawing/2014/main" id="{FDAFA923-1214-A6BA-2A52-6603F0CFD931}"/>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30455125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descr="A screen shot of a computer code&#10;&#10;AI-generated content may be incorrect.">
            <a:extLst>
              <a:ext uri="{FF2B5EF4-FFF2-40B4-BE49-F238E27FC236}">
                <a16:creationId xmlns:a16="http://schemas.microsoft.com/office/drawing/2014/main" id="{75AE680E-B19E-5C45-A353-B9EEB3AE829A}"/>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617797" y="752855"/>
            <a:ext cx="2973849" cy="5556973"/>
          </a:xfrm>
        </p:spPr>
      </p:pic>
      <p:sp>
        <p:nvSpPr>
          <p:cNvPr id="5" name="Title 3">
            <a:extLst>
              <a:ext uri="{FF2B5EF4-FFF2-40B4-BE49-F238E27FC236}">
                <a16:creationId xmlns:a16="http://schemas.microsoft.com/office/drawing/2014/main" id="{AB6B4449-485A-0722-DE86-B5DAA291D5B5}"/>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797EA98D-0187-B4E8-8A3D-E9DDE43E1F59}"/>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2F3CFFD0-BBF0-800D-62A0-ED183005055F}"/>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8" name="Rectangle: Rounded Corners 7">
            <a:extLst>
              <a:ext uri="{FF2B5EF4-FFF2-40B4-BE49-F238E27FC236}">
                <a16:creationId xmlns:a16="http://schemas.microsoft.com/office/drawing/2014/main" id="{474E2AFB-64CD-4BF0-5B33-C612DE924A3C}"/>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0F714B0E-6B80-C200-3E4F-01BE3DE95B5B}"/>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10" name="Rectangle: Rounded Corners 9">
            <a:extLst>
              <a:ext uri="{FF2B5EF4-FFF2-40B4-BE49-F238E27FC236}">
                <a16:creationId xmlns:a16="http://schemas.microsoft.com/office/drawing/2014/main" id="{FC64E336-D06A-28FD-892B-F62C7EAAD6D0}"/>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14" name="Picture 13" descr="A screenshot of a computer program&#10;&#10;AI-generated content may be incorrect.">
            <a:extLst>
              <a:ext uri="{FF2B5EF4-FFF2-40B4-BE49-F238E27FC236}">
                <a16:creationId xmlns:a16="http://schemas.microsoft.com/office/drawing/2014/main" id="{7811BC78-313F-FC69-155C-E668B85B390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617797" y="838485"/>
            <a:ext cx="6195187" cy="5385711"/>
          </a:xfrm>
          <a:prstGeom prst="rect">
            <a:avLst/>
          </a:prstGeom>
        </p:spPr>
      </p:pic>
      <p:pic>
        <p:nvPicPr>
          <p:cNvPr id="16" name="Picture 15" descr="A computer screen shot of a program&#10;&#10;AI-generated content may be incorrect.">
            <a:extLst>
              <a:ext uri="{FF2B5EF4-FFF2-40B4-BE49-F238E27FC236}">
                <a16:creationId xmlns:a16="http://schemas.microsoft.com/office/drawing/2014/main" id="{8948F3C2-6317-9936-6401-9E23F165C40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606209" y="2149481"/>
            <a:ext cx="8382000" cy="3019425"/>
          </a:xfrm>
          <a:prstGeom prst="rect">
            <a:avLst/>
          </a:prstGeom>
        </p:spPr>
      </p:pic>
      <p:pic>
        <p:nvPicPr>
          <p:cNvPr id="18" name="Picture 17" descr="A screenshot of a computer code&#10;&#10;AI-generated content may be incorrect.">
            <a:extLst>
              <a:ext uri="{FF2B5EF4-FFF2-40B4-BE49-F238E27FC236}">
                <a16:creationId xmlns:a16="http://schemas.microsoft.com/office/drawing/2014/main" id="{42D368DC-C142-1E3F-261D-97F48A3CCF03}"/>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628322" y="838485"/>
            <a:ext cx="4905038" cy="5556973"/>
          </a:xfrm>
          <a:prstGeom prst="rect">
            <a:avLst/>
          </a:prstGeom>
        </p:spPr>
      </p:pic>
    </p:spTree>
    <p:extLst>
      <p:ext uri="{BB962C8B-B14F-4D97-AF65-F5344CB8AC3E}">
        <p14:creationId xmlns:p14="http://schemas.microsoft.com/office/powerpoint/2010/main" val="429034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p:cTn id="6" dur="indefinite"/>
                                        <p:tgtEl>
                                          <p:spTgt spid="12"/>
                                        </p:tgtEl>
                                        <p:attrNameLst>
                                          <p:attrName>style.opacity</p:attrName>
                                        </p:attrNameLst>
                                      </p:cBhvr>
                                      <p:to>
                                        <p:strVal val="0.25"/>
                                      </p:to>
                                    </p:set>
                                    <p:animEffect filter="image" prLst="opacity: 0.25">
                                      <p:cBhvr rctx="IE">
                                        <p:cTn id="7" dur="indefinite"/>
                                        <p:tgtEl>
                                          <p:spTgt spid="12"/>
                                        </p:tgtEl>
                                      </p:cBhvr>
                                    </p:animEffect>
                                  </p:childTnLst>
                                </p:cTn>
                              </p:par>
                              <p:par>
                                <p:cTn id="8" presetID="53" presetClass="entr" presetSubtype="16"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p:cTn id="10" dur="500" fill="hold"/>
                                        <p:tgtEl>
                                          <p:spTgt spid="14"/>
                                        </p:tgtEl>
                                        <p:attrNameLst>
                                          <p:attrName>ppt_w</p:attrName>
                                        </p:attrNameLst>
                                      </p:cBhvr>
                                      <p:tavLst>
                                        <p:tav tm="0">
                                          <p:val>
                                            <p:fltVal val="0"/>
                                          </p:val>
                                        </p:tav>
                                        <p:tav tm="100000">
                                          <p:val>
                                            <p:strVal val="#ppt_w"/>
                                          </p:val>
                                        </p:tav>
                                      </p:tavLst>
                                    </p:anim>
                                    <p:anim calcmode="lin" valueType="num">
                                      <p:cBhvr>
                                        <p:cTn id="11" dur="500" fill="hold"/>
                                        <p:tgtEl>
                                          <p:spTgt spid="14"/>
                                        </p:tgtEl>
                                        <p:attrNameLst>
                                          <p:attrName>ppt_h</p:attrName>
                                        </p:attrNameLst>
                                      </p:cBhvr>
                                      <p:tavLst>
                                        <p:tav tm="0">
                                          <p:val>
                                            <p:fltVal val="0"/>
                                          </p:val>
                                        </p:tav>
                                        <p:tav tm="100000">
                                          <p:val>
                                            <p:strVal val="#ppt_h"/>
                                          </p:val>
                                        </p:tav>
                                      </p:tavLst>
                                    </p:anim>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4"/>
                                        </p:tgtEl>
                                      </p:cBhvr>
                                    </p:animEffect>
                                    <p:set>
                                      <p:cBhvr>
                                        <p:cTn id="17" dur="1" fill="hold">
                                          <p:stCondLst>
                                            <p:cond delay="499"/>
                                          </p:stCondLst>
                                        </p:cTn>
                                        <p:tgtEl>
                                          <p:spTgt spid="14"/>
                                        </p:tgtEl>
                                        <p:attrNameLst>
                                          <p:attrName>style.visibility</p:attrName>
                                        </p:attrNameLst>
                                      </p:cBhvr>
                                      <p:to>
                                        <p:strVal val="hidden"/>
                                      </p:to>
                                    </p:set>
                                  </p:childTnLst>
                                </p:cTn>
                              </p:par>
                              <p:par>
                                <p:cTn id="18" presetID="53" presetClass="entr" presetSubtype="16"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p:cTn id="20" dur="500" fill="hold"/>
                                        <p:tgtEl>
                                          <p:spTgt spid="16"/>
                                        </p:tgtEl>
                                        <p:attrNameLst>
                                          <p:attrName>ppt_w</p:attrName>
                                        </p:attrNameLst>
                                      </p:cBhvr>
                                      <p:tavLst>
                                        <p:tav tm="0">
                                          <p:val>
                                            <p:fltVal val="0"/>
                                          </p:val>
                                        </p:tav>
                                        <p:tav tm="100000">
                                          <p:val>
                                            <p:strVal val="#ppt_w"/>
                                          </p:val>
                                        </p:tav>
                                      </p:tavLst>
                                    </p:anim>
                                    <p:anim calcmode="lin" valueType="num">
                                      <p:cBhvr>
                                        <p:cTn id="21" dur="500" fill="hold"/>
                                        <p:tgtEl>
                                          <p:spTgt spid="16"/>
                                        </p:tgtEl>
                                        <p:attrNameLst>
                                          <p:attrName>ppt_h</p:attrName>
                                        </p:attrNameLst>
                                      </p:cBhvr>
                                      <p:tavLst>
                                        <p:tav tm="0">
                                          <p:val>
                                            <p:fltVal val="0"/>
                                          </p:val>
                                        </p:tav>
                                        <p:tav tm="100000">
                                          <p:val>
                                            <p:strVal val="#ppt_h"/>
                                          </p:val>
                                        </p:tav>
                                      </p:tavLst>
                                    </p:anim>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16"/>
                                        </p:tgtEl>
                                      </p:cBhvr>
                                    </p:animEffect>
                                    <p:set>
                                      <p:cBhvr>
                                        <p:cTn id="27" dur="1" fill="hold">
                                          <p:stCondLst>
                                            <p:cond delay="499"/>
                                          </p:stCondLst>
                                        </p:cTn>
                                        <p:tgtEl>
                                          <p:spTgt spid="16"/>
                                        </p:tgtEl>
                                        <p:attrNameLst>
                                          <p:attrName>style.visibility</p:attrName>
                                        </p:attrNameLst>
                                      </p:cBhvr>
                                      <p:to>
                                        <p:strVal val="hidden"/>
                                      </p:to>
                                    </p:set>
                                  </p:childTnLst>
                                </p:cTn>
                              </p:par>
                              <p:par>
                                <p:cTn id="28" presetID="53" presetClass="entr" presetSubtype="16"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 calcmode="lin" valueType="num">
                                      <p:cBhvr>
                                        <p:cTn id="30" dur="500" fill="hold"/>
                                        <p:tgtEl>
                                          <p:spTgt spid="18"/>
                                        </p:tgtEl>
                                        <p:attrNameLst>
                                          <p:attrName>ppt_w</p:attrName>
                                        </p:attrNameLst>
                                      </p:cBhvr>
                                      <p:tavLst>
                                        <p:tav tm="0">
                                          <p:val>
                                            <p:fltVal val="0"/>
                                          </p:val>
                                        </p:tav>
                                        <p:tav tm="100000">
                                          <p:val>
                                            <p:strVal val="#ppt_w"/>
                                          </p:val>
                                        </p:tav>
                                      </p:tavLst>
                                    </p:anim>
                                    <p:anim calcmode="lin" valueType="num">
                                      <p:cBhvr>
                                        <p:cTn id="31" dur="500" fill="hold"/>
                                        <p:tgtEl>
                                          <p:spTgt spid="18"/>
                                        </p:tgtEl>
                                        <p:attrNameLst>
                                          <p:attrName>ppt_h</p:attrName>
                                        </p:attrNameLst>
                                      </p:cBhvr>
                                      <p:tavLst>
                                        <p:tav tm="0">
                                          <p:val>
                                            <p:fltVal val="0"/>
                                          </p:val>
                                        </p:tav>
                                        <p:tav tm="100000">
                                          <p:val>
                                            <p:strVal val="#ppt_h"/>
                                          </p:val>
                                        </p:tav>
                                      </p:tavLst>
                                    </p:anim>
                                    <p:animEffect transition="in" filter="fade">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descr="A computer screen shot of a program code&#10;&#10;AI-generated content may be incorrect.">
            <a:extLst>
              <a:ext uri="{FF2B5EF4-FFF2-40B4-BE49-F238E27FC236}">
                <a16:creationId xmlns:a16="http://schemas.microsoft.com/office/drawing/2014/main" id="{25A6E27C-9BF6-65CC-8A55-4FA6D75D3901}"/>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307523" y="752856"/>
            <a:ext cx="7755669" cy="3797879"/>
          </a:xfrm>
        </p:spPr>
      </p:pic>
      <p:sp>
        <p:nvSpPr>
          <p:cNvPr id="5" name="Title 3">
            <a:extLst>
              <a:ext uri="{FF2B5EF4-FFF2-40B4-BE49-F238E27FC236}">
                <a16:creationId xmlns:a16="http://schemas.microsoft.com/office/drawing/2014/main" id="{74F94CC2-1D4A-F616-8AAD-E266AD133DB2}"/>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28631C64-CB64-0024-F67B-DC24CCFBBD62}"/>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6A2218F1-6066-91D2-44ED-56A4468BFE70}"/>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8" name="Rectangle: Rounded Corners 7">
            <a:extLst>
              <a:ext uri="{FF2B5EF4-FFF2-40B4-BE49-F238E27FC236}">
                <a16:creationId xmlns:a16="http://schemas.microsoft.com/office/drawing/2014/main" id="{A43E0AA0-4594-95A3-7406-3D11CA5F9356}"/>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9DAB5EB8-4259-D0A6-2761-31854EAFE083}"/>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10" name="Rectangle: Rounded Corners 9">
            <a:extLst>
              <a:ext uri="{FF2B5EF4-FFF2-40B4-BE49-F238E27FC236}">
                <a16:creationId xmlns:a16="http://schemas.microsoft.com/office/drawing/2014/main" id="{BF7A9A2F-D892-305D-A8DF-9D816DE31404}"/>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309B0194-EDD5-664B-17B4-FF6FED9DC634}"/>
              </a:ext>
            </a:extLst>
          </p:cNvPr>
          <p:cNvSpPr/>
          <p:nvPr/>
        </p:nvSpPr>
        <p:spPr>
          <a:xfrm>
            <a:off x="548255"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Services</a:t>
            </a:r>
          </a:p>
        </p:txBody>
      </p:sp>
      <p:sp>
        <p:nvSpPr>
          <p:cNvPr id="12" name="Rectangle: Rounded Corners 11">
            <a:extLst>
              <a:ext uri="{FF2B5EF4-FFF2-40B4-BE49-F238E27FC236}">
                <a16:creationId xmlns:a16="http://schemas.microsoft.com/office/drawing/2014/main" id="{42C5C646-CFBC-6EC0-98CB-12D3EF136329}"/>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5" name="TextBox 14">
            <a:extLst>
              <a:ext uri="{FF2B5EF4-FFF2-40B4-BE49-F238E27FC236}">
                <a16:creationId xmlns:a16="http://schemas.microsoft.com/office/drawing/2014/main" id="{F517F600-1A7A-3B6C-093E-4B76DBF02959}"/>
              </a:ext>
            </a:extLst>
          </p:cNvPr>
          <p:cNvSpPr txBox="1"/>
          <p:nvPr/>
        </p:nvSpPr>
        <p:spPr>
          <a:xfrm>
            <a:off x="1015671" y="3598884"/>
            <a:ext cx="2640851" cy="584775"/>
          </a:xfrm>
          <a:prstGeom prst="rect">
            <a:avLst/>
          </a:prstGeom>
          <a:noFill/>
        </p:spPr>
        <p:txBody>
          <a:bodyPr wrap="none" rtlCol="0">
            <a:spAutoFit/>
          </a:bodyPr>
          <a:lstStyle/>
          <a:p>
            <a:r>
              <a:rPr lang="en-US" sz="3200" b="1" dirty="0">
                <a:solidFill>
                  <a:schemeClr val="accent6"/>
                </a:solidFill>
              </a:rPr>
              <a:t>Service Helper</a:t>
            </a:r>
          </a:p>
        </p:txBody>
      </p:sp>
    </p:spTree>
    <p:extLst>
      <p:ext uri="{BB962C8B-B14F-4D97-AF65-F5344CB8AC3E}">
        <p14:creationId xmlns:p14="http://schemas.microsoft.com/office/powerpoint/2010/main" val="37745891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descr="A computer code with many colored text&#10;&#10;AI-generated content may be incorrect.">
            <a:extLst>
              <a:ext uri="{FF2B5EF4-FFF2-40B4-BE49-F238E27FC236}">
                <a16:creationId xmlns:a16="http://schemas.microsoft.com/office/drawing/2014/main" id="{8F24FD34-4886-A9D9-E912-D73EC2FBD4A6}"/>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437266" y="752856"/>
            <a:ext cx="6633382" cy="5467191"/>
          </a:xfrm>
        </p:spPr>
      </p:pic>
      <p:sp>
        <p:nvSpPr>
          <p:cNvPr id="5" name="Title 3">
            <a:extLst>
              <a:ext uri="{FF2B5EF4-FFF2-40B4-BE49-F238E27FC236}">
                <a16:creationId xmlns:a16="http://schemas.microsoft.com/office/drawing/2014/main" id="{DD084CD2-0D9C-04EC-833C-63B2D94AA09A}"/>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B6CA50DE-6F50-BF1F-5ACF-583BA35B33B1}"/>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9A221171-9B67-A84F-225B-9C7EAB759F73}"/>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8" name="Rectangle: Rounded Corners 7">
            <a:extLst>
              <a:ext uri="{FF2B5EF4-FFF2-40B4-BE49-F238E27FC236}">
                <a16:creationId xmlns:a16="http://schemas.microsoft.com/office/drawing/2014/main" id="{C7B3EC04-1697-2B1B-7ED2-F3BE766E816E}"/>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7C94C89C-E379-600B-8780-02BF3FB4C818}"/>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10" name="Rectangle: Rounded Corners 9">
            <a:extLst>
              <a:ext uri="{FF2B5EF4-FFF2-40B4-BE49-F238E27FC236}">
                <a16:creationId xmlns:a16="http://schemas.microsoft.com/office/drawing/2014/main" id="{B5205627-36C1-2813-C81F-ECD0522C41B0}"/>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99131449-C473-7360-F5D4-266328466713}"/>
              </a:ext>
            </a:extLst>
          </p:cNvPr>
          <p:cNvSpPr/>
          <p:nvPr/>
        </p:nvSpPr>
        <p:spPr>
          <a:xfrm>
            <a:off x="548255"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Services</a:t>
            </a:r>
          </a:p>
        </p:txBody>
      </p:sp>
      <p:sp>
        <p:nvSpPr>
          <p:cNvPr id="12" name="Rectangle: Rounded Corners 11">
            <a:extLst>
              <a:ext uri="{FF2B5EF4-FFF2-40B4-BE49-F238E27FC236}">
                <a16:creationId xmlns:a16="http://schemas.microsoft.com/office/drawing/2014/main" id="{DE97E76C-0E7A-1045-5CB8-BCDFB6146795}"/>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3" name="TextBox 12">
            <a:extLst>
              <a:ext uri="{FF2B5EF4-FFF2-40B4-BE49-F238E27FC236}">
                <a16:creationId xmlns:a16="http://schemas.microsoft.com/office/drawing/2014/main" id="{FE4767AB-1D33-001D-CBED-2714C880E7D5}"/>
              </a:ext>
            </a:extLst>
          </p:cNvPr>
          <p:cNvSpPr txBox="1"/>
          <p:nvPr/>
        </p:nvSpPr>
        <p:spPr>
          <a:xfrm>
            <a:off x="1425238" y="3598884"/>
            <a:ext cx="1821717" cy="584775"/>
          </a:xfrm>
          <a:prstGeom prst="rect">
            <a:avLst/>
          </a:prstGeom>
          <a:noFill/>
        </p:spPr>
        <p:txBody>
          <a:bodyPr wrap="none" rtlCol="0">
            <a:spAutoFit/>
          </a:bodyPr>
          <a:lstStyle/>
          <a:p>
            <a:r>
              <a:rPr lang="en-US" sz="3200" b="1" dirty="0">
                <a:solidFill>
                  <a:schemeClr val="accent6"/>
                </a:solidFill>
              </a:rPr>
              <a:t>Inventory</a:t>
            </a:r>
          </a:p>
        </p:txBody>
      </p:sp>
    </p:spTree>
    <p:extLst>
      <p:ext uri="{BB962C8B-B14F-4D97-AF65-F5344CB8AC3E}">
        <p14:creationId xmlns:p14="http://schemas.microsoft.com/office/powerpoint/2010/main" val="23303409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8807C-83D3-FC42-989F-0E8AA0CF3ECD}"/>
            </a:ext>
          </a:extLst>
        </p:cNvPr>
        <p:cNvGrpSpPr/>
        <p:nvPr/>
      </p:nvGrpSpPr>
      <p:grpSpPr>
        <a:xfrm>
          <a:off x="0" y="0"/>
          <a:ext cx="0" cy="0"/>
          <a:chOff x="0" y="0"/>
          <a:chExt cx="0" cy="0"/>
        </a:xfrm>
      </p:grpSpPr>
      <p:pic>
        <p:nvPicPr>
          <p:cNvPr id="3" name="Picture 2" descr="A screen shot of a computer code&#10;&#10;AI-generated content may be incorrect.">
            <a:extLst>
              <a:ext uri="{FF2B5EF4-FFF2-40B4-BE49-F238E27FC236}">
                <a16:creationId xmlns:a16="http://schemas.microsoft.com/office/drawing/2014/main" id="{FFEFB760-86B6-7EE2-3532-114ACA8BC5AE}"/>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a:fillRect/>
          </a:stretch>
        </p:blipFill>
        <p:spPr>
          <a:xfrm>
            <a:off x="4437266" y="752856"/>
            <a:ext cx="6633382" cy="5467191"/>
          </a:xfrm>
          <a:prstGeom prst="rect">
            <a:avLst/>
          </a:prstGeom>
        </p:spPr>
      </p:pic>
      <p:sp>
        <p:nvSpPr>
          <p:cNvPr id="5" name="Title 3">
            <a:extLst>
              <a:ext uri="{FF2B5EF4-FFF2-40B4-BE49-F238E27FC236}">
                <a16:creationId xmlns:a16="http://schemas.microsoft.com/office/drawing/2014/main" id="{846CBC66-8DE8-7731-65AE-E05CBE4FE889}"/>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2AF49C54-A612-CD35-A276-8E08CA5DC5AE}"/>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4A70E699-E448-C8F5-BFC4-B8D298272DF1}"/>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8" name="Rectangle: Rounded Corners 7">
            <a:extLst>
              <a:ext uri="{FF2B5EF4-FFF2-40B4-BE49-F238E27FC236}">
                <a16:creationId xmlns:a16="http://schemas.microsoft.com/office/drawing/2014/main" id="{8117FED9-624A-B697-75C0-9F9ACF48ED17}"/>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9A25ABB7-0E47-74D6-85B7-77C33E4956EE}"/>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10" name="Rectangle: Rounded Corners 9">
            <a:extLst>
              <a:ext uri="{FF2B5EF4-FFF2-40B4-BE49-F238E27FC236}">
                <a16:creationId xmlns:a16="http://schemas.microsoft.com/office/drawing/2014/main" id="{24C0F9B5-3314-1C2C-F3F7-C67EFC959DF8}"/>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8D07B669-76CA-3961-CF2C-CD9CD72CBABA}"/>
              </a:ext>
            </a:extLst>
          </p:cNvPr>
          <p:cNvSpPr/>
          <p:nvPr/>
        </p:nvSpPr>
        <p:spPr>
          <a:xfrm>
            <a:off x="548255"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Services</a:t>
            </a:r>
          </a:p>
        </p:txBody>
      </p:sp>
      <p:sp>
        <p:nvSpPr>
          <p:cNvPr id="12" name="Rectangle: Rounded Corners 11">
            <a:extLst>
              <a:ext uri="{FF2B5EF4-FFF2-40B4-BE49-F238E27FC236}">
                <a16:creationId xmlns:a16="http://schemas.microsoft.com/office/drawing/2014/main" id="{D673E7C3-82BC-8860-AB91-997F1A037EDE}"/>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3" name="TextBox 12">
            <a:extLst>
              <a:ext uri="{FF2B5EF4-FFF2-40B4-BE49-F238E27FC236}">
                <a16:creationId xmlns:a16="http://schemas.microsoft.com/office/drawing/2014/main" id="{0E574AAB-FD73-892C-EA67-55642A865DB4}"/>
              </a:ext>
            </a:extLst>
          </p:cNvPr>
          <p:cNvSpPr txBox="1"/>
          <p:nvPr/>
        </p:nvSpPr>
        <p:spPr>
          <a:xfrm>
            <a:off x="1748532" y="3598884"/>
            <a:ext cx="1175130" cy="584775"/>
          </a:xfrm>
          <a:prstGeom prst="rect">
            <a:avLst/>
          </a:prstGeom>
          <a:noFill/>
        </p:spPr>
        <p:txBody>
          <a:bodyPr wrap="none" rtlCol="0">
            <a:spAutoFit/>
          </a:bodyPr>
          <a:lstStyle/>
          <a:p>
            <a:r>
              <a:rPr lang="en-US" sz="3200" b="1" dirty="0">
                <a:solidFill>
                  <a:schemeClr val="accent6"/>
                </a:solidFill>
              </a:rPr>
              <a:t>Order</a:t>
            </a:r>
          </a:p>
        </p:txBody>
      </p:sp>
    </p:spTree>
    <p:extLst>
      <p:ext uri="{BB962C8B-B14F-4D97-AF65-F5344CB8AC3E}">
        <p14:creationId xmlns:p14="http://schemas.microsoft.com/office/powerpoint/2010/main" val="10278922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D1E0-77C9-73EF-A463-02E8581254B8}"/>
            </a:ext>
          </a:extLst>
        </p:cNvPr>
        <p:cNvGrpSpPr/>
        <p:nvPr/>
      </p:nvGrpSpPr>
      <p:grpSpPr>
        <a:xfrm>
          <a:off x="0" y="0"/>
          <a:ext cx="0" cy="0"/>
          <a:chOff x="0" y="0"/>
          <a:chExt cx="0" cy="0"/>
        </a:xfrm>
      </p:grpSpPr>
      <p:pic>
        <p:nvPicPr>
          <p:cNvPr id="4" name="Picture 3" descr="A screen shot of a computer code&#10;&#10;AI-generated content may be incorrect.">
            <a:extLst>
              <a:ext uri="{FF2B5EF4-FFF2-40B4-BE49-F238E27FC236}">
                <a16:creationId xmlns:a16="http://schemas.microsoft.com/office/drawing/2014/main" id="{2B3CA0B6-45B3-8E32-0E7E-A5536085D2D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a:fillRect/>
          </a:stretch>
        </p:blipFill>
        <p:spPr>
          <a:xfrm>
            <a:off x="4437266" y="752856"/>
            <a:ext cx="6633382" cy="5467191"/>
          </a:xfrm>
          <a:prstGeom prst="rect">
            <a:avLst/>
          </a:prstGeom>
        </p:spPr>
      </p:pic>
      <p:sp>
        <p:nvSpPr>
          <p:cNvPr id="5" name="Title 3">
            <a:extLst>
              <a:ext uri="{FF2B5EF4-FFF2-40B4-BE49-F238E27FC236}">
                <a16:creationId xmlns:a16="http://schemas.microsoft.com/office/drawing/2014/main" id="{D7A4F3BF-119B-2A55-15F1-6C4D12AD20C1}"/>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1ED00A0E-2975-94AC-34DD-9CB5EDACC41A}"/>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1396ADDF-0B32-8181-9791-D97DA8F5EA4A}"/>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8" name="Rectangle: Rounded Corners 7">
            <a:extLst>
              <a:ext uri="{FF2B5EF4-FFF2-40B4-BE49-F238E27FC236}">
                <a16:creationId xmlns:a16="http://schemas.microsoft.com/office/drawing/2014/main" id="{DD29ABD9-B486-8694-FA0C-77943F349C93}"/>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CBB4E19E-33E1-2097-9DA4-D9FAD50B7778}"/>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10" name="Rectangle: Rounded Corners 9">
            <a:extLst>
              <a:ext uri="{FF2B5EF4-FFF2-40B4-BE49-F238E27FC236}">
                <a16:creationId xmlns:a16="http://schemas.microsoft.com/office/drawing/2014/main" id="{A77CBAC9-C34C-3195-4C0B-3F8C6019F1DE}"/>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7C3E1548-39FD-1FC6-8CBE-20A6DDD628FD}"/>
              </a:ext>
            </a:extLst>
          </p:cNvPr>
          <p:cNvSpPr/>
          <p:nvPr/>
        </p:nvSpPr>
        <p:spPr>
          <a:xfrm>
            <a:off x="548255"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Services</a:t>
            </a:r>
          </a:p>
        </p:txBody>
      </p:sp>
      <p:sp>
        <p:nvSpPr>
          <p:cNvPr id="12" name="Rectangle: Rounded Corners 11">
            <a:extLst>
              <a:ext uri="{FF2B5EF4-FFF2-40B4-BE49-F238E27FC236}">
                <a16:creationId xmlns:a16="http://schemas.microsoft.com/office/drawing/2014/main" id="{5E14CDE0-E30A-C652-0835-D9EDF3D6F060}"/>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3" name="TextBox 12">
            <a:extLst>
              <a:ext uri="{FF2B5EF4-FFF2-40B4-BE49-F238E27FC236}">
                <a16:creationId xmlns:a16="http://schemas.microsoft.com/office/drawing/2014/main" id="{3F19840B-DFA4-6BAD-9B0F-A9070D9867E0}"/>
              </a:ext>
            </a:extLst>
          </p:cNvPr>
          <p:cNvSpPr txBox="1"/>
          <p:nvPr/>
        </p:nvSpPr>
        <p:spPr>
          <a:xfrm>
            <a:off x="1495161" y="3598884"/>
            <a:ext cx="1681871" cy="584775"/>
          </a:xfrm>
          <a:prstGeom prst="rect">
            <a:avLst/>
          </a:prstGeom>
          <a:noFill/>
        </p:spPr>
        <p:txBody>
          <a:bodyPr wrap="none" rtlCol="0">
            <a:spAutoFit/>
          </a:bodyPr>
          <a:lstStyle/>
          <a:p>
            <a:r>
              <a:rPr lang="en-US" sz="3200" b="1" dirty="0">
                <a:solidFill>
                  <a:schemeClr val="accent6"/>
                </a:solidFill>
              </a:rPr>
              <a:t>Payment</a:t>
            </a:r>
          </a:p>
        </p:txBody>
      </p:sp>
    </p:spTree>
    <p:extLst>
      <p:ext uri="{BB962C8B-B14F-4D97-AF65-F5344CB8AC3E}">
        <p14:creationId xmlns:p14="http://schemas.microsoft.com/office/powerpoint/2010/main" val="2164454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F07E9A59-B51F-F45D-5433-46E945713785}"/>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D286AD46-F1B1-3B3D-6E1F-D68120E0F1B3}"/>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76516B62-251E-DDCE-0E50-22F9E8BE963B}"/>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8" name="Rectangle: Rounded Corners 7">
            <a:extLst>
              <a:ext uri="{FF2B5EF4-FFF2-40B4-BE49-F238E27FC236}">
                <a16:creationId xmlns:a16="http://schemas.microsoft.com/office/drawing/2014/main" id="{7518902F-D75A-C118-C28A-37C9AC07A5DD}"/>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42DBB587-1ECB-25D9-62F6-CE54BC597BB6}"/>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Queues</a:t>
            </a:r>
          </a:p>
        </p:txBody>
      </p:sp>
      <p:sp>
        <p:nvSpPr>
          <p:cNvPr id="10" name="Rectangle: Rounded Corners 9">
            <a:extLst>
              <a:ext uri="{FF2B5EF4-FFF2-40B4-BE49-F238E27FC236}">
                <a16:creationId xmlns:a16="http://schemas.microsoft.com/office/drawing/2014/main" id="{A865E8BA-55CD-6632-B18E-724A10F092B9}"/>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2808BD27-1771-FC47-C7BA-420C85F04D7C}"/>
              </a:ext>
            </a:extLst>
          </p:cNvPr>
          <p:cNvSpPr/>
          <p:nvPr/>
        </p:nvSpPr>
        <p:spPr>
          <a:xfrm>
            <a:off x="548255"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Services</a:t>
            </a:r>
          </a:p>
        </p:txBody>
      </p:sp>
      <p:sp>
        <p:nvSpPr>
          <p:cNvPr id="12" name="Rectangle: Rounded Corners 11">
            <a:extLst>
              <a:ext uri="{FF2B5EF4-FFF2-40B4-BE49-F238E27FC236}">
                <a16:creationId xmlns:a16="http://schemas.microsoft.com/office/drawing/2014/main" id="{DA3F2267-F235-A3AC-D54D-385F9582FCF7}"/>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3" name="Primary Context Box">
            <a:extLst>
              <a:ext uri="{FF2B5EF4-FFF2-40B4-BE49-F238E27FC236}">
                <a16:creationId xmlns:a16="http://schemas.microsoft.com/office/drawing/2014/main" id="{453B2263-8F12-6581-AA46-76116EEE3C0C}"/>
              </a:ext>
            </a:extLst>
          </p:cNvPr>
          <p:cNvSpPr/>
          <p:nvPr/>
        </p:nvSpPr>
        <p:spPr>
          <a:xfrm>
            <a:off x="548254" y="3558451"/>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Run the Demo</a:t>
            </a:r>
          </a:p>
        </p:txBody>
      </p:sp>
      <p:sp>
        <p:nvSpPr>
          <p:cNvPr id="14" name="Rectangle: Rounded Corners 13">
            <a:extLst>
              <a:ext uri="{FF2B5EF4-FFF2-40B4-BE49-F238E27FC236}">
                <a16:creationId xmlns:a16="http://schemas.microsoft.com/office/drawing/2014/main" id="{4A1B9FBC-7F19-8709-0F24-6E9FD3C0D499}"/>
              </a:ext>
            </a:extLst>
          </p:cNvPr>
          <p:cNvSpPr/>
          <p:nvPr/>
        </p:nvSpPr>
        <p:spPr>
          <a:xfrm>
            <a:off x="548255" y="2933243"/>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16" name="Content Placeholder 15" descr="A screenshot of a computer&#10;&#10;AI-generated content may be incorrect.">
            <a:extLst>
              <a:ext uri="{FF2B5EF4-FFF2-40B4-BE49-F238E27FC236}">
                <a16:creationId xmlns:a16="http://schemas.microsoft.com/office/drawing/2014/main" id="{318BC3B6-7222-7C16-9D52-90E5463C005F}"/>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349490" y="1704975"/>
            <a:ext cx="5638800" cy="3448050"/>
          </a:xfrm>
        </p:spPr>
      </p:pic>
      <p:pic>
        <p:nvPicPr>
          <p:cNvPr id="19" name="Picture 18" descr="A screenshot of a computer&#10;&#10;AI-generated content may be incorrect.">
            <a:extLst>
              <a:ext uri="{FF2B5EF4-FFF2-40B4-BE49-F238E27FC236}">
                <a16:creationId xmlns:a16="http://schemas.microsoft.com/office/drawing/2014/main" id="{5E7B43C9-F997-AD3B-1E59-73AFDAF1AB6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203712" y="132936"/>
            <a:ext cx="5638800" cy="2362200"/>
          </a:xfrm>
          <a:prstGeom prst="rect">
            <a:avLst/>
          </a:prstGeom>
        </p:spPr>
      </p:pic>
      <p:pic>
        <p:nvPicPr>
          <p:cNvPr id="21" name="Picture 20" descr="A screenshot of a computer&#10;&#10;AI-generated content may be incorrect.">
            <a:extLst>
              <a:ext uri="{FF2B5EF4-FFF2-40B4-BE49-F238E27FC236}">
                <a16:creationId xmlns:a16="http://schemas.microsoft.com/office/drawing/2014/main" id="{92EBA064-6DDC-3256-BAAC-97D3FC7A0295}"/>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187054" y="2133600"/>
            <a:ext cx="5638800" cy="2362200"/>
          </a:xfrm>
          <a:prstGeom prst="rect">
            <a:avLst/>
          </a:prstGeom>
        </p:spPr>
      </p:pic>
      <p:pic>
        <p:nvPicPr>
          <p:cNvPr id="23" name="Picture 22" descr="A screenshot of a computer&#10;&#10;AI-generated content may be incorrect.">
            <a:extLst>
              <a:ext uri="{FF2B5EF4-FFF2-40B4-BE49-F238E27FC236}">
                <a16:creationId xmlns:a16="http://schemas.microsoft.com/office/drawing/2014/main" id="{17746B36-9977-9C55-941F-CFBC75709F4C}"/>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203712" y="4071286"/>
            <a:ext cx="5638800" cy="2362200"/>
          </a:xfrm>
          <a:prstGeom prst="rect">
            <a:avLst/>
          </a:prstGeom>
        </p:spPr>
      </p:pic>
      <p:pic>
        <p:nvPicPr>
          <p:cNvPr id="47" name="Picture 46" descr="A screenshot of a computer&#10;&#10;AI-generated content may be incorrect.">
            <a:extLst>
              <a:ext uri="{FF2B5EF4-FFF2-40B4-BE49-F238E27FC236}">
                <a16:creationId xmlns:a16="http://schemas.microsoft.com/office/drawing/2014/main" id="{B1D90953-04E0-8094-F655-31DEAF1CCABA}"/>
              </a:ext>
            </a:extLst>
          </p:cNvPr>
          <p:cNvPicPr>
            <a:picLocks noChangeAspect="1"/>
          </p:cNvPicPr>
          <p:nvPr/>
        </p:nvPicPr>
        <p:blipFill rotWithShape="1">
          <a:blip r:embed="rId6">
            <a:extLst>
              <a:ext uri="{28A0092B-C50C-407E-A947-70E740481C1C}">
                <a14:useLocalDpi xmlns:a14="http://schemas.microsoft.com/office/drawing/2010/main"/>
              </a:ext>
            </a:extLst>
          </a:blip>
          <a:srcRect/>
          <a:stretch>
            <a:fillRect/>
          </a:stretch>
        </p:blipFill>
        <p:spPr>
          <a:xfrm>
            <a:off x="349490" y="1704975"/>
            <a:ext cx="5638800" cy="3448050"/>
          </a:xfrm>
          <a:prstGeom prst="rect">
            <a:avLst/>
          </a:prstGeom>
        </p:spPr>
      </p:pic>
      <p:pic>
        <p:nvPicPr>
          <p:cNvPr id="49" name="Picture 48" descr="A screenshot of a computer program&#10;&#10;AI-generated content may be incorrect.">
            <a:extLst>
              <a:ext uri="{FF2B5EF4-FFF2-40B4-BE49-F238E27FC236}">
                <a16:creationId xmlns:a16="http://schemas.microsoft.com/office/drawing/2014/main" id="{C0ED346F-A246-D4E5-8574-856562613145}"/>
              </a:ext>
            </a:extLst>
          </p:cNvPr>
          <p:cNvPicPr>
            <a:picLocks noChangeAspect="1"/>
          </p:cNvPicPr>
          <p:nvPr/>
        </p:nvPicPr>
        <p:blipFill rotWithShape="1">
          <a:blip r:embed="rId7">
            <a:extLst>
              <a:ext uri="{28A0092B-C50C-407E-A947-70E740481C1C}">
                <a14:useLocalDpi xmlns:a14="http://schemas.microsoft.com/office/drawing/2010/main"/>
              </a:ext>
            </a:extLst>
          </a:blip>
          <a:srcRect/>
          <a:stretch>
            <a:fillRect/>
          </a:stretch>
        </p:blipFill>
        <p:spPr>
          <a:xfrm>
            <a:off x="349490" y="1704975"/>
            <a:ext cx="5638800" cy="3448050"/>
          </a:xfrm>
          <a:prstGeom prst="rect">
            <a:avLst/>
          </a:prstGeom>
        </p:spPr>
      </p:pic>
      <p:pic>
        <p:nvPicPr>
          <p:cNvPr id="51" name="Picture 50" descr="A screenshot of a computer&#10;&#10;AI-generated content may be incorrect.">
            <a:extLst>
              <a:ext uri="{FF2B5EF4-FFF2-40B4-BE49-F238E27FC236}">
                <a16:creationId xmlns:a16="http://schemas.microsoft.com/office/drawing/2014/main" id="{750AA396-98AB-A0C5-AAAD-E988668D2866}"/>
              </a:ext>
            </a:extLst>
          </p:cNvPr>
          <p:cNvPicPr>
            <a:picLocks noChangeAspect="1"/>
          </p:cNvPicPr>
          <p:nvPr/>
        </p:nvPicPr>
        <p:blipFill rotWithShape="1">
          <a:blip r:embed="rId8">
            <a:extLst>
              <a:ext uri="{28A0092B-C50C-407E-A947-70E740481C1C}">
                <a14:useLocalDpi xmlns:a14="http://schemas.microsoft.com/office/drawing/2010/main"/>
              </a:ext>
            </a:extLst>
          </a:blip>
          <a:srcRect/>
          <a:stretch>
            <a:fillRect/>
          </a:stretch>
        </p:blipFill>
        <p:spPr>
          <a:xfrm>
            <a:off x="6203712" y="132936"/>
            <a:ext cx="5638800" cy="2362200"/>
          </a:xfrm>
          <a:prstGeom prst="rect">
            <a:avLst/>
          </a:prstGeom>
        </p:spPr>
      </p:pic>
      <p:pic>
        <p:nvPicPr>
          <p:cNvPr id="53" name="Picture 52" descr="A screenshot of a computer&#10;&#10;AI-generated content may be incorrect.">
            <a:extLst>
              <a:ext uri="{FF2B5EF4-FFF2-40B4-BE49-F238E27FC236}">
                <a16:creationId xmlns:a16="http://schemas.microsoft.com/office/drawing/2014/main" id="{14B2BFF9-830E-0BA0-76A6-C10F3EF91B8E}"/>
              </a:ext>
            </a:extLst>
          </p:cNvPr>
          <p:cNvPicPr>
            <a:picLocks noChangeAspect="1"/>
          </p:cNvPicPr>
          <p:nvPr/>
        </p:nvPicPr>
        <p:blipFill rotWithShape="1">
          <a:blip r:embed="rId9">
            <a:extLst>
              <a:ext uri="{28A0092B-C50C-407E-A947-70E740481C1C}">
                <a14:useLocalDpi xmlns:a14="http://schemas.microsoft.com/office/drawing/2010/main"/>
              </a:ext>
            </a:extLst>
          </a:blip>
          <a:srcRect/>
          <a:stretch>
            <a:fillRect/>
          </a:stretch>
        </p:blipFill>
        <p:spPr>
          <a:xfrm>
            <a:off x="349490" y="1704975"/>
            <a:ext cx="5638800" cy="3448050"/>
          </a:xfrm>
          <a:prstGeom prst="rect">
            <a:avLst/>
          </a:prstGeom>
        </p:spPr>
      </p:pic>
      <p:pic>
        <p:nvPicPr>
          <p:cNvPr id="55" name="Picture 54" descr="A screenshot of a computer&#10;&#10;AI-generated content may be incorrect.">
            <a:extLst>
              <a:ext uri="{FF2B5EF4-FFF2-40B4-BE49-F238E27FC236}">
                <a16:creationId xmlns:a16="http://schemas.microsoft.com/office/drawing/2014/main" id="{592082AD-1EAF-0108-8FED-74FAB0FA0F55}"/>
              </a:ext>
            </a:extLst>
          </p:cNvPr>
          <p:cNvPicPr>
            <a:picLocks noChangeAspect="1"/>
          </p:cNvPicPr>
          <p:nvPr/>
        </p:nvPicPr>
        <p:blipFill rotWithShape="1">
          <a:blip r:embed="rId10">
            <a:extLst>
              <a:ext uri="{28A0092B-C50C-407E-A947-70E740481C1C}">
                <a14:useLocalDpi xmlns:a14="http://schemas.microsoft.com/office/drawing/2010/main"/>
              </a:ext>
            </a:extLst>
          </a:blip>
          <a:srcRect/>
          <a:stretch>
            <a:fillRect/>
          </a:stretch>
        </p:blipFill>
        <p:spPr>
          <a:xfrm>
            <a:off x="349490" y="1704975"/>
            <a:ext cx="5638800" cy="3448050"/>
          </a:xfrm>
          <a:prstGeom prst="rect">
            <a:avLst/>
          </a:prstGeom>
        </p:spPr>
      </p:pic>
      <p:pic>
        <p:nvPicPr>
          <p:cNvPr id="57" name="Picture 56" descr="A screenshot of a computer&#10;&#10;AI-generated content may be incorrect.">
            <a:extLst>
              <a:ext uri="{FF2B5EF4-FFF2-40B4-BE49-F238E27FC236}">
                <a16:creationId xmlns:a16="http://schemas.microsoft.com/office/drawing/2014/main" id="{DA00EADD-F79F-FD35-7E02-02F2912C212E}"/>
              </a:ext>
            </a:extLst>
          </p:cNvPr>
          <p:cNvPicPr>
            <a:picLocks noChangeAspect="1"/>
          </p:cNvPicPr>
          <p:nvPr/>
        </p:nvPicPr>
        <p:blipFill rotWithShape="1">
          <a:blip r:embed="rId11">
            <a:extLst>
              <a:ext uri="{28A0092B-C50C-407E-A947-70E740481C1C}">
                <a14:useLocalDpi xmlns:a14="http://schemas.microsoft.com/office/drawing/2010/main"/>
              </a:ext>
            </a:extLst>
          </a:blip>
          <a:srcRect/>
          <a:stretch>
            <a:fillRect/>
          </a:stretch>
        </p:blipFill>
        <p:spPr>
          <a:xfrm>
            <a:off x="6187054" y="2133600"/>
            <a:ext cx="5638800" cy="2362200"/>
          </a:xfrm>
          <a:prstGeom prst="rect">
            <a:avLst/>
          </a:prstGeom>
        </p:spPr>
      </p:pic>
      <p:pic>
        <p:nvPicPr>
          <p:cNvPr id="59" name="Picture 58" descr="A screenshot of a computer&#10;&#10;AI-generated content may be incorrect.">
            <a:extLst>
              <a:ext uri="{FF2B5EF4-FFF2-40B4-BE49-F238E27FC236}">
                <a16:creationId xmlns:a16="http://schemas.microsoft.com/office/drawing/2014/main" id="{3E400B33-910B-E35F-01F6-5FDFBE59374C}"/>
              </a:ext>
            </a:extLst>
          </p:cNvPr>
          <p:cNvPicPr>
            <a:picLocks noChangeAspect="1"/>
          </p:cNvPicPr>
          <p:nvPr/>
        </p:nvPicPr>
        <p:blipFill rotWithShape="1">
          <a:blip r:embed="rId12">
            <a:extLst>
              <a:ext uri="{28A0092B-C50C-407E-A947-70E740481C1C}">
                <a14:useLocalDpi xmlns:a14="http://schemas.microsoft.com/office/drawing/2010/main"/>
              </a:ext>
            </a:extLst>
          </a:blip>
          <a:srcRect/>
          <a:stretch>
            <a:fillRect/>
          </a:stretch>
        </p:blipFill>
        <p:spPr>
          <a:xfrm>
            <a:off x="349490" y="1704975"/>
            <a:ext cx="5638800" cy="3448050"/>
          </a:xfrm>
          <a:prstGeom prst="rect">
            <a:avLst/>
          </a:prstGeom>
        </p:spPr>
      </p:pic>
      <p:pic>
        <p:nvPicPr>
          <p:cNvPr id="65" name="Picture 64" descr="A screenshot of a computer&#10;&#10;AI-generated content may be incorrect.">
            <a:extLst>
              <a:ext uri="{FF2B5EF4-FFF2-40B4-BE49-F238E27FC236}">
                <a16:creationId xmlns:a16="http://schemas.microsoft.com/office/drawing/2014/main" id="{A6BA9829-4DFF-732C-7B69-63E77F0278ED}"/>
              </a:ext>
            </a:extLst>
          </p:cNvPr>
          <p:cNvPicPr>
            <a:picLocks noChangeAspect="1"/>
          </p:cNvPicPr>
          <p:nvPr/>
        </p:nvPicPr>
        <p:blipFill rotWithShape="1">
          <a:blip r:embed="rId13">
            <a:extLst>
              <a:ext uri="{28A0092B-C50C-407E-A947-70E740481C1C}">
                <a14:useLocalDpi xmlns:a14="http://schemas.microsoft.com/office/drawing/2010/main"/>
              </a:ext>
            </a:extLst>
          </a:blip>
          <a:srcRect/>
          <a:stretch>
            <a:fillRect/>
          </a:stretch>
        </p:blipFill>
        <p:spPr>
          <a:xfrm>
            <a:off x="349490" y="1704975"/>
            <a:ext cx="5638800" cy="3448050"/>
          </a:xfrm>
          <a:prstGeom prst="rect">
            <a:avLst/>
          </a:prstGeom>
        </p:spPr>
      </p:pic>
      <p:pic>
        <p:nvPicPr>
          <p:cNvPr id="67" name="Picture 66" descr="A screenshot of a computer&#10;&#10;AI-generated content may be incorrect.">
            <a:extLst>
              <a:ext uri="{FF2B5EF4-FFF2-40B4-BE49-F238E27FC236}">
                <a16:creationId xmlns:a16="http://schemas.microsoft.com/office/drawing/2014/main" id="{E26014B7-7DDE-26F0-A396-D6631B2EC8DC}"/>
              </a:ext>
            </a:extLst>
          </p:cNvPr>
          <p:cNvPicPr>
            <a:picLocks noChangeAspect="1"/>
          </p:cNvPicPr>
          <p:nvPr/>
        </p:nvPicPr>
        <p:blipFill rotWithShape="1">
          <a:blip r:embed="rId14">
            <a:extLst>
              <a:ext uri="{28A0092B-C50C-407E-A947-70E740481C1C}">
                <a14:useLocalDpi xmlns:a14="http://schemas.microsoft.com/office/drawing/2010/main"/>
              </a:ext>
            </a:extLst>
          </a:blip>
          <a:srcRect/>
          <a:stretch>
            <a:fillRect/>
          </a:stretch>
        </p:blipFill>
        <p:spPr>
          <a:xfrm>
            <a:off x="6203712" y="4071286"/>
            <a:ext cx="5638800" cy="2362200"/>
          </a:xfrm>
          <a:prstGeom prst="rect">
            <a:avLst/>
          </a:prstGeom>
        </p:spPr>
      </p:pic>
      <p:pic>
        <p:nvPicPr>
          <p:cNvPr id="69" name="Picture 68" descr="A screenshot of a computer&#10;&#10;AI-generated content may be incorrect.">
            <a:extLst>
              <a:ext uri="{FF2B5EF4-FFF2-40B4-BE49-F238E27FC236}">
                <a16:creationId xmlns:a16="http://schemas.microsoft.com/office/drawing/2014/main" id="{4F9DD33D-23FB-F05F-6BEF-EBE39C085001}"/>
              </a:ext>
            </a:extLst>
          </p:cNvPr>
          <p:cNvPicPr>
            <a:picLocks noChangeAspect="1"/>
          </p:cNvPicPr>
          <p:nvPr/>
        </p:nvPicPr>
        <p:blipFill rotWithShape="1">
          <a:blip r:embed="rId15">
            <a:extLst>
              <a:ext uri="{28A0092B-C50C-407E-A947-70E740481C1C}">
                <a14:useLocalDpi xmlns:a14="http://schemas.microsoft.com/office/drawing/2010/main"/>
              </a:ext>
            </a:extLst>
          </a:blip>
          <a:srcRect/>
          <a:stretch>
            <a:fillRect/>
          </a:stretch>
        </p:blipFill>
        <p:spPr>
          <a:xfrm>
            <a:off x="349490" y="1704975"/>
            <a:ext cx="5638800" cy="3448050"/>
          </a:xfrm>
          <a:prstGeom prst="rect">
            <a:avLst/>
          </a:prstGeom>
        </p:spPr>
      </p:pic>
      <p:pic>
        <p:nvPicPr>
          <p:cNvPr id="71" name="Picture 70" descr="A screenshot of a computer&#10;&#10;AI-generated content may be incorrect.">
            <a:extLst>
              <a:ext uri="{FF2B5EF4-FFF2-40B4-BE49-F238E27FC236}">
                <a16:creationId xmlns:a16="http://schemas.microsoft.com/office/drawing/2014/main" id="{B279AFB6-F758-8EC9-1F4F-CEAA261D5A01}"/>
              </a:ext>
            </a:extLst>
          </p:cNvPr>
          <p:cNvPicPr>
            <a:picLocks noChangeAspect="1"/>
          </p:cNvPicPr>
          <p:nvPr/>
        </p:nvPicPr>
        <p:blipFill rotWithShape="1">
          <a:blip r:embed="rId16">
            <a:extLst>
              <a:ext uri="{28A0092B-C50C-407E-A947-70E740481C1C}">
                <a14:useLocalDpi xmlns:a14="http://schemas.microsoft.com/office/drawing/2010/main"/>
              </a:ext>
            </a:extLst>
          </a:blip>
          <a:srcRect/>
          <a:stretch>
            <a:fillRect/>
          </a:stretch>
        </p:blipFill>
        <p:spPr>
          <a:xfrm>
            <a:off x="349490" y="1704975"/>
            <a:ext cx="5638800" cy="3448050"/>
          </a:xfrm>
          <a:prstGeom prst="rect">
            <a:avLst/>
          </a:prstGeom>
        </p:spPr>
      </p:pic>
    </p:spTree>
    <p:extLst>
      <p:ext uri="{BB962C8B-B14F-4D97-AF65-F5344CB8AC3E}">
        <p14:creationId xmlns:p14="http://schemas.microsoft.com/office/powerpoint/2010/main" val="3484808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wipe(up)">
                                      <p:cBhvr>
                                        <p:cTn id="21" dur="5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wipe(up)">
                                      <p:cBhvr>
                                        <p:cTn id="26" dur="500"/>
                                        <p:tgtEl>
                                          <p:spTgt spid="4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wipe(up)">
                                      <p:cBhvr>
                                        <p:cTn id="31" dur="500"/>
                                        <p:tgtEl>
                                          <p:spTgt spid="5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wipe(up)">
                                      <p:cBhvr>
                                        <p:cTn id="36" dur="500"/>
                                        <p:tgtEl>
                                          <p:spTgt spid="5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55"/>
                                        </p:tgtEl>
                                        <p:attrNameLst>
                                          <p:attrName>style.visibility</p:attrName>
                                        </p:attrNameLst>
                                      </p:cBhvr>
                                      <p:to>
                                        <p:strVal val="visible"/>
                                      </p:to>
                                    </p:set>
                                    <p:animEffect transition="in" filter="wipe(up)">
                                      <p:cBhvr>
                                        <p:cTn id="41" dur="500"/>
                                        <p:tgtEl>
                                          <p:spTgt spid="5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wipe(up)">
                                      <p:cBhvr>
                                        <p:cTn id="46" dur="500"/>
                                        <p:tgtEl>
                                          <p:spTgt spid="5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59"/>
                                        </p:tgtEl>
                                        <p:attrNameLst>
                                          <p:attrName>style.visibility</p:attrName>
                                        </p:attrNameLst>
                                      </p:cBhvr>
                                      <p:to>
                                        <p:strVal val="visible"/>
                                      </p:to>
                                    </p:set>
                                    <p:animEffect transition="in" filter="wipe(up)">
                                      <p:cBhvr>
                                        <p:cTn id="51" dur="500"/>
                                        <p:tgtEl>
                                          <p:spTgt spid="5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65"/>
                                        </p:tgtEl>
                                        <p:attrNameLst>
                                          <p:attrName>style.visibility</p:attrName>
                                        </p:attrNameLst>
                                      </p:cBhvr>
                                      <p:to>
                                        <p:strVal val="visible"/>
                                      </p:to>
                                    </p:set>
                                    <p:animEffect transition="in" filter="wipe(up)">
                                      <p:cBhvr>
                                        <p:cTn id="56" dur="500"/>
                                        <p:tgtEl>
                                          <p:spTgt spid="6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67"/>
                                        </p:tgtEl>
                                        <p:attrNameLst>
                                          <p:attrName>style.visibility</p:attrName>
                                        </p:attrNameLst>
                                      </p:cBhvr>
                                      <p:to>
                                        <p:strVal val="visible"/>
                                      </p:to>
                                    </p:set>
                                    <p:animEffect transition="in" filter="wipe(up)">
                                      <p:cBhvr>
                                        <p:cTn id="61" dur="500"/>
                                        <p:tgtEl>
                                          <p:spTgt spid="6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69"/>
                                        </p:tgtEl>
                                        <p:attrNameLst>
                                          <p:attrName>style.visibility</p:attrName>
                                        </p:attrNameLst>
                                      </p:cBhvr>
                                      <p:to>
                                        <p:strVal val="visible"/>
                                      </p:to>
                                    </p:set>
                                    <p:animEffect transition="in" filter="wipe(up)">
                                      <p:cBhvr>
                                        <p:cTn id="66" dur="500"/>
                                        <p:tgtEl>
                                          <p:spTgt spid="6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71"/>
                                        </p:tgtEl>
                                        <p:attrNameLst>
                                          <p:attrName>style.visibility</p:attrName>
                                        </p:attrNameLst>
                                      </p:cBhvr>
                                      <p:to>
                                        <p:strVal val="visible"/>
                                      </p:to>
                                    </p:set>
                                    <p:animEffect transition="in" filter="wipe(up)">
                                      <p:cBhvr>
                                        <p:cTn id="71"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2B30F-C092-652F-B058-A89B690C6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BE268-1A39-2678-810F-EEE03B6FAD01}"/>
              </a:ext>
            </a:extLst>
          </p:cNvPr>
          <p:cNvSpPr>
            <a:spLocks noGrp="1"/>
          </p:cNvSpPr>
          <p:nvPr>
            <p:ph type="title"/>
          </p:nvPr>
        </p:nvSpPr>
        <p:spPr/>
        <p:txBody>
          <a:bodyPr/>
          <a:lstStyle/>
          <a:p>
            <a:r>
              <a:rPr lang="en-US" dirty="0"/>
              <a:t>Key Points to Remember</a:t>
            </a:r>
          </a:p>
        </p:txBody>
      </p:sp>
      <p:sp>
        <p:nvSpPr>
          <p:cNvPr id="4" name="Rectangle: Rounded Corners 3">
            <a:extLst>
              <a:ext uri="{FF2B5EF4-FFF2-40B4-BE49-F238E27FC236}">
                <a16:creationId xmlns:a16="http://schemas.microsoft.com/office/drawing/2014/main" id="{DA463C30-BBEA-986A-B317-FF6F35C1B702}"/>
              </a:ext>
            </a:extLst>
          </p:cNvPr>
          <p:cNvSpPr/>
          <p:nvPr/>
        </p:nvSpPr>
        <p:spPr>
          <a:xfrm>
            <a:off x="928688" y="1975602"/>
            <a:ext cx="4514849" cy="1097281"/>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Define Compensating Actions</a:t>
            </a:r>
          </a:p>
        </p:txBody>
      </p:sp>
      <p:sp>
        <p:nvSpPr>
          <p:cNvPr id="5" name="Rectangle: Rounded Corners 4">
            <a:extLst>
              <a:ext uri="{FF2B5EF4-FFF2-40B4-BE49-F238E27FC236}">
                <a16:creationId xmlns:a16="http://schemas.microsoft.com/office/drawing/2014/main" id="{787D6024-C19C-6A77-0E18-4C9C674D05FF}"/>
              </a:ext>
            </a:extLst>
          </p:cNvPr>
          <p:cNvSpPr/>
          <p:nvPr/>
        </p:nvSpPr>
        <p:spPr>
          <a:xfrm>
            <a:off x="6565900" y="1975602"/>
            <a:ext cx="4514849" cy="1097281"/>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Coordinate Steps</a:t>
            </a:r>
          </a:p>
        </p:txBody>
      </p:sp>
      <p:sp>
        <p:nvSpPr>
          <p:cNvPr id="6" name="Rectangle: Rounded Corners 5">
            <a:extLst>
              <a:ext uri="{FF2B5EF4-FFF2-40B4-BE49-F238E27FC236}">
                <a16:creationId xmlns:a16="http://schemas.microsoft.com/office/drawing/2014/main" id="{FAEEE532-41DB-7835-7018-EAECA8C65CE2}"/>
              </a:ext>
            </a:extLst>
          </p:cNvPr>
          <p:cNvSpPr/>
          <p:nvPr/>
        </p:nvSpPr>
        <p:spPr>
          <a:xfrm>
            <a:off x="927100" y="3991609"/>
            <a:ext cx="4514849" cy="1097281"/>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Track State</a:t>
            </a:r>
          </a:p>
        </p:txBody>
      </p:sp>
      <p:sp>
        <p:nvSpPr>
          <p:cNvPr id="7" name="Rectangle: Rounded Corners 6">
            <a:extLst>
              <a:ext uri="{FF2B5EF4-FFF2-40B4-BE49-F238E27FC236}">
                <a16:creationId xmlns:a16="http://schemas.microsoft.com/office/drawing/2014/main" id="{8CD11AD9-7D2E-6B5C-5FBF-86368F178A19}"/>
              </a:ext>
            </a:extLst>
          </p:cNvPr>
          <p:cNvSpPr/>
          <p:nvPr/>
        </p:nvSpPr>
        <p:spPr>
          <a:xfrm>
            <a:off x="6565900" y="3940610"/>
            <a:ext cx="4514849" cy="1097281"/>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Handle Failures Gracefully</a:t>
            </a:r>
          </a:p>
        </p:txBody>
      </p:sp>
    </p:spTree>
    <p:extLst>
      <p:ext uri="{BB962C8B-B14F-4D97-AF65-F5344CB8AC3E}">
        <p14:creationId xmlns:p14="http://schemas.microsoft.com/office/powerpoint/2010/main" val="242528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58676-9903-3CF3-F567-1EA0C6BFFF8E}"/>
              </a:ext>
            </a:extLst>
          </p:cNvPr>
          <p:cNvSpPr>
            <a:spLocks noGrp="1"/>
          </p:cNvSpPr>
          <p:nvPr>
            <p:ph type="title"/>
          </p:nvPr>
        </p:nvSpPr>
        <p:spPr/>
        <p:txBody>
          <a:bodyPr/>
          <a:lstStyle/>
          <a:p>
            <a:r>
              <a:rPr lang="en-US" dirty="0"/>
              <a:t>Resilience &amp; Reliability</a:t>
            </a:r>
          </a:p>
        </p:txBody>
      </p:sp>
      <p:sp>
        <p:nvSpPr>
          <p:cNvPr id="3" name="Text Placeholder 2">
            <a:extLst>
              <a:ext uri="{FF2B5EF4-FFF2-40B4-BE49-F238E27FC236}">
                <a16:creationId xmlns:a16="http://schemas.microsoft.com/office/drawing/2014/main" id="{25E824F6-4BB8-CE8E-C1FB-4949189CF4C1}"/>
              </a:ext>
            </a:extLst>
          </p:cNvPr>
          <p:cNvSpPr>
            <a:spLocks noGrp="1"/>
          </p:cNvSpPr>
          <p:nvPr>
            <p:ph type="body" sz="quarter" idx="10"/>
          </p:nvPr>
        </p:nvSpPr>
        <p:spPr/>
        <p:txBody>
          <a:bodyPr/>
          <a:lstStyle/>
          <a:p>
            <a:r>
              <a:rPr lang="en-US" dirty="0"/>
              <a:t>Pattern 3: Sequence Convoy</a:t>
            </a:r>
          </a:p>
        </p:txBody>
      </p:sp>
    </p:spTree>
    <p:extLst>
      <p:ext uri="{BB962C8B-B14F-4D97-AF65-F5344CB8AC3E}">
        <p14:creationId xmlns:p14="http://schemas.microsoft.com/office/powerpoint/2010/main" val="4182431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truck on a road&#10;&#10;AI-generated content may be incorrect.">
            <a:extLst>
              <a:ext uri="{FF2B5EF4-FFF2-40B4-BE49-F238E27FC236}">
                <a16:creationId xmlns:a16="http://schemas.microsoft.com/office/drawing/2014/main" id="{74CEDBBF-919D-C609-0CC9-C23F493D636E}"/>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rcRect/>
          <a:stretch>
            <a:fillRect/>
          </a:stretch>
        </p:blipFill>
        <p:spPr>
          <a:xfrm>
            <a:off x="546100" y="1825625"/>
            <a:ext cx="11099800" cy="4389120"/>
          </a:xfrm>
          <a:noFill/>
        </p:spPr>
      </p:pic>
      <p:sp>
        <p:nvSpPr>
          <p:cNvPr id="3" name="Title 2">
            <a:extLst>
              <a:ext uri="{FF2B5EF4-FFF2-40B4-BE49-F238E27FC236}">
                <a16:creationId xmlns:a16="http://schemas.microsoft.com/office/drawing/2014/main" id="{2433257B-A820-B86C-C6D7-FB726E2B5D49}"/>
              </a:ext>
            </a:extLst>
          </p:cNvPr>
          <p:cNvSpPr>
            <a:spLocks noGrp="1"/>
          </p:cNvSpPr>
          <p:nvPr>
            <p:ph type="title"/>
          </p:nvPr>
        </p:nvSpPr>
        <p:spPr>
          <a:xfrm>
            <a:off x="546100" y="457200"/>
            <a:ext cx="11099800" cy="1097280"/>
          </a:xfrm>
        </p:spPr>
        <p:txBody>
          <a:bodyPr anchor="ctr">
            <a:normAutofit/>
          </a:bodyPr>
          <a:lstStyle/>
          <a:p>
            <a:r>
              <a:rPr lang="en-US" dirty="0"/>
              <a:t>Looks like we have a convoy!</a:t>
            </a:r>
          </a:p>
        </p:txBody>
      </p:sp>
    </p:spTree>
    <p:extLst>
      <p:ext uri="{BB962C8B-B14F-4D97-AF65-F5344CB8AC3E}">
        <p14:creationId xmlns:p14="http://schemas.microsoft.com/office/powerpoint/2010/main" val="18547290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6BEAA-F762-B0CA-26C5-6D437B49A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E4DEC-DEA6-AB88-2359-4F312D736400}"/>
              </a:ext>
            </a:extLst>
          </p:cNvPr>
          <p:cNvSpPr>
            <a:spLocks noGrp="1"/>
          </p:cNvSpPr>
          <p:nvPr>
            <p:ph type="title"/>
          </p:nvPr>
        </p:nvSpPr>
        <p:spPr/>
        <p:txBody>
          <a:bodyPr>
            <a:normAutofit fontScale="90000"/>
          </a:bodyPr>
          <a:lstStyle/>
          <a:p>
            <a:r>
              <a:rPr lang="en-US" dirty="0"/>
              <a:t>What is the Sequence Convoy Pattern</a:t>
            </a:r>
          </a:p>
        </p:txBody>
      </p:sp>
      <p:sp>
        <p:nvSpPr>
          <p:cNvPr id="3" name="Primary Context Box">
            <a:extLst>
              <a:ext uri="{FF2B5EF4-FFF2-40B4-BE49-F238E27FC236}">
                <a16:creationId xmlns:a16="http://schemas.microsoft.com/office/drawing/2014/main" id="{156E3180-9F67-9E28-647A-48E06C50906F}"/>
              </a:ext>
            </a:extLst>
          </p:cNvPr>
          <p:cNvSpPr/>
          <p:nvPr/>
        </p:nvSpPr>
        <p:spPr>
          <a:xfrm>
            <a:off x="1178332" y="2498725"/>
            <a:ext cx="4553977" cy="185896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Ensures that related messages are processed in order</a:t>
            </a:r>
          </a:p>
        </p:txBody>
      </p:sp>
      <p:sp>
        <p:nvSpPr>
          <p:cNvPr id="4" name="Secondary Content Box">
            <a:extLst>
              <a:ext uri="{FF2B5EF4-FFF2-40B4-BE49-F238E27FC236}">
                <a16:creationId xmlns:a16="http://schemas.microsoft.com/office/drawing/2014/main" id="{981108F6-3F58-010E-C9C5-6843D70E06B0}"/>
              </a:ext>
            </a:extLst>
          </p:cNvPr>
          <p:cNvSpPr/>
          <p:nvPr/>
        </p:nvSpPr>
        <p:spPr>
          <a:xfrm>
            <a:off x="6459690" y="2498724"/>
            <a:ext cx="4515485" cy="1858963"/>
          </a:xfrm>
          <a:prstGeom prst="roundRect">
            <a:avLst>
              <a:gd name="adj" fmla="val 16667"/>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Enforce message ordering</a:t>
            </a:r>
          </a:p>
        </p:txBody>
      </p:sp>
    </p:spTree>
    <p:extLst>
      <p:ext uri="{BB962C8B-B14F-4D97-AF65-F5344CB8AC3E}">
        <p14:creationId xmlns:p14="http://schemas.microsoft.com/office/powerpoint/2010/main" val="3980084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D0352-3E07-B2CB-BA10-063ED2301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8CA386-7841-6801-C6CD-741102269C61}"/>
              </a:ext>
            </a:extLst>
          </p:cNvPr>
          <p:cNvSpPr>
            <a:spLocks noGrp="1"/>
          </p:cNvSpPr>
          <p:nvPr>
            <p:ph type="title"/>
          </p:nvPr>
        </p:nvSpPr>
        <p:spPr/>
        <p:txBody>
          <a:bodyPr/>
          <a:lstStyle/>
          <a:p>
            <a:r>
              <a:rPr lang="en-US" dirty="0"/>
              <a:t>Key Components &amp; Flow</a:t>
            </a:r>
          </a:p>
        </p:txBody>
      </p:sp>
      <p:sp>
        <p:nvSpPr>
          <p:cNvPr id="104" name="Rectangle: Rounded Corners 103">
            <a:extLst>
              <a:ext uri="{FF2B5EF4-FFF2-40B4-BE49-F238E27FC236}">
                <a16:creationId xmlns:a16="http://schemas.microsoft.com/office/drawing/2014/main" id="{9F94264B-9519-5A9C-73B0-E446D48CE6A6}"/>
              </a:ext>
            </a:extLst>
          </p:cNvPr>
          <p:cNvSpPr/>
          <p:nvPr/>
        </p:nvSpPr>
        <p:spPr>
          <a:xfrm>
            <a:off x="547688" y="251687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Message Queue</a:t>
            </a:r>
          </a:p>
        </p:txBody>
      </p:sp>
      <p:sp>
        <p:nvSpPr>
          <p:cNvPr id="105" name="Rectangle: Rounded Corners 104">
            <a:extLst>
              <a:ext uri="{FF2B5EF4-FFF2-40B4-BE49-F238E27FC236}">
                <a16:creationId xmlns:a16="http://schemas.microsoft.com/office/drawing/2014/main" id="{40E9A68D-10AD-FC90-3D18-F2A8060D528D}"/>
              </a:ext>
            </a:extLst>
          </p:cNvPr>
          <p:cNvSpPr/>
          <p:nvPr/>
        </p:nvSpPr>
        <p:spPr>
          <a:xfrm>
            <a:off x="4307681" y="251687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Order Key</a:t>
            </a:r>
          </a:p>
        </p:txBody>
      </p:sp>
      <p:sp>
        <p:nvSpPr>
          <p:cNvPr id="106" name="Rectangle: Rounded Corners 105">
            <a:extLst>
              <a:ext uri="{FF2B5EF4-FFF2-40B4-BE49-F238E27FC236}">
                <a16:creationId xmlns:a16="http://schemas.microsoft.com/office/drawing/2014/main" id="{7A6B6F07-0F1F-5003-8303-CE5CE83A5758}"/>
              </a:ext>
            </a:extLst>
          </p:cNvPr>
          <p:cNvSpPr/>
          <p:nvPr/>
        </p:nvSpPr>
        <p:spPr>
          <a:xfrm>
            <a:off x="8067675" y="251471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Sequential Processor</a:t>
            </a:r>
          </a:p>
        </p:txBody>
      </p:sp>
    </p:spTree>
    <p:extLst>
      <p:ext uri="{BB962C8B-B14F-4D97-AF65-F5344CB8AC3E}">
        <p14:creationId xmlns:p14="http://schemas.microsoft.com/office/powerpoint/2010/main" val="35682537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B7ACC-8311-453F-919A-60DBBCFE9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72D3CC-866F-C06E-8020-BFBB7F43FDC1}"/>
              </a:ext>
            </a:extLst>
          </p:cNvPr>
          <p:cNvSpPr>
            <a:spLocks noGrp="1"/>
          </p:cNvSpPr>
          <p:nvPr>
            <p:ph type="title"/>
          </p:nvPr>
        </p:nvSpPr>
        <p:spPr/>
        <p:txBody>
          <a:bodyPr/>
          <a:lstStyle/>
          <a:p>
            <a:r>
              <a:rPr lang="en-US" dirty="0"/>
              <a:t>Key Components &amp; Flow</a:t>
            </a:r>
          </a:p>
        </p:txBody>
      </p:sp>
      <p:sp>
        <p:nvSpPr>
          <p:cNvPr id="104" name="Rectangle: Rounded Corners 103">
            <a:extLst>
              <a:ext uri="{FF2B5EF4-FFF2-40B4-BE49-F238E27FC236}">
                <a16:creationId xmlns:a16="http://schemas.microsoft.com/office/drawing/2014/main" id="{E1F4074A-3E9C-5397-E114-FE0AC53F0C15}"/>
              </a:ext>
            </a:extLst>
          </p:cNvPr>
          <p:cNvSpPr/>
          <p:nvPr/>
        </p:nvSpPr>
        <p:spPr>
          <a:xfrm>
            <a:off x="547688" y="1893841"/>
            <a:ext cx="26368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Message Queue</a:t>
            </a:r>
          </a:p>
        </p:txBody>
      </p:sp>
      <p:sp>
        <p:nvSpPr>
          <p:cNvPr id="105" name="Rectangle: Rounded Corners 104">
            <a:extLst>
              <a:ext uri="{FF2B5EF4-FFF2-40B4-BE49-F238E27FC236}">
                <a16:creationId xmlns:a16="http://schemas.microsoft.com/office/drawing/2014/main" id="{E5C634AC-DF1C-3CCA-44E1-C107B96F1771}"/>
              </a:ext>
            </a:extLst>
          </p:cNvPr>
          <p:cNvSpPr/>
          <p:nvPr/>
        </p:nvSpPr>
        <p:spPr>
          <a:xfrm>
            <a:off x="536431" y="2922651"/>
            <a:ext cx="26368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Order Key</a:t>
            </a:r>
          </a:p>
        </p:txBody>
      </p:sp>
      <p:sp>
        <p:nvSpPr>
          <p:cNvPr id="106" name="Rectangle: Rounded Corners 105">
            <a:extLst>
              <a:ext uri="{FF2B5EF4-FFF2-40B4-BE49-F238E27FC236}">
                <a16:creationId xmlns:a16="http://schemas.microsoft.com/office/drawing/2014/main" id="{547465E5-E8BB-C04C-3F26-7F845C8985A5}"/>
              </a:ext>
            </a:extLst>
          </p:cNvPr>
          <p:cNvSpPr/>
          <p:nvPr/>
        </p:nvSpPr>
        <p:spPr>
          <a:xfrm>
            <a:off x="546100" y="3943414"/>
            <a:ext cx="26368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Sequential Processor</a:t>
            </a:r>
          </a:p>
        </p:txBody>
      </p:sp>
      <p:sp>
        <p:nvSpPr>
          <p:cNvPr id="6" name="Oval 5">
            <a:extLst>
              <a:ext uri="{FF2B5EF4-FFF2-40B4-BE49-F238E27FC236}">
                <a16:creationId xmlns:a16="http://schemas.microsoft.com/office/drawing/2014/main" id="{9C649F3B-F129-225D-2EE6-B0072E017061}"/>
              </a:ext>
            </a:extLst>
          </p:cNvPr>
          <p:cNvSpPr/>
          <p:nvPr/>
        </p:nvSpPr>
        <p:spPr>
          <a:xfrm>
            <a:off x="9811503" y="3085505"/>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7" name="Oval 6">
            <a:extLst>
              <a:ext uri="{FF2B5EF4-FFF2-40B4-BE49-F238E27FC236}">
                <a16:creationId xmlns:a16="http://schemas.microsoft.com/office/drawing/2014/main" id="{90DC31AE-789D-165D-5840-6818FB187357}"/>
              </a:ext>
            </a:extLst>
          </p:cNvPr>
          <p:cNvSpPr/>
          <p:nvPr/>
        </p:nvSpPr>
        <p:spPr>
          <a:xfrm>
            <a:off x="3891655" y="308550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8" name="Rectangle: Rounded Corners 7">
            <a:extLst>
              <a:ext uri="{FF2B5EF4-FFF2-40B4-BE49-F238E27FC236}">
                <a16:creationId xmlns:a16="http://schemas.microsoft.com/office/drawing/2014/main" id="{248059E7-8A24-8FF5-67DA-4E9C0F93D5D2}"/>
              </a:ext>
            </a:extLst>
          </p:cNvPr>
          <p:cNvSpPr/>
          <p:nvPr/>
        </p:nvSpPr>
        <p:spPr>
          <a:xfrm>
            <a:off x="5444444" y="2766217"/>
            <a:ext cx="3543895" cy="132556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grpSp>
        <p:nvGrpSpPr>
          <p:cNvPr id="9" name="Group 8">
            <a:extLst>
              <a:ext uri="{FF2B5EF4-FFF2-40B4-BE49-F238E27FC236}">
                <a16:creationId xmlns:a16="http://schemas.microsoft.com/office/drawing/2014/main" id="{E6EE01C9-B1CB-D8DD-F428-39C89C6E2436}"/>
              </a:ext>
            </a:extLst>
          </p:cNvPr>
          <p:cNvGrpSpPr/>
          <p:nvPr/>
        </p:nvGrpSpPr>
        <p:grpSpPr>
          <a:xfrm>
            <a:off x="3988607" y="3166882"/>
            <a:ext cx="535720" cy="457717"/>
            <a:chOff x="10960244" y="592125"/>
            <a:chExt cx="535720" cy="457717"/>
          </a:xfrm>
        </p:grpSpPr>
        <p:pic>
          <p:nvPicPr>
            <p:cNvPr id="10" name="Picture 9" descr="Free Envelope Clipart Black And White, Download Free Envelope Clipart Black  And White png images, Free ClipArts on Clipart Library">
              <a:extLst>
                <a:ext uri="{FF2B5EF4-FFF2-40B4-BE49-F238E27FC236}">
                  <a16:creationId xmlns:a16="http://schemas.microsoft.com/office/drawing/2014/main" id="{380FD370-AED9-23F5-7234-152C59E4B73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CA2787C-D6F2-3F11-A85A-9950C325AE35}"/>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12" name="Group 11">
            <a:extLst>
              <a:ext uri="{FF2B5EF4-FFF2-40B4-BE49-F238E27FC236}">
                <a16:creationId xmlns:a16="http://schemas.microsoft.com/office/drawing/2014/main" id="{F9886DB2-BCE9-6806-76AD-7F70FDA288F8}"/>
              </a:ext>
            </a:extLst>
          </p:cNvPr>
          <p:cNvGrpSpPr/>
          <p:nvPr/>
        </p:nvGrpSpPr>
        <p:grpSpPr>
          <a:xfrm>
            <a:off x="8209424" y="2780872"/>
            <a:ext cx="535720" cy="457717"/>
            <a:chOff x="10960244" y="592125"/>
            <a:chExt cx="535720" cy="457717"/>
          </a:xfrm>
        </p:grpSpPr>
        <p:pic>
          <p:nvPicPr>
            <p:cNvPr id="13" name="Picture 12" descr="Free Envelope Clipart Black And White, Download Free Envelope Clipart Black  And White png images, Free ClipArts on Clipart Library">
              <a:extLst>
                <a:ext uri="{FF2B5EF4-FFF2-40B4-BE49-F238E27FC236}">
                  <a16:creationId xmlns:a16="http://schemas.microsoft.com/office/drawing/2014/main" id="{7E83574B-5186-8191-2085-2787BDF3119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23DCB8E-770D-EDCB-759D-422C3FE96661}"/>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15" name="Group 14">
            <a:extLst>
              <a:ext uri="{FF2B5EF4-FFF2-40B4-BE49-F238E27FC236}">
                <a16:creationId xmlns:a16="http://schemas.microsoft.com/office/drawing/2014/main" id="{0E372EB5-9C1A-6065-43BC-E694E6C74449}"/>
              </a:ext>
            </a:extLst>
          </p:cNvPr>
          <p:cNvGrpSpPr/>
          <p:nvPr/>
        </p:nvGrpSpPr>
        <p:grpSpPr>
          <a:xfrm>
            <a:off x="9908455" y="3150204"/>
            <a:ext cx="535720" cy="457717"/>
            <a:chOff x="10960244" y="592125"/>
            <a:chExt cx="535720" cy="457717"/>
          </a:xfrm>
        </p:grpSpPr>
        <p:pic>
          <p:nvPicPr>
            <p:cNvPr id="16" name="Picture 15" descr="Free Envelope Clipart Black And White, Download Free Envelope Clipart Black  And White png images, Free ClipArts on Clipart Library">
              <a:extLst>
                <a:ext uri="{FF2B5EF4-FFF2-40B4-BE49-F238E27FC236}">
                  <a16:creationId xmlns:a16="http://schemas.microsoft.com/office/drawing/2014/main" id="{CE72B874-4571-8C16-AD75-B3CA918CBD4B}"/>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379117B0-C847-4856-9378-BB31567228ED}"/>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30" name="Group 29">
            <a:extLst>
              <a:ext uri="{FF2B5EF4-FFF2-40B4-BE49-F238E27FC236}">
                <a16:creationId xmlns:a16="http://schemas.microsoft.com/office/drawing/2014/main" id="{F12940E5-619A-3FA5-5C8C-DC3EA0FCB740}"/>
              </a:ext>
            </a:extLst>
          </p:cNvPr>
          <p:cNvGrpSpPr/>
          <p:nvPr/>
        </p:nvGrpSpPr>
        <p:grpSpPr>
          <a:xfrm>
            <a:off x="8205812" y="3354659"/>
            <a:ext cx="535720" cy="457717"/>
            <a:chOff x="10960244" y="592125"/>
            <a:chExt cx="535720" cy="457717"/>
          </a:xfrm>
        </p:grpSpPr>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B48CFD04-E38B-3B53-FBB4-F6927C9EEC51}"/>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D0C9EFC1-B99B-63EA-8281-1732E7539C53}"/>
                </a:ext>
              </a:extLst>
            </p:cNvPr>
            <p:cNvSpPr txBox="1"/>
            <p:nvPr/>
          </p:nvSpPr>
          <p:spPr>
            <a:xfrm>
              <a:off x="11069246" y="592125"/>
              <a:ext cx="317716" cy="369332"/>
            </a:xfrm>
            <a:prstGeom prst="rect">
              <a:avLst/>
            </a:prstGeom>
            <a:noFill/>
          </p:spPr>
          <p:txBody>
            <a:bodyPr wrap="none" rtlCol="0">
              <a:spAutoFit/>
            </a:bodyPr>
            <a:lstStyle/>
            <a:p>
              <a:r>
                <a:rPr lang="en-US" dirty="0"/>
                <a:t>B</a:t>
              </a:r>
            </a:p>
          </p:txBody>
        </p:sp>
      </p:grpSp>
      <p:grpSp>
        <p:nvGrpSpPr>
          <p:cNvPr id="33" name="Group 32">
            <a:extLst>
              <a:ext uri="{FF2B5EF4-FFF2-40B4-BE49-F238E27FC236}">
                <a16:creationId xmlns:a16="http://schemas.microsoft.com/office/drawing/2014/main" id="{378CE91F-5F78-93C4-5123-D07552F63805}"/>
              </a:ext>
            </a:extLst>
          </p:cNvPr>
          <p:cNvGrpSpPr/>
          <p:nvPr/>
        </p:nvGrpSpPr>
        <p:grpSpPr>
          <a:xfrm>
            <a:off x="3988607" y="3167005"/>
            <a:ext cx="535720" cy="457717"/>
            <a:chOff x="10960244" y="592125"/>
            <a:chExt cx="535720" cy="457717"/>
          </a:xfrm>
        </p:grpSpPr>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AFDAC413-1B52-3602-7A43-191D52F84D24}"/>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698A7057-389A-2DF2-9EEC-C03EB739ACE7}"/>
                </a:ext>
              </a:extLst>
            </p:cNvPr>
            <p:cNvSpPr txBox="1"/>
            <p:nvPr/>
          </p:nvSpPr>
          <p:spPr>
            <a:xfrm>
              <a:off x="11069246" y="592125"/>
              <a:ext cx="317716" cy="369332"/>
            </a:xfrm>
            <a:prstGeom prst="rect">
              <a:avLst/>
            </a:prstGeom>
            <a:noFill/>
          </p:spPr>
          <p:txBody>
            <a:bodyPr wrap="none" rtlCol="0">
              <a:spAutoFit/>
            </a:bodyPr>
            <a:lstStyle/>
            <a:p>
              <a:r>
                <a:rPr lang="en-US" dirty="0"/>
                <a:t>B</a:t>
              </a:r>
            </a:p>
          </p:txBody>
        </p:sp>
      </p:grpSp>
      <p:grpSp>
        <p:nvGrpSpPr>
          <p:cNvPr id="36" name="Group 35">
            <a:extLst>
              <a:ext uri="{FF2B5EF4-FFF2-40B4-BE49-F238E27FC236}">
                <a16:creationId xmlns:a16="http://schemas.microsoft.com/office/drawing/2014/main" id="{50B8137E-E2A5-E9AE-00C0-C0FBFC88DBFF}"/>
              </a:ext>
            </a:extLst>
          </p:cNvPr>
          <p:cNvGrpSpPr/>
          <p:nvPr/>
        </p:nvGrpSpPr>
        <p:grpSpPr>
          <a:xfrm>
            <a:off x="3995605" y="3159800"/>
            <a:ext cx="535720" cy="457717"/>
            <a:chOff x="10960244" y="592125"/>
            <a:chExt cx="535720" cy="457717"/>
          </a:xfrm>
        </p:grpSpPr>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DBB5F66F-A1BB-D3E2-4F06-DBADA0579A08}"/>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462AED9D-9E38-54B4-FA7E-2D9EB850D1E6}"/>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39" name="Group 38">
            <a:extLst>
              <a:ext uri="{FF2B5EF4-FFF2-40B4-BE49-F238E27FC236}">
                <a16:creationId xmlns:a16="http://schemas.microsoft.com/office/drawing/2014/main" id="{B1F0F194-202D-54BB-AFF0-CD4ADDB7746A}"/>
              </a:ext>
            </a:extLst>
          </p:cNvPr>
          <p:cNvGrpSpPr/>
          <p:nvPr/>
        </p:nvGrpSpPr>
        <p:grpSpPr>
          <a:xfrm>
            <a:off x="8216597" y="2778372"/>
            <a:ext cx="535720" cy="457717"/>
            <a:chOff x="10960244" y="592125"/>
            <a:chExt cx="535720" cy="457717"/>
          </a:xfrm>
        </p:grpSpPr>
        <p:pic>
          <p:nvPicPr>
            <p:cNvPr id="66" name="Picture 65" descr="Free Envelope Clipart Black And White, Download Free Envelope Clipart Black  And White png images, Free ClipArts on Clipart Library">
              <a:extLst>
                <a:ext uri="{FF2B5EF4-FFF2-40B4-BE49-F238E27FC236}">
                  <a16:creationId xmlns:a16="http://schemas.microsoft.com/office/drawing/2014/main" id="{E21AA59E-CEF6-FA3D-DFAD-7A59BB592FC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67" name="TextBox 66">
              <a:extLst>
                <a:ext uri="{FF2B5EF4-FFF2-40B4-BE49-F238E27FC236}">
                  <a16:creationId xmlns:a16="http://schemas.microsoft.com/office/drawing/2014/main" id="{F4741F72-8001-8C3E-EDB8-3AE1746ED103}"/>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68" name="Group 67">
            <a:extLst>
              <a:ext uri="{FF2B5EF4-FFF2-40B4-BE49-F238E27FC236}">
                <a16:creationId xmlns:a16="http://schemas.microsoft.com/office/drawing/2014/main" id="{BF2209BA-5BBC-90AB-0AFD-7D707CCC59ED}"/>
              </a:ext>
            </a:extLst>
          </p:cNvPr>
          <p:cNvGrpSpPr/>
          <p:nvPr/>
        </p:nvGrpSpPr>
        <p:grpSpPr>
          <a:xfrm>
            <a:off x="9908455" y="3166882"/>
            <a:ext cx="535720" cy="457717"/>
            <a:chOff x="10960244" y="592125"/>
            <a:chExt cx="535720" cy="457717"/>
          </a:xfrm>
        </p:grpSpPr>
        <p:pic>
          <p:nvPicPr>
            <p:cNvPr id="69" name="Picture 68" descr="Free Envelope Clipart Black And White, Download Free Envelope Clipart Black  And White png images, Free ClipArts on Clipart Library">
              <a:extLst>
                <a:ext uri="{FF2B5EF4-FFF2-40B4-BE49-F238E27FC236}">
                  <a16:creationId xmlns:a16="http://schemas.microsoft.com/office/drawing/2014/main" id="{4AE965F2-5D9D-5EAF-34A0-B25559663D9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70" name="TextBox 69">
              <a:extLst>
                <a:ext uri="{FF2B5EF4-FFF2-40B4-BE49-F238E27FC236}">
                  <a16:creationId xmlns:a16="http://schemas.microsoft.com/office/drawing/2014/main" id="{7938DECD-A5E3-2079-D9F8-1C62970A8FF3}"/>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71" name="Group 70">
            <a:extLst>
              <a:ext uri="{FF2B5EF4-FFF2-40B4-BE49-F238E27FC236}">
                <a16:creationId xmlns:a16="http://schemas.microsoft.com/office/drawing/2014/main" id="{E02DC269-A9BC-B23A-8F03-81CD38E848E6}"/>
              </a:ext>
            </a:extLst>
          </p:cNvPr>
          <p:cNvGrpSpPr/>
          <p:nvPr/>
        </p:nvGrpSpPr>
        <p:grpSpPr>
          <a:xfrm>
            <a:off x="9908455" y="3162953"/>
            <a:ext cx="535720" cy="457717"/>
            <a:chOff x="10960244" y="592125"/>
            <a:chExt cx="535720" cy="457717"/>
          </a:xfrm>
        </p:grpSpPr>
        <p:pic>
          <p:nvPicPr>
            <p:cNvPr id="72" name="Picture 71" descr="Free Envelope Clipart Black And White, Download Free Envelope Clipart Black  And White png images, Free ClipArts on Clipart Library">
              <a:extLst>
                <a:ext uri="{FF2B5EF4-FFF2-40B4-BE49-F238E27FC236}">
                  <a16:creationId xmlns:a16="http://schemas.microsoft.com/office/drawing/2014/main" id="{A16207EE-5EBA-23B2-54A7-C91F64D7480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73" name="TextBox 72">
              <a:extLst>
                <a:ext uri="{FF2B5EF4-FFF2-40B4-BE49-F238E27FC236}">
                  <a16:creationId xmlns:a16="http://schemas.microsoft.com/office/drawing/2014/main" id="{FFA1F75E-5162-A88F-571C-F5C6955FF075}"/>
                </a:ext>
              </a:extLst>
            </p:cNvPr>
            <p:cNvSpPr txBox="1"/>
            <p:nvPr/>
          </p:nvSpPr>
          <p:spPr>
            <a:xfrm>
              <a:off x="11069246" y="592125"/>
              <a:ext cx="317716" cy="369332"/>
            </a:xfrm>
            <a:prstGeom prst="rect">
              <a:avLst/>
            </a:prstGeom>
            <a:noFill/>
          </p:spPr>
          <p:txBody>
            <a:bodyPr wrap="none" rtlCol="0">
              <a:spAutoFit/>
            </a:bodyPr>
            <a:lstStyle/>
            <a:p>
              <a:r>
                <a:rPr lang="en-US" dirty="0"/>
                <a:t>B</a:t>
              </a:r>
            </a:p>
          </p:txBody>
        </p:sp>
      </p:grpSp>
    </p:spTree>
    <p:extLst>
      <p:ext uri="{BB962C8B-B14F-4D97-AF65-F5344CB8AC3E}">
        <p14:creationId xmlns:p14="http://schemas.microsoft.com/office/powerpoint/2010/main" val="10801536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0" presetClass="path" presetSubtype="0" accel="50000" decel="50000" fill="hold" nodeType="afterEffect">
                                  <p:stCondLst>
                                    <p:cond delay="0"/>
                                  </p:stCondLst>
                                  <p:childTnLst>
                                    <p:animMotion origin="layout" path="M 1.45833E-6 1.11111E-6 L 0.11758 -0.06111 L 0.34635 -0.05579 " pathEditMode="relative" rAng="0" ptsTypes="AAA">
                                      <p:cBhvr>
                                        <p:cTn id="10" dur="500" fill="hold"/>
                                        <p:tgtEl>
                                          <p:spTgt spid="9"/>
                                        </p:tgtEl>
                                        <p:attrNameLst>
                                          <p:attrName>ppt_x</p:attrName>
                                          <p:attrName>ppt_y</p:attrName>
                                        </p:attrNameLst>
                                      </p:cBhvr>
                                      <p:rCtr x="17318" y="-3056"/>
                                    </p:animMotion>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9"/>
                                        </p:tgtEl>
                                        <p:attrNameLst>
                                          <p:attrName>style.visibility</p:attrName>
                                        </p:attrNameLst>
                                      </p:cBhvr>
                                      <p:to>
                                        <p:strVal val="hidden"/>
                                      </p:to>
                                    </p:set>
                                  </p:childTnLst>
                                </p:cTn>
                              </p:par>
                            </p:childTnLst>
                          </p:cTn>
                        </p:par>
                        <p:par>
                          <p:cTn id="16" fill="hold">
                            <p:stCondLst>
                              <p:cond delay="1000"/>
                            </p:stCondLst>
                            <p:childTnLst>
                              <p:par>
                                <p:cTn id="17" presetID="42" presetClass="path" presetSubtype="0" accel="50000" decel="50000" fill="hold" nodeType="afterEffect">
                                  <p:stCondLst>
                                    <p:cond delay="0"/>
                                  </p:stCondLst>
                                  <p:childTnLst>
                                    <p:animMotion origin="layout" path="M -2.5E-6 1.11111E-6 L 0.1392 0.05532 " pathEditMode="relative" rAng="0" ptsTypes="AA">
                                      <p:cBhvr>
                                        <p:cTn id="18" dur="500" fill="hold"/>
                                        <p:tgtEl>
                                          <p:spTgt spid="12"/>
                                        </p:tgtEl>
                                        <p:attrNameLst>
                                          <p:attrName>ppt_x</p:attrName>
                                          <p:attrName>ppt_y</p:attrName>
                                        </p:attrNameLst>
                                      </p:cBhvr>
                                      <p:rCtr x="6953" y="2755"/>
                                    </p:animMotion>
                                  </p:childTnLst>
                                </p:cTn>
                              </p:par>
                            </p:childTnLst>
                          </p:cTn>
                        </p:par>
                        <p:par>
                          <p:cTn id="19" fill="hold">
                            <p:stCondLst>
                              <p:cond delay="1500"/>
                            </p:stCondLst>
                            <p:childTnLst>
                              <p:par>
                                <p:cTn id="20" presetID="1" presetClass="entr" presetSubtype="0" fill="hold" nodeType="after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1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500"/>
                                        <p:tgtEl>
                                          <p:spTgt spid="33"/>
                                        </p:tgtEl>
                                      </p:cBhvr>
                                    </p:animEffect>
                                  </p:childTnLst>
                                </p:cTn>
                              </p:par>
                            </p:childTnLst>
                          </p:cTn>
                        </p:par>
                        <p:par>
                          <p:cTn id="29" fill="hold">
                            <p:stCondLst>
                              <p:cond delay="500"/>
                            </p:stCondLst>
                            <p:childTnLst>
                              <p:par>
                                <p:cTn id="30" presetID="0" presetClass="path" presetSubtype="0" accel="50000" decel="50000" fill="hold" nodeType="afterEffect">
                                  <p:stCondLst>
                                    <p:cond delay="0"/>
                                  </p:stCondLst>
                                  <p:childTnLst>
                                    <p:animMotion origin="layout" path="M 1.45833E-6 1.11111E-6 L 0.1332 0.03333 L 0.34622 0.02639 L 0.34622 0.02662 " pathEditMode="relative" rAng="0" ptsTypes="AAAA">
                                      <p:cBhvr>
                                        <p:cTn id="31" dur="500" fill="hold"/>
                                        <p:tgtEl>
                                          <p:spTgt spid="33"/>
                                        </p:tgtEl>
                                        <p:attrNameLst>
                                          <p:attrName>ppt_x</p:attrName>
                                          <p:attrName>ppt_y</p:attrName>
                                        </p:attrNameLst>
                                      </p:cBhvr>
                                      <p:rCtr x="17305" y="1667"/>
                                    </p:animMotion>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33"/>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childTnLst>
                          </p:cTn>
                        </p:par>
                        <p:par>
                          <p:cTn id="42" fill="hold">
                            <p:stCondLst>
                              <p:cond delay="500"/>
                            </p:stCondLst>
                            <p:childTnLst>
                              <p:par>
                                <p:cTn id="43" presetID="0" presetClass="path" presetSubtype="0" accel="50000" decel="50000" fill="hold" nodeType="afterEffect">
                                  <p:stCondLst>
                                    <p:cond delay="0"/>
                                  </p:stCondLst>
                                  <p:childTnLst>
                                    <p:animMotion origin="layout" path="M 0.00039 -0.00023 L 0.11549 -0.05972 L 0.3457 -0.05509 " pathEditMode="relative" rAng="0" ptsTypes="AAA">
                                      <p:cBhvr>
                                        <p:cTn id="44" dur="500" fill="hold"/>
                                        <p:tgtEl>
                                          <p:spTgt spid="36"/>
                                        </p:tgtEl>
                                        <p:attrNameLst>
                                          <p:attrName>ppt_x</p:attrName>
                                          <p:attrName>ppt_y</p:attrName>
                                        </p:attrNameLst>
                                      </p:cBhvr>
                                      <p:rCtr x="17266" y="-2986"/>
                                    </p:animMotion>
                                  </p:childTnLst>
                                </p:cTn>
                              </p:par>
                            </p:childTnLst>
                          </p:cTn>
                        </p:par>
                        <p:par>
                          <p:cTn id="45" fill="hold">
                            <p:stCondLst>
                              <p:cond delay="1000"/>
                            </p:stCondLst>
                            <p:childTnLst>
                              <p:par>
                                <p:cTn id="46" presetID="1" presetClass="entr" presetSubtype="0" fill="hold" nodeType="afterEffect">
                                  <p:stCondLst>
                                    <p:cond delay="0"/>
                                  </p:stCondLst>
                                  <p:childTnLst>
                                    <p:set>
                                      <p:cBhvr>
                                        <p:cTn id="47" dur="1" fill="hold">
                                          <p:stCondLst>
                                            <p:cond delay="0"/>
                                          </p:stCondLst>
                                        </p:cTn>
                                        <p:tgtEl>
                                          <p:spTgt spid="39"/>
                                        </p:tgtEl>
                                        <p:attrNameLst>
                                          <p:attrName>style.visibility</p:attrName>
                                        </p:attrNameLst>
                                      </p:cBhvr>
                                      <p:to>
                                        <p:strVal val="visible"/>
                                      </p:to>
                                    </p:set>
                                  </p:childTnLst>
                                </p:cTn>
                              </p:par>
                              <p:par>
                                <p:cTn id="48" presetID="1" presetClass="exit" presetSubtype="0" fill="hold" nodeType="withEffect">
                                  <p:stCondLst>
                                    <p:cond delay="0"/>
                                  </p:stCondLst>
                                  <p:childTnLst>
                                    <p:set>
                                      <p:cBhvr>
                                        <p:cTn id="49" dur="1" fill="hold">
                                          <p:stCondLst>
                                            <p:cond delay="0"/>
                                          </p:stCondLst>
                                        </p:cTn>
                                        <p:tgtEl>
                                          <p:spTgt spid="36"/>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9" presetClass="exit" presetSubtype="0" fill="hold" nodeType="clickEffect">
                                  <p:stCondLst>
                                    <p:cond delay="0"/>
                                  </p:stCondLst>
                                  <p:childTnLst>
                                    <p:animEffect transition="out" filter="dissolve">
                                      <p:cBhvr>
                                        <p:cTn id="53" dur="500"/>
                                        <p:tgtEl>
                                          <p:spTgt spid="15"/>
                                        </p:tgtEl>
                                      </p:cBhvr>
                                    </p:animEffect>
                                    <p:set>
                                      <p:cBhvr>
                                        <p:cTn id="54" dur="1" fill="hold">
                                          <p:stCondLst>
                                            <p:cond delay="499"/>
                                          </p:stCondLst>
                                        </p:cTn>
                                        <p:tgtEl>
                                          <p:spTgt spid="1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42" presetClass="path" presetSubtype="0" accel="50000" decel="50000" fill="hold" nodeType="clickEffect">
                                  <p:stCondLst>
                                    <p:cond delay="0"/>
                                  </p:stCondLst>
                                  <p:childTnLst>
                                    <p:animMotion origin="layout" path="M -3.33333E-6 4.07407E-6 L 0.13594 0.05324 " pathEditMode="relative" rAng="0" ptsTypes="AA">
                                      <p:cBhvr>
                                        <p:cTn id="58" dur="500" fill="hold"/>
                                        <p:tgtEl>
                                          <p:spTgt spid="39"/>
                                        </p:tgtEl>
                                        <p:attrNameLst>
                                          <p:attrName>ppt_x</p:attrName>
                                          <p:attrName>ppt_y</p:attrName>
                                        </p:attrNameLst>
                                      </p:cBhvr>
                                      <p:rCtr x="6797" y="2662"/>
                                    </p:animMotion>
                                  </p:childTnLst>
                                </p:cTn>
                              </p:par>
                            </p:childTnLst>
                          </p:cTn>
                        </p:par>
                        <p:par>
                          <p:cTn id="59" fill="hold">
                            <p:stCondLst>
                              <p:cond delay="500"/>
                            </p:stCondLst>
                            <p:childTnLst>
                              <p:par>
                                <p:cTn id="60" presetID="1" presetClass="entr" presetSubtype="0" fill="hold" nodeType="afterEffect">
                                  <p:stCondLst>
                                    <p:cond delay="0"/>
                                  </p:stCondLst>
                                  <p:childTnLst>
                                    <p:set>
                                      <p:cBhvr>
                                        <p:cTn id="61" dur="1" fill="hold">
                                          <p:stCondLst>
                                            <p:cond delay="0"/>
                                          </p:stCondLst>
                                        </p:cTn>
                                        <p:tgtEl>
                                          <p:spTgt spid="68"/>
                                        </p:tgtEl>
                                        <p:attrNameLst>
                                          <p:attrName>style.visibility</p:attrName>
                                        </p:attrNameLst>
                                      </p:cBhvr>
                                      <p:to>
                                        <p:strVal val="visible"/>
                                      </p:to>
                                    </p:set>
                                  </p:childTnLst>
                                </p:cTn>
                              </p:par>
                            </p:childTnLst>
                          </p:cTn>
                        </p:par>
                        <p:par>
                          <p:cTn id="62" fill="hold">
                            <p:stCondLst>
                              <p:cond delay="500"/>
                            </p:stCondLst>
                            <p:childTnLst>
                              <p:par>
                                <p:cTn id="63" presetID="1" presetClass="exit" presetSubtype="0" fill="hold" nodeType="afterEffect">
                                  <p:stCondLst>
                                    <p:cond delay="0"/>
                                  </p:stCondLst>
                                  <p:childTnLst>
                                    <p:set>
                                      <p:cBhvr>
                                        <p:cTn id="64" dur="1" fill="hold">
                                          <p:stCondLst>
                                            <p:cond delay="0"/>
                                          </p:stCondLst>
                                        </p:cTn>
                                        <p:tgtEl>
                                          <p:spTgt spid="39"/>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9" presetClass="exit" presetSubtype="0" fill="hold" nodeType="clickEffect">
                                  <p:stCondLst>
                                    <p:cond delay="0"/>
                                  </p:stCondLst>
                                  <p:childTnLst>
                                    <p:animEffect transition="out" filter="dissolve">
                                      <p:cBhvr>
                                        <p:cTn id="68" dur="500"/>
                                        <p:tgtEl>
                                          <p:spTgt spid="68"/>
                                        </p:tgtEl>
                                      </p:cBhvr>
                                    </p:animEffect>
                                    <p:set>
                                      <p:cBhvr>
                                        <p:cTn id="69" dur="1" fill="hold">
                                          <p:stCondLst>
                                            <p:cond delay="499"/>
                                          </p:stCondLst>
                                        </p:cTn>
                                        <p:tgtEl>
                                          <p:spTgt spid="68"/>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42" presetClass="path" presetSubtype="0" accel="50000" decel="50000" fill="hold" nodeType="clickEffect">
                                  <p:stCondLst>
                                    <p:cond delay="0"/>
                                  </p:stCondLst>
                                  <p:childTnLst>
                                    <p:animMotion origin="layout" path="M -1.875E-6 -3.7037E-6 L 0.14089 -0.02824 " pathEditMode="relative" rAng="0" ptsTypes="AA">
                                      <p:cBhvr>
                                        <p:cTn id="73" dur="500" fill="hold"/>
                                        <p:tgtEl>
                                          <p:spTgt spid="30"/>
                                        </p:tgtEl>
                                        <p:attrNameLst>
                                          <p:attrName>ppt_x</p:attrName>
                                          <p:attrName>ppt_y</p:attrName>
                                        </p:attrNameLst>
                                      </p:cBhvr>
                                      <p:rCtr x="7044" y="-1412"/>
                                    </p:animMotion>
                                  </p:childTnLst>
                                </p:cTn>
                              </p:par>
                            </p:childTnLst>
                          </p:cTn>
                        </p:par>
                        <p:par>
                          <p:cTn id="74" fill="hold">
                            <p:stCondLst>
                              <p:cond delay="500"/>
                            </p:stCondLst>
                            <p:childTnLst>
                              <p:par>
                                <p:cTn id="75" presetID="1" presetClass="entr" presetSubtype="0" fill="hold" nodeType="afterEffect">
                                  <p:stCondLst>
                                    <p:cond delay="0"/>
                                  </p:stCondLst>
                                  <p:childTnLst>
                                    <p:set>
                                      <p:cBhvr>
                                        <p:cTn id="76" dur="1" fill="hold">
                                          <p:stCondLst>
                                            <p:cond delay="0"/>
                                          </p:stCondLst>
                                        </p:cTn>
                                        <p:tgtEl>
                                          <p:spTgt spid="71"/>
                                        </p:tgtEl>
                                        <p:attrNameLst>
                                          <p:attrName>style.visibility</p:attrName>
                                        </p:attrNameLst>
                                      </p:cBhvr>
                                      <p:to>
                                        <p:strVal val="visible"/>
                                      </p:to>
                                    </p:set>
                                  </p:childTnLst>
                                </p:cTn>
                              </p:par>
                              <p:par>
                                <p:cTn id="77" presetID="1" presetClass="exit" presetSubtype="0" fill="hold" nodeType="withEffect">
                                  <p:stCondLst>
                                    <p:cond delay="0"/>
                                  </p:stCondLst>
                                  <p:childTnLst>
                                    <p:set>
                                      <p:cBhvr>
                                        <p:cTn id="78" dur="1" fill="hold">
                                          <p:stCondLst>
                                            <p:cond delay="0"/>
                                          </p:stCondLst>
                                        </p:cTn>
                                        <p:tgtEl>
                                          <p:spTgt spid="30"/>
                                        </p:tgtEl>
                                        <p:attrNameLst>
                                          <p:attrName>style.visibility</p:attrName>
                                        </p:attrNameLst>
                                      </p:cBhvr>
                                      <p:to>
                                        <p:strVal val="hidden"/>
                                      </p:to>
                                    </p:set>
                                  </p:childTnLst>
                                </p:cTn>
                              </p:par>
                            </p:childTnLst>
                          </p:cTn>
                        </p:par>
                        <p:par>
                          <p:cTn id="79" fill="hold">
                            <p:stCondLst>
                              <p:cond delay="500"/>
                            </p:stCondLst>
                            <p:childTnLst>
                              <p:par>
                                <p:cTn id="80" presetID="9" presetClass="exit" presetSubtype="0" fill="hold" nodeType="afterEffect">
                                  <p:stCondLst>
                                    <p:cond delay="0"/>
                                  </p:stCondLst>
                                  <p:childTnLst>
                                    <p:animEffect transition="out" filter="dissolve">
                                      <p:cBhvr>
                                        <p:cTn id="81" dur="500"/>
                                        <p:tgtEl>
                                          <p:spTgt spid="71"/>
                                        </p:tgtEl>
                                      </p:cBhvr>
                                    </p:animEffect>
                                    <p:set>
                                      <p:cBhvr>
                                        <p:cTn id="82" dur="1" fill="hold">
                                          <p:stCondLst>
                                            <p:cond delay="499"/>
                                          </p:stCondLst>
                                        </p:cTn>
                                        <p:tgtEl>
                                          <p:spTgt spid="7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B4F63-D587-CE34-7049-BEFD1A432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F8960-67A7-3FC2-4141-F9E31C2C85A7}"/>
              </a:ext>
            </a:extLst>
          </p:cNvPr>
          <p:cNvSpPr>
            <a:spLocks noGrp="1"/>
          </p:cNvSpPr>
          <p:nvPr>
            <p:ph type="title"/>
          </p:nvPr>
        </p:nvSpPr>
        <p:spPr/>
        <p:txBody>
          <a:bodyPr/>
          <a:lstStyle/>
          <a:p>
            <a:r>
              <a:rPr lang="en-US" dirty="0"/>
              <a:t>Benefits</a:t>
            </a:r>
          </a:p>
        </p:txBody>
      </p:sp>
      <p:sp>
        <p:nvSpPr>
          <p:cNvPr id="3" name="Primary Context Box">
            <a:extLst>
              <a:ext uri="{FF2B5EF4-FFF2-40B4-BE49-F238E27FC236}">
                <a16:creationId xmlns:a16="http://schemas.microsoft.com/office/drawing/2014/main" id="{93978057-13B5-6D1A-7426-484BAEA10FFD}"/>
              </a:ext>
            </a:extLst>
          </p:cNvPr>
          <p:cNvSpPr/>
          <p:nvPr/>
        </p:nvSpPr>
        <p:spPr>
          <a:xfrm>
            <a:off x="552767"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Data Integrity</a:t>
            </a:r>
          </a:p>
        </p:txBody>
      </p:sp>
      <p:sp>
        <p:nvSpPr>
          <p:cNvPr id="4" name="Primary Context Box">
            <a:extLst>
              <a:ext uri="{FF2B5EF4-FFF2-40B4-BE49-F238E27FC236}">
                <a16:creationId xmlns:a16="http://schemas.microsoft.com/office/drawing/2014/main" id="{79CAF53A-499D-8697-79FA-2FBCEBBC2BA7}"/>
              </a:ext>
            </a:extLst>
          </p:cNvPr>
          <p:cNvSpPr/>
          <p:nvPr/>
        </p:nvSpPr>
        <p:spPr>
          <a:xfrm>
            <a:off x="4325111"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Consistency</a:t>
            </a:r>
          </a:p>
        </p:txBody>
      </p:sp>
      <p:sp>
        <p:nvSpPr>
          <p:cNvPr id="5" name="Secondary Content Box">
            <a:extLst>
              <a:ext uri="{FF2B5EF4-FFF2-40B4-BE49-F238E27FC236}">
                <a16:creationId xmlns:a16="http://schemas.microsoft.com/office/drawing/2014/main" id="{09D897D2-57B1-A0B3-7328-305E42BD9C29}"/>
              </a:ext>
            </a:extLst>
          </p:cNvPr>
          <p:cNvSpPr/>
          <p:nvPr/>
        </p:nvSpPr>
        <p:spPr>
          <a:xfrm>
            <a:off x="8070215" y="246661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Reliability</a:t>
            </a:r>
          </a:p>
        </p:txBody>
      </p:sp>
      <p:sp>
        <p:nvSpPr>
          <p:cNvPr id="11" name="Rectangle: Rounded Corners 10">
            <a:extLst>
              <a:ext uri="{FF2B5EF4-FFF2-40B4-BE49-F238E27FC236}">
                <a16:creationId xmlns:a16="http://schemas.microsoft.com/office/drawing/2014/main" id="{EA791AA1-9817-0712-878D-4585FD04EA61}"/>
              </a:ext>
            </a:extLst>
          </p:cNvPr>
          <p:cNvSpPr/>
          <p:nvPr/>
        </p:nvSpPr>
        <p:spPr>
          <a:xfrm>
            <a:off x="552767"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4" name="Rectangle: Rounded Corners 13">
            <a:extLst>
              <a:ext uri="{FF2B5EF4-FFF2-40B4-BE49-F238E27FC236}">
                <a16:creationId xmlns:a16="http://schemas.microsoft.com/office/drawing/2014/main" id="{89792684-C827-95B0-AC5E-FF9177B4AE9E}"/>
              </a:ext>
            </a:extLst>
          </p:cNvPr>
          <p:cNvSpPr/>
          <p:nvPr/>
        </p:nvSpPr>
        <p:spPr>
          <a:xfrm>
            <a:off x="4325111"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2235433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animBg="1"/>
      <p:bldP spid="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15593-0074-8F90-0FFA-ED8ED2C93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64E38-C075-2D9B-C803-C61CE626269E}"/>
              </a:ext>
            </a:extLst>
          </p:cNvPr>
          <p:cNvSpPr>
            <a:spLocks noGrp="1"/>
          </p:cNvSpPr>
          <p:nvPr>
            <p:ph type="title"/>
          </p:nvPr>
        </p:nvSpPr>
        <p:spPr/>
        <p:txBody>
          <a:bodyPr/>
          <a:lstStyle/>
          <a:p>
            <a:r>
              <a:rPr lang="en-US" dirty="0"/>
              <a:t>Drawbacks</a:t>
            </a:r>
          </a:p>
        </p:txBody>
      </p:sp>
      <p:sp>
        <p:nvSpPr>
          <p:cNvPr id="3" name="Primary Context Box">
            <a:extLst>
              <a:ext uri="{FF2B5EF4-FFF2-40B4-BE49-F238E27FC236}">
                <a16:creationId xmlns:a16="http://schemas.microsoft.com/office/drawing/2014/main" id="{6E49BB45-5126-851F-E500-9EEB0C032E85}"/>
              </a:ext>
            </a:extLst>
          </p:cNvPr>
          <p:cNvSpPr/>
          <p:nvPr/>
        </p:nvSpPr>
        <p:spPr>
          <a:xfrm>
            <a:off x="551426"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Reduced Throughput</a:t>
            </a:r>
          </a:p>
        </p:txBody>
      </p:sp>
      <p:sp>
        <p:nvSpPr>
          <p:cNvPr id="4" name="Primary Context Box">
            <a:extLst>
              <a:ext uri="{FF2B5EF4-FFF2-40B4-BE49-F238E27FC236}">
                <a16:creationId xmlns:a16="http://schemas.microsoft.com/office/drawing/2014/main" id="{192946FE-FB55-4D85-DC19-FF15D11AE290}"/>
              </a:ext>
            </a:extLst>
          </p:cNvPr>
          <p:cNvSpPr/>
          <p:nvPr/>
        </p:nvSpPr>
        <p:spPr>
          <a:xfrm>
            <a:off x="4308157"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Complexity</a:t>
            </a:r>
          </a:p>
        </p:txBody>
      </p:sp>
      <p:sp>
        <p:nvSpPr>
          <p:cNvPr id="11" name="Rectangle: Rounded Corners 10">
            <a:extLst>
              <a:ext uri="{FF2B5EF4-FFF2-40B4-BE49-F238E27FC236}">
                <a16:creationId xmlns:a16="http://schemas.microsoft.com/office/drawing/2014/main" id="{ACAE8B71-BCAD-AF6B-B501-6CE13AB66A9D}"/>
              </a:ext>
            </a:extLst>
          </p:cNvPr>
          <p:cNvSpPr/>
          <p:nvPr/>
        </p:nvSpPr>
        <p:spPr>
          <a:xfrm>
            <a:off x="551426" y="2404804"/>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5" name="Rectangle: Rounded Corners 4">
            <a:extLst>
              <a:ext uri="{FF2B5EF4-FFF2-40B4-BE49-F238E27FC236}">
                <a16:creationId xmlns:a16="http://schemas.microsoft.com/office/drawing/2014/main" id="{A73B2613-C8D8-3774-F11E-27354CA9D7F5}"/>
              </a:ext>
            </a:extLst>
          </p:cNvPr>
          <p:cNvSpPr/>
          <p:nvPr/>
        </p:nvSpPr>
        <p:spPr>
          <a:xfrm>
            <a:off x="4308157" y="2404804"/>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6" name="Rectangle: Rounded Corners 5">
            <a:extLst>
              <a:ext uri="{FF2B5EF4-FFF2-40B4-BE49-F238E27FC236}">
                <a16:creationId xmlns:a16="http://schemas.microsoft.com/office/drawing/2014/main" id="{BEDFF8A9-4BBB-3DA0-E0F1-1D36ABA147F9}"/>
              </a:ext>
            </a:extLst>
          </p:cNvPr>
          <p:cNvSpPr/>
          <p:nvPr/>
        </p:nvSpPr>
        <p:spPr>
          <a:xfrm>
            <a:off x="8064888"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Potential Latency</a:t>
            </a:r>
          </a:p>
        </p:txBody>
      </p:sp>
    </p:spTree>
    <p:extLst>
      <p:ext uri="{BB962C8B-B14F-4D97-AF65-F5344CB8AC3E}">
        <p14:creationId xmlns:p14="http://schemas.microsoft.com/office/powerpoint/2010/main" val="766386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 grpId="0" animBg="1"/>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EFAD8-31BF-5EF8-DD6F-596341C991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04982-01F5-C10E-E73A-CAED19B86670}"/>
              </a:ext>
            </a:extLst>
          </p:cNvPr>
          <p:cNvSpPr>
            <a:spLocks noGrp="1"/>
          </p:cNvSpPr>
          <p:nvPr>
            <p:ph type="title"/>
          </p:nvPr>
        </p:nvSpPr>
        <p:spPr/>
        <p:txBody>
          <a:bodyPr/>
          <a:lstStyle/>
          <a:p>
            <a:r>
              <a:rPr lang="en-US" dirty="0"/>
              <a:t>Use Cases</a:t>
            </a:r>
          </a:p>
        </p:txBody>
      </p:sp>
      <p:sp>
        <p:nvSpPr>
          <p:cNvPr id="3" name="Primary Context Box">
            <a:extLst>
              <a:ext uri="{FF2B5EF4-FFF2-40B4-BE49-F238E27FC236}">
                <a16:creationId xmlns:a16="http://schemas.microsoft.com/office/drawing/2014/main" id="{D590CB53-8620-9813-E22A-2A71D31AE6C1}"/>
              </a:ext>
            </a:extLst>
          </p:cNvPr>
          <p:cNvSpPr/>
          <p:nvPr/>
        </p:nvSpPr>
        <p:spPr>
          <a:xfrm>
            <a:off x="731203"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Order Processing</a:t>
            </a:r>
          </a:p>
        </p:txBody>
      </p:sp>
      <p:sp>
        <p:nvSpPr>
          <p:cNvPr id="4" name="Primary Context Box">
            <a:extLst>
              <a:ext uri="{FF2B5EF4-FFF2-40B4-BE49-F238E27FC236}">
                <a16:creationId xmlns:a16="http://schemas.microsoft.com/office/drawing/2014/main" id="{04296428-240D-912C-33CB-B9FC734E1BA9}"/>
              </a:ext>
            </a:extLst>
          </p:cNvPr>
          <p:cNvSpPr/>
          <p:nvPr/>
        </p:nvSpPr>
        <p:spPr>
          <a:xfrm>
            <a:off x="4503547"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Event Sourcing</a:t>
            </a:r>
          </a:p>
        </p:txBody>
      </p:sp>
      <p:sp>
        <p:nvSpPr>
          <p:cNvPr id="5" name="Secondary Content Box">
            <a:extLst>
              <a:ext uri="{FF2B5EF4-FFF2-40B4-BE49-F238E27FC236}">
                <a16:creationId xmlns:a16="http://schemas.microsoft.com/office/drawing/2014/main" id="{2F2A0065-39A3-EDEB-32FD-2DCBF4867276}"/>
              </a:ext>
            </a:extLst>
          </p:cNvPr>
          <p:cNvSpPr/>
          <p:nvPr/>
        </p:nvSpPr>
        <p:spPr>
          <a:xfrm>
            <a:off x="8275891" y="2914680"/>
            <a:ext cx="3549397"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Workflow Management</a:t>
            </a:r>
          </a:p>
        </p:txBody>
      </p:sp>
    </p:spTree>
    <p:extLst>
      <p:ext uri="{BB962C8B-B14F-4D97-AF65-F5344CB8AC3E}">
        <p14:creationId xmlns:p14="http://schemas.microsoft.com/office/powerpoint/2010/main" val="73039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screenshot of a computer program&#10;&#10;AI-generated content may be incorrect.">
            <a:extLst>
              <a:ext uri="{FF2B5EF4-FFF2-40B4-BE49-F238E27FC236}">
                <a16:creationId xmlns:a16="http://schemas.microsoft.com/office/drawing/2014/main" id="{2256CE49-146A-D910-E5BC-F1EF29874BF1}"/>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6084094" y="1232694"/>
            <a:ext cx="3781425" cy="4210050"/>
          </a:xfrm>
        </p:spPr>
      </p:pic>
      <p:sp>
        <p:nvSpPr>
          <p:cNvPr id="5" name="Title 3">
            <a:extLst>
              <a:ext uri="{FF2B5EF4-FFF2-40B4-BE49-F238E27FC236}">
                <a16:creationId xmlns:a16="http://schemas.microsoft.com/office/drawing/2014/main" id="{E498666A-CE75-8EA1-4191-E07EE97E5AF2}"/>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A7D7F798-B493-64CD-F040-57DBAD1C2805}"/>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Tree>
    <p:extLst>
      <p:ext uri="{BB962C8B-B14F-4D97-AF65-F5344CB8AC3E}">
        <p14:creationId xmlns:p14="http://schemas.microsoft.com/office/powerpoint/2010/main" val="18415581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descr="A screenshot of a computer code&#10;&#10;AI-generated content may be incorrect.">
            <a:extLst>
              <a:ext uri="{FF2B5EF4-FFF2-40B4-BE49-F238E27FC236}">
                <a16:creationId xmlns:a16="http://schemas.microsoft.com/office/drawing/2014/main" id="{6A5B5AC0-830D-24D6-E028-879281996975}"/>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336256" y="846931"/>
            <a:ext cx="7538422" cy="5160464"/>
          </a:xfrm>
        </p:spPr>
      </p:pic>
      <p:sp>
        <p:nvSpPr>
          <p:cNvPr id="9" name="Title 3">
            <a:extLst>
              <a:ext uri="{FF2B5EF4-FFF2-40B4-BE49-F238E27FC236}">
                <a16:creationId xmlns:a16="http://schemas.microsoft.com/office/drawing/2014/main" id="{FD6591A5-9699-D2D2-2E9B-54B52F7163E7}"/>
              </a:ext>
            </a:extLst>
          </p:cNvPr>
          <p:cNvSpPr>
            <a:spLocks noGrp="1"/>
          </p:cNvSpPr>
          <p:nvPr>
            <p:ph type="title"/>
          </p:nvPr>
        </p:nvSpPr>
        <p:spPr>
          <a:xfrm>
            <a:off x="548640" y="457200"/>
            <a:ext cx="3575304" cy="591312"/>
          </a:xfrm>
        </p:spPr>
        <p:txBody>
          <a:bodyPr/>
          <a:lstStyle/>
          <a:p>
            <a:r>
              <a:rPr lang="en-US" dirty="0"/>
              <a:t>Documentation</a:t>
            </a:r>
          </a:p>
        </p:txBody>
      </p:sp>
      <p:sp>
        <p:nvSpPr>
          <p:cNvPr id="10" name="Primary Context Box">
            <a:extLst>
              <a:ext uri="{FF2B5EF4-FFF2-40B4-BE49-F238E27FC236}">
                <a16:creationId xmlns:a16="http://schemas.microsoft.com/office/drawing/2014/main" id="{3EAAB998-CA6E-CBFA-D80B-FC0366F7E1FB}"/>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11" name="Primary Context Box">
            <a:extLst>
              <a:ext uri="{FF2B5EF4-FFF2-40B4-BE49-F238E27FC236}">
                <a16:creationId xmlns:a16="http://schemas.microsoft.com/office/drawing/2014/main" id="{64613E3E-42E2-7483-6D7C-3D6ED93F83E0}"/>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12" name="Rectangle: Rounded Corners 11">
            <a:extLst>
              <a:ext uri="{FF2B5EF4-FFF2-40B4-BE49-F238E27FC236}">
                <a16:creationId xmlns:a16="http://schemas.microsoft.com/office/drawing/2014/main" id="{D05480AD-45E9-38B8-1F4E-FCD5272A45ED}"/>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cxnSp>
        <p:nvCxnSpPr>
          <p:cNvPr id="17" name="Straight Connector 16">
            <a:extLst>
              <a:ext uri="{FF2B5EF4-FFF2-40B4-BE49-F238E27FC236}">
                <a16:creationId xmlns:a16="http://schemas.microsoft.com/office/drawing/2014/main" id="{4BCB1AEF-E916-B1A2-3FE6-2F25C74F3876}"/>
              </a:ext>
            </a:extLst>
          </p:cNvPr>
          <p:cNvCxnSpPr/>
          <p:nvPr/>
        </p:nvCxnSpPr>
        <p:spPr>
          <a:xfrm>
            <a:off x="5285962" y="4978196"/>
            <a:ext cx="328506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4536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descr="A computer screen shot of a program&#10;&#10;AI-generated content may be incorrect.">
            <a:extLst>
              <a:ext uri="{FF2B5EF4-FFF2-40B4-BE49-F238E27FC236}">
                <a16:creationId xmlns:a16="http://schemas.microsoft.com/office/drawing/2014/main" id="{457B3B07-6B42-4D8A-9656-70076045CF95}"/>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412455" y="870743"/>
            <a:ext cx="7402051" cy="5126019"/>
          </a:xfrm>
        </p:spPr>
      </p:pic>
      <p:sp>
        <p:nvSpPr>
          <p:cNvPr id="5" name="Title 3">
            <a:extLst>
              <a:ext uri="{FF2B5EF4-FFF2-40B4-BE49-F238E27FC236}">
                <a16:creationId xmlns:a16="http://schemas.microsoft.com/office/drawing/2014/main" id="{8E27708F-E8C3-1F51-ED65-0E1723A91D03}"/>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6F75DF91-887B-5890-8160-64AE1A4A3AB2}"/>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0D08EC9B-46EE-A90B-5623-B8E34B98A7A8}"/>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43B5F818-9E79-A0F4-B53A-89A0F0CA2DFA}"/>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898FA41F-A1D5-EEBD-935E-6FD39D85F627}"/>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Producer</a:t>
            </a:r>
          </a:p>
        </p:txBody>
      </p:sp>
      <p:sp>
        <p:nvSpPr>
          <p:cNvPr id="10" name="Rectangle: Rounded Corners 9">
            <a:extLst>
              <a:ext uri="{FF2B5EF4-FFF2-40B4-BE49-F238E27FC236}">
                <a16:creationId xmlns:a16="http://schemas.microsoft.com/office/drawing/2014/main" id="{0F4545DB-15FB-658D-9914-686B0BA573A2}"/>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3790978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descr="A computer screen shot of a program code&#10;&#10;AI-generated content may be incorrect.">
            <a:extLst>
              <a:ext uri="{FF2B5EF4-FFF2-40B4-BE49-F238E27FC236}">
                <a16:creationId xmlns:a16="http://schemas.microsoft.com/office/drawing/2014/main" id="{DD582DC7-DB1F-05F3-1D84-5C51BEEEE472}"/>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397061" y="752855"/>
            <a:ext cx="7356192" cy="4223181"/>
          </a:xfrm>
        </p:spPr>
      </p:pic>
      <p:sp>
        <p:nvSpPr>
          <p:cNvPr id="5" name="Title 3">
            <a:extLst>
              <a:ext uri="{FF2B5EF4-FFF2-40B4-BE49-F238E27FC236}">
                <a16:creationId xmlns:a16="http://schemas.microsoft.com/office/drawing/2014/main" id="{D16B5C65-124E-6D80-C291-ECFFF690FDCE}"/>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935BB0DD-261E-084C-E6DE-CEEA27A561AC}"/>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0340F998-C402-9F25-5062-64E32E47BBDE}"/>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A3164157-1D31-B9B8-593B-F2A6F62656CF}"/>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B676FF9F-9628-A4A3-6663-8ABA480EF5DE}"/>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Producer</a:t>
            </a:r>
          </a:p>
        </p:txBody>
      </p:sp>
      <p:sp>
        <p:nvSpPr>
          <p:cNvPr id="10" name="Rectangle: Rounded Corners 9">
            <a:extLst>
              <a:ext uri="{FF2B5EF4-FFF2-40B4-BE49-F238E27FC236}">
                <a16:creationId xmlns:a16="http://schemas.microsoft.com/office/drawing/2014/main" id="{2ED4FF79-2B2B-D5CE-12AA-AC668CAB4571}"/>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A0416B81-18C0-F7FE-DD43-1E6695C12D7C}"/>
              </a:ext>
            </a:extLst>
          </p:cNvPr>
          <p:cNvSpPr/>
          <p:nvPr/>
        </p:nvSpPr>
        <p:spPr>
          <a:xfrm>
            <a:off x="548256"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Consumer</a:t>
            </a:r>
          </a:p>
        </p:txBody>
      </p:sp>
      <p:sp>
        <p:nvSpPr>
          <p:cNvPr id="12" name="Rectangle: Rounded Corners 11">
            <a:extLst>
              <a:ext uri="{FF2B5EF4-FFF2-40B4-BE49-F238E27FC236}">
                <a16:creationId xmlns:a16="http://schemas.microsoft.com/office/drawing/2014/main" id="{6F729E10-E346-0BAC-953E-6259046E2ACF}"/>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13088476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Content Placeholder 15" descr="A screenshot of a computer&#10;&#10;AI-generated content may be incorrect.">
            <a:extLst>
              <a:ext uri="{FF2B5EF4-FFF2-40B4-BE49-F238E27FC236}">
                <a16:creationId xmlns:a16="http://schemas.microsoft.com/office/drawing/2014/main" id="{E2C556F2-092B-514A-15D9-B1796D7F5C2B}"/>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240904" y="1015271"/>
            <a:ext cx="3924300" cy="4019550"/>
          </a:xfrm>
        </p:spPr>
      </p:pic>
      <p:sp>
        <p:nvSpPr>
          <p:cNvPr id="5" name="Title 3">
            <a:extLst>
              <a:ext uri="{FF2B5EF4-FFF2-40B4-BE49-F238E27FC236}">
                <a16:creationId xmlns:a16="http://schemas.microsoft.com/office/drawing/2014/main" id="{0D544B6D-A23B-64E0-CD78-BA79F768F884}"/>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ED503482-8326-A512-A5C3-A7266357BC7B}"/>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1B8E7FC9-F87E-6E2D-CA16-0964835F43C8}"/>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3774BE49-5D46-6D23-212A-99B134671981}"/>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0184D67C-2100-B6B9-22BA-238E6D47B4D5}"/>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Producer</a:t>
            </a:r>
          </a:p>
        </p:txBody>
      </p:sp>
      <p:sp>
        <p:nvSpPr>
          <p:cNvPr id="10" name="Rectangle: Rounded Corners 9">
            <a:extLst>
              <a:ext uri="{FF2B5EF4-FFF2-40B4-BE49-F238E27FC236}">
                <a16:creationId xmlns:a16="http://schemas.microsoft.com/office/drawing/2014/main" id="{E28F17C9-8BB2-E205-AEF3-437FE74D6DAE}"/>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100EAB1B-363B-AAA8-6963-B98D7AF9B4B9}"/>
              </a:ext>
            </a:extLst>
          </p:cNvPr>
          <p:cNvSpPr/>
          <p:nvPr/>
        </p:nvSpPr>
        <p:spPr>
          <a:xfrm>
            <a:off x="548256"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Consumer</a:t>
            </a:r>
          </a:p>
        </p:txBody>
      </p:sp>
      <p:sp>
        <p:nvSpPr>
          <p:cNvPr id="12" name="Rectangle: Rounded Corners 11">
            <a:extLst>
              <a:ext uri="{FF2B5EF4-FFF2-40B4-BE49-F238E27FC236}">
                <a16:creationId xmlns:a16="http://schemas.microsoft.com/office/drawing/2014/main" id="{7096CAA2-37AA-3761-E4F5-032E862F5DC2}"/>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3" name="Primary Context Box">
            <a:extLst>
              <a:ext uri="{FF2B5EF4-FFF2-40B4-BE49-F238E27FC236}">
                <a16:creationId xmlns:a16="http://schemas.microsoft.com/office/drawing/2014/main" id="{5904EABE-5667-DFCB-2D3A-E45DBAC4B8DC}"/>
              </a:ext>
            </a:extLst>
          </p:cNvPr>
          <p:cNvSpPr/>
          <p:nvPr/>
        </p:nvSpPr>
        <p:spPr>
          <a:xfrm>
            <a:off x="548256" y="3558451"/>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Run the Demo</a:t>
            </a:r>
          </a:p>
        </p:txBody>
      </p:sp>
      <p:sp>
        <p:nvSpPr>
          <p:cNvPr id="14" name="Rectangle: Rounded Corners 13">
            <a:extLst>
              <a:ext uri="{FF2B5EF4-FFF2-40B4-BE49-F238E27FC236}">
                <a16:creationId xmlns:a16="http://schemas.microsoft.com/office/drawing/2014/main" id="{EBA11A19-B94A-44F4-3321-952A4DB538A3}"/>
              </a:ext>
            </a:extLst>
          </p:cNvPr>
          <p:cNvSpPr/>
          <p:nvPr/>
        </p:nvSpPr>
        <p:spPr>
          <a:xfrm>
            <a:off x="548256" y="2933243"/>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18" name="Picture 17" descr="A screenshot of a computer&#10;&#10;AI-generated content may be incorrect.">
            <a:extLst>
              <a:ext uri="{FF2B5EF4-FFF2-40B4-BE49-F238E27FC236}">
                <a16:creationId xmlns:a16="http://schemas.microsoft.com/office/drawing/2014/main" id="{B4377ECA-3832-D312-7028-D78D5D2C632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a:fillRect/>
          </a:stretch>
        </p:blipFill>
        <p:spPr>
          <a:xfrm>
            <a:off x="8229388" y="1039084"/>
            <a:ext cx="3924300" cy="4019550"/>
          </a:xfrm>
          <a:prstGeom prst="rect">
            <a:avLst/>
          </a:prstGeom>
        </p:spPr>
      </p:pic>
      <p:sp>
        <p:nvSpPr>
          <p:cNvPr id="19" name="TextBox 18">
            <a:extLst>
              <a:ext uri="{FF2B5EF4-FFF2-40B4-BE49-F238E27FC236}">
                <a16:creationId xmlns:a16="http://schemas.microsoft.com/office/drawing/2014/main" id="{002DD178-1396-DA8D-9886-2562B00E1955}"/>
              </a:ext>
            </a:extLst>
          </p:cNvPr>
          <p:cNvSpPr txBox="1"/>
          <p:nvPr/>
        </p:nvSpPr>
        <p:spPr>
          <a:xfrm>
            <a:off x="5338971" y="430496"/>
            <a:ext cx="1728165" cy="584775"/>
          </a:xfrm>
          <a:prstGeom prst="rect">
            <a:avLst/>
          </a:prstGeom>
          <a:noFill/>
        </p:spPr>
        <p:txBody>
          <a:bodyPr wrap="none" rtlCol="0">
            <a:spAutoFit/>
          </a:bodyPr>
          <a:lstStyle/>
          <a:p>
            <a:r>
              <a:rPr lang="en-US" sz="3200" b="1" dirty="0">
                <a:solidFill>
                  <a:schemeClr val="accent6"/>
                </a:solidFill>
              </a:rPr>
              <a:t>Producer</a:t>
            </a:r>
          </a:p>
        </p:txBody>
      </p:sp>
      <p:sp>
        <p:nvSpPr>
          <p:cNvPr id="20" name="TextBox 19">
            <a:extLst>
              <a:ext uri="{FF2B5EF4-FFF2-40B4-BE49-F238E27FC236}">
                <a16:creationId xmlns:a16="http://schemas.microsoft.com/office/drawing/2014/main" id="{4E131B36-96A4-0372-3D9A-BDC891E4C352}"/>
              </a:ext>
            </a:extLst>
          </p:cNvPr>
          <p:cNvSpPr txBox="1"/>
          <p:nvPr/>
        </p:nvSpPr>
        <p:spPr>
          <a:xfrm>
            <a:off x="9235186" y="463737"/>
            <a:ext cx="1912703" cy="584775"/>
          </a:xfrm>
          <a:prstGeom prst="rect">
            <a:avLst/>
          </a:prstGeom>
          <a:noFill/>
        </p:spPr>
        <p:txBody>
          <a:bodyPr wrap="none" rtlCol="0">
            <a:spAutoFit/>
          </a:bodyPr>
          <a:lstStyle/>
          <a:p>
            <a:r>
              <a:rPr lang="en-US" sz="3200" b="1" dirty="0">
                <a:solidFill>
                  <a:schemeClr val="accent6"/>
                </a:solidFill>
              </a:rPr>
              <a:t>Consumer</a:t>
            </a:r>
          </a:p>
        </p:txBody>
      </p:sp>
      <p:pic>
        <p:nvPicPr>
          <p:cNvPr id="22" name="Picture 21" descr="A screenshot of a computer&#10;&#10;AI-generated content may be incorrect.">
            <a:extLst>
              <a:ext uri="{FF2B5EF4-FFF2-40B4-BE49-F238E27FC236}">
                <a16:creationId xmlns:a16="http://schemas.microsoft.com/office/drawing/2014/main" id="{FB2BD3DD-7D68-C799-2407-34B3465F118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a:fillRect/>
          </a:stretch>
        </p:blipFill>
        <p:spPr>
          <a:xfrm>
            <a:off x="4240904" y="1015271"/>
            <a:ext cx="3924300" cy="4019550"/>
          </a:xfrm>
          <a:prstGeom prst="rect">
            <a:avLst/>
          </a:prstGeom>
        </p:spPr>
      </p:pic>
      <p:pic>
        <p:nvPicPr>
          <p:cNvPr id="24" name="Picture 23" descr="A screenshot of a computer screen&#10;&#10;AI-generated content may be incorrect.">
            <a:extLst>
              <a:ext uri="{FF2B5EF4-FFF2-40B4-BE49-F238E27FC236}">
                <a16:creationId xmlns:a16="http://schemas.microsoft.com/office/drawing/2014/main" id="{CE4F0304-509C-736C-E71B-3581A298151D}"/>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a:fillRect/>
          </a:stretch>
        </p:blipFill>
        <p:spPr>
          <a:xfrm>
            <a:off x="8229388" y="1039084"/>
            <a:ext cx="3924300" cy="4019550"/>
          </a:xfrm>
          <a:prstGeom prst="rect">
            <a:avLst/>
          </a:prstGeom>
        </p:spPr>
      </p:pic>
    </p:spTree>
    <p:extLst>
      <p:ext uri="{BB962C8B-B14F-4D97-AF65-F5344CB8AC3E}">
        <p14:creationId xmlns:p14="http://schemas.microsoft.com/office/powerpoint/2010/main" val="315849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up)">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up)">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E06E0-60CE-1FB4-61FE-8FD640812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87C1D1-512B-AD31-1FFB-31F4E8A497D8}"/>
              </a:ext>
            </a:extLst>
          </p:cNvPr>
          <p:cNvSpPr>
            <a:spLocks noGrp="1"/>
          </p:cNvSpPr>
          <p:nvPr>
            <p:ph type="title"/>
          </p:nvPr>
        </p:nvSpPr>
        <p:spPr/>
        <p:txBody>
          <a:bodyPr/>
          <a:lstStyle/>
          <a:p>
            <a:r>
              <a:rPr lang="en-US" dirty="0"/>
              <a:t>Key Points to Remember</a:t>
            </a:r>
          </a:p>
        </p:txBody>
      </p:sp>
      <p:sp>
        <p:nvSpPr>
          <p:cNvPr id="4" name="Rectangle: Rounded Corners 3">
            <a:extLst>
              <a:ext uri="{FF2B5EF4-FFF2-40B4-BE49-F238E27FC236}">
                <a16:creationId xmlns:a16="http://schemas.microsoft.com/office/drawing/2014/main" id="{46BE4BBA-70E0-8BEB-8F39-970DF89A577C}"/>
              </a:ext>
            </a:extLst>
          </p:cNvPr>
          <p:cNvSpPr/>
          <p:nvPr/>
        </p:nvSpPr>
        <p:spPr>
          <a:xfrm>
            <a:off x="928688" y="1975602"/>
            <a:ext cx="4514849" cy="1097281"/>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Use Order Keys</a:t>
            </a:r>
          </a:p>
        </p:txBody>
      </p:sp>
      <p:sp>
        <p:nvSpPr>
          <p:cNvPr id="5" name="Rectangle: Rounded Corners 4">
            <a:extLst>
              <a:ext uri="{FF2B5EF4-FFF2-40B4-BE49-F238E27FC236}">
                <a16:creationId xmlns:a16="http://schemas.microsoft.com/office/drawing/2014/main" id="{882DB7B5-D57F-000E-23C1-B10547B14B52}"/>
              </a:ext>
            </a:extLst>
          </p:cNvPr>
          <p:cNvSpPr/>
          <p:nvPr/>
        </p:nvSpPr>
        <p:spPr>
          <a:xfrm>
            <a:off x="6565900" y="1975602"/>
            <a:ext cx="4514849" cy="1097281"/>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Ensure Queue Ordering</a:t>
            </a:r>
          </a:p>
        </p:txBody>
      </p:sp>
      <p:sp>
        <p:nvSpPr>
          <p:cNvPr id="6" name="Rectangle: Rounded Corners 5">
            <a:extLst>
              <a:ext uri="{FF2B5EF4-FFF2-40B4-BE49-F238E27FC236}">
                <a16:creationId xmlns:a16="http://schemas.microsoft.com/office/drawing/2014/main" id="{3A9D29E4-F6EB-F4D6-3E52-F577A9B5C48B}"/>
              </a:ext>
            </a:extLst>
          </p:cNvPr>
          <p:cNvSpPr/>
          <p:nvPr/>
        </p:nvSpPr>
        <p:spPr>
          <a:xfrm>
            <a:off x="927100" y="3991609"/>
            <a:ext cx="4514849" cy="1097281"/>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Monitor and Adjust</a:t>
            </a:r>
          </a:p>
        </p:txBody>
      </p:sp>
      <p:sp>
        <p:nvSpPr>
          <p:cNvPr id="7" name="Rectangle: Rounded Corners 6">
            <a:extLst>
              <a:ext uri="{FF2B5EF4-FFF2-40B4-BE49-F238E27FC236}">
                <a16:creationId xmlns:a16="http://schemas.microsoft.com/office/drawing/2014/main" id="{5AC47EC0-228B-D50E-35D5-95CA15820DD3}"/>
              </a:ext>
            </a:extLst>
          </p:cNvPr>
          <p:cNvSpPr/>
          <p:nvPr/>
        </p:nvSpPr>
        <p:spPr>
          <a:xfrm>
            <a:off x="6565900" y="3940610"/>
            <a:ext cx="4514849" cy="1097281"/>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Handle Failures Gracefully</a:t>
            </a:r>
          </a:p>
        </p:txBody>
      </p:sp>
    </p:spTree>
    <p:extLst>
      <p:ext uri="{BB962C8B-B14F-4D97-AF65-F5344CB8AC3E}">
        <p14:creationId xmlns:p14="http://schemas.microsoft.com/office/powerpoint/2010/main" val="1563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29278-AB7B-9882-BB77-CF9BDCCF71D0}"/>
              </a:ext>
            </a:extLst>
          </p:cNvPr>
          <p:cNvSpPr>
            <a:spLocks noGrp="1"/>
          </p:cNvSpPr>
          <p:nvPr>
            <p:ph type="title"/>
          </p:nvPr>
        </p:nvSpPr>
        <p:spPr/>
        <p:txBody>
          <a:bodyPr/>
          <a:lstStyle/>
          <a:p>
            <a:r>
              <a:rPr lang="en-US" dirty="0"/>
              <a:t>Resilience &amp; Reliability</a:t>
            </a:r>
          </a:p>
        </p:txBody>
      </p:sp>
      <p:sp>
        <p:nvSpPr>
          <p:cNvPr id="3" name="Text Placeholder 2">
            <a:extLst>
              <a:ext uri="{FF2B5EF4-FFF2-40B4-BE49-F238E27FC236}">
                <a16:creationId xmlns:a16="http://schemas.microsoft.com/office/drawing/2014/main" id="{8D1CE52F-8D68-5FD5-507E-BFE9F20C91E9}"/>
              </a:ext>
            </a:extLst>
          </p:cNvPr>
          <p:cNvSpPr>
            <a:spLocks noGrp="1"/>
          </p:cNvSpPr>
          <p:nvPr>
            <p:ph type="body" sz="quarter" idx="10"/>
          </p:nvPr>
        </p:nvSpPr>
        <p:spPr/>
        <p:txBody>
          <a:bodyPr/>
          <a:lstStyle/>
          <a:p>
            <a:r>
              <a:rPr lang="en-US" dirty="0"/>
              <a:t>Wrap-Up</a:t>
            </a:r>
          </a:p>
        </p:txBody>
      </p:sp>
    </p:spTree>
    <p:extLst>
      <p:ext uri="{BB962C8B-B14F-4D97-AF65-F5344CB8AC3E}">
        <p14:creationId xmlns:p14="http://schemas.microsoft.com/office/powerpoint/2010/main" val="11268719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AF1C-DA7B-5F4A-8778-A6641D944553}"/>
              </a:ext>
            </a:extLst>
          </p:cNvPr>
          <p:cNvSpPr>
            <a:spLocks noGrp="1"/>
          </p:cNvSpPr>
          <p:nvPr>
            <p:ph type="title"/>
          </p:nvPr>
        </p:nvSpPr>
        <p:spPr/>
        <p:txBody>
          <a:bodyPr/>
          <a:lstStyle/>
          <a:p>
            <a:r>
              <a:rPr lang="en-US" dirty="0"/>
              <a:t>Key Takeaways</a:t>
            </a:r>
          </a:p>
        </p:txBody>
      </p:sp>
      <p:sp>
        <p:nvSpPr>
          <p:cNvPr id="3" name="Rectangle: Rounded Corners 2">
            <a:extLst>
              <a:ext uri="{FF2B5EF4-FFF2-40B4-BE49-F238E27FC236}">
                <a16:creationId xmlns:a16="http://schemas.microsoft.com/office/drawing/2014/main" id="{2FDA141E-6096-6FA6-220A-262B93496A11}"/>
              </a:ext>
            </a:extLst>
          </p:cNvPr>
          <p:cNvSpPr/>
          <p:nvPr/>
        </p:nvSpPr>
        <p:spPr>
          <a:xfrm>
            <a:off x="547688" y="2498725"/>
            <a:ext cx="3576637" cy="18589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Circuit Breaker</a:t>
            </a:r>
          </a:p>
        </p:txBody>
      </p:sp>
      <p:sp>
        <p:nvSpPr>
          <p:cNvPr id="4" name="Rectangle: Rounded Corners 3">
            <a:extLst>
              <a:ext uri="{FF2B5EF4-FFF2-40B4-BE49-F238E27FC236}">
                <a16:creationId xmlns:a16="http://schemas.microsoft.com/office/drawing/2014/main" id="{246E66F7-4253-0A19-62D3-FE41073EE861}"/>
              </a:ext>
            </a:extLst>
          </p:cNvPr>
          <p:cNvSpPr/>
          <p:nvPr/>
        </p:nvSpPr>
        <p:spPr>
          <a:xfrm>
            <a:off x="4307681" y="2498726"/>
            <a:ext cx="3576637" cy="18589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Saga</a:t>
            </a:r>
          </a:p>
        </p:txBody>
      </p:sp>
      <p:sp>
        <p:nvSpPr>
          <p:cNvPr id="5" name="Rectangle: Rounded Corners 4">
            <a:extLst>
              <a:ext uri="{FF2B5EF4-FFF2-40B4-BE49-F238E27FC236}">
                <a16:creationId xmlns:a16="http://schemas.microsoft.com/office/drawing/2014/main" id="{C453D484-FAE6-25E6-9C54-8583B92364A6}"/>
              </a:ext>
            </a:extLst>
          </p:cNvPr>
          <p:cNvSpPr/>
          <p:nvPr/>
        </p:nvSpPr>
        <p:spPr>
          <a:xfrm>
            <a:off x="8067675" y="2498726"/>
            <a:ext cx="3576637" cy="18589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Sequential Convoy</a:t>
            </a:r>
          </a:p>
        </p:txBody>
      </p:sp>
    </p:spTree>
    <p:extLst>
      <p:ext uri="{BB962C8B-B14F-4D97-AF65-F5344CB8AC3E}">
        <p14:creationId xmlns:p14="http://schemas.microsoft.com/office/powerpoint/2010/main" val="25796409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3DB07-036F-21EA-0F3B-6B1DA4B6C50A}"/>
              </a:ext>
            </a:extLst>
          </p:cNvPr>
          <p:cNvSpPr>
            <a:spLocks noGrp="1"/>
          </p:cNvSpPr>
          <p:nvPr>
            <p:ph type="title"/>
          </p:nvPr>
        </p:nvSpPr>
        <p:spPr/>
        <p:txBody>
          <a:bodyPr>
            <a:normAutofit fontScale="90000"/>
          </a:bodyPr>
          <a:lstStyle/>
          <a:p>
            <a:r>
              <a:rPr lang="en-US" dirty="0"/>
              <a:t>Preview of What’s Next in the Workshop</a:t>
            </a:r>
          </a:p>
        </p:txBody>
      </p:sp>
      <p:sp>
        <p:nvSpPr>
          <p:cNvPr id="3" name="Primary Context Box">
            <a:extLst>
              <a:ext uri="{FF2B5EF4-FFF2-40B4-BE49-F238E27FC236}">
                <a16:creationId xmlns:a16="http://schemas.microsoft.com/office/drawing/2014/main" id="{95B70A07-A2B7-0815-C156-7D28D413F981}"/>
              </a:ext>
            </a:extLst>
          </p:cNvPr>
          <p:cNvSpPr/>
          <p:nvPr/>
        </p:nvSpPr>
        <p:spPr>
          <a:xfrm>
            <a:off x="1020762" y="1477963"/>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Messaging Essentials</a:t>
            </a:r>
          </a:p>
        </p:txBody>
      </p:sp>
      <p:sp>
        <p:nvSpPr>
          <p:cNvPr id="9" name="Rectangle: Rounded Corners 8">
            <a:extLst>
              <a:ext uri="{FF2B5EF4-FFF2-40B4-BE49-F238E27FC236}">
                <a16:creationId xmlns:a16="http://schemas.microsoft.com/office/drawing/2014/main" id="{F6F2E2BD-19F3-AC5C-1426-88F43624D2D7}"/>
              </a:ext>
            </a:extLst>
          </p:cNvPr>
          <p:cNvSpPr/>
          <p:nvPr/>
        </p:nvSpPr>
        <p:spPr>
          <a:xfrm>
            <a:off x="6657657" y="1477963"/>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Core Messaging Patterns</a:t>
            </a:r>
          </a:p>
        </p:txBody>
      </p:sp>
      <p:sp>
        <p:nvSpPr>
          <p:cNvPr id="10" name="Rectangle: Rounded Corners 9">
            <a:extLst>
              <a:ext uri="{FF2B5EF4-FFF2-40B4-BE49-F238E27FC236}">
                <a16:creationId xmlns:a16="http://schemas.microsoft.com/office/drawing/2014/main" id="{142B842D-B53E-1FEC-1C52-3EFA88D1946C}"/>
              </a:ext>
            </a:extLst>
          </p:cNvPr>
          <p:cNvSpPr/>
          <p:nvPr/>
        </p:nvSpPr>
        <p:spPr>
          <a:xfrm>
            <a:off x="1018856" y="2489483"/>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Routing &amp; Processing</a:t>
            </a:r>
          </a:p>
        </p:txBody>
      </p:sp>
      <p:sp>
        <p:nvSpPr>
          <p:cNvPr id="11" name="Rectangle: Rounded Corners 10">
            <a:extLst>
              <a:ext uri="{FF2B5EF4-FFF2-40B4-BE49-F238E27FC236}">
                <a16:creationId xmlns:a16="http://schemas.microsoft.com/office/drawing/2014/main" id="{6EFCEC62-ED8E-60DB-86A2-4A8BC0C98705}"/>
              </a:ext>
            </a:extLst>
          </p:cNvPr>
          <p:cNvSpPr/>
          <p:nvPr/>
        </p:nvSpPr>
        <p:spPr>
          <a:xfrm>
            <a:off x="6658610" y="2495815"/>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Advanced Processing Techniques</a:t>
            </a:r>
          </a:p>
        </p:txBody>
      </p:sp>
      <p:sp>
        <p:nvSpPr>
          <p:cNvPr id="12" name="Rectangle: Rounded Corners 11">
            <a:extLst>
              <a:ext uri="{FF2B5EF4-FFF2-40B4-BE49-F238E27FC236}">
                <a16:creationId xmlns:a16="http://schemas.microsoft.com/office/drawing/2014/main" id="{C2853758-C8FF-38BF-BF31-97889C27F874}"/>
              </a:ext>
            </a:extLst>
          </p:cNvPr>
          <p:cNvSpPr/>
          <p:nvPr/>
        </p:nvSpPr>
        <p:spPr>
          <a:xfrm>
            <a:off x="1018856" y="3526756"/>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Resilience &amp; Reliability</a:t>
            </a:r>
          </a:p>
        </p:txBody>
      </p:sp>
      <p:sp>
        <p:nvSpPr>
          <p:cNvPr id="13" name="Rectangle: Rounded Corners 12">
            <a:extLst>
              <a:ext uri="{FF2B5EF4-FFF2-40B4-BE49-F238E27FC236}">
                <a16:creationId xmlns:a16="http://schemas.microsoft.com/office/drawing/2014/main" id="{61CDBE5B-B45A-4425-B434-170136091110}"/>
              </a:ext>
            </a:extLst>
          </p:cNvPr>
          <p:cNvSpPr/>
          <p:nvPr/>
        </p:nvSpPr>
        <p:spPr>
          <a:xfrm>
            <a:off x="6658610" y="3520281"/>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Streaming &amp; Integrations</a:t>
            </a:r>
          </a:p>
        </p:txBody>
      </p:sp>
      <p:sp>
        <p:nvSpPr>
          <p:cNvPr id="14" name="Rectangle: Rounded Corners 13">
            <a:extLst>
              <a:ext uri="{FF2B5EF4-FFF2-40B4-BE49-F238E27FC236}">
                <a16:creationId xmlns:a16="http://schemas.microsoft.com/office/drawing/2014/main" id="{AE2DDD8E-54D6-645D-5959-085CB3501568}"/>
              </a:ext>
            </a:extLst>
          </p:cNvPr>
          <p:cNvSpPr/>
          <p:nvPr/>
        </p:nvSpPr>
        <p:spPr>
          <a:xfrm>
            <a:off x="1018858" y="4531801"/>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Data Considerations</a:t>
            </a:r>
          </a:p>
        </p:txBody>
      </p:sp>
      <p:sp>
        <p:nvSpPr>
          <p:cNvPr id="15" name="Rectangle: Rounded Corners 14">
            <a:extLst>
              <a:ext uri="{FF2B5EF4-FFF2-40B4-BE49-F238E27FC236}">
                <a16:creationId xmlns:a16="http://schemas.microsoft.com/office/drawing/2014/main" id="{F95599BB-3A5B-8440-C2DD-6A14FC4B8BFA}"/>
              </a:ext>
            </a:extLst>
          </p:cNvPr>
          <p:cNvSpPr/>
          <p:nvPr/>
        </p:nvSpPr>
        <p:spPr>
          <a:xfrm>
            <a:off x="6658610" y="4564239"/>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Hands-On Exercises</a:t>
            </a:r>
          </a:p>
        </p:txBody>
      </p:sp>
    </p:spTree>
    <p:extLst>
      <p:ext uri="{BB962C8B-B14F-4D97-AF65-F5344CB8AC3E}">
        <p14:creationId xmlns:p14="http://schemas.microsoft.com/office/powerpoint/2010/main" val="15231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mph" presetSubtype="2" fill="hold" nodeType="afterEffect">
                                  <p:stCondLst>
                                    <p:cond delay="0"/>
                                  </p:stCondLst>
                                  <p:childTnLst>
                                    <p:animClr clrSpc="rgb" dir="cw">
                                      <p:cBhvr>
                                        <p:cTn id="6" dur="1000" fill="hold"/>
                                        <p:tgtEl>
                                          <p:spTgt spid="3"/>
                                        </p:tgtEl>
                                        <p:attrNameLst>
                                          <p:attrName>fillcolor</p:attrName>
                                        </p:attrNameLst>
                                      </p:cBhvr>
                                      <p:to>
                                        <a:schemeClr val="accent2"/>
                                      </p:to>
                                    </p:animClr>
                                    <p:set>
                                      <p:cBhvr>
                                        <p:cTn id="7" dur="1000" fill="hold"/>
                                        <p:tgtEl>
                                          <p:spTgt spid="3"/>
                                        </p:tgtEl>
                                        <p:attrNameLst>
                                          <p:attrName>fill.type</p:attrName>
                                        </p:attrNameLst>
                                      </p:cBhvr>
                                      <p:to>
                                        <p:strVal val="solid"/>
                                      </p:to>
                                    </p:set>
                                    <p:set>
                                      <p:cBhvr>
                                        <p:cTn id="8" dur="1000" fill="hold"/>
                                        <p:tgtEl>
                                          <p:spTgt spid="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9"/>
                                        </p:tgtEl>
                                        <p:attrNameLst>
                                          <p:attrName>fillcolor</p:attrName>
                                        </p:attrNameLst>
                                      </p:cBhvr>
                                      <p:to>
                                        <a:schemeClr val="accent2"/>
                                      </p:to>
                                    </p:animClr>
                                    <p:set>
                                      <p:cBhvr>
                                        <p:cTn id="11" dur="1000" fill="hold"/>
                                        <p:tgtEl>
                                          <p:spTgt spid="9"/>
                                        </p:tgtEl>
                                        <p:attrNameLst>
                                          <p:attrName>fill.type</p:attrName>
                                        </p:attrNameLst>
                                      </p:cBhvr>
                                      <p:to>
                                        <p:strVal val="solid"/>
                                      </p:to>
                                    </p:set>
                                    <p:set>
                                      <p:cBhvr>
                                        <p:cTn id="12" dur="1000" fill="hold"/>
                                        <p:tgtEl>
                                          <p:spTgt spid="9"/>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1000" fill="hold"/>
                                        <p:tgtEl>
                                          <p:spTgt spid="10"/>
                                        </p:tgtEl>
                                        <p:attrNameLst>
                                          <p:attrName>fillcolor</p:attrName>
                                        </p:attrNameLst>
                                      </p:cBhvr>
                                      <p:to>
                                        <a:schemeClr val="accent2"/>
                                      </p:to>
                                    </p:animClr>
                                    <p:set>
                                      <p:cBhvr>
                                        <p:cTn id="15" dur="1000" fill="hold"/>
                                        <p:tgtEl>
                                          <p:spTgt spid="10"/>
                                        </p:tgtEl>
                                        <p:attrNameLst>
                                          <p:attrName>fill.type</p:attrName>
                                        </p:attrNameLst>
                                      </p:cBhvr>
                                      <p:to>
                                        <p:strVal val="solid"/>
                                      </p:to>
                                    </p:set>
                                    <p:set>
                                      <p:cBhvr>
                                        <p:cTn id="16" dur="1000" fill="hold"/>
                                        <p:tgtEl>
                                          <p:spTgt spid="10"/>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1000" fill="hold"/>
                                        <p:tgtEl>
                                          <p:spTgt spid="11"/>
                                        </p:tgtEl>
                                        <p:attrNameLst>
                                          <p:attrName>fillcolor</p:attrName>
                                        </p:attrNameLst>
                                      </p:cBhvr>
                                      <p:to>
                                        <a:schemeClr val="accent2"/>
                                      </p:to>
                                    </p:animClr>
                                    <p:set>
                                      <p:cBhvr>
                                        <p:cTn id="19" dur="1000" fill="hold"/>
                                        <p:tgtEl>
                                          <p:spTgt spid="11"/>
                                        </p:tgtEl>
                                        <p:attrNameLst>
                                          <p:attrName>fill.type</p:attrName>
                                        </p:attrNameLst>
                                      </p:cBhvr>
                                      <p:to>
                                        <p:strVal val="solid"/>
                                      </p:to>
                                    </p:set>
                                    <p:set>
                                      <p:cBhvr>
                                        <p:cTn id="20" dur="1000" fill="hold"/>
                                        <p:tgtEl>
                                          <p:spTgt spid="11"/>
                                        </p:tgtEl>
                                        <p:attrNameLst>
                                          <p:attrName>fill.on</p:attrName>
                                        </p:attrNameLst>
                                      </p:cBhvr>
                                      <p:to>
                                        <p:strVal val="true"/>
                                      </p:to>
                                    </p:set>
                                  </p:childTnLst>
                                </p:cTn>
                              </p:par>
                            </p:childTnLst>
                          </p:cTn>
                        </p:par>
                        <p:par>
                          <p:cTn id="21" fill="hold">
                            <p:stCondLst>
                              <p:cond delay="1000"/>
                            </p:stCondLst>
                            <p:childTnLst>
                              <p:par>
                                <p:cTn id="22" presetID="1" presetClass="emph" presetSubtype="2" fill="hold" grpId="0" nodeType="afterEffect">
                                  <p:stCondLst>
                                    <p:cond delay="0"/>
                                  </p:stCondLst>
                                  <p:childTnLst>
                                    <p:animClr clrSpc="rgb" dir="cw">
                                      <p:cBhvr>
                                        <p:cTn id="23" dur="1000" fill="hold"/>
                                        <p:tgtEl>
                                          <p:spTgt spid="12"/>
                                        </p:tgtEl>
                                        <p:attrNameLst>
                                          <p:attrName>fillcolor</p:attrName>
                                        </p:attrNameLst>
                                      </p:cBhvr>
                                      <p:to>
                                        <a:schemeClr val="hlink"/>
                                      </p:to>
                                    </p:animClr>
                                    <p:set>
                                      <p:cBhvr>
                                        <p:cTn id="24" dur="1000" fill="hold"/>
                                        <p:tgtEl>
                                          <p:spTgt spid="12"/>
                                        </p:tgtEl>
                                        <p:attrNameLst>
                                          <p:attrName>fill.type</p:attrName>
                                        </p:attrNameLst>
                                      </p:cBhvr>
                                      <p:to>
                                        <p:strVal val="solid"/>
                                      </p:to>
                                    </p:set>
                                    <p:set>
                                      <p:cBhvr>
                                        <p:cTn id="25" dur="1000" fill="hold"/>
                                        <p:tgtEl>
                                          <p:spTgt spid="12"/>
                                        </p:tgtEl>
                                        <p:attrNameLst>
                                          <p:attrName>fill.on</p:attrName>
                                        </p:attrNameLst>
                                      </p:cBhvr>
                                      <p:to>
                                        <p:strVal val="true"/>
                                      </p:to>
                                    </p:set>
                                  </p:childTnLst>
                                </p:cTn>
                              </p:par>
                            </p:childTnLst>
                          </p:cTn>
                        </p:par>
                      </p:childTnLst>
                    </p:cTn>
                  </p:par>
                  <p:par>
                    <p:cTn id="26" fill="hold">
                      <p:stCondLst>
                        <p:cond delay="indefinite"/>
                      </p:stCondLst>
                      <p:childTnLst>
                        <p:par>
                          <p:cTn id="27" fill="hold">
                            <p:stCondLst>
                              <p:cond delay="0"/>
                            </p:stCondLst>
                            <p:childTnLst>
                              <p:par>
                                <p:cTn id="28" presetID="1" presetClass="emph" presetSubtype="2" fill="hold" nodeType="clickEffect">
                                  <p:stCondLst>
                                    <p:cond delay="0"/>
                                  </p:stCondLst>
                                  <p:childTnLst>
                                    <p:animClr clrSpc="rgb" dir="cw">
                                      <p:cBhvr>
                                        <p:cTn id="29" dur="1000" fill="hold"/>
                                        <p:tgtEl>
                                          <p:spTgt spid="13"/>
                                        </p:tgtEl>
                                        <p:attrNameLst>
                                          <p:attrName>fillcolor</p:attrName>
                                        </p:attrNameLst>
                                      </p:cBhvr>
                                      <p:to>
                                        <a:srgbClr val="FF6600"/>
                                      </p:to>
                                    </p:animClr>
                                    <p:set>
                                      <p:cBhvr>
                                        <p:cTn id="30" dur="1000" fill="hold"/>
                                        <p:tgtEl>
                                          <p:spTgt spid="13"/>
                                        </p:tgtEl>
                                        <p:attrNameLst>
                                          <p:attrName>fill.type</p:attrName>
                                        </p:attrNameLst>
                                      </p:cBhvr>
                                      <p:to>
                                        <p:strVal val="solid"/>
                                      </p:to>
                                    </p:set>
                                    <p:set>
                                      <p:cBhvr>
                                        <p:cTn id="31" dur="1000" fill="hold"/>
                                        <p:tgtEl>
                                          <p:spTgt spid="1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44B82-55CE-FB20-C42D-0B173B973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666703-822D-5861-5FED-4B6A698B8D0B}"/>
              </a:ext>
            </a:extLst>
          </p:cNvPr>
          <p:cNvSpPr>
            <a:spLocks noGrp="1"/>
          </p:cNvSpPr>
          <p:nvPr>
            <p:ph type="title"/>
          </p:nvPr>
        </p:nvSpPr>
        <p:spPr/>
        <p:txBody>
          <a:bodyPr>
            <a:normAutofit fontScale="90000"/>
          </a:bodyPr>
          <a:lstStyle/>
          <a:p>
            <a:r>
              <a:rPr lang="en-US" dirty="0"/>
              <a:t>Preview of What’s Next in the Workshop</a:t>
            </a:r>
          </a:p>
        </p:txBody>
      </p:sp>
      <p:sp>
        <p:nvSpPr>
          <p:cNvPr id="13" name="Rectangle: Rounded Corners 12">
            <a:extLst>
              <a:ext uri="{FF2B5EF4-FFF2-40B4-BE49-F238E27FC236}">
                <a16:creationId xmlns:a16="http://schemas.microsoft.com/office/drawing/2014/main" id="{DB0E52B7-4E75-5CC4-BD67-F837F51CD602}"/>
              </a:ext>
            </a:extLst>
          </p:cNvPr>
          <p:cNvSpPr/>
          <p:nvPr/>
        </p:nvSpPr>
        <p:spPr>
          <a:xfrm>
            <a:off x="3838733" y="1486861"/>
            <a:ext cx="4514533" cy="838200"/>
          </a:xfrm>
          <a:prstGeom prst="roundRect">
            <a:avLst/>
          </a:prstGeom>
          <a:solidFill>
            <a:schemeClr val="accent4">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Streaming &amp; Integrations</a:t>
            </a:r>
          </a:p>
        </p:txBody>
      </p:sp>
      <p:sp>
        <p:nvSpPr>
          <p:cNvPr id="5" name="Rectangle: Rounded Corners 4">
            <a:extLst>
              <a:ext uri="{FF2B5EF4-FFF2-40B4-BE49-F238E27FC236}">
                <a16:creationId xmlns:a16="http://schemas.microsoft.com/office/drawing/2014/main" id="{CABB604C-1FAC-127D-347D-2F640906CE4A}"/>
              </a:ext>
            </a:extLst>
          </p:cNvPr>
          <p:cNvSpPr/>
          <p:nvPr/>
        </p:nvSpPr>
        <p:spPr>
          <a:xfrm>
            <a:off x="4777580" y="3521076"/>
            <a:ext cx="2636837"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Event Streaming</a:t>
            </a:r>
          </a:p>
        </p:txBody>
      </p:sp>
    </p:spTree>
    <p:extLst>
      <p:ext uri="{BB962C8B-B14F-4D97-AF65-F5344CB8AC3E}">
        <p14:creationId xmlns:p14="http://schemas.microsoft.com/office/powerpoint/2010/main" val="1096854876"/>
      </p:ext>
    </p:extLst>
  </p:cSld>
  <p:clrMapOvr>
    <a:masterClrMapping/>
  </p:clrMapOvr>
</p:sld>
</file>

<file path=ppt/theme/theme1.xml><?xml version="1.0" encoding="utf-8"?>
<a:theme xmlns:a="http://schemas.openxmlformats.org/drawingml/2006/main" name="Messaging Patterns Theme">
  <a:themeElements>
    <a:clrScheme name="Messaging Patterns">
      <a:dk1>
        <a:srgbClr val="333333"/>
      </a:dk1>
      <a:lt1>
        <a:srgbClr val="FFFFFF"/>
      </a:lt1>
      <a:dk2>
        <a:srgbClr val="003366"/>
      </a:dk2>
      <a:lt2>
        <a:srgbClr val="F4F6F7"/>
      </a:lt2>
      <a:accent1>
        <a:srgbClr val="003366"/>
      </a:accent1>
      <a:accent2>
        <a:srgbClr val="008080"/>
      </a:accent2>
      <a:accent3>
        <a:srgbClr val="DD3377"/>
      </a:accent3>
      <a:accent4>
        <a:srgbClr val="FF6600"/>
      </a:accent4>
      <a:accent5>
        <a:srgbClr val="3399FF"/>
      </a:accent5>
      <a:accent6>
        <a:srgbClr val="666666"/>
      </a:accent6>
      <a:hlink>
        <a:srgbClr val="3399FF"/>
      </a:hlink>
      <a:folHlink>
        <a:srgbClr val="DD3377"/>
      </a:folHlink>
    </a:clrScheme>
    <a:fontScheme name="Messaging Patterns">
      <a:majorFont>
        <a:latin typeface="Kamerik205 8"/>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74D1B7A-25F4-468A-BCD3-61BD71071BC8}" vid="{120AAE42-4739-44D7-83E5-4AE5E4AFEB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MessagingPatterns</Template>
  <TotalTime>1492</TotalTime>
  <Words>2956</Words>
  <Application>Microsoft Office PowerPoint</Application>
  <PresentationFormat>Widescreen</PresentationFormat>
  <Paragraphs>580</Paragraphs>
  <Slides>55</Slides>
  <Notes>25</Notes>
  <HiddenSlides>7</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Aptos</vt:lpstr>
      <vt:lpstr>Arial</vt:lpstr>
      <vt:lpstr>Inter</vt:lpstr>
      <vt:lpstr>Kamerik205 8</vt:lpstr>
      <vt:lpstr>Messaging Patterns Theme</vt:lpstr>
      <vt:lpstr>Theme Style Guide</vt:lpstr>
      <vt:lpstr>Style Guide: Color Palette (Base Colors)</vt:lpstr>
      <vt:lpstr>Style Guide: Color Palette (Accent Colors)</vt:lpstr>
      <vt:lpstr>Theme Style Guide: Typography</vt:lpstr>
      <vt:lpstr>Style Guide: Layouts</vt:lpstr>
      <vt:lpstr>Style Guide: Content Box Styles</vt:lpstr>
      <vt:lpstr>Style Guide: Content Box Fill Styling</vt:lpstr>
      <vt:lpstr>Resilience &amp; Reliability</vt:lpstr>
      <vt:lpstr>Resilience &amp; Reliablity</vt:lpstr>
      <vt:lpstr>What is the Circuit Breaker Pattern</vt:lpstr>
      <vt:lpstr>Key Components &amp; Flow</vt:lpstr>
      <vt:lpstr>Key Components &amp; Flow</vt:lpstr>
      <vt:lpstr>Benefits</vt:lpstr>
      <vt:lpstr>Drawbacks</vt:lpstr>
      <vt:lpstr>Use Cases</vt:lpstr>
      <vt:lpstr>Documentation</vt:lpstr>
      <vt:lpstr>Documentation</vt:lpstr>
      <vt:lpstr>Documentation</vt:lpstr>
      <vt:lpstr>Documentation</vt:lpstr>
      <vt:lpstr>Key Points to Remember</vt:lpstr>
      <vt:lpstr>Resilience &amp; Reliabiity</vt:lpstr>
      <vt:lpstr>What is the Saga Pattern</vt:lpstr>
      <vt:lpstr>Key Components &amp; Flow</vt:lpstr>
      <vt:lpstr>Key Components &amp; Flow</vt:lpstr>
      <vt:lpstr>Benefits</vt:lpstr>
      <vt:lpstr>Drawbacks</vt:lpstr>
      <vt:lpstr>Use Cases</vt:lpstr>
      <vt:lpstr>Documentation</vt:lpstr>
      <vt:lpstr>Documentation</vt:lpstr>
      <vt:lpstr>Documentation</vt:lpstr>
      <vt:lpstr>Documentation</vt:lpstr>
      <vt:lpstr>Documentation</vt:lpstr>
      <vt:lpstr>Documentation</vt:lpstr>
      <vt:lpstr>Documentation</vt:lpstr>
      <vt:lpstr>Documentation</vt:lpstr>
      <vt:lpstr>Documentation</vt:lpstr>
      <vt:lpstr>Key Points to Remember</vt:lpstr>
      <vt:lpstr>Resilience &amp; Reliability</vt:lpstr>
      <vt:lpstr>Looks like we have a convoy!</vt:lpstr>
      <vt:lpstr>What is the Sequence Convoy Pattern</vt:lpstr>
      <vt:lpstr>Key Components &amp; Flow</vt:lpstr>
      <vt:lpstr>Key Components &amp; Flow</vt:lpstr>
      <vt:lpstr>Benefits</vt:lpstr>
      <vt:lpstr>Drawbacks</vt:lpstr>
      <vt:lpstr>Use Cases</vt:lpstr>
      <vt:lpstr>Documentation</vt:lpstr>
      <vt:lpstr>Documentation</vt:lpstr>
      <vt:lpstr>Documentation</vt:lpstr>
      <vt:lpstr>Documentation</vt:lpstr>
      <vt:lpstr>Documentation</vt:lpstr>
      <vt:lpstr>Key Points to Remember</vt:lpstr>
      <vt:lpstr>Resilience &amp; Reliability</vt:lpstr>
      <vt:lpstr>Key Takeaways</vt:lpstr>
      <vt:lpstr>Preview of What’s Next in the Workshop</vt:lpstr>
      <vt:lpstr>Preview of What’s Next in the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Chad Green</dc:creator>
  <cp:lastModifiedBy>Chad Green</cp:lastModifiedBy>
  <cp:revision>52</cp:revision>
  <dcterms:created xsi:type="dcterms:W3CDTF">2025-07-21T02:58:25Z</dcterms:created>
  <dcterms:modified xsi:type="dcterms:W3CDTF">2025-07-27T17:38:10Z</dcterms:modified>
</cp:coreProperties>
</file>