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handoutMasterIdLst>
    <p:handoutMasterId r:id="rId56"/>
  </p:handoutMasterIdLst>
  <p:sldIdLst>
    <p:sldId id="257" r:id="rId2"/>
    <p:sldId id="258" r:id="rId3"/>
    <p:sldId id="261" r:id="rId4"/>
    <p:sldId id="259" r:id="rId5"/>
    <p:sldId id="260" r:id="rId6"/>
    <p:sldId id="262" r:id="rId7"/>
    <p:sldId id="263" r:id="rId8"/>
    <p:sldId id="290" r:id="rId9"/>
    <p:sldId id="380" r:id="rId10"/>
    <p:sldId id="291" r:id="rId11"/>
    <p:sldId id="389" r:id="rId12"/>
    <p:sldId id="390" r:id="rId13"/>
    <p:sldId id="293" r:id="rId14"/>
    <p:sldId id="294" r:id="rId15"/>
    <p:sldId id="295" r:id="rId16"/>
    <p:sldId id="391" r:id="rId17"/>
    <p:sldId id="392" r:id="rId18"/>
    <p:sldId id="393" r:id="rId19"/>
    <p:sldId id="394" r:id="rId20"/>
    <p:sldId id="395" r:id="rId21"/>
    <p:sldId id="396" r:id="rId22"/>
    <p:sldId id="397" r:id="rId23"/>
    <p:sldId id="398" r:id="rId24"/>
    <p:sldId id="399" r:id="rId25"/>
    <p:sldId id="400" r:id="rId26"/>
    <p:sldId id="401" r:id="rId27"/>
    <p:sldId id="402" r:id="rId28"/>
    <p:sldId id="403" r:id="rId29"/>
    <p:sldId id="404" r:id="rId30"/>
    <p:sldId id="405" r:id="rId31"/>
    <p:sldId id="406" r:id="rId32"/>
    <p:sldId id="407" r:id="rId33"/>
    <p:sldId id="408" r:id="rId34"/>
    <p:sldId id="409" r:id="rId35"/>
    <p:sldId id="410" r:id="rId36"/>
    <p:sldId id="411" r:id="rId37"/>
    <p:sldId id="412" r:id="rId38"/>
    <p:sldId id="414" r:id="rId39"/>
    <p:sldId id="418" r:id="rId40"/>
    <p:sldId id="415" r:id="rId41"/>
    <p:sldId id="416" r:id="rId42"/>
    <p:sldId id="417" r:id="rId43"/>
    <p:sldId id="419" r:id="rId44"/>
    <p:sldId id="420" r:id="rId45"/>
    <p:sldId id="421" r:id="rId46"/>
    <p:sldId id="422" r:id="rId47"/>
    <p:sldId id="423" r:id="rId48"/>
    <p:sldId id="424" r:id="rId49"/>
    <p:sldId id="425" r:id="rId50"/>
    <p:sldId id="426" r:id="rId51"/>
    <p:sldId id="427" r:id="rId52"/>
    <p:sldId id="447" r:id="rId53"/>
    <p:sldId id="44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me Style Guide" id="{532ADC95-8B68-4F96-9A13-E35FA0E58553}">
          <p14:sldIdLst>
            <p14:sldId id="257"/>
            <p14:sldId id="258"/>
            <p14:sldId id="261"/>
            <p14:sldId id="259"/>
            <p14:sldId id="260"/>
            <p14:sldId id="262"/>
            <p14:sldId id="263"/>
          </p14:sldIdLst>
        </p14:section>
        <p14:section name="Introduction" id="{90983BA4-56F5-46A5-87FD-742FE9977CDE}">
          <p14:sldIdLst>
            <p14:sldId id="290"/>
          </p14:sldIdLst>
        </p14:section>
        <p14:section name="Idempotent Receiver" id="{9F985ADF-C0EF-4554-82B5-70E2436ED504}">
          <p14:sldIdLst>
            <p14:sldId id="380"/>
            <p14:sldId id="291"/>
            <p14:sldId id="389"/>
            <p14:sldId id="390"/>
            <p14:sldId id="293"/>
            <p14:sldId id="294"/>
            <p14:sldId id="295"/>
            <p14:sldId id="391"/>
            <p14:sldId id="392"/>
            <p14:sldId id="393"/>
            <p14:sldId id="394"/>
            <p14:sldId id="395"/>
            <p14:sldId id="396"/>
            <p14:sldId id="397"/>
          </p14:sldIdLst>
        </p14:section>
        <p14:section name="Messaging Scheduling" id="{8EEBBF5D-F8F5-4D79-9C1B-0644F7DA1EED}">
          <p14:sldIdLst>
            <p14:sldId id="398"/>
            <p14:sldId id="399"/>
            <p14:sldId id="400"/>
            <p14:sldId id="401"/>
            <p14:sldId id="402"/>
            <p14:sldId id="403"/>
            <p14:sldId id="404"/>
            <p14:sldId id="405"/>
            <p14:sldId id="406"/>
            <p14:sldId id="407"/>
            <p14:sldId id="408"/>
            <p14:sldId id="409"/>
            <p14:sldId id="410"/>
          </p14:sldIdLst>
        </p14:section>
        <p14:section name="Claim Checks" id="{6B5AE68C-60C0-4F5E-BF57-DFC7F0315F53}">
          <p14:sldIdLst>
            <p14:sldId id="411"/>
            <p14:sldId id="412"/>
            <p14:sldId id="414"/>
            <p14:sldId id="418"/>
            <p14:sldId id="415"/>
            <p14:sldId id="416"/>
            <p14:sldId id="417"/>
            <p14:sldId id="419"/>
            <p14:sldId id="420"/>
            <p14:sldId id="421"/>
            <p14:sldId id="422"/>
            <p14:sldId id="423"/>
            <p14:sldId id="424"/>
            <p14:sldId id="425"/>
          </p14:sldIdLst>
        </p14:section>
        <p14:section name="Wrap Up" id="{49C6A9BA-AA52-4AD6-B69F-1E35FC0890D2}">
          <p14:sldIdLst>
            <p14:sldId id="426"/>
            <p14:sldId id="427"/>
            <p14:sldId id="447"/>
            <p14:sldId id="44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2563" autoAdjust="0"/>
  </p:normalViewPr>
  <p:slideViewPr>
    <p:cSldViewPr snapToGrid="0" showGuides="1">
      <p:cViewPr varScale="1">
        <p:scale>
          <a:sx n="103" d="100"/>
          <a:sy n="103" d="100"/>
        </p:scale>
        <p:origin x="138"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65F2EF8-1963-4D06-0037-190C2628E8E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3C1DDF5-DDBF-7F05-6959-EDD7EE8CD5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64EA34-5607-42FC-A5EC-B3EB34B980C7}" type="datetimeFigureOut">
              <a:rPr lang="en-US" smtClean="0"/>
              <a:t>7/27/2025</a:t>
            </a:fld>
            <a:endParaRPr lang="en-US"/>
          </a:p>
        </p:txBody>
      </p:sp>
      <p:sp>
        <p:nvSpPr>
          <p:cNvPr id="4" name="Footer Placeholder 3">
            <a:extLst>
              <a:ext uri="{FF2B5EF4-FFF2-40B4-BE49-F238E27FC236}">
                <a16:creationId xmlns:a16="http://schemas.microsoft.com/office/drawing/2014/main" id="{7F37E494-0D1E-4B7E-8DC6-C5FDF16C7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D9A15D4-5BB1-9A3E-5C4E-00538AFC1B1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32A3B4-E1AE-4DAF-AAB0-E27DAAB565AA}" type="slidenum">
              <a:rPr lang="en-US" smtClean="0"/>
              <a:t>‹#›</a:t>
            </a:fld>
            <a:endParaRPr lang="en-US"/>
          </a:p>
        </p:txBody>
      </p:sp>
    </p:spTree>
    <p:extLst>
      <p:ext uri="{BB962C8B-B14F-4D97-AF65-F5344CB8AC3E}">
        <p14:creationId xmlns:p14="http://schemas.microsoft.com/office/powerpoint/2010/main" val="1961642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B21A4E-9E2A-47D2-8D53-809F7F857FEB}" type="datetimeFigureOut">
              <a:rPr lang="en-US" smtClean="0"/>
              <a:t>7/27/2025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000ACD-0348-4F47-9C35-586193A86BF3}" type="slidenum">
              <a:rPr lang="en-US" smtClean="0"/>
              <a:t>‹#›</a:t>
            </a:fld>
            <a:endParaRPr lang="en-US"/>
          </a:p>
        </p:txBody>
      </p:sp>
    </p:spTree>
    <p:extLst>
      <p:ext uri="{BB962C8B-B14F-4D97-AF65-F5344CB8AC3E}">
        <p14:creationId xmlns:p14="http://schemas.microsoft.com/office/powerpoint/2010/main" val="31069551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a:t>
            </a:r>
            <a:r>
              <a:rPr lang="en-US" b="1" dirty="0"/>
              <a:t>Advanced Processing Techniques</a:t>
            </a:r>
            <a:r>
              <a:rPr lang="en-US" b="0" dirty="0"/>
              <a:t> module. In this section, we will explore sophisticated patterns that elevate the reliability and efficiency of your messaging solutions. These advanced techniques are crucial for handling complex messaging scenarios and ensuring that your systems can scale and perform under various conditions.</a:t>
            </a:r>
          </a:p>
          <a:p>
            <a:endParaRPr lang="en-US" b="0" dirty="0"/>
          </a:p>
          <a:p>
            <a:r>
              <a:rPr lang="en-US" b="0" dirty="0"/>
              <a:t>BY the end of this module, you will be equipped with the knowledge to implement advanced processing techniques, making your messaging systems more resilient and efficient. </a:t>
            </a:r>
            <a:r>
              <a:rPr lang="en-US" b="0"/>
              <a:t>So, let’s enhance your messaging capabilities to tackle even the most challenging scenarios!</a:t>
            </a:r>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8</a:t>
            </a:fld>
            <a:endParaRPr lang="en-US"/>
          </a:p>
        </p:txBody>
      </p:sp>
    </p:spTree>
    <p:extLst>
      <p:ext uri="{BB962C8B-B14F-4D97-AF65-F5344CB8AC3E}">
        <p14:creationId xmlns:p14="http://schemas.microsoft.com/office/powerpoint/2010/main" val="152102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919A6-93D7-3B61-CAC3-7767CE5D1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0E1A5-F881-6111-AAF4-6C96AE9E73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BC8EE-773C-2549-19DC-529606462FFD}"/>
              </a:ext>
            </a:extLst>
          </p:cNvPr>
          <p:cNvSpPr>
            <a:spLocks noGrp="1"/>
          </p:cNvSpPr>
          <p:nvPr>
            <p:ph type="body" idx="1"/>
          </p:nvPr>
        </p:nvSpPr>
        <p:spPr/>
        <p:txBody>
          <a:bodyPr/>
          <a:lstStyle/>
          <a:p>
            <a:r>
              <a:rPr lang="en-US" b="1" u="sng" dirty="0"/>
              <a:t>Definition</a:t>
            </a:r>
            <a:endParaRPr lang="en-US" b="0" u="none" dirty="0"/>
          </a:p>
          <a:p>
            <a:r>
              <a:rPr lang="en-US" b="0" u="none" dirty="0"/>
              <a:t>The Idempotent Receiver pattern ensures that a message is processed exactly once, even if the message is received multiple times. This is achieved by designing the receiver to recognize and discard duplicate messages.</a:t>
            </a:r>
          </a:p>
          <a:p>
            <a:endParaRPr lang="en-US" b="0" u="none" dirty="0"/>
          </a:p>
          <a:p>
            <a:r>
              <a:rPr lang="en-US" b="1" u="sng" dirty="0"/>
              <a:t>Purpose</a:t>
            </a:r>
            <a:endParaRPr lang="en-US" b="0" u="none" dirty="0"/>
          </a:p>
          <a:p>
            <a:r>
              <a:rPr lang="en-US" b="0" u="none" dirty="0"/>
              <a:t>The purpose of the Idempotent Receiver pattern is to prevent duplicate processing of messages, ensuring reliable and accurate message handling.</a:t>
            </a:r>
            <a:endParaRPr lang="en-US" b="1" u="sng" dirty="0"/>
          </a:p>
        </p:txBody>
      </p:sp>
      <p:sp>
        <p:nvSpPr>
          <p:cNvPr id="4" name="Slide Number Placeholder 3">
            <a:extLst>
              <a:ext uri="{FF2B5EF4-FFF2-40B4-BE49-F238E27FC236}">
                <a16:creationId xmlns:a16="http://schemas.microsoft.com/office/drawing/2014/main" id="{6E4B305B-4319-5242-FACB-CE7FA5B8C41A}"/>
              </a:ext>
            </a:extLst>
          </p:cNvPr>
          <p:cNvSpPr>
            <a:spLocks noGrp="1"/>
          </p:cNvSpPr>
          <p:nvPr>
            <p:ph type="sldNum" sz="quarter" idx="5"/>
          </p:nvPr>
        </p:nvSpPr>
        <p:spPr/>
        <p:txBody>
          <a:bodyPr/>
          <a:lstStyle/>
          <a:p>
            <a:fld id="{F5000ACD-0348-4F47-9C35-586193A86BF3}" type="slidenum">
              <a:rPr lang="en-US" smtClean="0"/>
              <a:t>10</a:t>
            </a:fld>
            <a:endParaRPr lang="en-US"/>
          </a:p>
        </p:txBody>
      </p:sp>
    </p:spTree>
    <p:extLst>
      <p:ext uri="{BB962C8B-B14F-4D97-AF65-F5344CB8AC3E}">
        <p14:creationId xmlns:p14="http://schemas.microsoft.com/office/powerpoint/2010/main" val="378485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F52F2-D64E-21DB-3CAE-9A5CA3D93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A7A82-28AB-2463-F1B7-262328161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448098-2C73-43E0-1D80-3C7DD2DA1170}"/>
              </a:ext>
            </a:extLst>
          </p:cNvPr>
          <p:cNvSpPr>
            <a:spLocks noGrp="1"/>
          </p:cNvSpPr>
          <p:nvPr>
            <p:ph type="body" idx="1"/>
          </p:nvPr>
        </p:nvSpPr>
        <p:spPr/>
        <p:txBody>
          <a:bodyPr/>
          <a:lstStyle/>
          <a:p>
            <a:r>
              <a:rPr lang="en-US" b="1" dirty="0"/>
              <a:t>Unique Message Identifiers</a:t>
            </a:r>
            <a:r>
              <a:rPr lang="en-US" b="0" dirty="0"/>
              <a:t>: Use unique identifiers for each message to track which messages have been processed.</a:t>
            </a:r>
          </a:p>
          <a:p>
            <a:endParaRPr lang="en-US" b="0" dirty="0"/>
          </a:p>
          <a:p>
            <a:r>
              <a:rPr lang="en-US" b="1" dirty="0"/>
              <a:t>State Storage</a:t>
            </a:r>
            <a:r>
              <a:rPr lang="en-US" b="0" dirty="0"/>
              <a:t>: Maintain a state storage system (e.g., database, in-memory cache) to store and check the processing status of messages.</a:t>
            </a:r>
          </a:p>
          <a:p>
            <a:endParaRPr lang="en-US" b="0" dirty="0"/>
          </a:p>
          <a:p>
            <a:r>
              <a:rPr lang="en-US" b="1" dirty="0"/>
              <a:t>Idempotent Processing Logic</a:t>
            </a:r>
            <a:r>
              <a:rPr lang="en-US" b="0" dirty="0"/>
              <a:t>: Implement logic in the receiver to check for duplicate messages and discard them if they have already been processed.</a:t>
            </a:r>
            <a:endParaRPr lang="en-US" b="1" dirty="0"/>
          </a:p>
        </p:txBody>
      </p:sp>
      <p:sp>
        <p:nvSpPr>
          <p:cNvPr id="4" name="Slide Number Placeholder 3">
            <a:extLst>
              <a:ext uri="{FF2B5EF4-FFF2-40B4-BE49-F238E27FC236}">
                <a16:creationId xmlns:a16="http://schemas.microsoft.com/office/drawing/2014/main" id="{EC85AB3F-76F3-3599-1F66-9B8BB07537B8}"/>
              </a:ext>
            </a:extLst>
          </p:cNvPr>
          <p:cNvSpPr>
            <a:spLocks noGrp="1"/>
          </p:cNvSpPr>
          <p:nvPr>
            <p:ph type="sldNum" sz="quarter" idx="5"/>
          </p:nvPr>
        </p:nvSpPr>
        <p:spPr/>
        <p:txBody>
          <a:bodyPr/>
          <a:lstStyle/>
          <a:p>
            <a:fld id="{F5000ACD-0348-4F47-9C35-586193A86BF3}" type="slidenum">
              <a:rPr lang="en-US" smtClean="0"/>
              <a:t>11</a:t>
            </a:fld>
            <a:endParaRPr lang="en-US"/>
          </a:p>
        </p:txBody>
      </p:sp>
    </p:spTree>
    <p:extLst>
      <p:ext uri="{BB962C8B-B14F-4D97-AF65-F5344CB8AC3E}">
        <p14:creationId xmlns:p14="http://schemas.microsoft.com/office/powerpoint/2010/main" val="31446923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92D1F-2074-ED9D-D70B-9AACEEC330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421798-D19B-DB9A-889E-F17B7CC7C4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C2F72-56DE-2748-EDA6-64AE4DEF07F8}"/>
              </a:ext>
            </a:extLst>
          </p:cNvPr>
          <p:cNvSpPr>
            <a:spLocks noGrp="1"/>
          </p:cNvSpPr>
          <p:nvPr>
            <p:ph type="body" idx="1"/>
          </p:nvPr>
        </p:nvSpPr>
        <p:spPr/>
        <p:txBody>
          <a:bodyPr/>
          <a:lstStyle/>
          <a:p>
            <a:r>
              <a:rPr lang="en-US" b="1" dirty="0"/>
              <a:t>Unique Message Identifiers</a:t>
            </a:r>
            <a:r>
              <a:rPr lang="en-US" b="0" dirty="0"/>
              <a:t>: Use unique identifiers for each message to track which messages have been processed.</a:t>
            </a:r>
          </a:p>
          <a:p>
            <a:endParaRPr lang="en-US" b="0" dirty="0"/>
          </a:p>
          <a:p>
            <a:r>
              <a:rPr lang="en-US" b="1" dirty="0"/>
              <a:t>State Storage</a:t>
            </a:r>
            <a:r>
              <a:rPr lang="en-US" b="0" dirty="0"/>
              <a:t>: Maintain a state storage system (e.g., database, in-memory cache) to store and check the processing status of messages.</a:t>
            </a:r>
          </a:p>
          <a:p>
            <a:endParaRPr lang="en-US" b="0" dirty="0"/>
          </a:p>
          <a:p>
            <a:r>
              <a:rPr lang="en-US" b="1" dirty="0"/>
              <a:t>Idempotent Processing Logic</a:t>
            </a:r>
            <a:r>
              <a:rPr lang="en-US" b="0" dirty="0"/>
              <a:t>: Implement logic in the receiver to check for duplicate messages and discard them if they have already been processed.</a:t>
            </a:r>
            <a:endParaRPr lang="en-US" b="1" dirty="0"/>
          </a:p>
        </p:txBody>
      </p:sp>
      <p:sp>
        <p:nvSpPr>
          <p:cNvPr id="4" name="Slide Number Placeholder 3">
            <a:extLst>
              <a:ext uri="{FF2B5EF4-FFF2-40B4-BE49-F238E27FC236}">
                <a16:creationId xmlns:a16="http://schemas.microsoft.com/office/drawing/2014/main" id="{E1E23D65-1CC5-7158-1FCB-4D1F61F0A95D}"/>
              </a:ext>
            </a:extLst>
          </p:cNvPr>
          <p:cNvSpPr>
            <a:spLocks noGrp="1"/>
          </p:cNvSpPr>
          <p:nvPr>
            <p:ph type="sldNum" sz="quarter" idx="5"/>
          </p:nvPr>
        </p:nvSpPr>
        <p:spPr/>
        <p:txBody>
          <a:bodyPr/>
          <a:lstStyle/>
          <a:p>
            <a:fld id="{F5000ACD-0348-4F47-9C35-586193A86BF3}" type="slidenum">
              <a:rPr lang="en-US" smtClean="0"/>
              <a:t>12</a:t>
            </a:fld>
            <a:endParaRPr lang="en-US"/>
          </a:p>
        </p:txBody>
      </p:sp>
    </p:spTree>
    <p:extLst>
      <p:ext uri="{BB962C8B-B14F-4D97-AF65-F5344CB8AC3E}">
        <p14:creationId xmlns:p14="http://schemas.microsoft.com/office/powerpoint/2010/main" val="4474886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none" dirty="0"/>
              <a:t>Data Integrity</a:t>
            </a:r>
            <a:r>
              <a:rPr lang="en-US" b="0" u="none" dirty="0"/>
              <a:t>: Ensures that each message is processed exactly once, maintaining accurate and consistent data.</a:t>
            </a:r>
          </a:p>
          <a:p>
            <a:endParaRPr lang="en-US" b="0" u="none" dirty="0"/>
          </a:p>
          <a:p>
            <a:r>
              <a:rPr lang="en-US" b="1" u="none" dirty="0"/>
              <a:t>Reliability</a:t>
            </a:r>
            <a:r>
              <a:rPr lang="en-US" b="0" u="none" dirty="0"/>
              <a:t>: Prevents duplicate processing, reducing the risk of errors and inconsistencies in the system.</a:t>
            </a:r>
          </a:p>
          <a:p>
            <a:endParaRPr lang="en-US" b="0" u="none" dirty="0"/>
          </a:p>
          <a:p>
            <a:r>
              <a:rPr lang="en-US" b="1" u="none" dirty="0"/>
              <a:t>Efficiency</a:t>
            </a:r>
            <a:r>
              <a:rPr lang="en-US" b="0" u="none" dirty="0"/>
              <a:t>: Minimizes unnecessary processing by discarding duplicate messages, optimizing resource usage.</a:t>
            </a:r>
            <a:endParaRPr lang="en-US" b="1" u="none" dirty="0"/>
          </a:p>
        </p:txBody>
      </p:sp>
      <p:sp>
        <p:nvSpPr>
          <p:cNvPr id="4" name="Slide Number Placeholder 3"/>
          <p:cNvSpPr>
            <a:spLocks noGrp="1"/>
          </p:cNvSpPr>
          <p:nvPr>
            <p:ph type="sldNum" sz="quarter" idx="5"/>
          </p:nvPr>
        </p:nvSpPr>
        <p:spPr/>
        <p:txBody>
          <a:bodyPr/>
          <a:lstStyle/>
          <a:p>
            <a:fld id="{F5000ACD-0348-4F47-9C35-586193A86BF3}" type="slidenum">
              <a:rPr lang="en-US" smtClean="0"/>
              <a:t>13</a:t>
            </a:fld>
            <a:endParaRPr lang="en-US"/>
          </a:p>
        </p:txBody>
      </p:sp>
    </p:spTree>
    <p:extLst>
      <p:ext uri="{BB962C8B-B14F-4D97-AF65-F5344CB8AC3E}">
        <p14:creationId xmlns:p14="http://schemas.microsoft.com/office/powerpoint/2010/main" val="3989978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B5D7A-F7E6-B545-0C35-C0DDB38B29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9B056B-5A41-24D4-BF72-9178B8986C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F2EE9-4C13-30A7-7AB2-2E71D725DCD6}"/>
              </a:ext>
            </a:extLst>
          </p:cNvPr>
          <p:cNvSpPr>
            <a:spLocks noGrp="1"/>
          </p:cNvSpPr>
          <p:nvPr>
            <p:ph type="body" idx="1"/>
          </p:nvPr>
        </p:nvSpPr>
        <p:spPr/>
        <p:txBody>
          <a:bodyPr/>
          <a:lstStyle/>
          <a:p>
            <a:r>
              <a:rPr lang="en-US" b="1" u="none" dirty="0"/>
              <a:t>Complexity</a:t>
            </a:r>
            <a:r>
              <a:rPr lang="en-US" b="0" u="none" dirty="0"/>
              <a:t>: Implementing idempotent processing logic adds complexity to the system design.</a:t>
            </a:r>
          </a:p>
          <a:p>
            <a:endParaRPr lang="en-US" b="0" u="none" dirty="0"/>
          </a:p>
          <a:p>
            <a:r>
              <a:rPr lang="en-US" b="1" u="none" dirty="0"/>
              <a:t>State Management</a:t>
            </a:r>
            <a:r>
              <a:rPr lang="en-US" b="0" u="none" dirty="0"/>
              <a:t>: Requires maintaining state information to identify and discard duplicate messages.</a:t>
            </a:r>
            <a:endParaRPr lang="en-US" b="1" u="none" dirty="0"/>
          </a:p>
        </p:txBody>
      </p:sp>
      <p:sp>
        <p:nvSpPr>
          <p:cNvPr id="4" name="Slide Number Placeholder 3">
            <a:extLst>
              <a:ext uri="{FF2B5EF4-FFF2-40B4-BE49-F238E27FC236}">
                <a16:creationId xmlns:a16="http://schemas.microsoft.com/office/drawing/2014/main" id="{91CBECDD-25DD-66C2-B08E-620CAADAE1AD}"/>
              </a:ext>
            </a:extLst>
          </p:cNvPr>
          <p:cNvSpPr>
            <a:spLocks noGrp="1"/>
          </p:cNvSpPr>
          <p:nvPr>
            <p:ph type="sldNum" sz="quarter" idx="5"/>
          </p:nvPr>
        </p:nvSpPr>
        <p:spPr/>
        <p:txBody>
          <a:bodyPr/>
          <a:lstStyle/>
          <a:p>
            <a:fld id="{F5000ACD-0348-4F47-9C35-586193A86BF3}" type="slidenum">
              <a:rPr lang="en-US" smtClean="0"/>
              <a:t>14</a:t>
            </a:fld>
            <a:endParaRPr lang="en-US"/>
          </a:p>
        </p:txBody>
      </p:sp>
    </p:spTree>
    <p:extLst>
      <p:ext uri="{BB962C8B-B14F-4D97-AF65-F5344CB8AC3E}">
        <p14:creationId xmlns:p14="http://schemas.microsoft.com/office/powerpoint/2010/main" val="7137547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5CF97-B27D-4F19-22FE-00ADB108B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5161F1-B2D1-F312-4DED-0019346334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3F1A6-E3E6-FF27-5297-647872B6EA33}"/>
              </a:ext>
            </a:extLst>
          </p:cNvPr>
          <p:cNvSpPr>
            <a:spLocks noGrp="1"/>
          </p:cNvSpPr>
          <p:nvPr>
            <p:ph type="body" idx="1"/>
          </p:nvPr>
        </p:nvSpPr>
        <p:spPr/>
        <p:txBody>
          <a:bodyPr/>
          <a:lstStyle/>
          <a:p>
            <a:r>
              <a:rPr lang="en-US" b="1" u="sng" dirty="0"/>
              <a:t>Payment Processing</a:t>
            </a:r>
            <a:endParaRPr lang="en-US" b="0" u="none" dirty="0"/>
          </a:p>
          <a:p>
            <a:r>
              <a:rPr lang="en-US" b="0" u="none" dirty="0"/>
              <a:t>Ensuring that payment transactions are processed only once, even if the payment request is received multiple times due to network issues.</a:t>
            </a:r>
          </a:p>
          <a:p>
            <a:endParaRPr lang="en-US" b="0" u="none" dirty="0"/>
          </a:p>
          <a:p>
            <a:r>
              <a:rPr lang="en-US" b="1" u="sng" dirty="0"/>
              <a:t>Order Management</a:t>
            </a:r>
            <a:endParaRPr lang="en-US" b="0" u="none" dirty="0"/>
          </a:p>
          <a:p>
            <a:r>
              <a:rPr lang="en-US" b="0" u="none" dirty="0"/>
              <a:t>Preventing duplicate order creation when multiple requests are received for the same order.</a:t>
            </a:r>
          </a:p>
          <a:p>
            <a:endParaRPr lang="en-US" b="0" u="none" dirty="0"/>
          </a:p>
          <a:p>
            <a:r>
              <a:rPr lang="en-US" b="1" u="sng" dirty="0"/>
              <a:t>Inventory Updates</a:t>
            </a:r>
            <a:endParaRPr lang="en-US" b="0" u="none" dirty="0"/>
          </a:p>
          <a:p>
            <a:r>
              <a:rPr lang="en-US" b="0" u="none" dirty="0"/>
              <a:t>Ensuring inventory counts are updated correctly without duplication when the same update message is received more than once.</a:t>
            </a:r>
            <a:endParaRPr lang="en-US" b="1" u="sng" dirty="0"/>
          </a:p>
        </p:txBody>
      </p:sp>
      <p:sp>
        <p:nvSpPr>
          <p:cNvPr id="4" name="Slide Number Placeholder 3">
            <a:extLst>
              <a:ext uri="{FF2B5EF4-FFF2-40B4-BE49-F238E27FC236}">
                <a16:creationId xmlns:a16="http://schemas.microsoft.com/office/drawing/2014/main" id="{120C23AC-8EA3-1136-C25A-7D712BB97802}"/>
              </a:ext>
            </a:extLst>
          </p:cNvPr>
          <p:cNvSpPr>
            <a:spLocks noGrp="1"/>
          </p:cNvSpPr>
          <p:nvPr>
            <p:ph type="sldNum" sz="quarter" idx="5"/>
          </p:nvPr>
        </p:nvSpPr>
        <p:spPr/>
        <p:txBody>
          <a:bodyPr/>
          <a:lstStyle/>
          <a:p>
            <a:fld id="{F5000ACD-0348-4F47-9C35-586193A86BF3}" type="slidenum">
              <a:rPr lang="en-US" smtClean="0"/>
              <a:t>15</a:t>
            </a:fld>
            <a:endParaRPr lang="en-US"/>
          </a:p>
        </p:txBody>
      </p:sp>
    </p:spTree>
    <p:extLst>
      <p:ext uri="{BB962C8B-B14F-4D97-AF65-F5344CB8AC3E}">
        <p14:creationId xmlns:p14="http://schemas.microsoft.com/office/powerpoint/2010/main" val="5998161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Use Unique Identifiers</a:t>
            </a:r>
            <a:r>
              <a:rPr lang="en-US" b="0" dirty="0"/>
              <a:t>: Assign unique identifiers to each message to facilitate tracking and identification.</a:t>
            </a:r>
          </a:p>
          <a:p>
            <a:endParaRPr lang="en-US" b="0" dirty="0"/>
          </a:p>
          <a:p>
            <a:r>
              <a:rPr lang="en-US" b="1" dirty="0"/>
              <a:t>Maintain Processing State</a:t>
            </a:r>
            <a:r>
              <a:rPr lang="en-US" b="0" dirty="0"/>
              <a:t>: Use state storage to keep track of processed messages and prevent duplicate processing.</a:t>
            </a:r>
          </a:p>
          <a:p>
            <a:endParaRPr lang="en-US" b="0" dirty="0"/>
          </a:p>
          <a:p>
            <a:r>
              <a:rPr lang="en-US" b="1" dirty="0"/>
              <a:t>Implement Idempotent Logic</a:t>
            </a:r>
            <a:r>
              <a:rPr lang="en-US" b="0" dirty="0"/>
              <a:t>: Design the receiver to recognize and discard duplicate messages based on their unique identifiers.</a:t>
            </a:r>
          </a:p>
          <a:p>
            <a:endParaRPr lang="en-US" b="0" dirty="0"/>
          </a:p>
          <a:p>
            <a:r>
              <a:rPr lang="en-US" b="1" dirty="0"/>
              <a:t>Monitor and Audit</a:t>
            </a:r>
            <a:r>
              <a:rPr lang="en-US" b="0" dirty="0"/>
              <a:t>: Continuously monitor the system and audit message processing to ensure the idempotent receiver is functioning correctly.</a:t>
            </a:r>
            <a:endParaRPr lang="en-US" b="1" dirty="0"/>
          </a:p>
        </p:txBody>
      </p:sp>
      <p:sp>
        <p:nvSpPr>
          <p:cNvPr id="4" name="Slide Number Placeholder 3"/>
          <p:cNvSpPr>
            <a:spLocks noGrp="1"/>
          </p:cNvSpPr>
          <p:nvPr>
            <p:ph type="sldNum" sz="quarter" idx="5"/>
          </p:nvPr>
        </p:nvSpPr>
        <p:spPr/>
        <p:txBody>
          <a:bodyPr/>
          <a:lstStyle/>
          <a:p>
            <a:fld id="{F5000ACD-0348-4F47-9C35-586193A86BF3}" type="slidenum">
              <a:rPr lang="en-US" smtClean="0"/>
              <a:t>22</a:t>
            </a:fld>
            <a:endParaRPr lang="en-US"/>
          </a:p>
        </p:txBody>
      </p:sp>
    </p:spTree>
    <p:extLst>
      <p:ext uri="{BB962C8B-B14F-4D97-AF65-F5344CB8AC3E}">
        <p14:creationId xmlns:p14="http://schemas.microsoft.com/office/powerpoint/2010/main" val="22558241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D37C-7D52-2678-729D-D7617394E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C5010E-B109-6D97-D6A5-C47BF1FCE5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F75C5-C27C-6E9F-2451-8984FC91E8B9}"/>
              </a:ext>
            </a:extLst>
          </p:cNvPr>
          <p:cNvSpPr>
            <a:spLocks noGrp="1"/>
          </p:cNvSpPr>
          <p:nvPr>
            <p:ph type="body" idx="1"/>
          </p:nvPr>
        </p:nvSpPr>
        <p:spPr/>
        <p:txBody>
          <a:bodyPr/>
          <a:lstStyle/>
          <a:p>
            <a:r>
              <a:rPr lang="en-US" b="1" u="sng" dirty="0"/>
              <a:t>Definition</a:t>
            </a:r>
            <a:endParaRPr lang="en-US" b="0" u="none" dirty="0"/>
          </a:p>
          <a:p>
            <a:r>
              <a:rPr lang="en-US" b="0" u="none" dirty="0"/>
              <a:t>Message scheduling involves delaying the processing of a message until a specified date or condition is met. This pattern allows message to be processed at a further date or after certain conditions are satisfied.</a:t>
            </a:r>
          </a:p>
          <a:p>
            <a:endParaRPr lang="en-US" b="0" u="none" dirty="0"/>
          </a:p>
          <a:p>
            <a:r>
              <a:rPr lang="en-US" b="1" u="sng" dirty="0"/>
              <a:t>Purpose</a:t>
            </a:r>
            <a:endParaRPr lang="en-US" b="0" u="none" dirty="0"/>
          </a:p>
          <a:p>
            <a:r>
              <a:rPr lang="en-US" b="0" u="none" dirty="0"/>
              <a:t>The purpose of message scheduling is to provide controlled and timed message processing, enabling the system to handle tasks at appropriate times or under specific conditions.</a:t>
            </a:r>
            <a:endParaRPr lang="en-US" b="1" u="sng" dirty="0"/>
          </a:p>
        </p:txBody>
      </p:sp>
      <p:sp>
        <p:nvSpPr>
          <p:cNvPr id="4" name="Slide Number Placeholder 3">
            <a:extLst>
              <a:ext uri="{FF2B5EF4-FFF2-40B4-BE49-F238E27FC236}">
                <a16:creationId xmlns:a16="http://schemas.microsoft.com/office/drawing/2014/main" id="{EC55EA56-7498-8DC0-4BA1-C6BA314D7CB5}"/>
              </a:ext>
            </a:extLst>
          </p:cNvPr>
          <p:cNvSpPr>
            <a:spLocks noGrp="1"/>
          </p:cNvSpPr>
          <p:nvPr>
            <p:ph type="sldNum" sz="quarter" idx="5"/>
          </p:nvPr>
        </p:nvSpPr>
        <p:spPr/>
        <p:txBody>
          <a:bodyPr/>
          <a:lstStyle/>
          <a:p>
            <a:fld id="{F5000ACD-0348-4F47-9C35-586193A86BF3}" type="slidenum">
              <a:rPr lang="en-US" smtClean="0"/>
              <a:t>24</a:t>
            </a:fld>
            <a:endParaRPr lang="en-US"/>
          </a:p>
        </p:txBody>
      </p:sp>
    </p:spTree>
    <p:extLst>
      <p:ext uri="{BB962C8B-B14F-4D97-AF65-F5344CB8AC3E}">
        <p14:creationId xmlns:p14="http://schemas.microsoft.com/office/powerpoint/2010/main" val="1243481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F5741-9E73-48B0-2435-34263193AC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3A8363-F191-39A5-01A3-8386657F1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F04E6E-9BF8-6491-C79F-A909BC342DF1}"/>
              </a:ext>
            </a:extLst>
          </p:cNvPr>
          <p:cNvSpPr>
            <a:spLocks noGrp="1"/>
          </p:cNvSpPr>
          <p:nvPr>
            <p:ph type="body" idx="1"/>
          </p:nvPr>
        </p:nvSpPr>
        <p:spPr/>
        <p:txBody>
          <a:bodyPr/>
          <a:lstStyle/>
          <a:p>
            <a:r>
              <a:rPr lang="en-US" b="1" dirty="0"/>
              <a:t>Scheduler</a:t>
            </a:r>
            <a:r>
              <a:rPr lang="en-US" b="0" dirty="0"/>
              <a:t>: A component responsible for scheduling messages to be processed at a specific time or after certain conditions are met.</a:t>
            </a:r>
          </a:p>
          <a:p>
            <a:endParaRPr lang="en-US" b="0" dirty="0"/>
          </a:p>
          <a:p>
            <a:r>
              <a:rPr lang="en-US" b="1" dirty="0"/>
              <a:t>Queue</a:t>
            </a:r>
            <a:r>
              <a:rPr lang="en-US" b="0" dirty="0"/>
              <a:t>: A message queue that holds scheduled messages until their scheduled processing time arrives.</a:t>
            </a:r>
          </a:p>
          <a:p>
            <a:endParaRPr lang="en-US" b="0" dirty="0"/>
          </a:p>
          <a:p>
            <a:r>
              <a:rPr lang="en-US" b="1" dirty="0"/>
              <a:t>Time-Based Triggers</a:t>
            </a:r>
            <a:r>
              <a:rPr lang="en-US" b="0" dirty="0"/>
              <a:t>: Mechanisms that trigger the processing of scheduled messages at the appropriate time.</a:t>
            </a:r>
            <a:endParaRPr lang="en-US" b="1" dirty="0"/>
          </a:p>
        </p:txBody>
      </p:sp>
      <p:sp>
        <p:nvSpPr>
          <p:cNvPr id="4" name="Slide Number Placeholder 3">
            <a:extLst>
              <a:ext uri="{FF2B5EF4-FFF2-40B4-BE49-F238E27FC236}">
                <a16:creationId xmlns:a16="http://schemas.microsoft.com/office/drawing/2014/main" id="{47B0BD5E-A228-D9C5-B2DB-1BF326D62301}"/>
              </a:ext>
            </a:extLst>
          </p:cNvPr>
          <p:cNvSpPr>
            <a:spLocks noGrp="1"/>
          </p:cNvSpPr>
          <p:nvPr>
            <p:ph type="sldNum" sz="quarter" idx="5"/>
          </p:nvPr>
        </p:nvSpPr>
        <p:spPr/>
        <p:txBody>
          <a:bodyPr/>
          <a:lstStyle/>
          <a:p>
            <a:fld id="{F5000ACD-0348-4F47-9C35-586193A86BF3}" type="slidenum">
              <a:rPr lang="en-US" smtClean="0"/>
              <a:t>25</a:t>
            </a:fld>
            <a:endParaRPr lang="en-US"/>
          </a:p>
        </p:txBody>
      </p:sp>
    </p:spTree>
    <p:extLst>
      <p:ext uri="{BB962C8B-B14F-4D97-AF65-F5344CB8AC3E}">
        <p14:creationId xmlns:p14="http://schemas.microsoft.com/office/powerpoint/2010/main" val="3232505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EEF67-C981-EAE5-D88A-8B1A96AB25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E9B829-75F8-3F39-ECD8-D4E6DDDA4E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EDF657-8317-0C91-5033-884D958C7274}"/>
              </a:ext>
            </a:extLst>
          </p:cNvPr>
          <p:cNvSpPr>
            <a:spLocks noGrp="1"/>
          </p:cNvSpPr>
          <p:nvPr>
            <p:ph type="body" idx="1"/>
          </p:nvPr>
        </p:nvSpPr>
        <p:spPr/>
        <p:txBody>
          <a:bodyPr/>
          <a:lstStyle/>
          <a:p>
            <a:r>
              <a:rPr lang="en-US" b="1" dirty="0"/>
              <a:t>Scheduler</a:t>
            </a:r>
            <a:r>
              <a:rPr lang="en-US" b="0" dirty="0"/>
              <a:t>: A component responsible for scheduling messages to be processed at a specific time or after certain conditions are met.</a:t>
            </a:r>
          </a:p>
          <a:p>
            <a:endParaRPr lang="en-US" b="0" dirty="0"/>
          </a:p>
          <a:p>
            <a:r>
              <a:rPr lang="en-US" b="1" dirty="0"/>
              <a:t>Queue</a:t>
            </a:r>
            <a:r>
              <a:rPr lang="en-US" b="0" dirty="0"/>
              <a:t>: A message queue that holds scheduled messages until their scheduled processing time arrives.</a:t>
            </a:r>
          </a:p>
          <a:p>
            <a:endParaRPr lang="en-US" b="0" dirty="0"/>
          </a:p>
          <a:p>
            <a:r>
              <a:rPr lang="en-US" b="1" dirty="0"/>
              <a:t>Time-Based Triggers</a:t>
            </a:r>
            <a:r>
              <a:rPr lang="en-US" b="0" dirty="0"/>
              <a:t>: Mechanisms that trigger the processing of scheduled messages at the appropriate time.</a:t>
            </a:r>
            <a:endParaRPr lang="en-US" b="1" dirty="0"/>
          </a:p>
        </p:txBody>
      </p:sp>
      <p:sp>
        <p:nvSpPr>
          <p:cNvPr id="4" name="Slide Number Placeholder 3">
            <a:extLst>
              <a:ext uri="{FF2B5EF4-FFF2-40B4-BE49-F238E27FC236}">
                <a16:creationId xmlns:a16="http://schemas.microsoft.com/office/drawing/2014/main" id="{8CCA709A-D923-54B6-9735-60FE0D8D597F}"/>
              </a:ext>
            </a:extLst>
          </p:cNvPr>
          <p:cNvSpPr>
            <a:spLocks noGrp="1"/>
          </p:cNvSpPr>
          <p:nvPr>
            <p:ph type="sldNum" sz="quarter" idx="5"/>
          </p:nvPr>
        </p:nvSpPr>
        <p:spPr/>
        <p:txBody>
          <a:bodyPr/>
          <a:lstStyle/>
          <a:p>
            <a:fld id="{F5000ACD-0348-4F47-9C35-586193A86BF3}" type="slidenum">
              <a:rPr lang="en-US" smtClean="0"/>
              <a:t>26</a:t>
            </a:fld>
            <a:endParaRPr lang="en-US"/>
          </a:p>
        </p:txBody>
      </p:sp>
    </p:spTree>
    <p:extLst>
      <p:ext uri="{BB962C8B-B14F-4D97-AF65-F5344CB8AC3E}">
        <p14:creationId xmlns:p14="http://schemas.microsoft.com/office/powerpoint/2010/main" val="3486445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3A25B-308E-9AE4-12B7-100842774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3D11C7-EFE3-BA53-17A2-EF22DDEF8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CA5F0-9624-EFBC-AA1D-1B9A1F4216A7}"/>
              </a:ext>
            </a:extLst>
          </p:cNvPr>
          <p:cNvSpPr>
            <a:spLocks noGrp="1"/>
          </p:cNvSpPr>
          <p:nvPr>
            <p:ph type="body" idx="1"/>
          </p:nvPr>
        </p:nvSpPr>
        <p:spPr/>
        <p:txBody>
          <a:bodyPr/>
          <a:lstStyle/>
          <a:p>
            <a:r>
              <a:rPr lang="en-US" b="1" u="none" dirty="0"/>
              <a:t>Controlled Processing</a:t>
            </a:r>
            <a:r>
              <a:rPr lang="en-US" b="0" u="none" dirty="0"/>
              <a:t>: Allows for precise control over when messages are processed, improving system flexibility and efficiently.</a:t>
            </a:r>
          </a:p>
          <a:p>
            <a:endParaRPr lang="en-US" b="0" u="none" dirty="0"/>
          </a:p>
          <a:p>
            <a:r>
              <a:rPr lang="en-US" b="1" u="none" dirty="0"/>
              <a:t>Resource Optimization</a:t>
            </a:r>
            <a:r>
              <a:rPr lang="en-US" b="0" u="none" dirty="0"/>
              <a:t>: Enables deferred processing during off-peak hours, reducing the load on the system during busy period.</a:t>
            </a:r>
          </a:p>
          <a:p>
            <a:endParaRPr lang="en-US" b="0" u="none" dirty="0"/>
          </a:p>
          <a:p>
            <a:r>
              <a:rPr lang="en-US" b="1" u="none" dirty="0"/>
              <a:t>Improved Reliability</a:t>
            </a:r>
            <a:r>
              <a:rPr lang="en-US" b="0" u="none" dirty="0"/>
              <a:t>: Provides a mechanism for retrying failed messages without immediate reproducing, allowing time for transient issues to be resolved.</a:t>
            </a:r>
            <a:endParaRPr lang="en-US" b="1" u="none" dirty="0"/>
          </a:p>
        </p:txBody>
      </p:sp>
      <p:sp>
        <p:nvSpPr>
          <p:cNvPr id="4" name="Slide Number Placeholder 3">
            <a:extLst>
              <a:ext uri="{FF2B5EF4-FFF2-40B4-BE49-F238E27FC236}">
                <a16:creationId xmlns:a16="http://schemas.microsoft.com/office/drawing/2014/main" id="{EBA28365-C303-0B63-B460-D21F5ED8826F}"/>
              </a:ext>
            </a:extLst>
          </p:cNvPr>
          <p:cNvSpPr>
            <a:spLocks noGrp="1"/>
          </p:cNvSpPr>
          <p:nvPr>
            <p:ph type="sldNum" sz="quarter" idx="5"/>
          </p:nvPr>
        </p:nvSpPr>
        <p:spPr/>
        <p:txBody>
          <a:bodyPr/>
          <a:lstStyle/>
          <a:p>
            <a:fld id="{F5000ACD-0348-4F47-9C35-586193A86BF3}" type="slidenum">
              <a:rPr lang="en-US" smtClean="0"/>
              <a:t>27</a:t>
            </a:fld>
            <a:endParaRPr lang="en-US"/>
          </a:p>
        </p:txBody>
      </p:sp>
    </p:spTree>
    <p:extLst>
      <p:ext uri="{BB962C8B-B14F-4D97-AF65-F5344CB8AC3E}">
        <p14:creationId xmlns:p14="http://schemas.microsoft.com/office/powerpoint/2010/main" val="34158764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3EED8-8DF5-AD8D-6D95-9969BD4DD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7E2EF4-97B8-7822-4F71-4BB0B91235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B9A5EB-7E91-5244-00C3-69FB21C25200}"/>
              </a:ext>
            </a:extLst>
          </p:cNvPr>
          <p:cNvSpPr>
            <a:spLocks noGrp="1"/>
          </p:cNvSpPr>
          <p:nvPr>
            <p:ph type="body" idx="1"/>
          </p:nvPr>
        </p:nvSpPr>
        <p:spPr/>
        <p:txBody>
          <a:bodyPr/>
          <a:lstStyle/>
          <a:p>
            <a:r>
              <a:rPr lang="en-US" b="1" u="none" dirty="0"/>
              <a:t>Complexity</a:t>
            </a:r>
            <a:r>
              <a:rPr lang="en-US" b="0" u="none" dirty="0"/>
              <a:t>: implementing message scheduling adds complexity in the system design.</a:t>
            </a:r>
          </a:p>
          <a:p>
            <a:endParaRPr lang="en-US" b="0" u="none" dirty="0"/>
          </a:p>
          <a:p>
            <a:r>
              <a:rPr lang="en-US" b="1" u="none" dirty="0"/>
              <a:t>Potential Delays</a:t>
            </a:r>
            <a:r>
              <a:rPr lang="en-US" b="0" u="none" dirty="0"/>
              <a:t>: Introduces delays in message processing, which may not be suitable for time-sensitive tasks.</a:t>
            </a:r>
            <a:endParaRPr lang="en-US" b="1" u="none" dirty="0"/>
          </a:p>
        </p:txBody>
      </p:sp>
      <p:sp>
        <p:nvSpPr>
          <p:cNvPr id="4" name="Slide Number Placeholder 3">
            <a:extLst>
              <a:ext uri="{FF2B5EF4-FFF2-40B4-BE49-F238E27FC236}">
                <a16:creationId xmlns:a16="http://schemas.microsoft.com/office/drawing/2014/main" id="{CFDB2813-5ECB-7D9C-2DF7-284C76F9107D}"/>
              </a:ext>
            </a:extLst>
          </p:cNvPr>
          <p:cNvSpPr>
            <a:spLocks noGrp="1"/>
          </p:cNvSpPr>
          <p:nvPr>
            <p:ph type="sldNum" sz="quarter" idx="5"/>
          </p:nvPr>
        </p:nvSpPr>
        <p:spPr/>
        <p:txBody>
          <a:bodyPr/>
          <a:lstStyle/>
          <a:p>
            <a:fld id="{F5000ACD-0348-4F47-9C35-586193A86BF3}" type="slidenum">
              <a:rPr lang="en-US" smtClean="0"/>
              <a:t>28</a:t>
            </a:fld>
            <a:endParaRPr lang="en-US"/>
          </a:p>
        </p:txBody>
      </p:sp>
    </p:spTree>
    <p:extLst>
      <p:ext uri="{BB962C8B-B14F-4D97-AF65-F5344CB8AC3E}">
        <p14:creationId xmlns:p14="http://schemas.microsoft.com/office/powerpoint/2010/main" val="20085423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74706-1A06-5B6A-DE72-683D38D9C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ACED97-A4E5-5B0C-89A8-CEB0757582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81975-F4FE-3604-CAF1-76EC476079CE}"/>
              </a:ext>
            </a:extLst>
          </p:cNvPr>
          <p:cNvSpPr>
            <a:spLocks noGrp="1"/>
          </p:cNvSpPr>
          <p:nvPr>
            <p:ph type="body" idx="1"/>
          </p:nvPr>
        </p:nvSpPr>
        <p:spPr/>
        <p:txBody>
          <a:bodyPr/>
          <a:lstStyle/>
          <a:p>
            <a:r>
              <a:rPr lang="en-US" b="1" u="sng" dirty="0"/>
              <a:t>Delayed Notifications</a:t>
            </a:r>
            <a:endParaRPr lang="en-US" b="0" u="none" dirty="0"/>
          </a:p>
          <a:p>
            <a:r>
              <a:rPr lang="en-US" b="0" u="none" dirty="0"/>
              <a:t>Sending notifications or alerts at a scheduled time, such as reminders for appointments or follow-up messages.</a:t>
            </a:r>
          </a:p>
          <a:p>
            <a:endParaRPr lang="en-US" b="0" u="none" dirty="0"/>
          </a:p>
          <a:p>
            <a:r>
              <a:rPr lang="en-US" b="1" u="sng" dirty="0"/>
              <a:t>Batch Processing</a:t>
            </a:r>
            <a:endParaRPr lang="en-US" b="0" u="sng" dirty="0"/>
          </a:p>
          <a:p>
            <a:r>
              <a:rPr lang="en-US" b="0" u="none" dirty="0"/>
              <a:t>Deferring the processing of messages until off-peak hours to optimize resource usage and system performance.</a:t>
            </a:r>
          </a:p>
          <a:p>
            <a:endParaRPr lang="en-US" b="0" u="none" dirty="0"/>
          </a:p>
          <a:p>
            <a:r>
              <a:rPr lang="en-US" b="1" u="sng" dirty="0"/>
              <a:t>Retry Logic</a:t>
            </a:r>
            <a:endParaRPr lang="en-US" b="0" u="none" dirty="0"/>
          </a:p>
          <a:p>
            <a:r>
              <a:rPr lang="en-US" b="0" u="none" dirty="0"/>
              <a:t>Scheduling retries for failed messages to be processed at a later time, allowing transient issues to resolve.</a:t>
            </a:r>
            <a:endParaRPr lang="en-US" b="1" u="sng" dirty="0"/>
          </a:p>
        </p:txBody>
      </p:sp>
      <p:sp>
        <p:nvSpPr>
          <p:cNvPr id="4" name="Slide Number Placeholder 3">
            <a:extLst>
              <a:ext uri="{FF2B5EF4-FFF2-40B4-BE49-F238E27FC236}">
                <a16:creationId xmlns:a16="http://schemas.microsoft.com/office/drawing/2014/main" id="{9D2AC094-CB55-16CC-F330-CF27F4F83B6C}"/>
              </a:ext>
            </a:extLst>
          </p:cNvPr>
          <p:cNvSpPr>
            <a:spLocks noGrp="1"/>
          </p:cNvSpPr>
          <p:nvPr>
            <p:ph type="sldNum" sz="quarter" idx="5"/>
          </p:nvPr>
        </p:nvSpPr>
        <p:spPr/>
        <p:txBody>
          <a:bodyPr/>
          <a:lstStyle/>
          <a:p>
            <a:fld id="{F5000ACD-0348-4F47-9C35-586193A86BF3}" type="slidenum">
              <a:rPr lang="en-US" smtClean="0"/>
              <a:t>29</a:t>
            </a:fld>
            <a:endParaRPr lang="en-US"/>
          </a:p>
        </p:txBody>
      </p:sp>
    </p:spTree>
    <p:extLst>
      <p:ext uri="{BB962C8B-B14F-4D97-AF65-F5344CB8AC3E}">
        <p14:creationId xmlns:p14="http://schemas.microsoft.com/office/powerpoint/2010/main" val="1029505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2D815-5D1B-0610-AA16-58BC16C5C0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ED053-17BA-D6CF-1DB0-90E1C41CAA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C3941-EA52-73EA-5F12-9009A40BC21D}"/>
              </a:ext>
            </a:extLst>
          </p:cNvPr>
          <p:cNvSpPr>
            <a:spLocks noGrp="1"/>
          </p:cNvSpPr>
          <p:nvPr>
            <p:ph type="body" idx="1"/>
          </p:nvPr>
        </p:nvSpPr>
        <p:spPr/>
        <p:txBody>
          <a:bodyPr/>
          <a:lstStyle/>
          <a:p>
            <a:r>
              <a:rPr lang="en-US" b="1" dirty="0"/>
              <a:t>Define Scheduling Criteria</a:t>
            </a:r>
            <a:r>
              <a:rPr lang="en-US" b="0" dirty="0"/>
              <a:t>: Clearly define the criteria for scheduling messages, such as specific times or conditions.</a:t>
            </a:r>
          </a:p>
          <a:p>
            <a:endParaRPr lang="en-US" b="0" dirty="0"/>
          </a:p>
          <a:p>
            <a:r>
              <a:rPr lang="en-US" b="1" dirty="0"/>
              <a:t>Implement Scheduling Logic</a:t>
            </a:r>
            <a:r>
              <a:rPr lang="en-US" b="0" dirty="0"/>
              <a:t>: Use scheduling logic to enqueue messages with a specified delay or condition.</a:t>
            </a:r>
          </a:p>
          <a:p>
            <a:endParaRPr lang="en-US" b="0" dirty="0"/>
          </a:p>
          <a:p>
            <a:r>
              <a:rPr lang="en-US" b="1" dirty="0"/>
              <a:t>Monitor and Manage</a:t>
            </a:r>
            <a:r>
              <a:rPr lang="en-US" b="0" dirty="0"/>
              <a:t>: Continuously monitor scheduled messages and manage their processing to ensure timely and reliable execution.</a:t>
            </a:r>
          </a:p>
          <a:p>
            <a:endParaRPr lang="en-US" b="0" dirty="0"/>
          </a:p>
          <a:p>
            <a:r>
              <a:rPr lang="en-US" b="1" dirty="0"/>
              <a:t>Handle Failures</a:t>
            </a:r>
            <a:r>
              <a:rPr lang="en-US" b="0" dirty="0"/>
              <a:t>: Implement mechanisms to handle failures and retries for scheduled messages, ensuring they are processed correctly.</a:t>
            </a:r>
            <a:endParaRPr lang="en-US" b="1" dirty="0"/>
          </a:p>
        </p:txBody>
      </p:sp>
      <p:sp>
        <p:nvSpPr>
          <p:cNvPr id="4" name="Slide Number Placeholder 3">
            <a:extLst>
              <a:ext uri="{FF2B5EF4-FFF2-40B4-BE49-F238E27FC236}">
                <a16:creationId xmlns:a16="http://schemas.microsoft.com/office/drawing/2014/main" id="{9A170DBE-F66C-19FA-E319-59B44CAD3136}"/>
              </a:ext>
            </a:extLst>
          </p:cNvPr>
          <p:cNvSpPr>
            <a:spLocks noGrp="1"/>
          </p:cNvSpPr>
          <p:nvPr>
            <p:ph type="sldNum" sz="quarter" idx="5"/>
          </p:nvPr>
        </p:nvSpPr>
        <p:spPr/>
        <p:txBody>
          <a:bodyPr/>
          <a:lstStyle/>
          <a:p>
            <a:fld id="{F5000ACD-0348-4F47-9C35-586193A86BF3}" type="slidenum">
              <a:rPr lang="en-US" smtClean="0"/>
              <a:t>35</a:t>
            </a:fld>
            <a:endParaRPr lang="en-US"/>
          </a:p>
        </p:txBody>
      </p:sp>
    </p:spTree>
    <p:extLst>
      <p:ext uri="{BB962C8B-B14F-4D97-AF65-F5344CB8AC3E}">
        <p14:creationId xmlns:p14="http://schemas.microsoft.com/office/powerpoint/2010/main" val="3680626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4AF2E-BF17-D84B-570C-DA43CF077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6C9BD1-7893-52EF-60CD-BA98BDEA7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51D907-B8F7-C3C0-CD18-6564A3C3B95B}"/>
              </a:ext>
            </a:extLst>
          </p:cNvPr>
          <p:cNvSpPr>
            <a:spLocks noGrp="1"/>
          </p:cNvSpPr>
          <p:nvPr>
            <p:ph type="body" idx="1"/>
          </p:nvPr>
        </p:nvSpPr>
        <p:spPr/>
        <p:txBody>
          <a:bodyPr/>
          <a:lstStyle/>
          <a:p>
            <a:r>
              <a:rPr lang="en-US" b="1" u="sng" dirty="0"/>
              <a:t>Definition</a:t>
            </a:r>
            <a:endParaRPr lang="en-US" b="0" u="none" dirty="0"/>
          </a:p>
          <a:p>
            <a:r>
              <a:rPr lang="en-US" b="0" u="none" dirty="0"/>
              <a:t>The Claim Check pattern involves storing large message payloads in an external storage system and passing a reference (claim check) through the message queue. The receiving system uses this reference to retrieve the payload form the storage system when needed.</a:t>
            </a:r>
          </a:p>
          <a:p>
            <a:endParaRPr lang="en-US" b="0" u="none" dirty="0"/>
          </a:p>
          <a:p>
            <a:r>
              <a:rPr lang="en-US" b="1" u="sng" dirty="0"/>
              <a:t>Purpose</a:t>
            </a:r>
            <a:endParaRPr lang="en-US" b="0" u="none" dirty="0"/>
          </a:p>
          <a:p>
            <a:r>
              <a:rPr lang="en-US" b="0" u="none" dirty="0"/>
              <a:t>The purpose of the Claim Check pattern is to reduce the size of messages in the queue, improving performance and scalability by offloading large payloads to an external storage system.</a:t>
            </a:r>
            <a:endParaRPr lang="en-US" b="1" u="sng" dirty="0"/>
          </a:p>
        </p:txBody>
      </p:sp>
      <p:sp>
        <p:nvSpPr>
          <p:cNvPr id="4" name="Slide Number Placeholder 3">
            <a:extLst>
              <a:ext uri="{FF2B5EF4-FFF2-40B4-BE49-F238E27FC236}">
                <a16:creationId xmlns:a16="http://schemas.microsoft.com/office/drawing/2014/main" id="{377A561F-D65E-480C-BF31-9A6AE0F77610}"/>
              </a:ext>
            </a:extLst>
          </p:cNvPr>
          <p:cNvSpPr>
            <a:spLocks noGrp="1"/>
          </p:cNvSpPr>
          <p:nvPr>
            <p:ph type="sldNum" sz="quarter" idx="5"/>
          </p:nvPr>
        </p:nvSpPr>
        <p:spPr/>
        <p:txBody>
          <a:bodyPr/>
          <a:lstStyle/>
          <a:p>
            <a:fld id="{F5000ACD-0348-4F47-9C35-586193A86BF3}" type="slidenum">
              <a:rPr lang="en-US" smtClean="0"/>
              <a:t>37</a:t>
            </a:fld>
            <a:endParaRPr lang="en-US"/>
          </a:p>
        </p:txBody>
      </p:sp>
    </p:spTree>
    <p:extLst>
      <p:ext uri="{BB962C8B-B14F-4D97-AF65-F5344CB8AC3E}">
        <p14:creationId xmlns:p14="http://schemas.microsoft.com/office/powerpoint/2010/main" val="40185936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46C7-0660-8DFA-9A1E-115F00D31D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98916-6C24-8303-40FB-318E147624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BA6903-C696-9DA3-D4E4-D49E69CC114D}"/>
              </a:ext>
            </a:extLst>
          </p:cNvPr>
          <p:cNvSpPr>
            <a:spLocks noGrp="1"/>
          </p:cNvSpPr>
          <p:nvPr>
            <p:ph type="body" idx="1"/>
          </p:nvPr>
        </p:nvSpPr>
        <p:spPr/>
        <p:txBody>
          <a:bodyPr/>
          <a:lstStyle/>
          <a:p>
            <a:r>
              <a:rPr lang="en-US" b="1" dirty="0"/>
              <a:t>External Storage System</a:t>
            </a:r>
            <a:r>
              <a:rPr lang="en-US" b="0" dirty="0"/>
              <a:t>: A reliable storage system (e.g., blob storage, database) to store large message payloads.</a:t>
            </a:r>
          </a:p>
          <a:p>
            <a:endParaRPr lang="en-US" b="1" dirty="0"/>
          </a:p>
          <a:p>
            <a:r>
              <a:rPr lang="en-US" b="1" dirty="0"/>
              <a:t>Claim Check</a:t>
            </a:r>
            <a:r>
              <a:rPr lang="en-US" b="0" dirty="0"/>
              <a:t>: A unique reference or identifier that is included in the message in order to retrieve the payload from the storage system.</a:t>
            </a:r>
          </a:p>
          <a:p>
            <a:endParaRPr lang="en-US" b="0" dirty="0"/>
          </a:p>
          <a:p>
            <a:r>
              <a:rPr lang="en-US" b="1" dirty="0"/>
              <a:t>Message Queue</a:t>
            </a:r>
            <a:r>
              <a:rPr lang="en-US" b="0" dirty="0"/>
              <a:t>: The messaging system that passes lightweight messages containing the claim check.</a:t>
            </a:r>
          </a:p>
          <a:p>
            <a:endParaRPr lang="en-US" b="0" dirty="0"/>
          </a:p>
          <a:p>
            <a:r>
              <a:rPr lang="en-US" b="1" dirty="0"/>
              <a:t>Payload Retrieval Logic</a:t>
            </a:r>
            <a:r>
              <a:rPr lang="en-US" b="0" dirty="0"/>
              <a:t>: Logic to retrieve the payload from the external storage system using the claim check when needed.</a:t>
            </a:r>
            <a:endParaRPr lang="en-US" b="1" dirty="0"/>
          </a:p>
        </p:txBody>
      </p:sp>
      <p:sp>
        <p:nvSpPr>
          <p:cNvPr id="4" name="Slide Number Placeholder 3">
            <a:extLst>
              <a:ext uri="{FF2B5EF4-FFF2-40B4-BE49-F238E27FC236}">
                <a16:creationId xmlns:a16="http://schemas.microsoft.com/office/drawing/2014/main" id="{F7D5E704-F58C-43E5-E72D-CC6BD491DEE2}"/>
              </a:ext>
            </a:extLst>
          </p:cNvPr>
          <p:cNvSpPr>
            <a:spLocks noGrp="1"/>
          </p:cNvSpPr>
          <p:nvPr>
            <p:ph type="sldNum" sz="quarter" idx="5"/>
          </p:nvPr>
        </p:nvSpPr>
        <p:spPr/>
        <p:txBody>
          <a:bodyPr/>
          <a:lstStyle/>
          <a:p>
            <a:fld id="{F5000ACD-0348-4F47-9C35-586193A86BF3}" type="slidenum">
              <a:rPr lang="en-US" smtClean="0"/>
              <a:t>38</a:t>
            </a:fld>
            <a:endParaRPr lang="en-US"/>
          </a:p>
        </p:txBody>
      </p:sp>
    </p:spTree>
    <p:extLst>
      <p:ext uri="{BB962C8B-B14F-4D97-AF65-F5344CB8AC3E}">
        <p14:creationId xmlns:p14="http://schemas.microsoft.com/office/powerpoint/2010/main" val="25059447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EA77E-A1A6-8493-96FA-ADD60D40B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50555-189C-84A3-5C16-8B55584B0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4A944F-812D-BECD-57C8-38D59B2548ED}"/>
              </a:ext>
            </a:extLst>
          </p:cNvPr>
          <p:cNvSpPr>
            <a:spLocks noGrp="1"/>
          </p:cNvSpPr>
          <p:nvPr>
            <p:ph type="body" idx="1"/>
          </p:nvPr>
        </p:nvSpPr>
        <p:spPr/>
        <p:txBody>
          <a:bodyPr/>
          <a:lstStyle/>
          <a:p>
            <a:r>
              <a:rPr lang="en-US" b="1" dirty="0"/>
              <a:t>External Storage System</a:t>
            </a:r>
            <a:r>
              <a:rPr lang="en-US" b="0" dirty="0"/>
              <a:t>: A reliable storage system (e.g., blob storage, database) to store large message payloads.</a:t>
            </a:r>
          </a:p>
          <a:p>
            <a:endParaRPr lang="en-US" b="1" dirty="0"/>
          </a:p>
          <a:p>
            <a:r>
              <a:rPr lang="en-US" b="1" dirty="0"/>
              <a:t>Claim Check</a:t>
            </a:r>
            <a:r>
              <a:rPr lang="en-US" b="0" dirty="0"/>
              <a:t>: A unique reference or identifier that is included in the message in order to retrieve the payload from the storage system.</a:t>
            </a:r>
          </a:p>
          <a:p>
            <a:endParaRPr lang="en-US" b="0" dirty="0"/>
          </a:p>
          <a:p>
            <a:r>
              <a:rPr lang="en-US" b="1" dirty="0"/>
              <a:t>Message Queue</a:t>
            </a:r>
            <a:r>
              <a:rPr lang="en-US" b="0" dirty="0"/>
              <a:t>: The messaging system that passes lightweight messages containing the claim check.</a:t>
            </a:r>
          </a:p>
          <a:p>
            <a:endParaRPr lang="en-US" b="0" dirty="0"/>
          </a:p>
          <a:p>
            <a:r>
              <a:rPr lang="en-US" b="1" dirty="0"/>
              <a:t>Payload Retrieval Logic</a:t>
            </a:r>
            <a:r>
              <a:rPr lang="en-US" b="0" dirty="0"/>
              <a:t>: Logic to retrieve the payload from the external storage system using the claim check when needed.</a:t>
            </a:r>
            <a:endParaRPr lang="en-US" b="1" dirty="0"/>
          </a:p>
        </p:txBody>
      </p:sp>
      <p:sp>
        <p:nvSpPr>
          <p:cNvPr id="4" name="Slide Number Placeholder 3">
            <a:extLst>
              <a:ext uri="{FF2B5EF4-FFF2-40B4-BE49-F238E27FC236}">
                <a16:creationId xmlns:a16="http://schemas.microsoft.com/office/drawing/2014/main" id="{BC994C9B-7D90-4ADE-683B-ADE149CA034F}"/>
              </a:ext>
            </a:extLst>
          </p:cNvPr>
          <p:cNvSpPr>
            <a:spLocks noGrp="1"/>
          </p:cNvSpPr>
          <p:nvPr>
            <p:ph type="sldNum" sz="quarter" idx="5"/>
          </p:nvPr>
        </p:nvSpPr>
        <p:spPr/>
        <p:txBody>
          <a:bodyPr/>
          <a:lstStyle/>
          <a:p>
            <a:fld id="{F5000ACD-0348-4F47-9C35-586193A86BF3}" type="slidenum">
              <a:rPr lang="en-US" smtClean="0"/>
              <a:t>39</a:t>
            </a:fld>
            <a:endParaRPr lang="en-US"/>
          </a:p>
        </p:txBody>
      </p:sp>
    </p:spTree>
    <p:extLst>
      <p:ext uri="{BB962C8B-B14F-4D97-AF65-F5344CB8AC3E}">
        <p14:creationId xmlns:p14="http://schemas.microsoft.com/office/powerpoint/2010/main" val="1716812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FF9DA-AAED-7D81-347E-CE58605BD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6CFE9-18C2-3D8A-EB23-2A374D7C2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FCDF71-7233-4F59-1B2C-7387ADF32C7E}"/>
              </a:ext>
            </a:extLst>
          </p:cNvPr>
          <p:cNvSpPr>
            <a:spLocks noGrp="1"/>
          </p:cNvSpPr>
          <p:nvPr>
            <p:ph type="body" idx="1"/>
          </p:nvPr>
        </p:nvSpPr>
        <p:spPr/>
        <p:txBody>
          <a:bodyPr/>
          <a:lstStyle/>
          <a:p>
            <a:r>
              <a:rPr lang="en-US" b="1" u="none" dirty="0"/>
              <a:t>Improved Performance</a:t>
            </a:r>
            <a:r>
              <a:rPr lang="en-US" b="0" u="none" dirty="0"/>
              <a:t>: Reduces the size of messages in the queue, allowing for faster transmissions and processing.</a:t>
            </a:r>
          </a:p>
          <a:p>
            <a:endParaRPr lang="en-US" b="0" u="none" dirty="0"/>
          </a:p>
          <a:p>
            <a:r>
              <a:rPr lang="en-US" b="1" u="none" dirty="0"/>
              <a:t>Scalability</a:t>
            </a:r>
            <a:r>
              <a:rPr lang="en-US" b="0" u="none" dirty="0"/>
              <a:t>: Offloads large payloads to an external storage system, enabling the message queue to handle a higher volume of messages.</a:t>
            </a:r>
          </a:p>
          <a:p>
            <a:endParaRPr lang="en-US" b="0" u="none" dirty="0"/>
          </a:p>
          <a:p>
            <a:r>
              <a:rPr lang="en-US" b="1" u="none" dirty="0"/>
              <a:t>Resource Efficiency</a:t>
            </a:r>
            <a:r>
              <a:rPr lang="en-US" b="0" u="none" dirty="0"/>
              <a:t>: Optimizes the use of queue resources by keeping messages lightweight and manageable.</a:t>
            </a:r>
            <a:endParaRPr lang="en-US" b="1" u="none" dirty="0"/>
          </a:p>
        </p:txBody>
      </p:sp>
      <p:sp>
        <p:nvSpPr>
          <p:cNvPr id="4" name="Slide Number Placeholder 3">
            <a:extLst>
              <a:ext uri="{FF2B5EF4-FFF2-40B4-BE49-F238E27FC236}">
                <a16:creationId xmlns:a16="http://schemas.microsoft.com/office/drawing/2014/main" id="{0EB3F366-28F9-ADD7-52EE-DB2AD522D4AF}"/>
              </a:ext>
            </a:extLst>
          </p:cNvPr>
          <p:cNvSpPr>
            <a:spLocks noGrp="1"/>
          </p:cNvSpPr>
          <p:nvPr>
            <p:ph type="sldNum" sz="quarter" idx="5"/>
          </p:nvPr>
        </p:nvSpPr>
        <p:spPr/>
        <p:txBody>
          <a:bodyPr/>
          <a:lstStyle/>
          <a:p>
            <a:fld id="{F5000ACD-0348-4F47-9C35-586193A86BF3}" type="slidenum">
              <a:rPr lang="en-US" smtClean="0"/>
              <a:t>40</a:t>
            </a:fld>
            <a:endParaRPr lang="en-US"/>
          </a:p>
        </p:txBody>
      </p:sp>
    </p:spTree>
    <p:extLst>
      <p:ext uri="{BB962C8B-B14F-4D97-AF65-F5344CB8AC3E}">
        <p14:creationId xmlns:p14="http://schemas.microsoft.com/office/powerpoint/2010/main" val="9810187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F808D-1643-EEDA-C16A-56385BE95A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FF136C-2CB5-C13F-CD4C-740BBD0832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EEEBC-F063-353E-552F-6BC280637A52}"/>
              </a:ext>
            </a:extLst>
          </p:cNvPr>
          <p:cNvSpPr>
            <a:spLocks noGrp="1"/>
          </p:cNvSpPr>
          <p:nvPr>
            <p:ph type="body" idx="1"/>
          </p:nvPr>
        </p:nvSpPr>
        <p:spPr/>
        <p:txBody>
          <a:bodyPr/>
          <a:lstStyle/>
          <a:p>
            <a:r>
              <a:rPr lang="en-US" b="1" u="none" dirty="0"/>
              <a:t>Increased Complexity</a:t>
            </a:r>
            <a:r>
              <a:rPr lang="en-US" b="0" u="none" dirty="0"/>
              <a:t>: Introduces additional complexity by requiring coordination between the messaging system and external storage.</a:t>
            </a:r>
          </a:p>
          <a:p>
            <a:endParaRPr lang="en-US" b="0" u="none" dirty="0"/>
          </a:p>
          <a:p>
            <a:r>
              <a:rPr lang="en-US" b="1" u="none" dirty="0"/>
              <a:t>Potential Latency</a:t>
            </a:r>
            <a:r>
              <a:rPr lang="en-US" b="0" u="none" dirty="0"/>
              <a:t>: Retrieving large payloads from external storage may introduce latency, especially if the storage system is slower.</a:t>
            </a:r>
          </a:p>
          <a:p>
            <a:endParaRPr lang="en-US" b="0" u="none" dirty="0"/>
          </a:p>
          <a:p>
            <a:r>
              <a:rPr lang="en-US" b="1" u="none" dirty="0"/>
              <a:t>Dependency Management</a:t>
            </a:r>
            <a:r>
              <a:rPr lang="en-US" b="0" u="none" dirty="0"/>
              <a:t>: Increases dependency on the external storage system, which must be reliable and performant.</a:t>
            </a:r>
            <a:endParaRPr lang="en-US" b="1" u="none" dirty="0"/>
          </a:p>
        </p:txBody>
      </p:sp>
      <p:sp>
        <p:nvSpPr>
          <p:cNvPr id="4" name="Slide Number Placeholder 3">
            <a:extLst>
              <a:ext uri="{FF2B5EF4-FFF2-40B4-BE49-F238E27FC236}">
                <a16:creationId xmlns:a16="http://schemas.microsoft.com/office/drawing/2014/main" id="{E6906D04-C098-40B4-D55D-E103EDA278AD}"/>
              </a:ext>
            </a:extLst>
          </p:cNvPr>
          <p:cNvSpPr>
            <a:spLocks noGrp="1"/>
          </p:cNvSpPr>
          <p:nvPr>
            <p:ph type="sldNum" sz="quarter" idx="5"/>
          </p:nvPr>
        </p:nvSpPr>
        <p:spPr/>
        <p:txBody>
          <a:bodyPr/>
          <a:lstStyle/>
          <a:p>
            <a:fld id="{F5000ACD-0348-4F47-9C35-586193A86BF3}" type="slidenum">
              <a:rPr lang="en-US" smtClean="0"/>
              <a:t>41</a:t>
            </a:fld>
            <a:endParaRPr lang="en-US"/>
          </a:p>
        </p:txBody>
      </p:sp>
    </p:spTree>
    <p:extLst>
      <p:ext uri="{BB962C8B-B14F-4D97-AF65-F5344CB8AC3E}">
        <p14:creationId xmlns:p14="http://schemas.microsoft.com/office/powerpoint/2010/main" val="2177370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BA87F-8D93-8E76-71FD-2F062CE22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F866F-D7D4-B950-EA8B-2D650B662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EB4B07-6D10-FAA9-0BAB-EF6865D529EB}"/>
              </a:ext>
            </a:extLst>
          </p:cNvPr>
          <p:cNvSpPr>
            <a:spLocks noGrp="1"/>
          </p:cNvSpPr>
          <p:nvPr>
            <p:ph type="body" idx="1"/>
          </p:nvPr>
        </p:nvSpPr>
        <p:spPr/>
        <p:txBody>
          <a:bodyPr/>
          <a:lstStyle/>
          <a:p>
            <a:r>
              <a:rPr lang="en-US" b="1" u="sng" dirty="0"/>
              <a:t>Large File Transfers</a:t>
            </a:r>
            <a:endParaRPr lang="en-US" b="0" u="none" dirty="0"/>
          </a:p>
          <a:p>
            <a:r>
              <a:rPr lang="en-US" b="0" u="none" dirty="0"/>
              <a:t>When transferring large files or multimedia content, storing the files externally and passing references ensures efficient message processing.</a:t>
            </a:r>
          </a:p>
          <a:p>
            <a:endParaRPr lang="en-US" b="0" u="none" dirty="0"/>
          </a:p>
          <a:p>
            <a:r>
              <a:rPr lang="en-US" b="1" i="0" u="sng" dirty="0"/>
              <a:t>Complex Data Structures</a:t>
            </a:r>
          </a:p>
          <a:p>
            <a:r>
              <a:rPr lang="en-US" b="0" i="0" u="none" dirty="0"/>
              <a:t>For messages containing complex or large data structures, using a claim check prevents overloading the message queue.</a:t>
            </a:r>
          </a:p>
          <a:p>
            <a:endParaRPr lang="en-US" b="0" i="0" u="none" dirty="0"/>
          </a:p>
          <a:p>
            <a:r>
              <a:rPr lang="en-US" b="1" i="0" u="sng" dirty="0"/>
              <a:t>Resource Optimization</a:t>
            </a:r>
            <a:endParaRPr lang="en-US" b="0" i="0" u="none" dirty="0"/>
          </a:p>
          <a:p>
            <a:r>
              <a:rPr lang="en-US" b="0" i="0" u="none" dirty="0"/>
              <a:t>Optimizing the use of message queue resources by reducing the payload size and ensuring faster message transmission.</a:t>
            </a:r>
            <a:endParaRPr lang="en-US" b="1" i="0" u="sng" dirty="0"/>
          </a:p>
        </p:txBody>
      </p:sp>
      <p:sp>
        <p:nvSpPr>
          <p:cNvPr id="4" name="Slide Number Placeholder 3">
            <a:extLst>
              <a:ext uri="{FF2B5EF4-FFF2-40B4-BE49-F238E27FC236}">
                <a16:creationId xmlns:a16="http://schemas.microsoft.com/office/drawing/2014/main" id="{2050675E-434B-C7A0-EB41-B71241036F8F}"/>
              </a:ext>
            </a:extLst>
          </p:cNvPr>
          <p:cNvSpPr>
            <a:spLocks noGrp="1"/>
          </p:cNvSpPr>
          <p:nvPr>
            <p:ph type="sldNum" sz="quarter" idx="5"/>
          </p:nvPr>
        </p:nvSpPr>
        <p:spPr/>
        <p:txBody>
          <a:bodyPr/>
          <a:lstStyle/>
          <a:p>
            <a:fld id="{F5000ACD-0348-4F47-9C35-586193A86BF3}" type="slidenum">
              <a:rPr lang="en-US" smtClean="0"/>
              <a:t>42</a:t>
            </a:fld>
            <a:endParaRPr lang="en-US"/>
          </a:p>
        </p:txBody>
      </p:sp>
    </p:spTree>
    <p:extLst>
      <p:ext uri="{BB962C8B-B14F-4D97-AF65-F5344CB8AC3E}">
        <p14:creationId xmlns:p14="http://schemas.microsoft.com/office/powerpoint/2010/main" val="20015023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C725C-88A6-C88E-286C-9855B7B6A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F97E3-08E8-0E67-DF9B-1DEDA96EBF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EC5A5-3802-EC2C-3233-8E7138B572AC}"/>
              </a:ext>
            </a:extLst>
          </p:cNvPr>
          <p:cNvSpPr>
            <a:spLocks noGrp="1"/>
          </p:cNvSpPr>
          <p:nvPr>
            <p:ph type="body" idx="1"/>
          </p:nvPr>
        </p:nvSpPr>
        <p:spPr/>
        <p:txBody>
          <a:bodyPr/>
          <a:lstStyle/>
          <a:p>
            <a:r>
              <a:rPr lang="en-US" b="1" dirty="0"/>
              <a:t>Store Large Payloads Externally</a:t>
            </a:r>
            <a:r>
              <a:rPr lang="en-US" b="0" dirty="0"/>
              <a:t>: Use an external storage system to store large message payloads and keep the message queue lightweight.</a:t>
            </a:r>
          </a:p>
          <a:p>
            <a:endParaRPr lang="en-US" b="0" dirty="0"/>
          </a:p>
          <a:p>
            <a:r>
              <a:rPr lang="en-US" b="1" dirty="0"/>
              <a:t>Include Claim Checks</a:t>
            </a:r>
            <a:r>
              <a:rPr lang="en-US" b="0" dirty="0"/>
              <a:t>: Pass references or claim checks through the message queue to retrieve the payload when needed.</a:t>
            </a:r>
          </a:p>
          <a:p>
            <a:endParaRPr lang="en-US" b="0" dirty="0"/>
          </a:p>
          <a:p>
            <a:r>
              <a:rPr lang="en-US" b="1" dirty="0"/>
              <a:t>Ensure Storage Reliability</a:t>
            </a:r>
            <a:r>
              <a:rPr lang="en-US" b="0" dirty="0"/>
              <a:t>: Use a reliable and performant external storage system to store and retrieve large payloads efficiently.</a:t>
            </a:r>
          </a:p>
          <a:p>
            <a:endParaRPr lang="en-US" b="0" dirty="0"/>
          </a:p>
          <a:p>
            <a:r>
              <a:rPr lang="en-US" b="1" dirty="0"/>
              <a:t>Coordinate Components</a:t>
            </a:r>
            <a:r>
              <a:rPr lang="en-US" b="0" dirty="0"/>
              <a:t>: Ensure proper coordination between the messaging system and the external storage to maintain consistency and reliability.</a:t>
            </a:r>
          </a:p>
          <a:p>
            <a:endParaRPr lang="en-US" b="0" dirty="0"/>
          </a:p>
          <a:p>
            <a:endParaRPr lang="en-US" b="1" dirty="0"/>
          </a:p>
        </p:txBody>
      </p:sp>
      <p:sp>
        <p:nvSpPr>
          <p:cNvPr id="4" name="Slide Number Placeholder 3">
            <a:extLst>
              <a:ext uri="{FF2B5EF4-FFF2-40B4-BE49-F238E27FC236}">
                <a16:creationId xmlns:a16="http://schemas.microsoft.com/office/drawing/2014/main" id="{8C0F321E-3D7D-89E5-FEC0-25E3EA9C52E1}"/>
              </a:ext>
            </a:extLst>
          </p:cNvPr>
          <p:cNvSpPr>
            <a:spLocks noGrp="1"/>
          </p:cNvSpPr>
          <p:nvPr>
            <p:ph type="sldNum" sz="quarter" idx="5"/>
          </p:nvPr>
        </p:nvSpPr>
        <p:spPr/>
        <p:txBody>
          <a:bodyPr/>
          <a:lstStyle/>
          <a:p>
            <a:fld id="{F5000ACD-0348-4F47-9C35-586193A86BF3}" type="slidenum">
              <a:rPr lang="en-US" smtClean="0"/>
              <a:t>49</a:t>
            </a:fld>
            <a:endParaRPr lang="en-US"/>
          </a:p>
        </p:txBody>
      </p:sp>
    </p:spTree>
    <p:extLst>
      <p:ext uri="{BB962C8B-B14F-4D97-AF65-F5344CB8AC3E}">
        <p14:creationId xmlns:p14="http://schemas.microsoft.com/office/powerpoint/2010/main" val="16745948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As we conclude the </a:t>
            </a:r>
            <a:r>
              <a:rPr lang="en-US" b="1" dirty="0"/>
              <a:t>Advanced Processing Techniques</a:t>
            </a:r>
            <a:r>
              <a:rPr lang="en-US" b="0" dirty="0"/>
              <a:t> module, let’s summarize the key patterns and insights we have covered, and preview what is coming up next.</a:t>
            </a:r>
          </a:p>
          <a:p>
            <a:endParaRPr lang="en-US" b="0" dirty="0"/>
          </a:p>
          <a:p>
            <a:r>
              <a:rPr lang="en-US" b="1" dirty="0"/>
              <a:t>Key Takeaways</a:t>
            </a:r>
            <a:r>
              <a:rPr lang="en-US" b="0" dirty="0"/>
              <a:t>:</a:t>
            </a:r>
          </a:p>
          <a:p>
            <a:endParaRPr lang="en-US" b="0" dirty="0"/>
          </a:p>
          <a:p>
            <a:pPr marL="171450" indent="-171450">
              <a:buFont typeface="Arial" panose="020B0604020202020204" pitchFamily="34" charset="0"/>
              <a:buChar char="•"/>
            </a:pPr>
            <a:r>
              <a:rPr lang="en-US" b="1" dirty="0"/>
              <a:t>Idempotent Receiver</a:t>
            </a:r>
            <a:r>
              <a:rPr lang="en-US" b="0" dirty="0"/>
              <a:t>: Ensuring that messages are processed safely multiple times without unintended side effects.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Message Scheduling</a:t>
            </a:r>
            <a:r>
              <a:rPr lang="en-US" b="0" dirty="0"/>
              <a:t>: Techniques for delaying messaging processing until a specified time.</a:t>
            </a:r>
          </a:p>
          <a:p>
            <a:pPr marL="0" indent="0">
              <a:buFont typeface="Arial" panose="020B0604020202020204" pitchFamily="34" charset="0"/>
              <a:buNone/>
            </a:pPr>
            <a:endParaRPr lang="en-US" b="0" dirty="0"/>
          </a:p>
          <a:p>
            <a:pPr marL="171450" indent="-171450">
              <a:buFont typeface="Arial" panose="020B0604020202020204" pitchFamily="34" charset="0"/>
              <a:buChar char="•"/>
            </a:pPr>
            <a:r>
              <a:rPr lang="en-US" b="1" dirty="0"/>
              <a:t>Claim Check</a:t>
            </a:r>
            <a:r>
              <a:rPr lang="en-US" b="0" dirty="0"/>
              <a:t>: Efficiently offloading large messages form the queue to handle them more effectively.</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0" dirty="0"/>
              <a:t>These patterns have provided you with advanced tools to improve the reliability and efficiency of your messaging solutions.</a:t>
            </a:r>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51</a:t>
            </a:fld>
            <a:endParaRPr lang="en-US"/>
          </a:p>
        </p:txBody>
      </p:sp>
    </p:spTree>
    <p:extLst>
      <p:ext uri="{BB962C8B-B14F-4D97-AF65-F5344CB8AC3E}">
        <p14:creationId xmlns:p14="http://schemas.microsoft.com/office/powerpoint/2010/main" val="29156348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next module, we will look into essential patterns that ensure you messaging systems are resilient and reliable. Here is a glimpse of what is to come:</a:t>
            </a:r>
          </a:p>
          <a:p>
            <a:endParaRPr lang="en-US" b="1" dirty="0"/>
          </a:p>
          <a:p>
            <a:pPr marL="171450" indent="-171450">
              <a:buFont typeface="Arial" panose="020B0604020202020204" pitchFamily="34" charset="0"/>
              <a:buChar char="•"/>
            </a:pPr>
            <a:r>
              <a:rPr lang="en-US" b="1" dirty="0"/>
              <a:t>Circuit Breaker</a:t>
            </a:r>
            <a:r>
              <a:rPr lang="en-US" b="0" dirty="0"/>
              <a:t>: Introducing fault tolerance and resilience in your messaging solutions.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Saga</a:t>
            </a:r>
            <a:r>
              <a:rPr lang="en-US" b="0" dirty="0"/>
              <a:t>: Managing long-running transactions with distributed systems.</a:t>
            </a:r>
          </a:p>
          <a:p>
            <a:pPr marL="171450" indent="-171450">
              <a:buFont typeface="Arial" panose="020B0604020202020204" pitchFamily="34" charset="0"/>
              <a:buChar char="•"/>
            </a:pPr>
            <a:endParaRPr lang="en-US" b="0" dirty="0"/>
          </a:p>
          <a:p>
            <a:pPr marL="171450" indent="-171450">
              <a:buFont typeface="Arial" panose="020B0604020202020204" pitchFamily="34" charset="0"/>
              <a:buChar char="•"/>
            </a:pPr>
            <a:r>
              <a:rPr lang="en-US" b="1" dirty="0"/>
              <a:t>Sequential Convoy</a:t>
            </a:r>
            <a:r>
              <a:rPr lang="en-US" b="0" dirty="0"/>
              <a:t>: Handling related messages in a specific order.</a:t>
            </a:r>
          </a:p>
          <a:p>
            <a:pPr marL="0" indent="0">
              <a:buFont typeface="Arial" panose="020B0604020202020204" pitchFamily="34" charset="0"/>
              <a:buNone/>
            </a:pPr>
            <a:endParaRPr lang="en-US" b="0" dirty="0"/>
          </a:p>
          <a:p>
            <a:pPr marL="0" indent="0">
              <a:buFont typeface="Arial" panose="020B0604020202020204" pitchFamily="34" charset="0"/>
              <a:buNone/>
            </a:pPr>
            <a:r>
              <a:rPr lang="en-US" b="0" dirty="0"/>
              <a:t>These upcoming patterns will further enhance your ability to design robust and scalable messaging systems. Stay tuned as we continue our journey into building resilient and reliable messaging solutions!</a:t>
            </a:r>
            <a:endParaRPr lang="en-US" b="1" dirty="0"/>
          </a:p>
          <a:p>
            <a:endParaRPr lang="en-US" dirty="0"/>
          </a:p>
        </p:txBody>
      </p:sp>
      <p:sp>
        <p:nvSpPr>
          <p:cNvPr id="4" name="Slide Number Placeholder 3"/>
          <p:cNvSpPr>
            <a:spLocks noGrp="1"/>
          </p:cNvSpPr>
          <p:nvPr>
            <p:ph type="sldNum" sz="quarter" idx="5"/>
          </p:nvPr>
        </p:nvSpPr>
        <p:spPr/>
        <p:txBody>
          <a:bodyPr/>
          <a:lstStyle/>
          <a:p>
            <a:fld id="{F5000ACD-0348-4F47-9C35-586193A86BF3}" type="slidenum">
              <a:rPr lang="en-US" smtClean="0"/>
              <a:t>53</a:t>
            </a:fld>
            <a:endParaRPr lang="en-US"/>
          </a:p>
        </p:txBody>
      </p:sp>
    </p:spTree>
    <p:extLst>
      <p:ext uri="{BB962C8B-B14F-4D97-AF65-F5344CB8AC3E}">
        <p14:creationId xmlns:p14="http://schemas.microsoft.com/office/powerpoint/2010/main" val="42706380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8872766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F8BB486-41EA-13B5-9AF0-42BBC8163251}"/>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1206D206-CC76-B356-133C-0A969DA0AE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a:extLst>
              <a:ext uri="{FF2B5EF4-FFF2-40B4-BE49-F238E27FC236}">
                <a16:creationId xmlns:a16="http://schemas.microsoft.com/office/drawing/2014/main" id="{F798492D-9410-E54A-28DD-30F3F008EA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3095833"/>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C5D7F92D-F719-DFA6-480F-E13D689414BC}"/>
              </a:ext>
            </a:extLst>
          </p:cNvPr>
          <p:cNvSpPr>
            <a:spLocks noGrp="1"/>
          </p:cNvSpPr>
          <p:nvPr>
            <p:ph type="title" hasCustomPrompt="1"/>
          </p:nvPr>
        </p:nvSpPr>
        <p:spPr>
          <a:xfrm>
            <a:off x="546099" y="583163"/>
            <a:ext cx="11099800" cy="2845837"/>
          </a:xfrm>
        </p:spPr>
        <p:txBody>
          <a:bodyPr anchor="b"/>
          <a:lstStyle>
            <a:lvl1pPr algn="ctr">
              <a:defRPr sz="6000">
                <a:solidFill>
                  <a:schemeClr val="bg2"/>
                </a:solidFill>
              </a:defRPr>
            </a:lvl1pPr>
          </a:lstStyle>
          <a:p>
            <a:r>
              <a:rPr lang="en-US" dirty="0"/>
              <a:t>Click to edit Section title</a:t>
            </a:r>
          </a:p>
        </p:txBody>
      </p:sp>
      <p:sp>
        <p:nvSpPr>
          <p:cNvPr id="3" name="Presentation Title">
            <a:extLst>
              <a:ext uri="{FF2B5EF4-FFF2-40B4-BE49-F238E27FC236}">
                <a16:creationId xmlns:a16="http://schemas.microsoft.com/office/drawing/2014/main" id="{F8450C63-0FDF-68E3-C430-6BE7AA1CDE18}"/>
              </a:ext>
            </a:extLst>
          </p:cNvPr>
          <p:cNvSpPr txBox="1"/>
          <p:nvPr userDrawn="1"/>
        </p:nvSpPr>
        <p:spPr>
          <a:xfrm>
            <a:off x="3486150" y="6396335"/>
            <a:ext cx="5219699" cy="461665"/>
          </a:xfrm>
          <a:prstGeom prst="rect">
            <a:avLst/>
          </a:prstGeom>
          <a:noFill/>
        </p:spPr>
        <p:txBody>
          <a:bodyPr wrap="none" rtlCol="0">
            <a:spAutoFit/>
          </a:bodyPr>
          <a:lstStyle/>
          <a:p>
            <a:r>
              <a:rPr lang="en-US" sz="2400" dirty="0">
                <a:solidFill>
                  <a:schemeClr val="accent6"/>
                </a:solidFill>
              </a:rPr>
              <a:t>Unlock the Power of Messaging Patterns</a:t>
            </a:r>
          </a:p>
        </p:txBody>
      </p:sp>
      <p:sp>
        <p:nvSpPr>
          <p:cNvPr id="9" name="Subection Title">
            <a:extLst>
              <a:ext uri="{FF2B5EF4-FFF2-40B4-BE49-F238E27FC236}">
                <a16:creationId xmlns:a16="http://schemas.microsoft.com/office/drawing/2014/main" id="{A24D9923-57B7-3F72-BDE9-973B963E0642}"/>
              </a:ext>
            </a:extLst>
          </p:cNvPr>
          <p:cNvSpPr>
            <a:spLocks noGrp="1"/>
          </p:cNvSpPr>
          <p:nvPr>
            <p:ph type="body" sz="quarter" idx="10" hasCustomPrompt="1"/>
          </p:nvPr>
        </p:nvSpPr>
        <p:spPr>
          <a:xfrm>
            <a:off x="642257" y="4455467"/>
            <a:ext cx="11003642" cy="914400"/>
          </a:xfrm>
        </p:spPr>
        <p:txBody>
          <a:bodyPr>
            <a:noAutofit/>
          </a:bodyPr>
          <a:lstStyle>
            <a:lvl1pPr marL="0" indent="0" algn="ctr">
              <a:buNone/>
              <a:defRPr lang="en-US" sz="4000" kern="1200" dirty="0">
                <a:solidFill>
                  <a:schemeClr val="bg2"/>
                </a:solidFill>
                <a:latin typeface="+mj-lt"/>
                <a:ea typeface="+mj-ea"/>
                <a:cs typeface="+mj-cs"/>
              </a:defRPr>
            </a:lvl1pPr>
          </a:lstStyle>
          <a:p>
            <a:pPr lvl="0"/>
            <a:r>
              <a:rPr lang="en-US" dirty="0"/>
              <a:t>Click to edit subsection title</a:t>
            </a:r>
          </a:p>
        </p:txBody>
      </p:sp>
    </p:spTree>
    <p:extLst>
      <p:ext uri="{BB962C8B-B14F-4D97-AF65-F5344CB8AC3E}">
        <p14:creationId xmlns:p14="http://schemas.microsoft.com/office/powerpoint/2010/main" val="193322088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5E4057A-9753-03B7-9BF6-D812ABB82D5C}"/>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4" name="Secondary Content">
            <a:extLst>
              <a:ext uri="{FF2B5EF4-FFF2-40B4-BE49-F238E27FC236}">
                <a16:creationId xmlns:a16="http://schemas.microsoft.com/office/drawing/2014/main" id="{FDE02316-9F55-D549-0FD3-3FE4AE69933A}"/>
              </a:ext>
            </a:extLst>
          </p:cNvPr>
          <p:cNvSpPr>
            <a:spLocks noGrp="1"/>
          </p:cNvSpPr>
          <p:nvPr>
            <p:ph sz="half" idx="2"/>
          </p:nvPr>
        </p:nvSpPr>
        <p:spPr>
          <a:xfrm>
            <a:off x="6194778"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rimary Content">
            <a:extLst>
              <a:ext uri="{FF2B5EF4-FFF2-40B4-BE49-F238E27FC236}">
                <a16:creationId xmlns:a16="http://schemas.microsoft.com/office/drawing/2014/main" id="{32C729A9-72A4-DC89-E3AD-B75906BA7649}"/>
              </a:ext>
            </a:extLst>
          </p:cNvPr>
          <p:cNvSpPr>
            <a:spLocks noGrp="1"/>
          </p:cNvSpPr>
          <p:nvPr>
            <p:ph sz="half" idx="1"/>
          </p:nvPr>
        </p:nvSpPr>
        <p:spPr>
          <a:xfrm>
            <a:off x="548640" y="1825625"/>
            <a:ext cx="5458968" cy="4389120"/>
          </a:xfrm>
        </p:spPr>
        <p:txBody>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a:extLst>
              <a:ext uri="{FF2B5EF4-FFF2-40B4-BE49-F238E27FC236}">
                <a16:creationId xmlns:a16="http://schemas.microsoft.com/office/drawing/2014/main" id="{026C142B-8301-F944-A303-6FF51130009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21965641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Presenation Title Footer">
            <a:extLst>
              <a:ext uri="{FF2B5EF4-FFF2-40B4-BE49-F238E27FC236}">
                <a16:creationId xmlns:a16="http://schemas.microsoft.com/office/drawing/2014/main" id="{9EC920BD-70A9-B7EA-30FB-13D1FAF82F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6" name="Rigth Comparison">
            <a:extLst>
              <a:ext uri="{FF2B5EF4-FFF2-40B4-BE49-F238E27FC236}">
                <a16:creationId xmlns:a16="http://schemas.microsoft.com/office/drawing/2014/main" id="{787CCB16-0AAE-E45C-6993-A6FC55DBF3F3}"/>
              </a:ext>
            </a:extLst>
          </p:cNvPr>
          <p:cNvSpPr>
            <a:spLocks noGrp="1"/>
          </p:cNvSpPr>
          <p:nvPr>
            <p:ph sz="quarter" idx="4"/>
          </p:nvPr>
        </p:nvSpPr>
        <p:spPr>
          <a:xfrm>
            <a:off x="6373368" y="2441448"/>
            <a:ext cx="5276088" cy="39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ight Comparison Title">
            <a:extLst>
              <a:ext uri="{FF2B5EF4-FFF2-40B4-BE49-F238E27FC236}">
                <a16:creationId xmlns:a16="http://schemas.microsoft.com/office/drawing/2014/main" id="{0F73AC93-FC06-15C6-D0B8-36C019116720}"/>
              </a:ext>
            </a:extLst>
          </p:cNvPr>
          <p:cNvSpPr>
            <a:spLocks noGrp="1"/>
          </p:cNvSpPr>
          <p:nvPr>
            <p:ph type="body" sz="quarter" idx="3"/>
          </p:nvPr>
        </p:nvSpPr>
        <p:spPr>
          <a:xfrm>
            <a:off x="6369812"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cxnSp>
        <p:nvCxnSpPr>
          <p:cNvPr id="12" name="Comparison Divider">
            <a:extLst>
              <a:ext uri="{FF2B5EF4-FFF2-40B4-BE49-F238E27FC236}">
                <a16:creationId xmlns:a16="http://schemas.microsoft.com/office/drawing/2014/main" id="{6061AE4D-4A1A-2767-57FB-93B7BCF30EEF}"/>
              </a:ext>
            </a:extLst>
          </p:cNvPr>
          <p:cNvCxnSpPr>
            <a:cxnSpLocks/>
          </p:cNvCxnSpPr>
          <p:nvPr userDrawn="1"/>
        </p:nvCxnSpPr>
        <p:spPr>
          <a:xfrm flipH="1">
            <a:off x="6099048" y="1645920"/>
            <a:ext cx="4644" cy="4663440"/>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4" name="Left Comparison">
            <a:extLst>
              <a:ext uri="{FF2B5EF4-FFF2-40B4-BE49-F238E27FC236}">
                <a16:creationId xmlns:a16="http://schemas.microsoft.com/office/drawing/2014/main" id="{D91756C4-37D6-0386-0375-9847BBAB699D}"/>
              </a:ext>
            </a:extLst>
          </p:cNvPr>
          <p:cNvSpPr>
            <a:spLocks noGrp="1"/>
          </p:cNvSpPr>
          <p:nvPr>
            <p:ph sz="half" idx="2"/>
          </p:nvPr>
        </p:nvSpPr>
        <p:spPr>
          <a:xfrm>
            <a:off x="548640" y="2441447"/>
            <a:ext cx="5276088" cy="3959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ett Comparison Title">
            <a:extLst>
              <a:ext uri="{FF2B5EF4-FFF2-40B4-BE49-F238E27FC236}">
                <a16:creationId xmlns:a16="http://schemas.microsoft.com/office/drawing/2014/main" id="{327D5202-CBB7-F61D-FC1B-581B290B6DD1}"/>
              </a:ext>
            </a:extLst>
          </p:cNvPr>
          <p:cNvSpPr>
            <a:spLocks noGrp="1"/>
          </p:cNvSpPr>
          <p:nvPr>
            <p:ph type="body" idx="1"/>
          </p:nvPr>
        </p:nvSpPr>
        <p:spPr>
          <a:xfrm>
            <a:off x="548640" y="1581912"/>
            <a:ext cx="52760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a:extLst>
              <a:ext uri="{FF2B5EF4-FFF2-40B4-BE49-F238E27FC236}">
                <a16:creationId xmlns:a16="http://schemas.microsoft.com/office/drawing/2014/main" id="{63BB01E2-8C0E-379A-B14D-0A9CBFA0D1BF}"/>
              </a:ext>
            </a:extLst>
          </p:cNvPr>
          <p:cNvSpPr>
            <a:spLocks noGrp="1"/>
          </p:cNvSpPr>
          <p:nvPr>
            <p:ph type="title"/>
          </p:nvPr>
        </p:nvSpPr>
        <p:spPr>
          <a:xfrm>
            <a:off x="550236" y="457200"/>
            <a:ext cx="11100816" cy="1097280"/>
          </a:xfrm>
        </p:spPr>
        <p:txBody>
          <a:bodyPr/>
          <a:lstStyle/>
          <a:p>
            <a:r>
              <a:rPr lang="en-US"/>
              <a:t>Click to edit Master title style</a:t>
            </a:r>
          </a:p>
        </p:txBody>
      </p:sp>
    </p:spTree>
    <p:extLst>
      <p:ext uri="{BB962C8B-B14F-4D97-AF65-F5344CB8AC3E}">
        <p14:creationId xmlns:p14="http://schemas.microsoft.com/office/powerpoint/2010/main" val="46662727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Presenation Title Footer">
            <a:extLst>
              <a:ext uri="{FF2B5EF4-FFF2-40B4-BE49-F238E27FC236}">
                <a16:creationId xmlns:a16="http://schemas.microsoft.com/office/drawing/2014/main" id="{3536266B-EC88-1F4B-858A-5E89E4A47DD2}"/>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2" name="Title">
            <a:extLst>
              <a:ext uri="{FF2B5EF4-FFF2-40B4-BE49-F238E27FC236}">
                <a16:creationId xmlns:a16="http://schemas.microsoft.com/office/drawing/2014/main" id="{831C5808-D707-8E1E-FCFD-39439C86BA1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85212499"/>
      </p:ext>
    </p:extLst>
  </p:cSld>
  <p:clrMapOvr>
    <a:masterClrMapping/>
  </p:clrMapOvr>
  <p:extLst>
    <p:ext uri="{DCECCB84-F9BA-43D5-87BE-67443E8EF086}">
      <p15:sldGuideLst xmlns:p15="http://schemas.microsoft.com/office/powerpoint/2012/main">
        <p15:guide id="1" userDrawn="1">
          <p15:clr>
            <a:srgbClr val="FBAE40"/>
          </p15:clr>
        </p15:guide>
        <p15:guide id="2" pos="7680" userDrawn="1">
          <p15:clr>
            <a:srgbClr val="FBAE40"/>
          </p15:clr>
        </p15:guide>
        <p15:guide id="3" pos="345" userDrawn="1">
          <p15:clr>
            <a:srgbClr val="FBAE40"/>
          </p15:clr>
        </p15:guide>
        <p15:guide id="4" pos="822" userDrawn="1">
          <p15:clr>
            <a:srgbClr val="FBAE40"/>
          </p15:clr>
        </p15:guide>
        <p15:guide id="5" pos="937" userDrawn="1">
          <p15:clr>
            <a:srgbClr val="FBAE40"/>
          </p15:clr>
        </p15:guide>
        <p15:guide id="6" pos="1414" userDrawn="1">
          <p15:clr>
            <a:srgbClr val="FBAE40"/>
          </p15:clr>
        </p15:guide>
        <p15:guide id="7" pos="1529" userDrawn="1">
          <p15:clr>
            <a:srgbClr val="FBAE40"/>
          </p15:clr>
        </p15:guide>
        <p15:guide id="8" pos="2006" userDrawn="1">
          <p15:clr>
            <a:srgbClr val="FBAE40"/>
          </p15:clr>
        </p15:guide>
        <p15:guide id="9" pos="2121" userDrawn="1">
          <p15:clr>
            <a:srgbClr val="FBAE40"/>
          </p15:clr>
        </p15:guide>
        <p15:guide id="10" pos="2598" userDrawn="1">
          <p15:clr>
            <a:srgbClr val="FBAE40"/>
          </p15:clr>
        </p15:guide>
        <p15:guide id="11" pos="2713" userDrawn="1">
          <p15:clr>
            <a:srgbClr val="FBAE40"/>
          </p15:clr>
        </p15:guide>
        <p15:guide id="12" pos="3190" userDrawn="1">
          <p15:clr>
            <a:srgbClr val="FBAE40"/>
          </p15:clr>
        </p15:guide>
        <p15:guide id="13" pos="3305" userDrawn="1">
          <p15:clr>
            <a:srgbClr val="FBAE40"/>
          </p15:clr>
        </p15:guide>
        <p15:guide id="14" pos="3782" userDrawn="1">
          <p15:clr>
            <a:srgbClr val="FBAE40"/>
          </p15:clr>
        </p15:guide>
        <p15:guide id="15" pos="3897" userDrawn="1">
          <p15:clr>
            <a:srgbClr val="FBAE40"/>
          </p15:clr>
        </p15:guide>
        <p15:guide id="16" pos="4374" userDrawn="1">
          <p15:clr>
            <a:srgbClr val="FBAE40"/>
          </p15:clr>
        </p15:guide>
        <p15:guide id="17" pos="4489" userDrawn="1">
          <p15:clr>
            <a:srgbClr val="FBAE40"/>
          </p15:clr>
        </p15:guide>
        <p15:guide id="18" pos="4966" userDrawn="1">
          <p15:clr>
            <a:srgbClr val="FBAE40"/>
          </p15:clr>
        </p15:guide>
        <p15:guide id="19" pos="5081" userDrawn="1">
          <p15:clr>
            <a:srgbClr val="FBAE40"/>
          </p15:clr>
        </p15:guide>
        <p15:guide id="20" pos="5558" userDrawn="1">
          <p15:clr>
            <a:srgbClr val="FBAE40"/>
          </p15:clr>
        </p15:guide>
        <p15:guide id="21" pos="5673" userDrawn="1">
          <p15:clr>
            <a:srgbClr val="FBAE40"/>
          </p15:clr>
        </p15:guide>
        <p15:guide id="22" pos="6150" userDrawn="1">
          <p15:clr>
            <a:srgbClr val="FBAE40"/>
          </p15:clr>
        </p15:guide>
        <p15:guide id="23" pos="6265" userDrawn="1">
          <p15:clr>
            <a:srgbClr val="FBAE40"/>
          </p15:clr>
        </p15:guide>
        <p15:guide id="24" pos="6742" userDrawn="1">
          <p15:clr>
            <a:srgbClr val="FBAE40"/>
          </p15:clr>
        </p15:guide>
        <p15:guide id="25" pos="6857" userDrawn="1">
          <p15:clr>
            <a:srgbClr val="FBAE40"/>
          </p15:clr>
        </p15:guide>
        <p15:guide id="26" pos="7334" userDrawn="1">
          <p15:clr>
            <a:srgbClr val="FBAE40"/>
          </p15:clr>
        </p15:guide>
        <p15:guide id="27" orient="horz" userDrawn="1">
          <p15:clr>
            <a:srgbClr val="FBAE40"/>
          </p15:clr>
        </p15:guide>
        <p15:guide id="28" orient="horz" pos="4320" userDrawn="1">
          <p15:clr>
            <a:srgbClr val="FBAE40"/>
          </p15:clr>
        </p15:guide>
        <p15:guide id="29" orient="horz" pos="288" userDrawn="1">
          <p15:clr>
            <a:srgbClr val="FBAE40"/>
          </p15:clr>
        </p15:guide>
        <p15:guide id="30" orient="horz" pos="816" userDrawn="1">
          <p15:clr>
            <a:srgbClr val="FBAE40"/>
          </p15:clr>
        </p15:guide>
        <p15:guide id="31" orient="horz" pos="931" userDrawn="1">
          <p15:clr>
            <a:srgbClr val="FBAE40"/>
          </p15:clr>
        </p15:guide>
        <p15:guide id="32" orient="horz" pos="1459" userDrawn="1">
          <p15:clr>
            <a:srgbClr val="FBAE40"/>
          </p15:clr>
        </p15:guide>
        <p15:guide id="33" orient="horz" pos="1574" userDrawn="1">
          <p15:clr>
            <a:srgbClr val="FBAE40"/>
          </p15:clr>
        </p15:guide>
        <p15:guide id="34" orient="horz" pos="2102" userDrawn="1">
          <p15:clr>
            <a:srgbClr val="FBAE40"/>
          </p15:clr>
        </p15:guide>
        <p15:guide id="35" orient="horz" pos="2217" userDrawn="1">
          <p15:clr>
            <a:srgbClr val="FBAE40"/>
          </p15:clr>
        </p15:guide>
        <p15:guide id="36" orient="horz" pos="2745" userDrawn="1">
          <p15:clr>
            <a:srgbClr val="FBAE40"/>
          </p15:clr>
        </p15:guide>
        <p15:guide id="37" orient="horz" pos="2860" userDrawn="1">
          <p15:clr>
            <a:srgbClr val="FBAE40"/>
          </p15:clr>
        </p15:guide>
        <p15:guide id="38" orient="horz" pos="3388" userDrawn="1">
          <p15:clr>
            <a:srgbClr val="FBAE40"/>
          </p15:clr>
        </p15:guide>
        <p15:guide id="39" orient="horz" pos="3504" userDrawn="1">
          <p15:clr>
            <a:srgbClr val="FBAE40"/>
          </p15:clr>
        </p15:guide>
        <p15:guide id="40" orient="horz" pos="403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Presenation Title Footer">
            <a:extLst>
              <a:ext uri="{FF2B5EF4-FFF2-40B4-BE49-F238E27FC236}">
                <a16:creationId xmlns:a16="http://schemas.microsoft.com/office/drawing/2014/main" id="{5743D3FB-D8B4-73B9-0972-DBFB37F5D69B}"/>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Tree>
    <p:extLst>
      <p:ext uri="{BB962C8B-B14F-4D97-AF65-F5344CB8AC3E}">
        <p14:creationId xmlns:p14="http://schemas.microsoft.com/office/powerpoint/2010/main" val="4011378245"/>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827AF5A6-F851-FB63-1669-61D5739419EF}"/>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Content Placeholder">
            <a:extLst>
              <a:ext uri="{FF2B5EF4-FFF2-40B4-BE49-F238E27FC236}">
                <a16:creationId xmlns:a16="http://schemas.microsoft.com/office/drawing/2014/main" id="{E6ED642B-92EB-1734-E5D9-077003B8A6E2}"/>
              </a:ext>
            </a:extLst>
          </p:cNvPr>
          <p:cNvSpPr>
            <a:spLocks noGrp="1"/>
          </p:cNvSpPr>
          <p:nvPr>
            <p:ph idx="1"/>
          </p:nvPr>
        </p:nvSpPr>
        <p:spPr>
          <a:xfrm>
            <a:off x="4306824" y="457200"/>
            <a:ext cx="7336536" cy="576072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a:extLst>
              <a:ext uri="{FF2B5EF4-FFF2-40B4-BE49-F238E27FC236}">
                <a16:creationId xmlns:a16="http://schemas.microsoft.com/office/drawing/2014/main" id="{7CA6B0FB-DB4A-6DCB-F760-974288FA2820}"/>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F0AA9804-C8FE-28D4-18D5-7F9DCA5851F4}"/>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95748551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Presenation Title Footer">
            <a:extLst>
              <a:ext uri="{FF2B5EF4-FFF2-40B4-BE49-F238E27FC236}">
                <a16:creationId xmlns:a16="http://schemas.microsoft.com/office/drawing/2014/main" id="{DF8F8D25-E665-0209-243E-C399F20D9620}"/>
              </a:ext>
            </a:extLst>
          </p:cNvPr>
          <p:cNvSpPr txBox="1"/>
          <p:nvPr userDrawn="1"/>
        </p:nvSpPr>
        <p:spPr>
          <a:xfrm>
            <a:off x="4530443" y="6400800"/>
            <a:ext cx="3131114" cy="307777"/>
          </a:xfrm>
          <a:prstGeom prst="rect">
            <a:avLst/>
          </a:prstGeom>
          <a:noFill/>
        </p:spPr>
        <p:txBody>
          <a:bodyPr wrap="none" rtlCol="0">
            <a:spAutoFit/>
          </a:bodyPr>
          <a:lstStyle/>
          <a:p>
            <a:r>
              <a:rPr lang="en-US" sz="1400" i="1" dirty="0">
                <a:solidFill>
                  <a:schemeClr val="accent6"/>
                </a:solidFill>
              </a:rPr>
              <a:t>Unlock the Power of Messaging Patterns</a:t>
            </a:r>
          </a:p>
        </p:txBody>
      </p:sp>
      <p:sp>
        <p:nvSpPr>
          <p:cNvPr id="3" name="Picture Placeholder 2">
            <a:extLst>
              <a:ext uri="{FF2B5EF4-FFF2-40B4-BE49-F238E27FC236}">
                <a16:creationId xmlns:a16="http://schemas.microsoft.com/office/drawing/2014/main" id="{69667B8E-3FB1-AED5-8499-96A869DE570A}"/>
              </a:ext>
            </a:extLst>
          </p:cNvPr>
          <p:cNvSpPr>
            <a:spLocks noGrp="1"/>
          </p:cNvSpPr>
          <p:nvPr>
            <p:ph type="pic" idx="1"/>
          </p:nvPr>
        </p:nvSpPr>
        <p:spPr>
          <a:xfrm>
            <a:off x="4306824" y="457200"/>
            <a:ext cx="7333488" cy="576072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0860A7C2-6F8A-E515-E20F-4EDB3F618E15}"/>
              </a:ext>
            </a:extLst>
          </p:cNvPr>
          <p:cNvSpPr>
            <a:spLocks noGrp="1"/>
          </p:cNvSpPr>
          <p:nvPr>
            <p:ph type="body" sz="half" idx="2"/>
          </p:nvPr>
        </p:nvSpPr>
        <p:spPr>
          <a:xfrm>
            <a:off x="548640" y="1965960"/>
            <a:ext cx="3575304" cy="42519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a:extLst>
              <a:ext uri="{FF2B5EF4-FFF2-40B4-BE49-F238E27FC236}">
                <a16:creationId xmlns:a16="http://schemas.microsoft.com/office/drawing/2014/main" id="{649B8AEF-8CB1-ED90-43F3-6A746020190B}"/>
              </a:ext>
            </a:extLst>
          </p:cNvPr>
          <p:cNvSpPr>
            <a:spLocks noGrp="1"/>
          </p:cNvSpPr>
          <p:nvPr>
            <p:ph type="title"/>
          </p:nvPr>
        </p:nvSpPr>
        <p:spPr>
          <a:xfrm>
            <a:off x="548640" y="457200"/>
            <a:ext cx="3575304" cy="1417320"/>
          </a:xfrm>
        </p:spPr>
        <p:txBody>
          <a:bodyPr anchor="b"/>
          <a:lstStyle>
            <a:lvl1pPr>
              <a:defRPr sz="3200"/>
            </a:lvl1pPr>
          </a:lstStyle>
          <a:p>
            <a:r>
              <a:rPr lang="en-US"/>
              <a:t>Click to edit Master title style</a:t>
            </a:r>
          </a:p>
        </p:txBody>
      </p:sp>
    </p:spTree>
    <p:extLst>
      <p:ext uri="{BB962C8B-B14F-4D97-AF65-F5344CB8AC3E}">
        <p14:creationId xmlns:p14="http://schemas.microsoft.com/office/powerpoint/2010/main" val="81961407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3E7B727-76AE-E598-387E-27D5ED6BA62B}"/>
              </a:ext>
            </a:extLst>
          </p:cNvPr>
          <p:cNvSpPr>
            <a:spLocks noGrp="1"/>
          </p:cNvSpPr>
          <p:nvPr>
            <p:ph type="body" idx="1"/>
          </p:nvPr>
        </p:nvSpPr>
        <p:spPr>
          <a:xfrm>
            <a:off x="546100" y="1825625"/>
            <a:ext cx="11099800" cy="43891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laceholder 1">
            <a:extLst>
              <a:ext uri="{FF2B5EF4-FFF2-40B4-BE49-F238E27FC236}">
                <a16:creationId xmlns:a16="http://schemas.microsoft.com/office/drawing/2014/main" id="{5A65C17A-A8EA-6066-3EC9-89C46D9275D6}"/>
              </a:ext>
            </a:extLst>
          </p:cNvPr>
          <p:cNvSpPr>
            <a:spLocks noGrp="1"/>
          </p:cNvSpPr>
          <p:nvPr>
            <p:ph type="title"/>
          </p:nvPr>
        </p:nvSpPr>
        <p:spPr>
          <a:xfrm>
            <a:off x="546100" y="457200"/>
            <a:ext cx="11099800" cy="1097280"/>
          </a:xfrm>
          <a:prstGeom prst="rect">
            <a:avLst/>
          </a:prstGeom>
        </p:spPr>
        <p:txBody>
          <a:bodyPr vert="horz" lIns="91440" tIns="45720" rIns="91440" bIns="45720" rtlCol="0" anchor="ctr">
            <a:normAutofit/>
          </a:bodyPr>
          <a:lstStyle/>
          <a:p>
            <a:r>
              <a:rPr lang="en-US"/>
              <a:t>Click to edit Master title style</a:t>
            </a:r>
            <a:endParaRPr lang="en-US" dirty="0"/>
          </a:p>
        </p:txBody>
      </p:sp>
    </p:spTree>
    <p:extLst>
      <p:ext uri="{BB962C8B-B14F-4D97-AF65-F5344CB8AC3E}">
        <p14:creationId xmlns:p14="http://schemas.microsoft.com/office/powerpoint/2010/main" val="59129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4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4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4.sv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8.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8.sv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svg"/><Relationship Id="rId4"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34.jpg"/><Relationship Id="rId7" Type="http://schemas.openxmlformats.org/officeDocument/2006/relationships/image" Target="../media/image38.jpg"/><Relationship Id="rId2" Type="http://schemas.openxmlformats.org/officeDocument/2006/relationships/image" Target="../media/image33.jpg"/><Relationship Id="rId1" Type="http://schemas.openxmlformats.org/officeDocument/2006/relationships/slideLayout" Target="../slideLayouts/slideLayout7.xml"/><Relationship Id="rId6" Type="http://schemas.openxmlformats.org/officeDocument/2006/relationships/image" Target="../media/image37.jpg"/><Relationship Id="rId5" Type="http://schemas.openxmlformats.org/officeDocument/2006/relationships/image" Target="../media/image36.jpeg"/><Relationship Id="rId4" Type="http://schemas.openxmlformats.org/officeDocument/2006/relationships/image" Target="../media/image35.jp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3BAF1-D41C-6ED0-3DDD-7C0F0AD82384}"/>
              </a:ext>
            </a:extLst>
          </p:cNvPr>
          <p:cNvSpPr>
            <a:spLocks noGrp="1"/>
          </p:cNvSpPr>
          <p:nvPr>
            <p:ph type="title"/>
          </p:nvPr>
        </p:nvSpPr>
        <p:spPr/>
        <p:txBody>
          <a:bodyPr/>
          <a:lstStyle/>
          <a:p>
            <a:r>
              <a:rPr lang="en-US" dirty="0"/>
              <a:t>Theme Style Guide</a:t>
            </a:r>
          </a:p>
        </p:txBody>
      </p:sp>
      <p:graphicFrame>
        <p:nvGraphicFramePr>
          <p:cNvPr id="3" name="Table 2">
            <a:extLst>
              <a:ext uri="{FF2B5EF4-FFF2-40B4-BE49-F238E27FC236}">
                <a16:creationId xmlns:a16="http://schemas.microsoft.com/office/drawing/2014/main" id="{D397CC35-0F6C-BAA3-5A01-32A5C8874FB7}"/>
              </a:ext>
            </a:extLst>
          </p:cNvPr>
          <p:cNvGraphicFramePr>
            <a:graphicFrameLocks noGrp="1"/>
          </p:cNvGraphicFramePr>
          <p:nvPr>
            <p:extLst>
              <p:ext uri="{D42A27DB-BD31-4B8C-83A1-F6EECF244321}">
                <p14:modId xmlns:p14="http://schemas.microsoft.com/office/powerpoint/2010/main" val="3420276839"/>
              </p:ext>
            </p:extLst>
          </p:nvPr>
        </p:nvGraphicFramePr>
        <p:xfrm>
          <a:off x="547688" y="1477963"/>
          <a:ext cx="7739994"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3749007155"/>
                    </a:ext>
                  </a:extLst>
                </a:gridCol>
                <a:gridCol w="2709333">
                  <a:extLst>
                    <a:ext uri="{9D8B030D-6E8A-4147-A177-3AD203B41FA5}">
                      <a16:colId xmlns:a16="http://schemas.microsoft.com/office/drawing/2014/main" val="1761761360"/>
                    </a:ext>
                  </a:extLst>
                </a:gridCol>
                <a:gridCol w="3735451">
                  <a:extLst>
                    <a:ext uri="{9D8B030D-6E8A-4147-A177-3AD203B41FA5}">
                      <a16:colId xmlns:a16="http://schemas.microsoft.com/office/drawing/2014/main" val="801812722"/>
                    </a:ext>
                  </a:extLst>
                </a:gridCol>
              </a:tblGrid>
              <a:tr h="370840">
                <a:tc>
                  <a:txBody>
                    <a:bodyPr/>
                    <a:lstStyle/>
                    <a:p>
                      <a:r>
                        <a:rPr lang="en-US" dirty="0"/>
                        <a:t>Accent Slot</a:t>
                      </a:r>
                    </a:p>
                  </a:txBody>
                  <a:tcPr/>
                </a:tc>
                <a:tc>
                  <a:txBody>
                    <a:bodyPr/>
                    <a:lstStyle/>
                    <a:p>
                      <a:r>
                        <a:rPr lang="en-US" dirty="0"/>
                        <a:t>Hext Color</a:t>
                      </a:r>
                    </a:p>
                  </a:txBody>
                  <a:tcPr/>
                </a:tc>
                <a:tc>
                  <a:txBody>
                    <a:bodyPr/>
                    <a:lstStyle/>
                    <a:p>
                      <a:r>
                        <a:rPr lang="en-US" dirty="0"/>
                        <a:t>Usage</a:t>
                      </a:r>
                    </a:p>
                  </a:txBody>
                  <a:tcPr/>
                </a:tc>
                <a:extLst>
                  <a:ext uri="{0D108BD9-81ED-4DB2-BD59-A6C34878D82A}">
                    <a16:rowId xmlns:a16="http://schemas.microsoft.com/office/drawing/2014/main" val="844874395"/>
                  </a:ext>
                </a:extLst>
              </a:tr>
              <a:tr h="370840">
                <a:tc>
                  <a:txBody>
                    <a:bodyPr/>
                    <a:lstStyle/>
                    <a:p>
                      <a:r>
                        <a:rPr lang="en-US" dirty="0"/>
                        <a:t>Accent 1</a:t>
                      </a:r>
                    </a:p>
                  </a:txBody>
                  <a:tcPr/>
                </a:tc>
                <a:tc>
                  <a:txBody>
                    <a:bodyPr/>
                    <a:lstStyle/>
                    <a:p>
                      <a:r>
                        <a:rPr lang="en-US" dirty="0"/>
                        <a:t>#XXXXXX</a:t>
                      </a:r>
                    </a:p>
                  </a:txBody>
                  <a:tcPr/>
                </a:tc>
                <a:tc>
                  <a:txBody>
                    <a:bodyPr/>
                    <a:lstStyle/>
                    <a:p>
                      <a:r>
                        <a:rPr lang="en-US" dirty="0"/>
                        <a:t>Slide Titles, major headings</a:t>
                      </a:r>
                    </a:p>
                  </a:txBody>
                  <a:tcPr/>
                </a:tc>
                <a:extLst>
                  <a:ext uri="{0D108BD9-81ED-4DB2-BD59-A6C34878D82A}">
                    <a16:rowId xmlns:a16="http://schemas.microsoft.com/office/drawing/2014/main" val="2448803630"/>
                  </a:ext>
                </a:extLst>
              </a:tr>
              <a:tr h="370840">
                <a:tc>
                  <a:txBody>
                    <a:bodyPr/>
                    <a:lstStyle/>
                    <a:p>
                      <a:r>
                        <a:rPr lang="en-US" dirty="0"/>
                        <a:t>Accent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Secondary Headers, comparison titles</a:t>
                      </a:r>
                    </a:p>
                  </a:txBody>
                  <a:tcPr/>
                </a:tc>
                <a:extLst>
                  <a:ext uri="{0D108BD9-81ED-4DB2-BD59-A6C34878D82A}">
                    <a16:rowId xmlns:a16="http://schemas.microsoft.com/office/drawing/2014/main" val="475053158"/>
                  </a:ext>
                </a:extLst>
              </a:tr>
              <a:tr h="370840">
                <a:tc>
                  <a:txBody>
                    <a:bodyPr/>
                    <a:lstStyle/>
                    <a:p>
                      <a:r>
                        <a:rPr lang="en-US" dirty="0"/>
                        <a:t>Accent 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Highlight callouts, icon files</a:t>
                      </a:r>
                    </a:p>
                  </a:txBody>
                  <a:tcPr/>
                </a:tc>
                <a:extLst>
                  <a:ext uri="{0D108BD9-81ED-4DB2-BD59-A6C34878D82A}">
                    <a16:rowId xmlns:a16="http://schemas.microsoft.com/office/drawing/2014/main" val="957745377"/>
                  </a:ext>
                </a:extLst>
              </a:tr>
              <a:tr h="370840">
                <a:tc>
                  <a:txBody>
                    <a:bodyPr/>
                    <a:lstStyle/>
                    <a:p>
                      <a:r>
                        <a:rPr lang="en-US" dirty="0"/>
                        <a:t>Accent 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Links, interactive elements</a:t>
                      </a:r>
                    </a:p>
                  </a:txBody>
                  <a:tcPr/>
                </a:tc>
                <a:extLst>
                  <a:ext uri="{0D108BD9-81ED-4DB2-BD59-A6C34878D82A}">
                    <a16:rowId xmlns:a16="http://schemas.microsoft.com/office/drawing/2014/main" val="1803543067"/>
                  </a:ext>
                </a:extLst>
              </a:tr>
              <a:tr h="370840">
                <a:tc>
                  <a:txBody>
                    <a:bodyPr/>
                    <a:lstStyle/>
                    <a:p>
                      <a:r>
                        <a:rPr lang="en-US" dirty="0"/>
                        <a:t>Accent 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Alerts, warnings, caution text</a:t>
                      </a:r>
                    </a:p>
                  </a:txBody>
                  <a:tcPr/>
                </a:tc>
                <a:extLst>
                  <a:ext uri="{0D108BD9-81ED-4DB2-BD59-A6C34878D82A}">
                    <a16:rowId xmlns:a16="http://schemas.microsoft.com/office/drawing/2014/main" val="1178434252"/>
                  </a:ext>
                </a:extLst>
              </a:tr>
              <a:tr h="370840">
                <a:tc>
                  <a:txBody>
                    <a:bodyPr/>
                    <a:lstStyle/>
                    <a:p>
                      <a:r>
                        <a:rPr lang="en-US" dirty="0"/>
                        <a:t>Accent 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#XXXXXX</a:t>
                      </a:r>
                    </a:p>
                  </a:txBody>
                  <a:tcPr/>
                </a:tc>
                <a:tc>
                  <a:txBody>
                    <a:bodyPr/>
                    <a:lstStyle/>
                    <a:p>
                      <a:r>
                        <a:rPr lang="en-US" dirty="0"/>
                        <a:t>Captions, footers, diver lines</a:t>
                      </a:r>
                    </a:p>
                  </a:txBody>
                  <a:tcPr/>
                </a:tc>
                <a:extLst>
                  <a:ext uri="{0D108BD9-81ED-4DB2-BD59-A6C34878D82A}">
                    <a16:rowId xmlns:a16="http://schemas.microsoft.com/office/drawing/2014/main" val="1282975798"/>
                  </a:ext>
                </a:extLst>
              </a:tr>
            </a:tbl>
          </a:graphicData>
        </a:graphic>
      </p:graphicFrame>
      <p:sp>
        <p:nvSpPr>
          <p:cNvPr id="4" name="Oval 3">
            <a:extLst>
              <a:ext uri="{FF2B5EF4-FFF2-40B4-BE49-F238E27FC236}">
                <a16:creationId xmlns:a16="http://schemas.microsoft.com/office/drawing/2014/main" id="{C8546C5D-A4EE-F35D-2D8E-680D80F57F86}"/>
              </a:ext>
            </a:extLst>
          </p:cNvPr>
          <p:cNvSpPr/>
          <p:nvPr/>
        </p:nvSpPr>
        <p:spPr>
          <a:xfrm>
            <a:off x="2915322" y="1904104"/>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6D2290A4-BDE2-054A-47EC-1BC2F77C3F33}"/>
              </a:ext>
            </a:extLst>
          </p:cNvPr>
          <p:cNvSpPr/>
          <p:nvPr/>
        </p:nvSpPr>
        <p:spPr>
          <a:xfrm>
            <a:off x="2915319" y="2252918"/>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1B8BC0E4-C53D-535E-002C-0BC51B95DDFF}"/>
              </a:ext>
            </a:extLst>
          </p:cNvPr>
          <p:cNvSpPr/>
          <p:nvPr/>
        </p:nvSpPr>
        <p:spPr>
          <a:xfrm>
            <a:off x="2915320" y="2620228"/>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FB4A3155-A736-C9A5-0EEF-D1AB8A2824C1}"/>
              </a:ext>
            </a:extLst>
          </p:cNvPr>
          <p:cNvSpPr/>
          <p:nvPr/>
        </p:nvSpPr>
        <p:spPr>
          <a:xfrm>
            <a:off x="2915321" y="299724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EFC58A0-C84B-E800-A29F-8BD631821F0A}"/>
              </a:ext>
            </a:extLst>
          </p:cNvPr>
          <p:cNvSpPr/>
          <p:nvPr/>
        </p:nvSpPr>
        <p:spPr>
          <a:xfrm>
            <a:off x="2915322" y="3374260"/>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F7C5B36C-D344-37D5-096C-BF4411507B12}"/>
              </a:ext>
            </a:extLst>
          </p:cNvPr>
          <p:cNvSpPr/>
          <p:nvPr/>
        </p:nvSpPr>
        <p:spPr>
          <a:xfrm>
            <a:off x="2915322" y="3732740"/>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007BA981-2A48-EA4C-5096-8B38DBC5E421}"/>
              </a:ext>
            </a:extLst>
          </p:cNvPr>
          <p:cNvSpPr/>
          <p:nvPr/>
        </p:nvSpPr>
        <p:spPr>
          <a:xfrm>
            <a:off x="8566760" y="1539720"/>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1" name="Rectangle: Rounded Corners 10">
            <a:extLst>
              <a:ext uri="{FF2B5EF4-FFF2-40B4-BE49-F238E27FC236}">
                <a16:creationId xmlns:a16="http://schemas.microsoft.com/office/drawing/2014/main" id="{D592430E-8DB5-913B-2AFF-669446BEA01F}"/>
              </a:ext>
            </a:extLst>
          </p:cNvPr>
          <p:cNvSpPr/>
          <p:nvPr/>
        </p:nvSpPr>
        <p:spPr>
          <a:xfrm>
            <a:off x="10408957" y="1539720"/>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2" name="Rectangle: Rounded Corners 11">
            <a:extLst>
              <a:ext uri="{FF2B5EF4-FFF2-40B4-BE49-F238E27FC236}">
                <a16:creationId xmlns:a16="http://schemas.microsoft.com/office/drawing/2014/main" id="{D549884A-533C-05DF-3CBC-85C8D7E44BE9}"/>
              </a:ext>
            </a:extLst>
          </p:cNvPr>
          <p:cNvSpPr/>
          <p:nvPr/>
        </p:nvSpPr>
        <p:spPr>
          <a:xfrm>
            <a:off x="8566760"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3" name="Rectangle: Rounded Corners 12">
            <a:extLst>
              <a:ext uri="{FF2B5EF4-FFF2-40B4-BE49-F238E27FC236}">
                <a16:creationId xmlns:a16="http://schemas.microsoft.com/office/drawing/2014/main" id="{AEA5219D-F32F-7171-90DA-CB4E8AA012EA}"/>
              </a:ext>
            </a:extLst>
          </p:cNvPr>
          <p:cNvSpPr/>
          <p:nvPr/>
        </p:nvSpPr>
        <p:spPr>
          <a:xfrm>
            <a:off x="10408957" y="2498725"/>
            <a:ext cx="1783043" cy="838200"/>
          </a:xfrm>
          <a:prstGeom prst="roundRect">
            <a:avLst/>
          </a:prstGeom>
          <a:solidFill>
            <a:schemeClr val="accent6">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4" name="Rectangle: Rounded Corners 13">
            <a:extLst>
              <a:ext uri="{FF2B5EF4-FFF2-40B4-BE49-F238E27FC236}">
                <a16:creationId xmlns:a16="http://schemas.microsoft.com/office/drawing/2014/main" id="{DC14154C-F259-183D-5E0C-FC0B09AACAB1}"/>
              </a:ext>
            </a:extLst>
          </p:cNvPr>
          <p:cNvSpPr/>
          <p:nvPr/>
        </p:nvSpPr>
        <p:spPr>
          <a:xfrm>
            <a:off x="8566760" y="3523786"/>
            <a:ext cx="1783043" cy="838200"/>
          </a:xfrm>
          <a:prstGeom prst="roundRect">
            <a:avLst/>
          </a:prstGeom>
          <a:solidFill>
            <a:schemeClr val="accent3">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5" name="Rectangle: Rounded Corners 14">
            <a:extLst>
              <a:ext uri="{FF2B5EF4-FFF2-40B4-BE49-F238E27FC236}">
                <a16:creationId xmlns:a16="http://schemas.microsoft.com/office/drawing/2014/main" id="{B488F650-984E-E7C0-6D02-1CECB16BD13C}"/>
              </a:ext>
            </a:extLst>
          </p:cNvPr>
          <p:cNvSpPr/>
          <p:nvPr/>
        </p:nvSpPr>
        <p:spPr>
          <a:xfrm>
            <a:off x="10408957" y="3523786"/>
            <a:ext cx="1783043" cy="838200"/>
          </a:xfrm>
          <a:prstGeom prst="roundRect">
            <a:avLst/>
          </a:prstGeom>
          <a:solidFill>
            <a:schemeClr val="accent2">
              <a:alpha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Corina</a:t>
            </a:r>
          </a:p>
        </p:txBody>
      </p:sp>
      <p:sp>
        <p:nvSpPr>
          <p:cNvPr id="16" name="Rectangle: Rounded Corners 15">
            <a:extLst>
              <a:ext uri="{FF2B5EF4-FFF2-40B4-BE49-F238E27FC236}">
                <a16:creationId xmlns:a16="http://schemas.microsoft.com/office/drawing/2014/main" id="{B790FDD8-AFE3-FE0E-56D3-C277071100E3}"/>
              </a:ext>
            </a:extLst>
          </p:cNvPr>
          <p:cNvSpPr/>
          <p:nvPr/>
        </p:nvSpPr>
        <p:spPr>
          <a:xfrm>
            <a:off x="8566759" y="4724400"/>
            <a:ext cx="1783043" cy="838200"/>
          </a:xfrm>
          <a:prstGeom prst="roundRect">
            <a:avLst/>
          </a:prstGeom>
          <a:solidFill>
            <a:schemeClr val="tx1">
              <a:alpha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002711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97B43D9-A147-6A34-1569-7E58AC1BC451}"/>
              </a:ext>
            </a:extLst>
          </p:cNvPr>
          <p:cNvGraphicFramePr>
            <a:graphicFrameLocks noGrp="1"/>
          </p:cNvGraphicFramePr>
          <p:nvPr>
            <p:ph idx="1"/>
            <p:extLst>
              <p:ext uri="{D42A27DB-BD31-4B8C-83A1-F6EECF244321}">
                <p14:modId xmlns:p14="http://schemas.microsoft.com/office/powerpoint/2010/main" val="3733884515"/>
              </p:ext>
            </p:extLst>
          </p:nvPr>
        </p:nvGraphicFramePr>
        <p:xfrm>
          <a:off x="546100" y="1825625"/>
          <a:ext cx="8950365" cy="2595880"/>
        </p:xfrm>
        <a:graphic>
          <a:graphicData uri="http://schemas.openxmlformats.org/drawingml/2006/table">
            <a:tbl>
              <a:tblPr firstRow="1" bandRow="1">
                <a:tableStyleId>{5C22544A-7EE6-4342-B048-85BDC9FD1C3A}</a:tableStyleId>
              </a:tblPr>
              <a:tblGrid>
                <a:gridCol w="2640076">
                  <a:extLst>
                    <a:ext uri="{9D8B030D-6E8A-4147-A177-3AD203B41FA5}">
                      <a16:colId xmlns:a16="http://schemas.microsoft.com/office/drawing/2014/main" val="1236994461"/>
                    </a:ext>
                  </a:extLst>
                </a:gridCol>
                <a:gridCol w="1653453">
                  <a:extLst>
                    <a:ext uri="{9D8B030D-6E8A-4147-A177-3AD203B41FA5}">
                      <a16:colId xmlns:a16="http://schemas.microsoft.com/office/drawing/2014/main" val="1424962408"/>
                    </a:ext>
                  </a:extLst>
                </a:gridCol>
                <a:gridCol w="4656836">
                  <a:extLst>
                    <a:ext uri="{9D8B030D-6E8A-4147-A177-3AD203B41FA5}">
                      <a16:colId xmlns:a16="http://schemas.microsoft.com/office/drawing/2014/main" val="277084313"/>
                    </a:ext>
                  </a:extLst>
                </a:gridCol>
              </a:tblGrid>
              <a:tr h="370840">
                <a:tc>
                  <a:txBody>
                    <a:bodyPr/>
                    <a:lstStyle/>
                    <a:p>
                      <a:r>
                        <a:rPr lang="en-US" dirty="0"/>
                        <a:t>Role</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Text/Background – Dark 1</a:t>
                      </a:r>
                    </a:p>
                  </a:txBody>
                  <a:tcPr/>
                </a:tc>
                <a:tc>
                  <a:txBody>
                    <a:bodyPr/>
                    <a:lstStyle/>
                    <a:p>
                      <a:r>
                        <a:rPr lang="en-US" dirty="0"/>
                        <a:t>#333333</a:t>
                      </a:r>
                    </a:p>
                  </a:txBody>
                  <a:tcPr/>
                </a:tc>
                <a:tc>
                  <a:txBody>
                    <a:bodyPr/>
                    <a:lstStyle/>
                    <a:p>
                      <a:r>
                        <a:rPr lang="en-US" dirty="0"/>
                        <a:t>Primary text</a:t>
                      </a:r>
                    </a:p>
                  </a:txBody>
                  <a:tcPr/>
                </a:tc>
                <a:extLst>
                  <a:ext uri="{0D108BD9-81ED-4DB2-BD59-A6C34878D82A}">
                    <a16:rowId xmlns:a16="http://schemas.microsoft.com/office/drawing/2014/main" val="3627527593"/>
                  </a:ext>
                </a:extLst>
              </a:tr>
              <a:tr h="370840">
                <a:tc>
                  <a:txBody>
                    <a:bodyPr/>
                    <a:lstStyle/>
                    <a:p>
                      <a:r>
                        <a:rPr lang="en-US" dirty="0"/>
                        <a:t>Text/Background – Light 1</a:t>
                      </a:r>
                    </a:p>
                  </a:txBody>
                  <a:tcPr/>
                </a:tc>
                <a:tc>
                  <a:txBody>
                    <a:bodyPr/>
                    <a:lstStyle/>
                    <a:p>
                      <a:r>
                        <a:rPr lang="en-US" dirty="0"/>
                        <a:t>#FFFFFF</a:t>
                      </a:r>
                    </a:p>
                  </a:txBody>
                  <a:tcPr/>
                </a:tc>
                <a:tc>
                  <a:txBody>
                    <a:bodyPr/>
                    <a:lstStyle/>
                    <a:p>
                      <a:r>
                        <a:rPr lang="en-US" dirty="0"/>
                        <a:t>Slide background</a:t>
                      </a:r>
                    </a:p>
                  </a:txBody>
                  <a:tcPr/>
                </a:tc>
                <a:extLst>
                  <a:ext uri="{0D108BD9-81ED-4DB2-BD59-A6C34878D82A}">
                    <a16:rowId xmlns:a16="http://schemas.microsoft.com/office/drawing/2014/main" val="2337315819"/>
                  </a:ext>
                </a:extLst>
              </a:tr>
              <a:tr h="370840">
                <a:tc>
                  <a:txBody>
                    <a:bodyPr/>
                    <a:lstStyle/>
                    <a:p>
                      <a:r>
                        <a:rPr lang="en-US" dirty="0"/>
                        <a:t>Text/Background – Dark 2</a:t>
                      </a:r>
                    </a:p>
                  </a:txBody>
                  <a:tcPr/>
                </a:tc>
                <a:tc>
                  <a:txBody>
                    <a:bodyPr/>
                    <a:lstStyle/>
                    <a:p>
                      <a:r>
                        <a:rPr lang="en-US" dirty="0"/>
                        <a:t>#003366</a:t>
                      </a:r>
                    </a:p>
                  </a:txBody>
                  <a:tcPr/>
                </a:tc>
                <a:tc>
                  <a:txBody>
                    <a:bodyPr/>
                    <a:lstStyle/>
                    <a:p>
                      <a:r>
                        <a:rPr lang="en-US" dirty="0"/>
                        <a:t>High-contrast text (e.g., captions, data overlays)</a:t>
                      </a:r>
                    </a:p>
                  </a:txBody>
                  <a:tcPr/>
                </a:tc>
                <a:extLst>
                  <a:ext uri="{0D108BD9-81ED-4DB2-BD59-A6C34878D82A}">
                    <a16:rowId xmlns:a16="http://schemas.microsoft.com/office/drawing/2014/main" val="3523408919"/>
                  </a:ext>
                </a:extLst>
              </a:tr>
              <a:tr h="370840">
                <a:tc>
                  <a:txBody>
                    <a:bodyPr/>
                    <a:lstStyle/>
                    <a:p>
                      <a:r>
                        <a:rPr lang="en-US" dirty="0"/>
                        <a:t>Text/Background – Light 2</a:t>
                      </a:r>
                    </a:p>
                  </a:txBody>
                  <a:tcPr/>
                </a:tc>
                <a:tc>
                  <a:txBody>
                    <a:bodyPr/>
                    <a:lstStyle/>
                    <a:p>
                      <a:r>
                        <a:rPr lang="en-US" dirty="0"/>
                        <a:t>#F4F6F7</a:t>
                      </a:r>
                    </a:p>
                  </a:txBody>
                  <a:tcPr/>
                </a:tc>
                <a:tc>
                  <a:txBody>
                    <a:bodyPr/>
                    <a:lstStyle/>
                    <a:p>
                      <a:r>
                        <a:rPr lang="en-US" dirty="0"/>
                        <a:t>Soft fill areas, minimal containers</a:t>
                      </a:r>
                    </a:p>
                  </a:txBody>
                  <a:tcPr/>
                </a:tc>
                <a:extLst>
                  <a:ext uri="{0D108BD9-81ED-4DB2-BD59-A6C34878D82A}">
                    <a16:rowId xmlns:a16="http://schemas.microsoft.com/office/drawing/2014/main" val="3258488259"/>
                  </a:ext>
                </a:extLst>
              </a:tr>
              <a:tr h="370840">
                <a:tc>
                  <a:txBody>
                    <a:bodyPr/>
                    <a:lstStyle/>
                    <a:p>
                      <a:r>
                        <a:rPr lang="en-US" dirty="0"/>
                        <a:t>Hyperlink</a:t>
                      </a:r>
                    </a:p>
                  </a:txBody>
                  <a:tcPr/>
                </a:tc>
                <a:tc>
                  <a:txBody>
                    <a:bodyPr/>
                    <a:lstStyle/>
                    <a:p>
                      <a:r>
                        <a:rPr lang="en-US" dirty="0"/>
                        <a:t>#3399FF</a:t>
                      </a:r>
                    </a:p>
                  </a:txBody>
                  <a:tcPr/>
                </a:tc>
                <a:tc>
                  <a:txBody>
                    <a:bodyPr/>
                    <a:lstStyle/>
                    <a:p>
                      <a:r>
                        <a:rPr lang="en-US" dirty="0"/>
                        <a:t>Linked text in body placements</a:t>
                      </a:r>
                    </a:p>
                  </a:txBody>
                  <a:tcPr/>
                </a:tc>
                <a:extLst>
                  <a:ext uri="{0D108BD9-81ED-4DB2-BD59-A6C34878D82A}">
                    <a16:rowId xmlns:a16="http://schemas.microsoft.com/office/drawing/2014/main" val="2238284335"/>
                  </a:ext>
                </a:extLst>
              </a:tr>
              <a:tr h="370840">
                <a:tc>
                  <a:txBody>
                    <a:bodyPr/>
                    <a:lstStyle/>
                    <a:p>
                      <a:r>
                        <a:rPr lang="en-US" dirty="0"/>
                        <a:t>Followed Hyperlink</a:t>
                      </a:r>
                    </a:p>
                  </a:txBody>
                  <a:tcPr/>
                </a:tc>
                <a:tc>
                  <a:txBody>
                    <a:bodyPr/>
                    <a:lstStyle/>
                    <a:p>
                      <a:r>
                        <a:rPr lang="en-US" dirty="0"/>
                        <a:t>#DD3377</a:t>
                      </a:r>
                    </a:p>
                  </a:txBody>
                  <a:tcPr/>
                </a:tc>
                <a:tc>
                  <a:txBody>
                    <a:bodyPr/>
                    <a:lstStyle/>
                    <a:p>
                      <a:r>
                        <a:rPr lang="en-US" dirty="0"/>
                        <a:t>Previously click links</a:t>
                      </a:r>
                    </a:p>
                  </a:txBody>
                  <a:tcPr/>
                </a:tc>
                <a:extLst>
                  <a:ext uri="{0D108BD9-81ED-4DB2-BD59-A6C34878D82A}">
                    <a16:rowId xmlns:a16="http://schemas.microsoft.com/office/drawing/2014/main" val="2550797605"/>
                  </a:ext>
                </a:extLst>
              </a:tr>
            </a:tbl>
          </a:graphicData>
        </a:graphic>
      </p:graphicFrame>
      <p:sp>
        <p:nvSpPr>
          <p:cNvPr id="3" name="Title 2">
            <a:extLst>
              <a:ext uri="{FF2B5EF4-FFF2-40B4-BE49-F238E27FC236}">
                <a16:creationId xmlns:a16="http://schemas.microsoft.com/office/drawing/2014/main" id="{270477C2-9CCB-8D83-6BA3-EB75F9A12E44}"/>
              </a:ext>
            </a:extLst>
          </p:cNvPr>
          <p:cNvSpPr>
            <a:spLocks noGrp="1"/>
          </p:cNvSpPr>
          <p:nvPr>
            <p:ph type="title"/>
          </p:nvPr>
        </p:nvSpPr>
        <p:spPr/>
        <p:txBody>
          <a:bodyPr>
            <a:normAutofit fontScale="90000"/>
          </a:bodyPr>
          <a:lstStyle/>
          <a:p>
            <a:r>
              <a:rPr lang="en-US" dirty="0"/>
              <a:t>Style Guide: Color Palette (Base Colors)</a:t>
            </a:r>
          </a:p>
        </p:txBody>
      </p:sp>
      <p:sp>
        <p:nvSpPr>
          <p:cNvPr id="5" name="Oval 4">
            <a:extLst>
              <a:ext uri="{FF2B5EF4-FFF2-40B4-BE49-F238E27FC236}">
                <a16:creationId xmlns:a16="http://schemas.microsoft.com/office/drawing/2014/main" id="{D81F39CA-FCD8-9591-6DB8-F915367D0783}"/>
              </a:ext>
            </a:extLst>
          </p:cNvPr>
          <p:cNvSpPr/>
          <p:nvPr/>
        </p:nvSpPr>
        <p:spPr>
          <a:xfrm>
            <a:off x="4420738" y="2223165"/>
            <a:ext cx="269203" cy="290456"/>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6BA6E50-1F57-DF3D-392A-110826D3D05B}"/>
              </a:ext>
            </a:extLst>
          </p:cNvPr>
          <p:cNvSpPr/>
          <p:nvPr/>
        </p:nvSpPr>
        <p:spPr>
          <a:xfrm>
            <a:off x="4420737" y="2620705"/>
            <a:ext cx="269203" cy="290456"/>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6AAD4E7-1689-F5C8-A3D1-2B2DFD5B66D6}"/>
              </a:ext>
            </a:extLst>
          </p:cNvPr>
          <p:cNvSpPr/>
          <p:nvPr/>
        </p:nvSpPr>
        <p:spPr>
          <a:xfrm>
            <a:off x="4420736" y="2978337"/>
            <a:ext cx="269203" cy="290456"/>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EBDABF1-6AC3-8A10-E24D-6B6FAB26B56E}"/>
              </a:ext>
            </a:extLst>
          </p:cNvPr>
          <p:cNvSpPr/>
          <p:nvPr/>
        </p:nvSpPr>
        <p:spPr>
          <a:xfrm>
            <a:off x="4420736" y="3331314"/>
            <a:ext cx="269203" cy="290456"/>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33FDB226-BF35-0E1C-9522-E4B1E058CFCE}"/>
              </a:ext>
            </a:extLst>
          </p:cNvPr>
          <p:cNvSpPr/>
          <p:nvPr/>
        </p:nvSpPr>
        <p:spPr>
          <a:xfrm>
            <a:off x="4420735"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Oval 9">
            <a:extLst>
              <a:ext uri="{FF2B5EF4-FFF2-40B4-BE49-F238E27FC236}">
                <a16:creationId xmlns:a16="http://schemas.microsoft.com/office/drawing/2014/main" id="{A740C666-1CE1-6046-A2F9-56ED868276DC}"/>
              </a:ext>
            </a:extLst>
          </p:cNvPr>
          <p:cNvSpPr/>
          <p:nvPr/>
        </p:nvSpPr>
        <p:spPr>
          <a:xfrm>
            <a:off x="4420735" y="4079174"/>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0183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A6544A-2290-5C2E-DAA2-81E72FF45259}"/>
            </a:ext>
          </a:extLst>
        </p:cNvPr>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DD78E43-97A3-9D38-D9D2-07380E33F085}"/>
              </a:ext>
            </a:extLst>
          </p:cNvPr>
          <p:cNvGraphicFramePr>
            <a:graphicFrameLocks noGrp="1"/>
          </p:cNvGraphicFramePr>
          <p:nvPr>
            <p:ph idx="1"/>
            <p:extLst>
              <p:ext uri="{D42A27DB-BD31-4B8C-83A1-F6EECF244321}">
                <p14:modId xmlns:p14="http://schemas.microsoft.com/office/powerpoint/2010/main" val="847656239"/>
              </p:ext>
            </p:extLst>
          </p:nvPr>
        </p:nvGraphicFramePr>
        <p:xfrm>
          <a:off x="546100" y="1825625"/>
          <a:ext cx="9467011" cy="2595880"/>
        </p:xfrm>
        <a:graphic>
          <a:graphicData uri="http://schemas.openxmlformats.org/drawingml/2006/table">
            <a:tbl>
              <a:tblPr firstRow="1" bandRow="1">
                <a:tableStyleId>{5C22544A-7EE6-4342-B048-85BDC9FD1C3A}</a:tableStyleId>
              </a:tblPr>
              <a:tblGrid>
                <a:gridCol w="1295210">
                  <a:extLst>
                    <a:ext uri="{9D8B030D-6E8A-4147-A177-3AD203B41FA5}">
                      <a16:colId xmlns:a16="http://schemas.microsoft.com/office/drawing/2014/main" val="1236994461"/>
                    </a:ext>
                  </a:extLst>
                </a:gridCol>
                <a:gridCol w="1793988">
                  <a:extLst>
                    <a:ext uri="{9D8B030D-6E8A-4147-A177-3AD203B41FA5}">
                      <a16:colId xmlns:a16="http://schemas.microsoft.com/office/drawing/2014/main" val="1424962408"/>
                    </a:ext>
                  </a:extLst>
                </a:gridCol>
                <a:gridCol w="6377813">
                  <a:extLst>
                    <a:ext uri="{9D8B030D-6E8A-4147-A177-3AD203B41FA5}">
                      <a16:colId xmlns:a16="http://schemas.microsoft.com/office/drawing/2014/main" val="277084313"/>
                    </a:ext>
                  </a:extLst>
                </a:gridCol>
              </a:tblGrid>
              <a:tr h="370840">
                <a:tc>
                  <a:txBody>
                    <a:bodyPr/>
                    <a:lstStyle/>
                    <a:p>
                      <a:r>
                        <a:rPr lang="en-US" dirty="0"/>
                        <a:t>Accent Slot</a:t>
                      </a:r>
                    </a:p>
                  </a:txBody>
                  <a:tcPr/>
                </a:tc>
                <a:tc>
                  <a:txBody>
                    <a:bodyPr/>
                    <a:lstStyle/>
                    <a:p>
                      <a:r>
                        <a:rPr lang="en-US" dirty="0"/>
                        <a:t>Hex Color</a:t>
                      </a:r>
                    </a:p>
                  </a:txBody>
                  <a:tcPr/>
                </a:tc>
                <a:tc>
                  <a:txBody>
                    <a:bodyPr/>
                    <a:lstStyle/>
                    <a:p>
                      <a:r>
                        <a:rPr lang="en-US" dirty="0"/>
                        <a:t>Usage</a:t>
                      </a:r>
                    </a:p>
                  </a:txBody>
                  <a:tcPr/>
                </a:tc>
                <a:extLst>
                  <a:ext uri="{0D108BD9-81ED-4DB2-BD59-A6C34878D82A}">
                    <a16:rowId xmlns:a16="http://schemas.microsoft.com/office/drawing/2014/main" val="1804221757"/>
                  </a:ext>
                </a:extLst>
              </a:tr>
              <a:tr h="370840">
                <a:tc>
                  <a:txBody>
                    <a:bodyPr/>
                    <a:lstStyle/>
                    <a:p>
                      <a:r>
                        <a:rPr lang="en-US" dirty="0"/>
                        <a:t>Accent 1</a:t>
                      </a:r>
                    </a:p>
                  </a:txBody>
                  <a:tcPr/>
                </a:tc>
                <a:tc>
                  <a:txBody>
                    <a:bodyPr/>
                    <a:lstStyle/>
                    <a:p>
                      <a:r>
                        <a:rPr lang="en-US" dirty="0"/>
                        <a:t>#003366</a:t>
                      </a:r>
                    </a:p>
                  </a:txBody>
                  <a:tcPr/>
                </a:tc>
                <a:tc>
                  <a:txBody>
                    <a:bodyPr/>
                    <a:lstStyle/>
                    <a:p>
                      <a:r>
                        <a:rPr lang="en-US" dirty="0"/>
                        <a:t>Main slide titles, major headers</a:t>
                      </a:r>
                    </a:p>
                  </a:txBody>
                  <a:tcPr/>
                </a:tc>
                <a:extLst>
                  <a:ext uri="{0D108BD9-81ED-4DB2-BD59-A6C34878D82A}">
                    <a16:rowId xmlns:a16="http://schemas.microsoft.com/office/drawing/2014/main" val="2452585052"/>
                  </a:ext>
                </a:extLst>
              </a:tr>
              <a:tr h="370840">
                <a:tc>
                  <a:txBody>
                    <a:bodyPr/>
                    <a:lstStyle/>
                    <a:p>
                      <a:r>
                        <a:rPr lang="en-US" dirty="0"/>
                        <a:t>Accent 2</a:t>
                      </a:r>
                    </a:p>
                  </a:txBody>
                  <a:tcPr/>
                </a:tc>
                <a:tc>
                  <a:txBody>
                    <a:bodyPr/>
                    <a:lstStyle/>
                    <a:p>
                      <a:r>
                        <a:rPr lang="en-US" dirty="0"/>
                        <a:t>#008080</a:t>
                      </a:r>
                    </a:p>
                  </a:txBody>
                  <a:tcPr/>
                </a:tc>
                <a:tc>
                  <a:txBody>
                    <a:bodyPr/>
                    <a:lstStyle/>
                    <a:p>
                      <a:r>
                        <a:rPr lang="en-US" dirty="0"/>
                        <a:t>Primary box fills, minor headings, comparison titles</a:t>
                      </a:r>
                    </a:p>
                  </a:txBody>
                  <a:tcPr/>
                </a:tc>
                <a:extLst>
                  <a:ext uri="{0D108BD9-81ED-4DB2-BD59-A6C34878D82A}">
                    <a16:rowId xmlns:a16="http://schemas.microsoft.com/office/drawing/2014/main" val="642047992"/>
                  </a:ext>
                </a:extLst>
              </a:tr>
              <a:tr h="370840">
                <a:tc>
                  <a:txBody>
                    <a:bodyPr/>
                    <a:lstStyle/>
                    <a:p>
                      <a:r>
                        <a:rPr lang="en-US" dirty="0"/>
                        <a:t>Accent 3</a:t>
                      </a:r>
                    </a:p>
                  </a:txBody>
                  <a:tcPr/>
                </a:tc>
                <a:tc>
                  <a:txBody>
                    <a:bodyPr/>
                    <a:lstStyle/>
                    <a:p>
                      <a:r>
                        <a:rPr lang="en-US" dirty="0"/>
                        <a:t>#DD3377</a:t>
                      </a:r>
                    </a:p>
                  </a:txBody>
                  <a:tcPr/>
                </a:tc>
                <a:tc>
                  <a:txBody>
                    <a:bodyPr/>
                    <a:lstStyle/>
                    <a:p>
                      <a:r>
                        <a:rPr lang="en-US" dirty="0"/>
                        <a:t>Secondary content box fills, icon fills, highlight overlays</a:t>
                      </a:r>
                    </a:p>
                  </a:txBody>
                  <a:tcPr/>
                </a:tc>
                <a:extLst>
                  <a:ext uri="{0D108BD9-81ED-4DB2-BD59-A6C34878D82A}">
                    <a16:rowId xmlns:a16="http://schemas.microsoft.com/office/drawing/2014/main" val="2546115089"/>
                  </a:ext>
                </a:extLst>
              </a:tr>
              <a:tr h="370840">
                <a:tc>
                  <a:txBody>
                    <a:bodyPr/>
                    <a:lstStyle/>
                    <a:p>
                      <a:r>
                        <a:rPr lang="en-US" dirty="0"/>
                        <a:t>Accent 4</a:t>
                      </a:r>
                    </a:p>
                  </a:txBody>
                  <a:tcPr/>
                </a:tc>
                <a:tc>
                  <a:txBody>
                    <a:bodyPr/>
                    <a:lstStyle/>
                    <a:p>
                      <a:r>
                        <a:rPr lang="en-US" dirty="0"/>
                        <a:t>#FF6600</a:t>
                      </a:r>
                    </a:p>
                  </a:txBody>
                  <a:tcPr/>
                </a:tc>
                <a:tc>
                  <a:txBody>
                    <a:bodyPr/>
                    <a:lstStyle/>
                    <a:p>
                      <a:r>
                        <a:rPr lang="en-US" dirty="0"/>
                        <a:t>Links, callouts, interaction indicators</a:t>
                      </a:r>
                    </a:p>
                  </a:txBody>
                  <a:tcPr/>
                </a:tc>
                <a:extLst>
                  <a:ext uri="{0D108BD9-81ED-4DB2-BD59-A6C34878D82A}">
                    <a16:rowId xmlns:a16="http://schemas.microsoft.com/office/drawing/2014/main" val="3284001864"/>
                  </a:ext>
                </a:extLst>
              </a:tr>
              <a:tr h="370840">
                <a:tc>
                  <a:txBody>
                    <a:bodyPr/>
                    <a:lstStyle/>
                    <a:p>
                      <a:r>
                        <a:rPr lang="en-US" dirty="0"/>
                        <a:t>Accent 5</a:t>
                      </a:r>
                    </a:p>
                  </a:txBody>
                  <a:tcPr/>
                </a:tc>
                <a:tc>
                  <a:txBody>
                    <a:bodyPr/>
                    <a:lstStyle/>
                    <a:p>
                      <a:r>
                        <a:rPr lang="en-US" dirty="0"/>
                        <a:t>#3399FF</a:t>
                      </a:r>
                    </a:p>
                  </a:txBody>
                  <a:tcPr/>
                </a:tc>
                <a:tc>
                  <a:txBody>
                    <a:bodyPr/>
                    <a:lstStyle/>
                    <a:p>
                      <a:r>
                        <a:rPr lang="en-US" dirty="0"/>
                        <a:t>Alerts, caution text, emphasis on risks</a:t>
                      </a:r>
                    </a:p>
                  </a:txBody>
                  <a:tcPr/>
                </a:tc>
                <a:extLst>
                  <a:ext uri="{0D108BD9-81ED-4DB2-BD59-A6C34878D82A}">
                    <a16:rowId xmlns:a16="http://schemas.microsoft.com/office/drawing/2014/main" val="3688119333"/>
                  </a:ext>
                </a:extLst>
              </a:tr>
              <a:tr h="370840">
                <a:tc>
                  <a:txBody>
                    <a:bodyPr/>
                    <a:lstStyle/>
                    <a:p>
                      <a:r>
                        <a:rPr lang="en-US" dirty="0"/>
                        <a:t>Accent 6</a:t>
                      </a:r>
                    </a:p>
                  </a:txBody>
                  <a:tcPr/>
                </a:tc>
                <a:tc>
                  <a:txBody>
                    <a:bodyPr/>
                    <a:lstStyle/>
                    <a:p>
                      <a:r>
                        <a:rPr lang="en-US" dirty="0"/>
                        <a:t>#666666</a:t>
                      </a:r>
                    </a:p>
                  </a:txBody>
                  <a:tcPr/>
                </a:tc>
                <a:tc>
                  <a:txBody>
                    <a:bodyPr/>
                    <a:lstStyle/>
                    <a:p>
                      <a:r>
                        <a:rPr lang="en-US" dirty="0"/>
                        <a:t>Footer text, captions, divider lines, body text for inactive elements</a:t>
                      </a:r>
                    </a:p>
                  </a:txBody>
                  <a:tcPr/>
                </a:tc>
                <a:extLst>
                  <a:ext uri="{0D108BD9-81ED-4DB2-BD59-A6C34878D82A}">
                    <a16:rowId xmlns:a16="http://schemas.microsoft.com/office/drawing/2014/main" val="2419111572"/>
                  </a:ext>
                </a:extLst>
              </a:tr>
            </a:tbl>
          </a:graphicData>
        </a:graphic>
      </p:graphicFrame>
      <p:sp>
        <p:nvSpPr>
          <p:cNvPr id="3" name="Title 2">
            <a:extLst>
              <a:ext uri="{FF2B5EF4-FFF2-40B4-BE49-F238E27FC236}">
                <a16:creationId xmlns:a16="http://schemas.microsoft.com/office/drawing/2014/main" id="{16C8BACD-4BA2-2C7D-2FCB-767CA9FA5283}"/>
              </a:ext>
            </a:extLst>
          </p:cNvPr>
          <p:cNvSpPr>
            <a:spLocks noGrp="1"/>
          </p:cNvSpPr>
          <p:nvPr>
            <p:ph type="title"/>
          </p:nvPr>
        </p:nvSpPr>
        <p:spPr/>
        <p:txBody>
          <a:bodyPr>
            <a:normAutofit fontScale="90000"/>
          </a:bodyPr>
          <a:lstStyle/>
          <a:p>
            <a:r>
              <a:rPr lang="en-US" dirty="0"/>
              <a:t>Style Guide: Color Palette (Accent Colors)</a:t>
            </a:r>
          </a:p>
        </p:txBody>
      </p:sp>
      <p:sp>
        <p:nvSpPr>
          <p:cNvPr id="2" name="Oval 1">
            <a:extLst>
              <a:ext uri="{FF2B5EF4-FFF2-40B4-BE49-F238E27FC236}">
                <a16:creationId xmlns:a16="http://schemas.microsoft.com/office/drawing/2014/main" id="{A05EB66A-32F4-EE71-9527-21D6463D8D8B}"/>
              </a:ext>
            </a:extLst>
          </p:cNvPr>
          <p:cNvSpPr/>
          <p:nvPr/>
        </p:nvSpPr>
        <p:spPr>
          <a:xfrm>
            <a:off x="3138347" y="2223165"/>
            <a:ext cx="269203" cy="290456"/>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F838C456-5C67-7188-30FF-1BDB032D5B6C}"/>
              </a:ext>
            </a:extLst>
          </p:cNvPr>
          <p:cNvSpPr/>
          <p:nvPr/>
        </p:nvSpPr>
        <p:spPr>
          <a:xfrm>
            <a:off x="3138346" y="2620705"/>
            <a:ext cx="269203" cy="290456"/>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66F026D-EAF9-6EFF-4380-B1042C436769}"/>
              </a:ext>
            </a:extLst>
          </p:cNvPr>
          <p:cNvSpPr/>
          <p:nvPr/>
        </p:nvSpPr>
        <p:spPr>
          <a:xfrm>
            <a:off x="3138345" y="2978337"/>
            <a:ext cx="269203" cy="290456"/>
          </a:xfrm>
          <a:prstGeom prst="ellipse">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13EA452-76E9-9C2D-DA3A-95FC8F72CC1D}"/>
              </a:ext>
            </a:extLst>
          </p:cNvPr>
          <p:cNvSpPr/>
          <p:nvPr/>
        </p:nvSpPr>
        <p:spPr>
          <a:xfrm>
            <a:off x="3138345" y="3331314"/>
            <a:ext cx="269203" cy="290456"/>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5EEFD747-2C9A-BBA8-664E-14575A59DC1C}"/>
              </a:ext>
            </a:extLst>
          </p:cNvPr>
          <p:cNvSpPr/>
          <p:nvPr/>
        </p:nvSpPr>
        <p:spPr>
          <a:xfrm>
            <a:off x="3138344" y="3684291"/>
            <a:ext cx="269203" cy="290456"/>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6536802-8955-4BE7-C7AC-2507BB63403C}"/>
              </a:ext>
            </a:extLst>
          </p:cNvPr>
          <p:cNvSpPr/>
          <p:nvPr/>
        </p:nvSpPr>
        <p:spPr>
          <a:xfrm>
            <a:off x="3138344" y="4079174"/>
            <a:ext cx="269203" cy="29045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1311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76AE46D-8FC3-28DF-8AF5-0AAC9AADD8E6}"/>
              </a:ext>
            </a:extLst>
          </p:cNvPr>
          <p:cNvGraphicFramePr>
            <a:graphicFrameLocks noGrp="1"/>
          </p:cNvGraphicFramePr>
          <p:nvPr>
            <p:ph idx="1"/>
            <p:extLst>
              <p:ext uri="{D42A27DB-BD31-4B8C-83A1-F6EECF244321}">
                <p14:modId xmlns:p14="http://schemas.microsoft.com/office/powerpoint/2010/main" val="2729090793"/>
              </p:ext>
            </p:extLst>
          </p:nvPr>
        </p:nvGraphicFramePr>
        <p:xfrm>
          <a:off x="546100" y="1825625"/>
          <a:ext cx="11099800" cy="370840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970077885"/>
                    </a:ext>
                  </a:extLst>
                </a:gridCol>
                <a:gridCol w="2219960">
                  <a:extLst>
                    <a:ext uri="{9D8B030D-6E8A-4147-A177-3AD203B41FA5}">
                      <a16:colId xmlns:a16="http://schemas.microsoft.com/office/drawing/2014/main" val="3681564178"/>
                    </a:ext>
                  </a:extLst>
                </a:gridCol>
                <a:gridCol w="2219960">
                  <a:extLst>
                    <a:ext uri="{9D8B030D-6E8A-4147-A177-3AD203B41FA5}">
                      <a16:colId xmlns:a16="http://schemas.microsoft.com/office/drawing/2014/main" val="783482089"/>
                    </a:ext>
                  </a:extLst>
                </a:gridCol>
                <a:gridCol w="2219960">
                  <a:extLst>
                    <a:ext uri="{9D8B030D-6E8A-4147-A177-3AD203B41FA5}">
                      <a16:colId xmlns:a16="http://schemas.microsoft.com/office/drawing/2014/main" val="1989604357"/>
                    </a:ext>
                  </a:extLst>
                </a:gridCol>
                <a:gridCol w="2219960">
                  <a:extLst>
                    <a:ext uri="{9D8B030D-6E8A-4147-A177-3AD203B41FA5}">
                      <a16:colId xmlns:a16="http://schemas.microsoft.com/office/drawing/2014/main" val="328472407"/>
                    </a:ext>
                  </a:extLst>
                </a:gridCol>
              </a:tblGrid>
              <a:tr h="370840">
                <a:tc>
                  <a:txBody>
                    <a:bodyPr/>
                    <a:lstStyle/>
                    <a:p>
                      <a:r>
                        <a:rPr lang="en-US" dirty="0"/>
                        <a:t>Slide Title</a:t>
                      </a:r>
                    </a:p>
                  </a:txBody>
                  <a:tcPr/>
                </a:tc>
                <a:tc>
                  <a:txBody>
                    <a:bodyPr/>
                    <a:lstStyle/>
                    <a:p>
                      <a:r>
                        <a:rPr lang="en-US" dirty="0"/>
                        <a:t>Font Family</a:t>
                      </a:r>
                    </a:p>
                  </a:txBody>
                  <a:tcPr/>
                </a:tc>
                <a:tc>
                  <a:txBody>
                    <a:bodyPr/>
                    <a:lstStyle/>
                    <a:p>
                      <a:r>
                        <a:rPr lang="en-US" dirty="0"/>
                        <a:t>Style</a:t>
                      </a:r>
                    </a:p>
                  </a:txBody>
                  <a:tcPr/>
                </a:tc>
                <a:tc>
                  <a:txBody>
                    <a:bodyPr/>
                    <a:lstStyle/>
                    <a:p>
                      <a:r>
                        <a:rPr lang="en-US" dirty="0"/>
                        <a:t>Size (pts)</a:t>
                      </a:r>
                    </a:p>
                  </a:txBody>
                  <a:tcPr/>
                </a:tc>
                <a:tc>
                  <a:txBody>
                    <a:bodyPr/>
                    <a:lstStyle/>
                    <a:p>
                      <a:r>
                        <a:rPr lang="en-US" dirty="0"/>
                        <a:t>Line Spacing</a:t>
                      </a:r>
                    </a:p>
                  </a:txBody>
                  <a:tcPr/>
                </a:tc>
                <a:extLst>
                  <a:ext uri="{0D108BD9-81ED-4DB2-BD59-A6C34878D82A}">
                    <a16:rowId xmlns:a16="http://schemas.microsoft.com/office/drawing/2014/main" val="392109651"/>
                  </a:ext>
                </a:extLst>
              </a:tr>
              <a:tr h="370840">
                <a:tc>
                  <a:txBody>
                    <a:bodyPr/>
                    <a:lstStyle/>
                    <a:p>
                      <a:r>
                        <a:rPr lang="en-US" dirty="0"/>
                        <a:t>Slide Title</a:t>
                      </a:r>
                    </a:p>
                  </a:txBody>
                  <a:tcPr/>
                </a:tc>
                <a:tc>
                  <a:txBody>
                    <a:bodyPr/>
                    <a:lstStyle/>
                    <a:p>
                      <a:r>
                        <a:rPr lang="en-US" dirty="0"/>
                        <a:t>Kamerik205 8</a:t>
                      </a:r>
                    </a:p>
                  </a:txBody>
                  <a:tcPr/>
                </a:tc>
                <a:tc>
                  <a:txBody>
                    <a:bodyPr/>
                    <a:lstStyle/>
                    <a:p>
                      <a:r>
                        <a:rPr lang="en-US" dirty="0"/>
                        <a:t>Regular</a:t>
                      </a:r>
                    </a:p>
                  </a:txBody>
                  <a:tcPr/>
                </a:tc>
                <a:tc>
                  <a:txBody>
                    <a:bodyPr/>
                    <a:lstStyle/>
                    <a:p>
                      <a:r>
                        <a:rPr lang="en-US" dirty="0"/>
                        <a:t>44</a:t>
                      </a:r>
                    </a:p>
                  </a:txBody>
                  <a:tcPr/>
                </a:tc>
                <a:tc>
                  <a:txBody>
                    <a:bodyPr/>
                    <a:lstStyle/>
                    <a:p>
                      <a:r>
                        <a:rPr lang="en-US" dirty="0"/>
                        <a:t>—</a:t>
                      </a:r>
                    </a:p>
                  </a:txBody>
                  <a:tcPr/>
                </a:tc>
                <a:extLst>
                  <a:ext uri="{0D108BD9-81ED-4DB2-BD59-A6C34878D82A}">
                    <a16:rowId xmlns:a16="http://schemas.microsoft.com/office/drawing/2014/main" val="83259215"/>
                  </a:ext>
                </a:extLst>
              </a:tr>
              <a:tr h="370840">
                <a:tc>
                  <a:txBody>
                    <a:bodyPr/>
                    <a:lstStyle/>
                    <a:p>
                      <a:r>
                        <a:rPr lang="en-US" dirty="0"/>
                        <a:t>Section Header</a:t>
                      </a:r>
                    </a:p>
                  </a:txBody>
                  <a:tcPr/>
                </a:tc>
                <a:tc>
                  <a:txBody>
                    <a:bodyPr/>
                    <a:lstStyle/>
                    <a:p>
                      <a:r>
                        <a:rPr lang="en-US" dirty="0"/>
                        <a:t>Inter</a:t>
                      </a:r>
                    </a:p>
                  </a:txBody>
                  <a:tcPr/>
                </a:tc>
                <a:tc>
                  <a:txBody>
                    <a:bodyPr/>
                    <a:lstStyle/>
                    <a:p>
                      <a:r>
                        <a:rPr lang="en-US" dirty="0"/>
                        <a:t>Semibold or Bold</a:t>
                      </a:r>
                    </a:p>
                  </a:txBody>
                  <a:tcPr/>
                </a:tc>
                <a:tc>
                  <a:txBody>
                    <a:bodyPr/>
                    <a:lstStyle/>
                    <a:p>
                      <a:r>
                        <a:rPr lang="en-US" dirty="0"/>
                        <a:t>36 / 20-22</a:t>
                      </a:r>
                    </a:p>
                  </a:txBody>
                  <a:tcPr/>
                </a:tc>
                <a:tc>
                  <a:txBody>
                    <a:bodyPr/>
                    <a:lstStyle/>
                    <a:p>
                      <a:r>
                        <a:rPr lang="en-US" dirty="0"/>
                        <a:t>—</a:t>
                      </a:r>
                    </a:p>
                  </a:txBody>
                  <a:tcPr/>
                </a:tc>
                <a:extLst>
                  <a:ext uri="{0D108BD9-81ED-4DB2-BD59-A6C34878D82A}">
                    <a16:rowId xmlns:a16="http://schemas.microsoft.com/office/drawing/2014/main" val="842953871"/>
                  </a:ext>
                </a:extLst>
              </a:tr>
              <a:tr h="370840">
                <a:tc>
                  <a:txBody>
                    <a:bodyPr/>
                    <a:lstStyle/>
                    <a:p>
                      <a:r>
                        <a:rPr lang="en-US" dirty="0"/>
                        <a:t>Body Level 1</a:t>
                      </a:r>
                    </a:p>
                  </a:txBody>
                  <a:tcPr/>
                </a:tc>
                <a:tc>
                  <a:txBody>
                    <a:bodyPr/>
                    <a:lstStyle/>
                    <a:p>
                      <a:r>
                        <a:rPr lang="en-US" dirty="0"/>
                        <a:t>Inter</a:t>
                      </a:r>
                    </a:p>
                  </a:txBody>
                  <a:tcPr/>
                </a:tc>
                <a:tc>
                  <a:txBody>
                    <a:bodyPr/>
                    <a:lstStyle/>
                    <a:p>
                      <a:r>
                        <a:rPr lang="en-US" dirty="0"/>
                        <a:t>Regular</a:t>
                      </a:r>
                    </a:p>
                  </a:txBody>
                  <a:tcPr/>
                </a:tc>
                <a:tc>
                  <a:txBody>
                    <a:bodyPr/>
                    <a:lstStyle/>
                    <a:p>
                      <a:r>
                        <a:rPr lang="en-US" dirty="0"/>
                        <a:t>28</a:t>
                      </a:r>
                    </a:p>
                  </a:txBody>
                  <a:tcPr/>
                </a:tc>
                <a:tc>
                  <a:txBody>
                    <a:bodyPr/>
                    <a:lstStyle/>
                    <a:p>
                      <a:r>
                        <a:rPr lang="en-US" dirty="0"/>
                        <a:t>Multiple 1.15</a:t>
                      </a:r>
                    </a:p>
                  </a:txBody>
                  <a:tcPr/>
                </a:tc>
                <a:extLst>
                  <a:ext uri="{0D108BD9-81ED-4DB2-BD59-A6C34878D82A}">
                    <a16:rowId xmlns:a16="http://schemas.microsoft.com/office/drawing/2014/main" val="147709112"/>
                  </a:ext>
                </a:extLst>
              </a:tr>
              <a:tr h="370840">
                <a:tc>
                  <a:txBody>
                    <a:bodyPr/>
                    <a:lstStyle/>
                    <a:p>
                      <a:r>
                        <a:rPr lang="en-US" dirty="0"/>
                        <a:t>Body Level 2</a:t>
                      </a:r>
                    </a:p>
                  </a:txBody>
                  <a:tcPr/>
                </a:tc>
                <a:tc>
                  <a:txBody>
                    <a:bodyPr/>
                    <a:lstStyle/>
                    <a:p>
                      <a:r>
                        <a:rPr lang="en-US" dirty="0"/>
                        <a:t>Inter</a:t>
                      </a:r>
                    </a:p>
                  </a:txBody>
                  <a:tcPr/>
                </a:tc>
                <a:tc>
                  <a:txBody>
                    <a:bodyPr/>
                    <a:lstStyle/>
                    <a:p>
                      <a:r>
                        <a:rPr lang="en-US" dirty="0"/>
                        <a:t>Regular</a:t>
                      </a:r>
                    </a:p>
                  </a:txBody>
                  <a:tcPr/>
                </a:tc>
                <a:tc>
                  <a:txBody>
                    <a:bodyPr/>
                    <a:lstStyle/>
                    <a:p>
                      <a:r>
                        <a:rPr lang="en-US" dirty="0"/>
                        <a:t>24</a:t>
                      </a:r>
                    </a:p>
                  </a:txBody>
                  <a:tcPr/>
                </a:tc>
                <a:tc>
                  <a:txBody>
                    <a:bodyPr/>
                    <a:lstStyle/>
                    <a:p>
                      <a:r>
                        <a:rPr lang="en-US" dirty="0"/>
                        <a:t>Multiple 1.15</a:t>
                      </a:r>
                    </a:p>
                  </a:txBody>
                  <a:tcPr/>
                </a:tc>
                <a:extLst>
                  <a:ext uri="{0D108BD9-81ED-4DB2-BD59-A6C34878D82A}">
                    <a16:rowId xmlns:a16="http://schemas.microsoft.com/office/drawing/2014/main" val="3648387029"/>
                  </a:ext>
                </a:extLst>
              </a:tr>
              <a:tr h="370840">
                <a:tc>
                  <a:txBody>
                    <a:bodyPr/>
                    <a:lstStyle/>
                    <a:p>
                      <a:r>
                        <a:rPr lang="en-US" dirty="0"/>
                        <a:t>Body Level 3</a:t>
                      </a:r>
                    </a:p>
                  </a:txBody>
                  <a:tcPr/>
                </a:tc>
                <a:tc>
                  <a:txBody>
                    <a:bodyPr/>
                    <a:lstStyle/>
                    <a:p>
                      <a:r>
                        <a:rPr lang="en-US" dirty="0"/>
                        <a:t>Inter</a:t>
                      </a:r>
                    </a:p>
                  </a:txBody>
                  <a:tcPr/>
                </a:tc>
                <a:tc>
                  <a:txBody>
                    <a:bodyPr/>
                    <a:lstStyle/>
                    <a:p>
                      <a:r>
                        <a:rPr lang="en-US" dirty="0"/>
                        <a:t>Regular</a:t>
                      </a:r>
                    </a:p>
                  </a:txBody>
                  <a:tcPr/>
                </a:tc>
                <a:tc>
                  <a:txBody>
                    <a:bodyPr/>
                    <a:lstStyle/>
                    <a:p>
                      <a:r>
                        <a:rPr lang="en-US" dirty="0"/>
                        <a:t>20</a:t>
                      </a:r>
                    </a:p>
                  </a:txBody>
                  <a:tcPr/>
                </a:tc>
                <a:tc>
                  <a:txBody>
                    <a:bodyPr/>
                    <a:lstStyle/>
                    <a:p>
                      <a:r>
                        <a:rPr lang="en-US" dirty="0"/>
                        <a:t>Multiple 1.15</a:t>
                      </a:r>
                    </a:p>
                  </a:txBody>
                  <a:tcPr/>
                </a:tc>
                <a:extLst>
                  <a:ext uri="{0D108BD9-81ED-4DB2-BD59-A6C34878D82A}">
                    <a16:rowId xmlns:a16="http://schemas.microsoft.com/office/drawing/2014/main" val="3930225304"/>
                  </a:ext>
                </a:extLst>
              </a:tr>
              <a:tr h="370840">
                <a:tc>
                  <a:txBody>
                    <a:bodyPr/>
                    <a:lstStyle/>
                    <a:p>
                      <a:r>
                        <a:rPr lang="en-US" dirty="0"/>
                        <a:t>Body Level 4</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1907269638"/>
                  </a:ext>
                </a:extLst>
              </a:tr>
              <a:tr h="370840">
                <a:tc>
                  <a:txBody>
                    <a:bodyPr/>
                    <a:lstStyle/>
                    <a:p>
                      <a:r>
                        <a:rPr lang="en-US" dirty="0"/>
                        <a:t>Body Level 5</a:t>
                      </a:r>
                    </a:p>
                  </a:txBody>
                  <a:tcPr/>
                </a:tc>
                <a:tc>
                  <a:txBody>
                    <a:bodyPr/>
                    <a:lstStyle/>
                    <a:p>
                      <a:r>
                        <a:rPr lang="en-US" dirty="0"/>
                        <a:t>Inter</a:t>
                      </a:r>
                    </a:p>
                  </a:txBody>
                  <a:tcPr/>
                </a:tc>
                <a:tc>
                  <a:txBody>
                    <a:bodyPr/>
                    <a:lstStyle/>
                    <a:p>
                      <a:r>
                        <a:rPr lang="en-US" dirty="0"/>
                        <a:t>Regular</a:t>
                      </a:r>
                    </a:p>
                  </a:txBody>
                  <a:tcPr/>
                </a:tc>
                <a:tc>
                  <a:txBody>
                    <a:bodyPr/>
                    <a:lstStyle/>
                    <a:p>
                      <a:r>
                        <a:rPr lang="en-US" dirty="0"/>
                        <a:t>18</a:t>
                      </a:r>
                    </a:p>
                  </a:txBody>
                  <a:tcPr/>
                </a:tc>
                <a:tc>
                  <a:txBody>
                    <a:bodyPr/>
                    <a:lstStyle/>
                    <a:p>
                      <a:r>
                        <a:rPr lang="en-US" dirty="0"/>
                        <a:t>Multiple 0.90</a:t>
                      </a:r>
                    </a:p>
                  </a:txBody>
                  <a:tcPr/>
                </a:tc>
                <a:extLst>
                  <a:ext uri="{0D108BD9-81ED-4DB2-BD59-A6C34878D82A}">
                    <a16:rowId xmlns:a16="http://schemas.microsoft.com/office/drawing/2014/main" val="2156405795"/>
                  </a:ext>
                </a:extLst>
              </a:tr>
              <a:tr h="370840">
                <a:tc>
                  <a:txBody>
                    <a:bodyPr/>
                    <a:lstStyle/>
                    <a:p>
                      <a:r>
                        <a:rPr lang="en-US" dirty="0"/>
                        <a:t>Caption/Label Text</a:t>
                      </a:r>
                    </a:p>
                  </a:txBody>
                  <a:tcPr/>
                </a:tc>
                <a:tc>
                  <a:txBody>
                    <a:bodyPr/>
                    <a:lstStyle/>
                    <a:p>
                      <a:r>
                        <a:rPr lang="en-US" dirty="0"/>
                        <a:t>Inter</a:t>
                      </a:r>
                    </a:p>
                  </a:txBody>
                  <a:tcPr/>
                </a:tc>
                <a:tc>
                  <a:txBody>
                    <a:bodyPr/>
                    <a:lstStyle/>
                    <a:p>
                      <a:r>
                        <a:rPr lang="en-US" dirty="0"/>
                        <a:t>Medium</a:t>
                      </a:r>
                    </a:p>
                  </a:txBody>
                  <a:tcPr/>
                </a:tc>
                <a:tc>
                  <a:txBody>
                    <a:bodyPr/>
                    <a:lstStyle/>
                    <a:p>
                      <a:r>
                        <a:rPr lang="en-US" dirty="0"/>
                        <a:t>16</a:t>
                      </a:r>
                    </a:p>
                  </a:txBody>
                  <a:tcPr/>
                </a:tc>
                <a:tc>
                  <a:txBody>
                    <a:bodyPr/>
                    <a:lstStyle/>
                    <a:p>
                      <a:r>
                        <a:rPr lang="en-US" dirty="0"/>
                        <a:t>—</a:t>
                      </a:r>
                    </a:p>
                  </a:txBody>
                  <a:tcPr/>
                </a:tc>
                <a:extLst>
                  <a:ext uri="{0D108BD9-81ED-4DB2-BD59-A6C34878D82A}">
                    <a16:rowId xmlns:a16="http://schemas.microsoft.com/office/drawing/2014/main" val="3419601183"/>
                  </a:ext>
                </a:extLst>
              </a:tr>
              <a:tr h="370840">
                <a:tc>
                  <a:txBody>
                    <a:bodyPr/>
                    <a:lstStyle/>
                    <a:p>
                      <a:r>
                        <a:rPr lang="en-US" dirty="0"/>
                        <a:t>Footer Text</a:t>
                      </a:r>
                    </a:p>
                  </a:txBody>
                  <a:tcPr/>
                </a:tc>
                <a:tc>
                  <a:txBody>
                    <a:bodyPr/>
                    <a:lstStyle/>
                    <a:p>
                      <a:r>
                        <a:rPr lang="en-US" dirty="0"/>
                        <a:t>Inter</a:t>
                      </a:r>
                    </a:p>
                  </a:txBody>
                  <a:tcPr/>
                </a:tc>
                <a:tc>
                  <a:txBody>
                    <a:bodyPr/>
                    <a:lstStyle/>
                    <a:p>
                      <a:r>
                        <a:rPr lang="en-US" dirty="0"/>
                        <a:t>Italic</a:t>
                      </a:r>
                    </a:p>
                  </a:txBody>
                  <a:tcPr/>
                </a:tc>
                <a:tc>
                  <a:txBody>
                    <a:bodyPr/>
                    <a:lstStyle/>
                    <a:p>
                      <a:r>
                        <a:rPr lang="en-US" dirty="0"/>
                        <a:t>14</a:t>
                      </a:r>
                    </a:p>
                  </a:txBody>
                  <a:tcPr/>
                </a:tc>
                <a:tc>
                  <a:txBody>
                    <a:bodyPr/>
                    <a:lstStyle/>
                    <a:p>
                      <a:r>
                        <a:rPr lang="en-US" dirty="0"/>
                        <a:t>—</a:t>
                      </a:r>
                    </a:p>
                  </a:txBody>
                  <a:tcPr/>
                </a:tc>
                <a:extLst>
                  <a:ext uri="{0D108BD9-81ED-4DB2-BD59-A6C34878D82A}">
                    <a16:rowId xmlns:a16="http://schemas.microsoft.com/office/drawing/2014/main" val="3548302357"/>
                  </a:ext>
                </a:extLst>
              </a:tr>
            </a:tbl>
          </a:graphicData>
        </a:graphic>
      </p:graphicFrame>
      <p:sp>
        <p:nvSpPr>
          <p:cNvPr id="3" name="Title 2">
            <a:extLst>
              <a:ext uri="{FF2B5EF4-FFF2-40B4-BE49-F238E27FC236}">
                <a16:creationId xmlns:a16="http://schemas.microsoft.com/office/drawing/2014/main" id="{830BB40E-F7D1-6513-15B8-32815538B438}"/>
              </a:ext>
            </a:extLst>
          </p:cNvPr>
          <p:cNvSpPr>
            <a:spLocks noGrp="1"/>
          </p:cNvSpPr>
          <p:nvPr>
            <p:ph type="title"/>
          </p:nvPr>
        </p:nvSpPr>
        <p:spPr/>
        <p:txBody>
          <a:bodyPr/>
          <a:lstStyle/>
          <a:p>
            <a:r>
              <a:rPr lang="en-US" dirty="0"/>
              <a:t>Theme Style Guide: Typography</a:t>
            </a:r>
          </a:p>
        </p:txBody>
      </p:sp>
    </p:spTree>
    <p:extLst>
      <p:ext uri="{BB962C8B-B14F-4D97-AF65-F5344CB8AC3E}">
        <p14:creationId xmlns:p14="http://schemas.microsoft.com/office/powerpoint/2010/main" val="1638337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84CAABB-34E6-8082-2006-326DF033536D}"/>
              </a:ext>
            </a:extLst>
          </p:cNvPr>
          <p:cNvGraphicFramePr>
            <a:graphicFrameLocks noGrp="1"/>
          </p:cNvGraphicFramePr>
          <p:nvPr>
            <p:ph idx="1"/>
            <p:extLst>
              <p:ext uri="{D42A27DB-BD31-4B8C-83A1-F6EECF244321}">
                <p14:modId xmlns:p14="http://schemas.microsoft.com/office/powerpoint/2010/main" val="880213074"/>
              </p:ext>
            </p:extLst>
          </p:nvPr>
        </p:nvGraphicFramePr>
        <p:xfrm>
          <a:off x="575991" y="1554480"/>
          <a:ext cx="11040017" cy="5054600"/>
        </p:xfrm>
        <a:graphic>
          <a:graphicData uri="http://schemas.openxmlformats.org/drawingml/2006/table">
            <a:tbl>
              <a:tblPr firstRow="1" bandRow="1">
                <a:tableStyleId>{5C22544A-7EE6-4342-B048-85BDC9FD1C3A}</a:tableStyleId>
              </a:tblPr>
              <a:tblGrid>
                <a:gridCol w="2218309">
                  <a:extLst>
                    <a:ext uri="{9D8B030D-6E8A-4147-A177-3AD203B41FA5}">
                      <a16:colId xmlns:a16="http://schemas.microsoft.com/office/drawing/2014/main" val="2542438350"/>
                    </a:ext>
                  </a:extLst>
                </a:gridCol>
                <a:gridCol w="4410854">
                  <a:extLst>
                    <a:ext uri="{9D8B030D-6E8A-4147-A177-3AD203B41FA5}">
                      <a16:colId xmlns:a16="http://schemas.microsoft.com/office/drawing/2014/main" val="2408680192"/>
                    </a:ext>
                  </a:extLst>
                </a:gridCol>
                <a:gridCol w="4410854">
                  <a:extLst>
                    <a:ext uri="{9D8B030D-6E8A-4147-A177-3AD203B41FA5}">
                      <a16:colId xmlns:a16="http://schemas.microsoft.com/office/drawing/2014/main" val="689663117"/>
                    </a:ext>
                  </a:extLst>
                </a:gridCol>
              </a:tblGrid>
              <a:tr h="370840">
                <a:tc>
                  <a:txBody>
                    <a:bodyPr/>
                    <a:lstStyle/>
                    <a:p>
                      <a:r>
                        <a:rPr lang="en-US" dirty="0"/>
                        <a:t>Layout Name</a:t>
                      </a:r>
                    </a:p>
                  </a:txBody>
                  <a:tcPr/>
                </a:tc>
                <a:tc>
                  <a:txBody>
                    <a:bodyPr/>
                    <a:lstStyle/>
                    <a:p>
                      <a:r>
                        <a:rPr lang="en-US" dirty="0"/>
                        <a:t>Use Case</a:t>
                      </a:r>
                    </a:p>
                  </a:txBody>
                  <a:tcPr/>
                </a:tc>
                <a:tc>
                  <a:txBody>
                    <a:bodyPr/>
                    <a:lstStyle/>
                    <a:p>
                      <a:r>
                        <a:rPr lang="en-US" dirty="0"/>
                        <a:t>Key Features</a:t>
                      </a:r>
                    </a:p>
                  </a:txBody>
                  <a:tcPr/>
                </a:tc>
                <a:extLst>
                  <a:ext uri="{0D108BD9-81ED-4DB2-BD59-A6C34878D82A}">
                    <a16:rowId xmlns:a16="http://schemas.microsoft.com/office/drawing/2014/main" val="3854920225"/>
                  </a:ext>
                </a:extLst>
              </a:tr>
              <a:tr h="370840">
                <a:tc>
                  <a:txBody>
                    <a:bodyPr/>
                    <a:lstStyle/>
                    <a:p>
                      <a:r>
                        <a:rPr lang="en-US" dirty="0"/>
                        <a:t>Title Slide</a:t>
                      </a:r>
                    </a:p>
                  </a:txBody>
                  <a:tcPr/>
                </a:tc>
                <a:tc>
                  <a:txBody>
                    <a:bodyPr/>
                    <a:lstStyle/>
                    <a:p>
                      <a:r>
                        <a:rPr lang="en-US" dirty="0"/>
                        <a:t>Opening slide with workshop or session title</a:t>
                      </a:r>
                    </a:p>
                  </a:txBody>
                  <a:tcPr/>
                </a:tc>
                <a:tc>
                  <a:txBody>
                    <a:bodyPr/>
                    <a:lstStyle/>
                    <a:p>
                      <a:r>
                        <a:rPr lang="en-US" dirty="0"/>
                        <a:t>Completely blank; expects a title slide image to be used</a:t>
                      </a:r>
                    </a:p>
                  </a:txBody>
                  <a:tcPr/>
                </a:tc>
                <a:extLst>
                  <a:ext uri="{0D108BD9-81ED-4DB2-BD59-A6C34878D82A}">
                    <a16:rowId xmlns:a16="http://schemas.microsoft.com/office/drawing/2014/main" val="1619816349"/>
                  </a:ext>
                </a:extLst>
              </a:tr>
              <a:tr h="370840">
                <a:tc>
                  <a:txBody>
                    <a:bodyPr/>
                    <a:lstStyle/>
                    <a:p>
                      <a:r>
                        <a:rPr lang="en-US" dirty="0"/>
                        <a:t>Title and Content</a:t>
                      </a:r>
                    </a:p>
                  </a:txBody>
                  <a:tcPr/>
                </a:tc>
                <a:tc>
                  <a:txBody>
                    <a:bodyPr/>
                    <a:lstStyle/>
                    <a:p>
                      <a:r>
                        <a:rPr lang="en-US" dirty="0"/>
                        <a:t>General-purpose slides with bullets or visuals</a:t>
                      </a:r>
                    </a:p>
                  </a:txBody>
                  <a:tcPr/>
                </a:tc>
                <a:tc>
                  <a:txBody>
                    <a:bodyPr/>
                    <a:lstStyle/>
                    <a:p>
                      <a:r>
                        <a:rPr lang="en-US" dirty="0"/>
                        <a:t>Default layout with full-width title and body placeholder</a:t>
                      </a:r>
                    </a:p>
                  </a:txBody>
                  <a:tcPr/>
                </a:tc>
                <a:extLst>
                  <a:ext uri="{0D108BD9-81ED-4DB2-BD59-A6C34878D82A}">
                    <a16:rowId xmlns:a16="http://schemas.microsoft.com/office/drawing/2014/main" val="4006731156"/>
                  </a:ext>
                </a:extLst>
              </a:tr>
              <a:tr h="370840">
                <a:tc>
                  <a:txBody>
                    <a:bodyPr/>
                    <a:lstStyle/>
                    <a:p>
                      <a:r>
                        <a:rPr lang="en-US" dirty="0"/>
                        <a:t>Section Header</a:t>
                      </a:r>
                    </a:p>
                  </a:txBody>
                  <a:tcPr/>
                </a:tc>
                <a:tc>
                  <a:txBody>
                    <a:bodyPr/>
                    <a:lstStyle/>
                    <a:p>
                      <a:r>
                        <a:rPr lang="en-US" dirty="0"/>
                        <a:t>Slide breaks for new topics or modules</a:t>
                      </a:r>
                    </a:p>
                  </a:txBody>
                  <a:tcPr/>
                </a:tc>
                <a:tc>
                  <a:txBody>
                    <a:bodyPr/>
                    <a:lstStyle/>
                    <a:p>
                      <a:r>
                        <a:rPr lang="en-US" dirty="0"/>
                        <a:t>High-emphasis title, optional supporting visual or icon</a:t>
                      </a:r>
                    </a:p>
                  </a:txBody>
                  <a:tcPr/>
                </a:tc>
                <a:extLst>
                  <a:ext uri="{0D108BD9-81ED-4DB2-BD59-A6C34878D82A}">
                    <a16:rowId xmlns:a16="http://schemas.microsoft.com/office/drawing/2014/main" val="2866185097"/>
                  </a:ext>
                </a:extLst>
              </a:tr>
              <a:tr h="370840">
                <a:tc>
                  <a:txBody>
                    <a:bodyPr/>
                    <a:lstStyle/>
                    <a:p>
                      <a:r>
                        <a:rPr lang="en-US" dirty="0"/>
                        <a:t>Two Content</a:t>
                      </a:r>
                    </a:p>
                  </a:txBody>
                  <a:tcPr/>
                </a:tc>
                <a:tc>
                  <a:txBody>
                    <a:bodyPr/>
                    <a:lstStyle/>
                    <a:p>
                      <a:r>
                        <a:rPr lang="en-US" dirty="0"/>
                        <a:t>Binary workflows or parallel breakdowns</a:t>
                      </a:r>
                    </a:p>
                  </a:txBody>
                  <a:tcPr/>
                </a:tc>
                <a:tc>
                  <a:txBody>
                    <a:bodyPr/>
                    <a:lstStyle/>
                    <a:p>
                      <a:r>
                        <a:rPr lang="en-US" dirty="0"/>
                        <a:t>Equal width placeholders</a:t>
                      </a:r>
                    </a:p>
                  </a:txBody>
                  <a:tcPr/>
                </a:tc>
                <a:extLst>
                  <a:ext uri="{0D108BD9-81ED-4DB2-BD59-A6C34878D82A}">
                    <a16:rowId xmlns:a16="http://schemas.microsoft.com/office/drawing/2014/main" val="3431593222"/>
                  </a:ext>
                </a:extLst>
              </a:tr>
              <a:tr h="370840">
                <a:tc>
                  <a:txBody>
                    <a:bodyPr/>
                    <a:lstStyle/>
                    <a:p>
                      <a:r>
                        <a:rPr lang="en-US" dirty="0"/>
                        <a:t>Comparison</a:t>
                      </a:r>
                    </a:p>
                  </a:txBody>
                  <a:tcPr/>
                </a:tc>
                <a:tc>
                  <a:txBody>
                    <a:bodyPr/>
                    <a:lstStyle/>
                    <a:p>
                      <a:r>
                        <a:rPr lang="en-US" dirty="0"/>
                        <a:t>A vs B pattern contrasts</a:t>
                      </a:r>
                    </a:p>
                  </a:txBody>
                  <a:tcPr/>
                </a:tc>
                <a:tc>
                  <a:txBody>
                    <a:bodyPr/>
                    <a:lstStyle/>
                    <a:p>
                      <a:r>
                        <a:rPr lang="en-US" dirty="0"/>
                        <a:t>Titles above each content box, divider line</a:t>
                      </a:r>
                    </a:p>
                  </a:txBody>
                  <a:tcPr/>
                </a:tc>
                <a:extLst>
                  <a:ext uri="{0D108BD9-81ED-4DB2-BD59-A6C34878D82A}">
                    <a16:rowId xmlns:a16="http://schemas.microsoft.com/office/drawing/2014/main" val="2211899790"/>
                  </a:ext>
                </a:extLst>
              </a:tr>
              <a:tr h="370840">
                <a:tc>
                  <a:txBody>
                    <a:bodyPr/>
                    <a:lstStyle/>
                    <a:p>
                      <a:r>
                        <a:rPr lang="en-US" dirty="0"/>
                        <a:t>Title Only</a:t>
                      </a:r>
                    </a:p>
                  </a:txBody>
                  <a:tcPr/>
                </a:tc>
                <a:tc>
                  <a:txBody>
                    <a:bodyPr/>
                    <a:lstStyle/>
                    <a:p>
                      <a:r>
                        <a:rPr lang="en-US" dirty="0"/>
                        <a:t>Modular storytelling grid (1-4 content boxes per row)</a:t>
                      </a:r>
                    </a:p>
                  </a:txBody>
                  <a:tcPr/>
                </a:tc>
                <a:tc>
                  <a:txBody>
                    <a:bodyPr/>
                    <a:lstStyle/>
                    <a:p>
                      <a:r>
                        <a:rPr lang="en-US" dirty="0"/>
                        <a:t>Full-width title, guide-based grid (12 columns x 9 rows) box fills in Accent 3/2</a:t>
                      </a:r>
                    </a:p>
                  </a:txBody>
                  <a:tcPr/>
                </a:tc>
                <a:extLst>
                  <a:ext uri="{0D108BD9-81ED-4DB2-BD59-A6C34878D82A}">
                    <a16:rowId xmlns:a16="http://schemas.microsoft.com/office/drawing/2014/main" val="3927379485"/>
                  </a:ext>
                </a:extLst>
              </a:tr>
              <a:tr h="370840">
                <a:tc>
                  <a:txBody>
                    <a:bodyPr/>
                    <a:lstStyle/>
                    <a:p>
                      <a:r>
                        <a:rPr lang="en-US" dirty="0"/>
                        <a:t>Blank</a:t>
                      </a:r>
                    </a:p>
                  </a:txBody>
                  <a:tcPr/>
                </a:tc>
                <a:tc>
                  <a:txBody>
                    <a:bodyPr/>
                    <a:lstStyle/>
                    <a:p>
                      <a:r>
                        <a:rPr lang="en-US" dirty="0"/>
                        <a:t>Custom slides, visual experiments, isolated visuals</a:t>
                      </a:r>
                    </a:p>
                  </a:txBody>
                  <a:tcPr/>
                </a:tc>
                <a:tc>
                  <a:txBody>
                    <a:bodyPr/>
                    <a:lstStyle/>
                    <a:p>
                      <a:r>
                        <a:rPr lang="en-US" dirty="0"/>
                        <a:t>No placeholders, use guides or freestyle design</a:t>
                      </a:r>
                    </a:p>
                  </a:txBody>
                  <a:tcPr/>
                </a:tc>
                <a:extLst>
                  <a:ext uri="{0D108BD9-81ED-4DB2-BD59-A6C34878D82A}">
                    <a16:rowId xmlns:a16="http://schemas.microsoft.com/office/drawing/2014/main" val="3898505560"/>
                  </a:ext>
                </a:extLst>
              </a:tr>
              <a:tr h="370840">
                <a:tc>
                  <a:txBody>
                    <a:bodyPr/>
                    <a:lstStyle/>
                    <a:p>
                      <a:r>
                        <a:rPr lang="en-US" dirty="0"/>
                        <a:t>Content with Caption</a:t>
                      </a:r>
                    </a:p>
                  </a:txBody>
                  <a:tcPr/>
                </a:tc>
                <a:tc>
                  <a:txBody>
                    <a:bodyPr/>
                    <a:lstStyle/>
                    <a:p>
                      <a:r>
                        <a:rPr lang="en-US" dirty="0"/>
                        <a:t>Small narrative zone + major visual zone</a:t>
                      </a:r>
                    </a:p>
                  </a:txBody>
                  <a:tcPr/>
                </a:tc>
                <a:tc>
                  <a:txBody>
                    <a:bodyPr/>
                    <a:lstStyle/>
                    <a:p>
                      <a:r>
                        <a:rPr lang="en-US" dirty="0"/>
                        <a:t>Left text zone, right content zone</a:t>
                      </a:r>
                    </a:p>
                  </a:txBody>
                  <a:tcPr/>
                </a:tc>
                <a:extLst>
                  <a:ext uri="{0D108BD9-81ED-4DB2-BD59-A6C34878D82A}">
                    <a16:rowId xmlns:a16="http://schemas.microsoft.com/office/drawing/2014/main" val="1747395652"/>
                  </a:ext>
                </a:extLst>
              </a:tr>
              <a:tr h="370840">
                <a:tc>
                  <a:txBody>
                    <a:bodyPr/>
                    <a:lstStyle/>
                    <a:p>
                      <a:r>
                        <a:rPr lang="en-US" dirty="0"/>
                        <a:t>Picture with Caption</a:t>
                      </a:r>
                    </a:p>
                  </a:txBody>
                  <a:tcPr/>
                </a:tc>
                <a:tc>
                  <a:txBody>
                    <a:bodyPr/>
                    <a:lstStyle/>
                    <a:p>
                      <a:r>
                        <a:rPr lang="en-US" dirty="0"/>
                        <a:t>Image-driven slides with descriptive labeling</a:t>
                      </a:r>
                    </a:p>
                  </a:txBody>
                  <a:tcPr/>
                </a:tc>
                <a:tc>
                  <a:txBody>
                    <a:bodyPr/>
                    <a:lstStyle/>
                    <a:p>
                      <a:r>
                        <a:rPr lang="en-US" dirty="0"/>
                        <a:t>Full-width image placeholder</a:t>
                      </a:r>
                    </a:p>
                  </a:txBody>
                  <a:tcPr/>
                </a:tc>
                <a:extLst>
                  <a:ext uri="{0D108BD9-81ED-4DB2-BD59-A6C34878D82A}">
                    <a16:rowId xmlns:a16="http://schemas.microsoft.com/office/drawing/2014/main" val="3907292946"/>
                  </a:ext>
                </a:extLst>
              </a:tr>
            </a:tbl>
          </a:graphicData>
        </a:graphic>
      </p:graphicFrame>
      <p:sp>
        <p:nvSpPr>
          <p:cNvPr id="3" name="Title 2">
            <a:extLst>
              <a:ext uri="{FF2B5EF4-FFF2-40B4-BE49-F238E27FC236}">
                <a16:creationId xmlns:a16="http://schemas.microsoft.com/office/drawing/2014/main" id="{E744457C-C127-0CD7-36DF-088F21618439}"/>
              </a:ext>
            </a:extLst>
          </p:cNvPr>
          <p:cNvSpPr>
            <a:spLocks noGrp="1"/>
          </p:cNvSpPr>
          <p:nvPr>
            <p:ph type="title"/>
          </p:nvPr>
        </p:nvSpPr>
        <p:spPr/>
        <p:txBody>
          <a:bodyPr/>
          <a:lstStyle/>
          <a:p>
            <a:r>
              <a:rPr lang="en-US" dirty="0"/>
              <a:t>Style Guide: Layouts</a:t>
            </a:r>
          </a:p>
        </p:txBody>
      </p:sp>
    </p:spTree>
    <p:extLst>
      <p:ext uri="{BB962C8B-B14F-4D97-AF65-F5344CB8AC3E}">
        <p14:creationId xmlns:p14="http://schemas.microsoft.com/office/powerpoint/2010/main" val="258351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Secondary Content Box">
            <a:extLst>
              <a:ext uri="{FF2B5EF4-FFF2-40B4-BE49-F238E27FC236}">
                <a16:creationId xmlns:a16="http://schemas.microsoft.com/office/drawing/2014/main" id="{B5F45A80-482C-50FD-FD17-349590C7FCBC}"/>
              </a:ext>
            </a:extLst>
          </p:cNvPr>
          <p:cNvSpPr/>
          <p:nvPr/>
        </p:nvSpPr>
        <p:spPr>
          <a:xfrm>
            <a:off x="6197092"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3" name="Primary Context Box">
            <a:extLst>
              <a:ext uri="{FF2B5EF4-FFF2-40B4-BE49-F238E27FC236}">
                <a16:creationId xmlns:a16="http://schemas.microsoft.com/office/drawing/2014/main" id="{7DFD9F75-9E06-D903-1688-2CB7C1C7F426}"/>
              </a:ext>
            </a:extLst>
          </p:cNvPr>
          <p:cNvSpPr/>
          <p:nvPr/>
        </p:nvSpPr>
        <p:spPr>
          <a:xfrm>
            <a:off x="546100" y="1481138"/>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 name="Title 1">
            <a:extLst>
              <a:ext uri="{FF2B5EF4-FFF2-40B4-BE49-F238E27FC236}">
                <a16:creationId xmlns:a16="http://schemas.microsoft.com/office/drawing/2014/main" id="{FA3E76A7-4E02-8BD8-7C58-479F50482378}"/>
              </a:ext>
            </a:extLst>
          </p:cNvPr>
          <p:cNvSpPr>
            <a:spLocks noGrp="1"/>
          </p:cNvSpPr>
          <p:nvPr>
            <p:ph type="title"/>
          </p:nvPr>
        </p:nvSpPr>
        <p:spPr/>
        <p:txBody>
          <a:bodyPr/>
          <a:lstStyle/>
          <a:p>
            <a:r>
              <a:rPr lang="en-US" dirty="0"/>
              <a:t>Style Guide: Content Box Styles</a:t>
            </a:r>
          </a:p>
        </p:txBody>
      </p:sp>
      <p:sp>
        <p:nvSpPr>
          <p:cNvPr id="14" name="Primary Context Box">
            <a:extLst>
              <a:ext uri="{FF2B5EF4-FFF2-40B4-BE49-F238E27FC236}">
                <a16:creationId xmlns:a16="http://schemas.microsoft.com/office/drawing/2014/main" id="{0A6C5995-CF25-8D72-16DD-B63F11B8677F}"/>
              </a:ext>
            </a:extLst>
          </p:cNvPr>
          <p:cNvSpPr/>
          <p:nvPr/>
        </p:nvSpPr>
        <p:spPr>
          <a:xfrm>
            <a:off x="2429764"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5" name="Primary Context Box">
            <a:extLst>
              <a:ext uri="{FF2B5EF4-FFF2-40B4-BE49-F238E27FC236}">
                <a16:creationId xmlns:a16="http://schemas.microsoft.com/office/drawing/2014/main" id="{8059C03E-9EA3-BD10-78CA-67C3B95628C4}"/>
              </a:ext>
            </a:extLst>
          </p:cNvPr>
          <p:cNvSpPr/>
          <p:nvPr/>
        </p:nvSpPr>
        <p:spPr>
          <a:xfrm>
            <a:off x="4313428" y="1477963"/>
            <a:ext cx="1697037"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6" name="Secondary Content Box">
            <a:extLst>
              <a:ext uri="{FF2B5EF4-FFF2-40B4-BE49-F238E27FC236}">
                <a16:creationId xmlns:a16="http://schemas.microsoft.com/office/drawing/2014/main" id="{DEB8787E-F8A2-A255-5A2B-ED192C6B8A26}"/>
              </a:ext>
            </a:extLst>
          </p:cNvPr>
          <p:cNvSpPr/>
          <p:nvPr/>
        </p:nvSpPr>
        <p:spPr>
          <a:xfrm>
            <a:off x="8080756"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7" name="Secondary Content Box">
            <a:extLst>
              <a:ext uri="{FF2B5EF4-FFF2-40B4-BE49-F238E27FC236}">
                <a16:creationId xmlns:a16="http://schemas.microsoft.com/office/drawing/2014/main" id="{B6C4831D-37CC-C0B0-45F0-CCC85D99909A}"/>
              </a:ext>
            </a:extLst>
          </p:cNvPr>
          <p:cNvSpPr/>
          <p:nvPr/>
        </p:nvSpPr>
        <p:spPr>
          <a:xfrm>
            <a:off x="9964420" y="1477963"/>
            <a:ext cx="169703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18" name="Primary Context Box">
            <a:extLst>
              <a:ext uri="{FF2B5EF4-FFF2-40B4-BE49-F238E27FC236}">
                <a16:creationId xmlns:a16="http://schemas.microsoft.com/office/drawing/2014/main" id="{AC2A9430-63ED-DF69-FA4D-FB6F89FECFA4}"/>
              </a:ext>
            </a:extLst>
          </p:cNvPr>
          <p:cNvSpPr/>
          <p:nvPr/>
        </p:nvSpPr>
        <p:spPr>
          <a:xfrm>
            <a:off x="54610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19" name="Primary Context Box">
            <a:extLst>
              <a:ext uri="{FF2B5EF4-FFF2-40B4-BE49-F238E27FC236}">
                <a16:creationId xmlns:a16="http://schemas.microsoft.com/office/drawing/2014/main" id="{A10A7F50-700C-866D-40F5-5B516BB7CF56}"/>
              </a:ext>
            </a:extLst>
          </p:cNvPr>
          <p:cNvSpPr/>
          <p:nvPr/>
        </p:nvSpPr>
        <p:spPr>
          <a:xfrm>
            <a:off x="3374580" y="2498726"/>
            <a:ext cx="26358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0" name="Secondary Content Box">
            <a:extLst>
              <a:ext uri="{FF2B5EF4-FFF2-40B4-BE49-F238E27FC236}">
                <a16:creationId xmlns:a16="http://schemas.microsoft.com/office/drawing/2014/main" id="{E4F289BA-0B7E-1051-A3F8-906A6544028E}"/>
              </a:ext>
            </a:extLst>
          </p:cNvPr>
          <p:cNvSpPr/>
          <p:nvPr/>
        </p:nvSpPr>
        <p:spPr>
          <a:xfrm>
            <a:off x="6198680"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1" name="Secondary Content Box">
            <a:extLst>
              <a:ext uri="{FF2B5EF4-FFF2-40B4-BE49-F238E27FC236}">
                <a16:creationId xmlns:a16="http://schemas.microsoft.com/office/drawing/2014/main" id="{0A4203D3-4CDB-E016-7BC3-D1F5B279AD39}"/>
              </a:ext>
            </a:extLst>
          </p:cNvPr>
          <p:cNvSpPr/>
          <p:nvPr/>
        </p:nvSpPr>
        <p:spPr>
          <a:xfrm>
            <a:off x="9018715" y="2498726"/>
            <a:ext cx="2622105"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2" name="Primary Context Box">
            <a:extLst>
              <a:ext uri="{FF2B5EF4-FFF2-40B4-BE49-F238E27FC236}">
                <a16:creationId xmlns:a16="http://schemas.microsoft.com/office/drawing/2014/main" id="{C63A7252-345D-86FD-8550-0452A77401E6}"/>
              </a:ext>
            </a:extLst>
          </p:cNvPr>
          <p:cNvSpPr/>
          <p:nvPr/>
        </p:nvSpPr>
        <p:spPr>
          <a:xfrm>
            <a:off x="546100"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3" name="Primary Context Box">
            <a:extLst>
              <a:ext uri="{FF2B5EF4-FFF2-40B4-BE49-F238E27FC236}">
                <a16:creationId xmlns:a16="http://schemas.microsoft.com/office/drawing/2014/main" id="{E4235445-A472-6FBF-86AC-5BEFEB67D689}"/>
              </a:ext>
            </a:extLst>
          </p:cNvPr>
          <p:cNvSpPr/>
          <p:nvPr/>
        </p:nvSpPr>
        <p:spPr>
          <a:xfrm>
            <a:off x="4318444" y="3519488"/>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4" name="Secondary Content Box">
            <a:extLst>
              <a:ext uri="{FF2B5EF4-FFF2-40B4-BE49-F238E27FC236}">
                <a16:creationId xmlns:a16="http://schemas.microsoft.com/office/drawing/2014/main" id="{F25AEEB7-1C7B-6E4A-EABF-DAE98E3E4FE2}"/>
              </a:ext>
            </a:extLst>
          </p:cNvPr>
          <p:cNvSpPr/>
          <p:nvPr/>
        </p:nvSpPr>
        <p:spPr>
          <a:xfrm>
            <a:off x="8090788" y="3519488"/>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5" name="Primary Context Box">
            <a:extLst>
              <a:ext uri="{FF2B5EF4-FFF2-40B4-BE49-F238E27FC236}">
                <a16:creationId xmlns:a16="http://schemas.microsoft.com/office/drawing/2014/main" id="{C5201E87-41E4-56C0-5D60-D42F712CF66D}"/>
              </a:ext>
            </a:extLst>
          </p:cNvPr>
          <p:cNvSpPr/>
          <p:nvPr/>
        </p:nvSpPr>
        <p:spPr>
          <a:xfrm>
            <a:off x="1490439" y="454025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6" name="Secondary Content Box">
            <a:extLst>
              <a:ext uri="{FF2B5EF4-FFF2-40B4-BE49-F238E27FC236}">
                <a16:creationId xmlns:a16="http://schemas.microsoft.com/office/drawing/2014/main" id="{3E3FC4D5-1575-012D-86F7-DBDA202C2AE2}"/>
              </a:ext>
            </a:extLst>
          </p:cNvPr>
          <p:cNvSpPr/>
          <p:nvPr/>
        </p:nvSpPr>
        <p:spPr>
          <a:xfrm>
            <a:off x="7126288" y="4540250"/>
            <a:ext cx="3549397" cy="838200"/>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Secondary</a:t>
            </a:r>
          </a:p>
        </p:txBody>
      </p:sp>
      <p:sp>
        <p:nvSpPr>
          <p:cNvPr id="27" name="Primary Context Box">
            <a:extLst>
              <a:ext uri="{FF2B5EF4-FFF2-40B4-BE49-F238E27FC236}">
                <a16:creationId xmlns:a16="http://schemas.microsoft.com/office/drawing/2014/main" id="{D1471FFC-91FB-9A08-F3B5-9902AB16B560}"/>
              </a:ext>
            </a:extLst>
          </p:cNvPr>
          <p:cNvSpPr/>
          <p:nvPr/>
        </p:nvSpPr>
        <p:spPr>
          <a:xfrm>
            <a:off x="4318444" y="5562600"/>
            <a:ext cx="3575685"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Primary</a:t>
            </a:r>
          </a:p>
        </p:txBody>
      </p:sp>
      <p:sp>
        <p:nvSpPr>
          <p:cNvPr id="29" name="Rectangle: Rounded Corners 28">
            <a:extLst>
              <a:ext uri="{FF2B5EF4-FFF2-40B4-BE49-F238E27FC236}">
                <a16:creationId xmlns:a16="http://schemas.microsoft.com/office/drawing/2014/main" id="{686968D7-5FD9-7DE7-ACD4-2720B1E1B44E}"/>
              </a:ext>
            </a:extLst>
          </p:cNvPr>
          <p:cNvSpPr/>
          <p:nvPr/>
        </p:nvSpPr>
        <p:spPr>
          <a:xfrm>
            <a:off x="9964420"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30" name="Rectangle: Rounded Corners 29">
            <a:extLst>
              <a:ext uri="{FF2B5EF4-FFF2-40B4-BE49-F238E27FC236}">
                <a16:creationId xmlns:a16="http://schemas.microsoft.com/office/drawing/2014/main" id="{3E801C26-C1EF-B4AC-867C-1A348DAB7A03}"/>
              </a:ext>
            </a:extLst>
          </p:cNvPr>
          <p:cNvSpPr/>
          <p:nvPr/>
        </p:nvSpPr>
        <p:spPr>
          <a:xfrm>
            <a:off x="4313427" y="1477963"/>
            <a:ext cx="1697038" cy="838200"/>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398242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8A10B5C-0F75-79E5-96FF-83298216A440}"/>
              </a:ext>
            </a:extLst>
          </p:cNvPr>
          <p:cNvGraphicFramePr>
            <a:graphicFrameLocks noGrp="1"/>
          </p:cNvGraphicFramePr>
          <p:nvPr>
            <p:ph idx="1"/>
            <p:extLst>
              <p:ext uri="{D42A27DB-BD31-4B8C-83A1-F6EECF244321}">
                <p14:modId xmlns:p14="http://schemas.microsoft.com/office/powerpoint/2010/main" val="2786074639"/>
              </p:ext>
            </p:extLst>
          </p:nvPr>
        </p:nvGraphicFramePr>
        <p:xfrm>
          <a:off x="546100" y="1825625"/>
          <a:ext cx="11099800" cy="2291080"/>
        </p:xfrm>
        <a:graphic>
          <a:graphicData uri="http://schemas.openxmlformats.org/drawingml/2006/table">
            <a:tbl>
              <a:tblPr firstRow="1" bandRow="1">
                <a:tableStyleId>{5C22544A-7EE6-4342-B048-85BDC9FD1C3A}</a:tableStyleId>
              </a:tblPr>
              <a:tblGrid>
                <a:gridCol w="2219960">
                  <a:extLst>
                    <a:ext uri="{9D8B030D-6E8A-4147-A177-3AD203B41FA5}">
                      <a16:colId xmlns:a16="http://schemas.microsoft.com/office/drawing/2014/main" val="1574694223"/>
                    </a:ext>
                  </a:extLst>
                </a:gridCol>
                <a:gridCol w="2219960">
                  <a:extLst>
                    <a:ext uri="{9D8B030D-6E8A-4147-A177-3AD203B41FA5}">
                      <a16:colId xmlns:a16="http://schemas.microsoft.com/office/drawing/2014/main" val="1318526225"/>
                    </a:ext>
                  </a:extLst>
                </a:gridCol>
                <a:gridCol w="2219960">
                  <a:extLst>
                    <a:ext uri="{9D8B030D-6E8A-4147-A177-3AD203B41FA5}">
                      <a16:colId xmlns:a16="http://schemas.microsoft.com/office/drawing/2014/main" val="2421357009"/>
                    </a:ext>
                  </a:extLst>
                </a:gridCol>
                <a:gridCol w="2219960">
                  <a:extLst>
                    <a:ext uri="{9D8B030D-6E8A-4147-A177-3AD203B41FA5}">
                      <a16:colId xmlns:a16="http://schemas.microsoft.com/office/drawing/2014/main" val="4150466764"/>
                    </a:ext>
                  </a:extLst>
                </a:gridCol>
                <a:gridCol w="2219960">
                  <a:extLst>
                    <a:ext uri="{9D8B030D-6E8A-4147-A177-3AD203B41FA5}">
                      <a16:colId xmlns:a16="http://schemas.microsoft.com/office/drawing/2014/main" val="497724933"/>
                    </a:ext>
                  </a:extLst>
                </a:gridCol>
              </a:tblGrid>
              <a:tr h="370840">
                <a:tc>
                  <a:txBody>
                    <a:bodyPr/>
                    <a:lstStyle/>
                    <a:p>
                      <a:r>
                        <a:rPr lang="en-US" dirty="0"/>
                        <a:t>Box Type</a:t>
                      </a:r>
                    </a:p>
                  </a:txBody>
                  <a:tcPr/>
                </a:tc>
                <a:tc>
                  <a:txBody>
                    <a:bodyPr/>
                    <a:lstStyle/>
                    <a:p>
                      <a:r>
                        <a:rPr lang="en-US" dirty="0"/>
                        <a:t>Fill</a:t>
                      </a:r>
                    </a:p>
                  </a:txBody>
                  <a:tcPr/>
                </a:tc>
                <a:tc>
                  <a:txBody>
                    <a:bodyPr/>
                    <a:lstStyle/>
                    <a:p>
                      <a:r>
                        <a:rPr lang="en-US" dirty="0"/>
                        <a:t>Overlay</a:t>
                      </a:r>
                    </a:p>
                  </a:txBody>
                  <a:tcPr/>
                </a:tc>
                <a:tc>
                  <a:txBody>
                    <a:bodyPr/>
                    <a:lstStyle/>
                    <a:p>
                      <a:r>
                        <a:rPr lang="en-US" dirty="0"/>
                        <a:t>Text Color</a:t>
                      </a:r>
                    </a:p>
                  </a:txBody>
                  <a:tcPr/>
                </a:tc>
                <a:tc>
                  <a:txBody>
                    <a:bodyPr/>
                    <a:lstStyle/>
                    <a:p>
                      <a:r>
                        <a:rPr lang="en-US" dirty="0"/>
                        <a:t>Notes</a:t>
                      </a:r>
                    </a:p>
                  </a:txBody>
                  <a:tcPr/>
                </a:tc>
                <a:extLst>
                  <a:ext uri="{0D108BD9-81ED-4DB2-BD59-A6C34878D82A}">
                    <a16:rowId xmlns:a16="http://schemas.microsoft.com/office/drawing/2014/main" val="2141089410"/>
                  </a:ext>
                </a:extLst>
              </a:tr>
              <a:tr h="370840">
                <a:tc>
                  <a:txBody>
                    <a:bodyPr/>
                    <a:lstStyle/>
                    <a:p>
                      <a:r>
                        <a:rPr lang="en-US" dirty="0"/>
                        <a:t>Primary</a:t>
                      </a:r>
                    </a:p>
                  </a:txBody>
                  <a:tcPr/>
                </a:tc>
                <a:tc>
                  <a:txBody>
                    <a:bodyPr/>
                    <a:lstStyle/>
                    <a:p>
                      <a:r>
                        <a:rPr lang="en-US" dirty="0"/>
                        <a:t>Accent 3 @ 20%</a:t>
                      </a:r>
                    </a:p>
                  </a:txBody>
                  <a:tcPr/>
                </a:tc>
                <a:tc>
                  <a:txBody>
                    <a:bodyPr/>
                    <a:lstStyle/>
                    <a:p>
                      <a:r>
                        <a:rPr lang="en-US" dirty="0"/>
                        <a:t>None</a:t>
                      </a:r>
                    </a:p>
                  </a:txBody>
                  <a:tcPr/>
                </a:tc>
                <a:tc>
                  <a:txBody>
                    <a:bodyPr/>
                    <a:lstStyle/>
                    <a:p>
                      <a:r>
                        <a:rPr lang="en-US" dirty="0"/>
                        <a:t>Dark 1</a:t>
                      </a:r>
                    </a:p>
                  </a:txBody>
                  <a:tcPr/>
                </a:tc>
                <a:tc>
                  <a:txBody>
                    <a:bodyPr/>
                    <a:lstStyle/>
                    <a:p>
                      <a:r>
                        <a:rPr lang="en-US" dirty="0"/>
                        <a:t>For active context boxes</a:t>
                      </a:r>
                    </a:p>
                  </a:txBody>
                  <a:tcPr/>
                </a:tc>
                <a:extLst>
                  <a:ext uri="{0D108BD9-81ED-4DB2-BD59-A6C34878D82A}">
                    <a16:rowId xmlns:a16="http://schemas.microsoft.com/office/drawing/2014/main" val="2172972433"/>
                  </a:ext>
                </a:extLst>
              </a:tr>
              <a:tr h="370840">
                <a:tc>
                  <a:txBody>
                    <a:bodyPr/>
                    <a:lstStyle/>
                    <a:p>
                      <a:r>
                        <a:rPr lang="en-US" dirty="0"/>
                        <a:t>Secondary</a:t>
                      </a:r>
                    </a:p>
                  </a:txBody>
                  <a:tcPr/>
                </a:tc>
                <a:tc>
                  <a:txBody>
                    <a:bodyPr/>
                    <a:lstStyle/>
                    <a:p>
                      <a:r>
                        <a:rPr lang="en-US" dirty="0"/>
                        <a:t>Accent 2 @ 20%</a:t>
                      </a:r>
                    </a:p>
                  </a:txBody>
                  <a:tcPr/>
                </a:tc>
                <a:tc>
                  <a:txBody>
                    <a:bodyPr/>
                    <a:lstStyle/>
                    <a:p>
                      <a:r>
                        <a:rPr lang="en-US" dirty="0"/>
                        <a:t>None</a:t>
                      </a:r>
                    </a:p>
                  </a:txBody>
                  <a:tcPr/>
                </a:tc>
                <a:tc>
                  <a:txBody>
                    <a:bodyPr/>
                    <a:lstStyle/>
                    <a:p>
                      <a:r>
                        <a:rPr lang="en-US" dirty="0"/>
                        <a:t>Dark 1</a:t>
                      </a:r>
                    </a:p>
                  </a:txBody>
                  <a:tcPr/>
                </a:tc>
                <a:tc>
                  <a:txBody>
                    <a:bodyPr/>
                    <a:lstStyle/>
                    <a:p>
                      <a:r>
                        <a:rPr lang="en-US" dirty="0"/>
                        <a:t>Supporting or alternate boxes</a:t>
                      </a:r>
                    </a:p>
                  </a:txBody>
                  <a:tcPr/>
                </a:tc>
                <a:extLst>
                  <a:ext uri="{0D108BD9-81ED-4DB2-BD59-A6C34878D82A}">
                    <a16:rowId xmlns:a16="http://schemas.microsoft.com/office/drawing/2014/main" val="1901950008"/>
                  </a:ext>
                </a:extLst>
              </a:tr>
              <a:tr h="370840">
                <a:tc>
                  <a:txBody>
                    <a:bodyPr/>
                    <a:lstStyle/>
                    <a:p>
                      <a:r>
                        <a:rPr lang="en-US" dirty="0"/>
                        <a:t>Inactive</a:t>
                      </a:r>
                    </a:p>
                  </a:txBody>
                  <a:tcPr/>
                </a:tc>
                <a:tc>
                  <a:txBody>
                    <a:bodyPr/>
                    <a:lstStyle/>
                    <a:p>
                      <a:r>
                        <a:rPr lang="en-US" dirty="0"/>
                        <a:t>Accent 3 or 2</a:t>
                      </a:r>
                    </a:p>
                  </a:txBody>
                  <a:tcPr/>
                </a:tc>
                <a:tc>
                  <a:txBody>
                    <a:bodyPr/>
                    <a:lstStyle/>
                    <a:p>
                      <a:r>
                        <a:rPr lang="en-US" dirty="0"/>
                        <a:t>Shadow overlay @ 20% opacity</a:t>
                      </a:r>
                    </a:p>
                  </a:txBody>
                  <a:tcPr/>
                </a:tc>
                <a:tc>
                  <a:txBody>
                    <a:bodyPr/>
                    <a:lstStyle/>
                    <a:p>
                      <a:r>
                        <a:rPr lang="en-US" dirty="0"/>
                        <a:t>Accent 6</a:t>
                      </a:r>
                    </a:p>
                  </a:txBody>
                  <a:tcPr/>
                </a:tc>
                <a:tc>
                  <a:txBody>
                    <a:bodyPr/>
                    <a:lstStyle/>
                    <a:p>
                      <a:r>
                        <a:rPr lang="en-US" dirty="0"/>
                        <a:t>Creates depth, dims focus </a:t>
                      </a:r>
                      <a:r>
                        <a:rPr lang="en-US" dirty="0" err="1"/>
                        <a:t>interntionally</a:t>
                      </a:r>
                      <a:endParaRPr lang="en-US" dirty="0"/>
                    </a:p>
                  </a:txBody>
                  <a:tcPr/>
                </a:tc>
                <a:extLst>
                  <a:ext uri="{0D108BD9-81ED-4DB2-BD59-A6C34878D82A}">
                    <a16:rowId xmlns:a16="http://schemas.microsoft.com/office/drawing/2014/main" val="1018124002"/>
                  </a:ext>
                </a:extLst>
              </a:tr>
            </a:tbl>
          </a:graphicData>
        </a:graphic>
      </p:graphicFrame>
      <p:sp>
        <p:nvSpPr>
          <p:cNvPr id="3" name="Title 2">
            <a:extLst>
              <a:ext uri="{FF2B5EF4-FFF2-40B4-BE49-F238E27FC236}">
                <a16:creationId xmlns:a16="http://schemas.microsoft.com/office/drawing/2014/main" id="{5EBC1767-F74D-07B5-0B3C-CD23EF1A803C}"/>
              </a:ext>
            </a:extLst>
          </p:cNvPr>
          <p:cNvSpPr>
            <a:spLocks noGrp="1"/>
          </p:cNvSpPr>
          <p:nvPr>
            <p:ph type="title"/>
          </p:nvPr>
        </p:nvSpPr>
        <p:spPr/>
        <p:txBody>
          <a:bodyPr/>
          <a:lstStyle/>
          <a:p>
            <a:r>
              <a:rPr lang="en-US" dirty="0"/>
              <a:t>Style Guide: Content Box Fill Styling</a:t>
            </a:r>
          </a:p>
        </p:txBody>
      </p:sp>
    </p:spTree>
    <p:extLst>
      <p:ext uri="{BB962C8B-B14F-4D97-AF65-F5344CB8AC3E}">
        <p14:creationId xmlns:p14="http://schemas.microsoft.com/office/powerpoint/2010/main" val="982892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A398-6BB4-E1B2-C725-B911387700B6}"/>
              </a:ext>
            </a:extLst>
          </p:cNvPr>
          <p:cNvSpPr>
            <a:spLocks noGrp="1"/>
          </p:cNvSpPr>
          <p:nvPr>
            <p:ph type="title"/>
          </p:nvPr>
        </p:nvSpPr>
        <p:spPr/>
        <p:txBody>
          <a:bodyPr/>
          <a:lstStyle/>
          <a:p>
            <a:r>
              <a:rPr lang="en-US" dirty="0"/>
              <a:t>Advanced Processing Techniques</a:t>
            </a:r>
          </a:p>
        </p:txBody>
      </p:sp>
    </p:spTree>
    <p:extLst>
      <p:ext uri="{BB962C8B-B14F-4D97-AF65-F5344CB8AC3E}">
        <p14:creationId xmlns:p14="http://schemas.microsoft.com/office/powerpoint/2010/main" val="2462097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A99252-CD32-4B27-60F9-9070BC611465}"/>
              </a:ext>
            </a:extLst>
          </p:cNvPr>
          <p:cNvSpPr>
            <a:spLocks noGrp="1"/>
          </p:cNvSpPr>
          <p:nvPr>
            <p:ph type="title"/>
          </p:nvPr>
        </p:nvSpPr>
        <p:spPr/>
        <p:txBody>
          <a:bodyPr/>
          <a:lstStyle/>
          <a:p>
            <a:r>
              <a:rPr lang="en-US" dirty="0"/>
              <a:t>Advanced Processing Techniques</a:t>
            </a:r>
          </a:p>
        </p:txBody>
      </p:sp>
      <p:sp>
        <p:nvSpPr>
          <p:cNvPr id="3" name="Text Placeholder 2">
            <a:extLst>
              <a:ext uri="{FF2B5EF4-FFF2-40B4-BE49-F238E27FC236}">
                <a16:creationId xmlns:a16="http://schemas.microsoft.com/office/drawing/2014/main" id="{8875017E-4C80-F15D-0465-078C6C3E91F2}"/>
              </a:ext>
            </a:extLst>
          </p:cNvPr>
          <p:cNvSpPr>
            <a:spLocks noGrp="1"/>
          </p:cNvSpPr>
          <p:nvPr>
            <p:ph type="body" sz="quarter" idx="10"/>
          </p:nvPr>
        </p:nvSpPr>
        <p:spPr/>
        <p:txBody>
          <a:bodyPr/>
          <a:lstStyle/>
          <a:p>
            <a:r>
              <a:rPr lang="en-US" dirty="0"/>
              <a:t>Pattern 1: Idempotent Receiver</a:t>
            </a:r>
          </a:p>
        </p:txBody>
      </p:sp>
    </p:spTree>
    <p:extLst>
      <p:ext uri="{BB962C8B-B14F-4D97-AF65-F5344CB8AC3E}">
        <p14:creationId xmlns:p14="http://schemas.microsoft.com/office/powerpoint/2010/main" val="28057760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69F86-118A-0F08-8294-CFDD5249E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5C870E-27EB-E96D-6F66-0F6B90168116}"/>
              </a:ext>
            </a:extLst>
          </p:cNvPr>
          <p:cNvSpPr>
            <a:spLocks noGrp="1"/>
          </p:cNvSpPr>
          <p:nvPr>
            <p:ph type="title"/>
          </p:nvPr>
        </p:nvSpPr>
        <p:spPr/>
        <p:txBody>
          <a:bodyPr>
            <a:normAutofit fontScale="90000"/>
          </a:bodyPr>
          <a:lstStyle/>
          <a:p>
            <a:r>
              <a:rPr lang="en-US" dirty="0"/>
              <a:t>What is the Idempotent Receiver Pattern</a:t>
            </a:r>
          </a:p>
        </p:txBody>
      </p:sp>
      <p:sp>
        <p:nvSpPr>
          <p:cNvPr id="3" name="Primary Context Box">
            <a:extLst>
              <a:ext uri="{FF2B5EF4-FFF2-40B4-BE49-F238E27FC236}">
                <a16:creationId xmlns:a16="http://schemas.microsoft.com/office/drawing/2014/main" id="{F4A35A1A-F1C9-5787-D115-E3D4C9BFEDFF}"/>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Ensures message is processed exactly once</a:t>
            </a:r>
          </a:p>
        </p:txBody>
      </p:sp>
      <p:sp>
        <p:nvSpPr>
          <p:cNvPr id="4" name="Secondary Content Box">
            <a:extLst>
              <a:ext uri="{FF2B5EF4-FFF2-40B4-BE49-F238E27FC236}">
                <a16:creationId xmlns:a16="http://schemas.microsoft.com/office/drawing/2014/main" id="{49A20458-A20F-A955-6B97-5B4341DBB087}"/>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Prevent duplicate processing of messages</a:t>
            </a:r>
          </a:p>
        </p:txBody>
      </p:sp>
    </p:spTree>
    <p:extLst>
      <p:ext uri="{BB962C8B-B14F-4D97-AF65-F5344CB8AC3E}">
        <p14:creationId xmlns:p14="http://schemas.microsoft.com/office/powerpoint/2010/main" val="1717261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B3B0-23BC-D2EF-06F4-C1FDFBA84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2116E-CFA8-E5B9-3591-6D13AE082002}"/>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DABA8233-4F5E-D824-CAFD-61379C514E32}"/>
              </a:ext>
            </a:extLst>
          </p:cNvPr>
          <p:cNvSpPr/>
          <p:nvPr/>
        </p:nvSpPr>
        <p:spPr>
          <a:xfrm>
            <a:off x="5476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Unique Message Identifiers</a:t>
            </a:r>
          </a:p>
        </p:txBody>
      </p:sp>
      <p:sp>
        <p:nvSpPr>
          <p:cNvPr id="105" name="Rectangle: Rounded Corners 104">
            <a:extLst>
              <a:ext uri="{FF2B5EF4-FFF2-40B4-BE49-F238E27FC236}">
                <a16:creationId xmlns:a16="http://schemas.microsoft.com/office/drawing/2014/main" id="{7865B506-0B9F-FAD7-7FA5-1DD47DF6BC6E}"/>
              </a:ext>
            </a:extLst>
          </p:cNvPr>
          <p:cNvSpPr/>
          <p:nvPr/>
        </p:nvSpPr>
        <p:spPr>
          <a:xfrm>
            <a:off x="4307681"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State Storage</a:t>
            </a:r>
          </a:p>
        </p:txBody>
      </p:sp>
      <p:sp>
        <p:nvSpPr>
          <p:cNvPr id="106" name="Rectangle: Rounded Corners 105">
            <a:extLst>
              <a:ext uri="{FF2B5EF4-FFF2-40B4-BE49-F238E27FC236}">
                <a16:creationId xmlns:a16="http://schemas.microsoft.com/office/drawing/2014/main" id="{47C8A20A-19E1-3121-4CA0-233C161ACDF9}"/>
              </a:ext>
            </a:extLst>
          </p:cNvPr>
          <p:cNvSpPr/>
          <p:nvPr/>
        </p:nvSpPr>
        <p:spPr>
          <a:xfrm>
            <a:off x="80660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Idempotent Processing Logic</a:t>
            </a:r>
          </a:p>
        </p:txBody>
      </p:sp>
    </p:spTree>
    <p:extLst>
      <p:ext uri="{BB962C8B-B14F-4D97-AF65-F5344CB8AC3E}">
        <p14:creationId xmlns:p14="http://schemas.microsoft.com/office/powerpoint/2010/main" val="2097313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3F2F6-783B-C321-DB83-B02B4AF529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A41E8-39C0-542C-FE53-2D003B9DF5F2}"/>
              </a:ext>
            </a:extLst>
          </p:cNvPr>
          <p:cNvSpPr>
            <a:spLocks noGrp="1"/>
          </p:cNvSpPr>
          <p:nvPr>
            <p:ph type="title"/>
          </p:nvPr>
        </p:nvSpPr>
        <p:spPr/>
        <p:txBody>
          <a:bodyPr/>
          <a:lstStyle/>
          <a:p>
            <a:r>
              <a:rPr lang="en-US" dirty="0"/>
              <a:t>Key Components &amp; Flow</a:t>
            </a:r>
          </a:p>
        </p:txBody>
      </p:sp>
      <p:sp>
        <p:nvSpPr>
          <p:cNvPr id="3" name="Rectangle: Rounded Corners 2">
            <a:extLst>
              <a:ext uri="{FF2B5EF4-FFF2-40B4-BE49-F238E27FC236}">
                <a16:creationId xmlns:a16="http://schemas.microsoft.com/office/drawing/2014/main" id="{91F83A08-B39F-74CA-7DA3-9730EB90FFE0}"/>
              </a:ext>
            </a:extLst>
          </p:cNvPr>
          <p:cNvSpPr/>
          <p:nvPr/>
        </p:nvSpPr>
        <p:spPr>
          <a:xfrm>
            <a:off x="6663958" y="3474878"/>
            <a:ext cx="3422076" cy="563802"/>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4" name="Oval 3">
            <a:extLst>
              <a:ext uri="{FF2B5EF4-FFF2-40B4-BE49-F238E27FC236}">
                <a16:creationId xmlns:a16="http://schemas.microsoft.com/office/drawing/2014/main" id="{4A5A8A0A-85AA-7A0C-7762-7E990D0A7819}"/>
              </a:ext>
            </a:extLst>
          </p:cNvPr>
          <p:cNvSpPr/>
          <p:nvPr/>
        </p:nvSpPr>
        <p:spPr>
          <a:xfrm>
            <a:off x="10714601" y="3444150"/>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5" name="Oval 4">
            <a:extLst>
              <a:ext uri="{FF2B5EF4-FFF2-40B4-BE49-F238E27FC236}">
                <a16:creationId xmlns:a16="http://schemas.microsoft.com/office/drawing/2014/main" id="{394AFBE8-42DF-0965-09A5-B0ADE9A97C79}"/>
              </a:ext>
            </a:extLst>
          </p:cNvPr>
          <p:cNvSpPr/>
          <p:nvPr/>
        </p:nvSpPr>
        <p:spPr>
          <a:xfrm>
            <a:off x="5305768" y="2988819"/>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Oval 17">
            <a:extLst>
              <a:ext uri="{FF2B5EF4-FFF2-40B4-BE49-F238E27FC236}">
                <a16:creationId xmlns:a16="http://schemas.microsoft.com/office/drawing/2014/main" id="{44B0EA9A-2326-4329-C35E-01CDBE35AD30}"/>
              </a:ext>
            </a:extLst>
          </p:cNvPr>
          <p:cNvSpPr/>
          <p:nvPr/>
        </p:nvSpPr>
        <p:spPr>
          <a:xfrm>
            <a:off x="5305767" y="2042712"/>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Oval 18">
            <a:extLst>
              <a:ext uri="{FF2B5EF4-FFF2-40B4-BE49-F238E27FC236}">
                <a16:creationId xmlns:a16="http://schemas.microsoft.com/office/drawing/2014/main" id="{6BE91E66-3265-85C3-5350-52849DC7E556}"/>
              </a:ext>
            </a:extLst>
          </p:cNvPr>
          <p:cNvSpPr/>
          <p:nvPr/>
        </p:nvSpPr>
        <p:spPr>
          <a:xfrm>
            <a:off x="5305766" y="3899479"/>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20" name="Oval 19">
            <a:extLst>
              <a:ext uri="{FF2B5EF4-FFF2-40B4-BE49-F238E27FC236}">
                <a16:creationId xmlns:a16="http://schemas.microsoft.com/office/drawing/2014/main" id="{44F66471-0870-5863-4D00-945828271590}"/>
              </a:ext>
            </a:extLst>
          </p:cNvPr>
          <p:cNvSpPr/>
          <p:nvPr/>
        </p:nvSpPr>
        <p:spPr>
          <a:xfrm>
            <a:off x="5305766" y="4845586"/>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grpSp>
        <p:nvGrpSpPr>
          <p:cNvPr id="21" name="Group 20">
            <a:extLst>
              <a:ext uri="{FF2B5EF4-FFF2-40B4-BE49-F238E27FC236}">
                <a16:creationId xmlns:a16="http://schemas.microsoft.com/office/drawing/2014/main" id="{609AC102-10ED-E2C6-6E03-B020262263F9}"/>
              </a:ext>
            </a:extLst>
          </p:cNvPr>
          <p:cNvGrpSpPr/>
          <p:nvPr/>
        </p:nvGrpSpPr>
        <p:grpSpPr>
          <a:xfrm>
            <a:off x="5402718" y="2159133"/>
            <a:ext cx="535720" cy="430783"/>
            <a:chOff x="5019005" y="4337314"/>
            <a:chExt cx="535720" cy="430783"/>
          </a:xfrm>
        </p:grpSpPr>
        <p:pic>
          <p:nvPicPr>
            <p:cNvPr id="22" name="Picture 21" descr="Free Envelope Clipart Black And White, Download Free Envelope Clipart Black  And White png images, Free ClipArts on Clipart Library">
              <a:extLst>
                <a:ext uri="{FF2B5EF4-FFF2-40B4-BE49-F238E27FC236}">
                  <a16:creationId xmlns:a16="http://schemas.microsoft.com/office/drawing/2014/main" id="{0EEA3F68-02BB-4CED-5AA2-CECEA2136FB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509FF44A-7999-4410-6C89-F2B891289543}"/>
                </a:ext>
              </a:extLst>
            </p:cNvPr>
            <p:cNvSpPr txBox="1"/>
            <p:nvPr/>
          </p:nvSpPr>
          <p:spPr>
            <a:xfrm>
              <a:off x="5136022" y="4337314"/>
              <a:ext cx="288862" cy="338554"/>
            </a:xfrm>
            <a:prstGeom prst="rect">
              <a:avLst/>
            </a:prstGeom>
            <a:noFill/>
          </p:spPr>
          <p:txBody>
            <a:bodyPr wrap="none" rtlCol="0">
              <a:spAutoFit/>
            </a:bodyPr>
            <a:lstStyle/>
            <a:p>
              <a:r>
                <a:rPr lang="en-US" sz="1600" dirty="0"/>
                <a:t>1</a:t>
              </a:r>
            </a:p>
          </p:txBody>
        </p:sp>
      </p:grpSp>
      <p:grpSp>
        <p:nvGrpSpPr>
          <p:cNvPr id="24" name="Group 23">
            <a:extLst>
              <a:ext uri="{FF2B5EF4-FFF2-40B4-BE49-F238E27FC236}">
                <a16:creationId xmlns:a16="http://schemas.microsoft.com/office/drawing/2014/main" id="{C78F086F-ED92-721A-365D-ACFBCD0C2AC5}"/>
              </a:ext>
            </a:extLst>
          </p:cNvPr>
          <p:cNvGrpSpPr/>
          <p:nvPr/>
        </p:nvGrpSpPr>
        <p:grpSpPr>
          <a:xfrm>
            <a:off x="9410472" y="3541387"/>
            <a:ext cx="535720" cy="430783"/>
            <a:chOff x="5019005" y="4337314"/>
            <a:chExt cx="535720" cy="430783"/>
          </a:xfrm>
        </p:grpSpPr>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2876EB47-E51B-FF79-2B17-EFF594A9332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5C0DBB13-FADD-ACC5-0A3A-0F96AA164C01}"/>
                </a:ext>
              </a:extLst>
            </p:cNvPr>
            <p:cNvSpPr txBox="1"/>
            <p:nvPr/>
          </p:nvSpPr>
          <p:spPr>
            <a:xfrm>
              <a:off x="5136022" y="4337314"/>
              <a:ext cx="288862" cy="338554"/>
            </a:xfrm>
            <a:prstGeom prst="rect">
              <a:avLst/>
            </a:prstGeom>
            <a:noFill/>
          </p:spPr>
          <p:txBody>
            <a:bodyPr wrap="none" rtlCol="0">
              <a:spAutoFit/>
            </a:bodyPr>
            <a:lstStyle/>
            <a:p>
              <a:r>
                <a:rPr lang="en-US" sz="1600" dirty="0"/>
                <a:t>1</a:t>
              </a:r>
            </a:p>
          </p:txBody>
        </p:sp>
      </p:grpSp>
      <p:grpSp>
        <p:nvGrpSpPr>
          <p:cNvPr id="27" name="Group 26">
            <a:extLst>
              <a:ext uri="{FF2B5EF4-FFF2-40B4-BE49-F238E27FC236}">
                <a16:creationId xmlns:a16="http://schemas.microsoft.com/office/drawing/2014/main" id="{C6670BE2-35A9-F449-54B8-40FD81E6A814}"/>
              </a:ext>
            </a:extLst>
          </p:cNvPr>
          <p:cNvGrpSpPr/>
          <p:nvPr/>
        </p:nvGrpSpPr>
        <p:grpSpPr>
          <a:xfrm>
            <a:off x="5402718" y="3105964"/>
            <a:ext cx="535720" cy="430783"/>
            <a:chOff x="5019005" y="4337314"/>
            <a:chExt cx="535720" cy="430783"/>
          </a:xfrm>
        </p:grpSpPr>
        <p:pic>
          <p:nvPicPr>
            <p:cNvPr id="28" name="Picture 27" descr="Free Envelope Clipart Black And White, Download Free Envelope Clipart Black  And White png images, Free ClipArts on Clipart Library">
              <a:extLst>
                <a:ext uri="{FF2B5EF4-FFF2-40B4-BE49-F238E27FC236}">
                  <a16:creationId xmlns:a16="http://schemas.microsoft.com/office/drawing/2014/main" id="{6E62C4CC-20B7-71A4-39D5-ADDA970C6924}"/>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CB54D1F-79A2-FE58-6544-37A8C90FF74C}"/>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grpSp>
        <p:nvGrpSpPr>
          <p:cNvPr id="50" name="Group 49">
            <a:extLst>
              <a:ext uri="{FF2B5EF4-FFF2-40B4-BE49-F238E27FC236}">
                <a16:creationId xmlns:a16="http://schemas.microsoft.com/office/drawing/2014/main" id="{F8AB815F-BDFC-B4F5-25E6-1B097F56F522}"/>
              </a:ext>
            </a:extLst>
          </p:cNvPr>
          <p:cNvGrpSpPr/>
          <p:nvPr/>
        </p:nvGrpSpPr>
        <p:grpSpPr>
          <a:xfrm>
            <a:off x="8781905" y="3541387"/>
            <a:ext cx="535720" cy="430783"/>
            <a:chOff x="5019005" y="4337314"/>
            <a:chExt cx="535720" cy="430783"/>
          </a:xfrm>
        </p:grpSpPr>
        <p:pic>
          <p:nvPicPr>
            <p:cNvPr id="52" name="Picture 51" descr="Free Envelope Clipart Black And White, Download Free Envelope Clipart Black  And White png images, Free ClipArts on Clipart Library">
              <a:extLst>
                <a:ext uri="{FF2B5EF4-FFF2-40B4-BE49-F238E27FC236}">
                  <a16:creationId xmlns:a16="http://schemas.microsoft.com/office/drawing/2014/main" id="{006EB7F5-81B0-756D-B45C-80D7BE4C995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D3D041C3-FE52-5623-E759-51D363ADA7D4}"/>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grpSp>
        <p:nvGrpSpPr>
          <p:cNvPr id="55" name="Group 54">
            <a:extLst>
              <a:ext uri="{FF2B5EF4-FFF2-40B4-BE49-F238E27FC236}">
                <a16:creationId xmlns:a16="http://schemas.microsoft.com/office/drawing/2014/main" id="{DB8040C9-2B2E-5AEF-11FB-391367AA56B3}"/>
              </a:ext>
            </a:extLst>
          </p:cNvPr>
          <p:cNvGrpSpPr/>
          <p:nvPr/>
        </p:nvGrpSpPr>
        <p:grpSpPr>
          <a:xfrm>
            <a:off x="5396306" y="3972170"/>
            <a:ext cx="535720" cy="430783"/>
            <a:chOff x="5019005" y="4337314"/>
            <a:chExt cx="535720" cy="430783"/>
          </a:xfrm>
        </p:grpSpPr>
        <p:pic>
          <p:nvPicPr>
            <p:cNvPr id="56" name="Picture 55" descr="Free Envelope Clipart Black And White, Download Free Envelope Clipart Black  And White png images, Free ClipArts on Clipart Library">
              <a:extLst>
                <a:ext uri="{FF2B5EF4-FFF2-40B4-BE49-F238E27FC236}">
                  <a16:creationId xmlns:a16="http://schemas.microsoft.com/office/drawing/2014/main" id="{027AE36E-609C-D0A3-79B5-518B61AF3FA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57" name="TextBox 56">
              <a:extLst>
                <a:ext uri="{FF2B5EF4-FFF2-40B4-BE49-F238E27FC236}">
                  <a16:creationId xmlns:a16="http://schemas.microsoft.com/office/drawing/2014/main" id="{7C0766D7-D10A-BFEB-DC61-79947C50D465}"/>
                </a:ext>
              </a:extLst>
            </p:cNvPr>
            <p:cNvSpPr txBox="1"/>
            <p:nvPr/>
          </p:nvSpPr>
          <p:spPr>
            <a:xfrm>
              <a:off x="5136022" y="4337314"/>
              <a:ext cx="288862" cy="338554"/>
            </a:xfrm>
            <a:prstGeom prst="rect">
              <a:avLst/>
            </a:prstGeom>
            <a:noFill/>
          </p:spPr>
          <p:txBody>
            <a:bodyPr wrap="none" rtlCol="0">
              <a:spAutoFit/>
            </a:bodyPr>
            <a:lstStyle/>
            <a:p>
              <a:r>
                <a:rPr lang="en-US" sz="1600" dirty="0"/>
                <a:t>3</a:t>
              </a:r>
            </a:p>
          </p:txBody>
        </p:sp>
      </p:grpSp>
      <p:grpSp>
        <p:nvGrpSpPr>
          <p:cNvPr id="58" name="Group 57">
            <a:extLst>
              <a:ext uri="{FF2B5EF4-FFF2-40B4-BE49-F238E27FC236}">
                <a16:creationId xmlns:a16="http://schemas.microsoft.com/office/drawing/2014/main" id="{93E8ACBD-6BF8-BF51-F2AF-8560E6F01E7E}"/>
              </a:ext>
            </a:extLst>
          </p:cNvPr>
          <p:cNvGrpSpPr/>
          <p:nvPr/>
        </p:nvGrpSpPr>
        <p:grpSpPr>
          <a:xfrm>
            <a:off x="8148470" y="3541387"/>
            <a:ext cx="535720" cy="430783"/>
            <a:chOff x="5019005" y="4337314"/>
            <a:chExt cx="535720" cy="430783"/>
          </a:xfrm>
        </p:grpSpPr>
        <p:pic>
          <p:nvPicPr>
            <p:cNvPr id="59" name="Picture 58" descr="Free Envelope Clipart Black And White, Download Free Envelope Clipart Black  And White png images, Free ClipArts on Clipart Library">
              <a:extLst>
                <a:ext uri="{FF2B5EF4-FFF2-40B4-BE49-F238E27FC236}">
                  <a16:creationId xmlns:a16="http://schemas.microsoft.com/office/drawing/2014/main" id="{6DF4AB57-5D39-0271-5066-BE69501B832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C9DDE193-6DC7-6D81-F425-FB250F33FF64}"/>
                </a:ext>
              </a:extLst>
            </p:cNvPr>
            <p:cNvSpPr txBox="1"/>
            <p:nvPr/>
          </p:nvSpPr>
          <p:spPr>
            <a:xfrm>
              <a:off x="5136022" y="4337314"/>
              <a:ext cx="288862" cy="338554"/>
            </a:xfrm>
            <a:prstGeom prst="rect">
              <a:avLst/>
            </a:prstGeom>
            <a:noFill/>
          </p:spPr>
          <p:txBody>
            <a:bodyPr wrap="none" rtlCol="0">
              <a:spAutoFit/>
            </a:bodyPr>
            <a:lstStyle/>
            <a:p>
              <a:r>
                <a:rPr lang="en-US" sz="1600" dirty="0"/>
                <a:t>3</a:t>
              </a:r>
            </a:p>
          </p:txBody>
        </p:sp>
      </p:grpSp>
      <p:grpSp>
        <p:nvGrpSpPr>
          <p:cNvPr id="61" name="Group 60">
            <a:extLst>
              <a:ext uri="{FF2B5EF4-FFF2-40B4-BE49-F238E27FC236}">
                <a16:creationId xmlns:a16="http://schemas.microsoft.com/office/drawing/2014/main" id="{2946B747-6AC0-DBB5-786C-99641B4B2268}"/>
              </a:ext>
            </a:extLst>
          </p:cNvPr>
          <p:cNvGrpSpPr/>
          <p:nvPr/>
        </p:nvGrpSpPr>
        <p:grpSpPr>
          <a:xfrm>
            <a:off x="5389894" y="4973686"/>
            <a:ext cx="535720" cy="430783"/>
            <a:chOff x="5019005" y="4337314"/>
            <a:chExt cx="535720" cy="430783"/>
          </a:xfrm>
        </p:grpSpPr>
        <p:pic>
          <p:nvPicPr>
            <p:cNvPr id="62" name="Picture 61" descr="Free Envelope Clipart Black And White, Download Free Envelope Clipart Black  And White png images, Free ClipArts on Clipart Library">
              <a:extLst>
                <a:ext uri="{FF2B5EF4-FFF2-40B4-BE49-F238E27FC236}">
                  <a16:creationId xmlns:a16="http://schemas.microsoft.com/office/drawing/2014/main" id="{781C1C65-3BD1-40DC-265F-8052B6A71FA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CE619E6B-F84C-D4E4-5C73-2379F9DC659F}"/>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grpSp>
        <p:nvGrpSpPr>
          <p:cNvPr id="64" name="Group 63">
            <a:extLst>
              <a:ext uri="{FF2B5EF4-FFF2-40B4-BE49-F238E27FC236}">
                <a16:creationId xmlns:a16="http://schemas.microsoft.com/office/drawing/2014/main" id="{1673CB54-874F-CB3A-635C-A377555C0E84}"/>
              </a:ext>
            </a:extLst>
          </p:cNvPr>
          <p:cNvGrpSpPr/>
          <p:nvPr/>
        </p:nvGrpSpPr>
        <p:grpSpPr>
          <a:xfrm>
            <a:off x="7515035" y="3536353"/>
            <a:ext cx="535720" cy="430783"/>
            <a:chOff x="5019005" y="4337314"/>
            <a:chExt cx="535720" cy="430783"/>
          </a:xfrm>
        </p:grpSpPr>
        <p:pic>
          <p:nvPicPr>
            <p:cNvPr id="65" name="Picture 64" descr="Free Envelope Clipart Black And White, Download Free Envelope Clipart Black  And White png images, Free ClipArts on Clipart Library">
              <a:extLst>
                <a:ext uri="{FF2B5EF4-FFF2-40B4-BE49-F238E27FC236}">
                  <a16:creationId xmlns:a16="http://schemas.microsoft.com/office/drawing/2014/main" id="{928731F0-AA64-5A7D-B817-8E6350A2049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66" name="TextBox 65">
              <a:extLst>
                <a:ext uri="{FF2B5EF4-FFF2-40B4-BE49-F238E27FC236}">
                  <a16:creationId xmlns:a16="http://schemas.microsoft.com/office/drawing/2014/main" id="{C214A1E5-7837-2D2E-47E8-1E8CB256B91F}"/>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grpSp>
        <p:nvGrpSpPr>
          <p:cNvPr id="67" name="Group 66">
            <a:extLst>
              <a:ext uri="{FF2B5EF4-FFF2-40B4-BE49-F238E27FC236}">
                <a16:creationId xmlns:a16="http://schemas.microsoft.com/office/drawing/2014/main" id="{FF9CEC38-8E15-C91E-0F66-AC18FC7CA795}"/>
              </a:ext>
            </a:extLst>
          </p:cNvPr>
          <p:cNvGrpSpPr/>
          <p:nvPr/>
        </p:nvGrpSpPr>
        <p:grpSpPr>
          <a:xfrm>
            <a:off x="10811553" y="3536353"/>
            <a:ext cx="535720" cy="430783"/>
            <a:chOff x="5019005" y="4337314"/>
            <a:chExt cx="535720" cy="430783"/>
          </a:xfrm>
        </p:grpSpPr>
        <p:pic>
          <p:nvPicPr>
            <p:cNvPr id="68" name="Picture 67" descr="Free Envelope Clipart Black And White, Download Free Envelope Clipart Black  And White png images, Free ClipArts on Clipart Library">
              <a:extLst>
                <a:ext uri="{FF2B5EF4-FFF2-40B4-BE49-F238E27FC236}">
                  <a16:creationId xmlns:a16="http://schemas.microsoft.com/office/drawing/2014/main" id="{E5F992BE-F0AE-EDAB-46D1-A47728B8FD2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69" name="TextBox 68">
              <a:extLst>
                <a:ext uri="{FF2B5EF4-FFF2-40B4-BE49-F238E27FC236}">
                  <a16:creationId xmlns:a16="http://schemas.microsoft.com/office/drawing/2014/main" id="{035634A2-CCDB-43CE-5C1D-D0E862179FD4}"/>
                </a:ext>
              </a:extLst>
            </p:cNvPr>
            <p:cNvSpPr txBox="1"/>
            <p:nvPr/>
          </p:nvSpPr>
          <p:spPr>
            <a:xfrm>
              <a:off x="5136022" y="4337314"/>
              <a:ext cx="288862" cy="338554"/>
            </a:xfrm>
            <a:prstGeom prst="rect">
              <a:avLst/>
            </a:prstGeom>
            <a:noFill/>
          </p:spPr>
          <p:txBody>
            <a:bodyPr wrap="none" rtlCol="0">
              <a:spAutoFit/>
            </a:bodyPr>
            <a:lstStyle/>
            <a:p>
              <a:r>
                <a:rPr lang="en-US" sz="1600" dirty="0"/>
                <a:t>1</a:t>
              </a:r>
            </a:p>
          </p:txBody>
        </p:sp>
      </p:grpSp>
      <p:grpSp>
        <p:nvGrpSpPr>
          <p:cNvPr id="70" name="Group 69">
            <a:extLst>
              <a:ext uri="{FF2B5EF4-FFF2-40B4-BE49-F238E27FC236}">
                <a16:creationId xmlns:a16="http://schemas.microsoft.com/office/drawing/2014/main" id="{F62F42B6-F506-854E-B32D-374E889309B8}"/>
              </a:ext>
            </a:extLst>
          </p:cNvPr>
          <p:cNvGrpSpPr/>
          <p:nvPr/>
        </p:nvGrpSpPr>
        <p:grpSpPr>
          <a:xfrm>
            <a:off x="9410472" y="3537154"/>
            <a:ext cx="535720" cy="430783"/>
            <a:chOff x="5019005" y="4337314"/>
            <a:chExt cx="535720" cy="430783"/>
          </a:xfrm>
        </p:grpSpPr>
        <p:pic>
          <p:nvPicPr>
            <p:cNvPr id="71" name="Picture 70" descr="Free Envelope Clipart Black And White, Download Free Envelope Clipart Black  And White png images, Free ClipArts on Clipart Library">
              <a:extLst>
                <a:ext uri="{FF2B5EF4-FFF2-40B4-BE49-F238E27FC236}">
                  <a16:creationId xmlns:a16="http://schemas.microsoft.com/office/drawing/2014/main" id="{8CC687F6-CC50-72F3-339D-33DC10CCD4A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72" name="TextBox 71">
              <a:extLst>
                <a:ext uri="{FF2B5EF4-FFF2-40B4-BE49-F238E27FC236}">
                  <a16:creationId xmlns:a16="http://schemas.microsoft.com/office/drawing/2014/main" id="{12980C59-7849-A4A7-9694-52B6FF516DD5}"/>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grpSp>
        <p:nvGrpSpPr>
          <p:cNvPr id="73" name="Group 72">
            <a:extLst>
              <a:ext uri="{FF2B5EF4-FFF2-40B4-BE49-F238E27FC236}">
                <a16:creationId xmlns:a16="http://schemas.microsoft.com/office/drawing/2014/main" id="{4355AF35-F682-C09B-059A-EC3FBC13738B}"/>
              </a:ext>
            </a:extLst>
          </p:cNvPr>
          <p:cNvGrpSpPr/>
          <p:nvPr/>
        </p:nvGrpSpPr>
        <p:grpSpPr>
          <a:xfrm>
            <a:off x="8781905" y="3541387"/>
            <a:ext cx="535720" cy="430783"/>
            <a:chOff x="5019005" y="4337314"/>
            <a:chExt cx="535720" cy="430783"/>
          </a:xfrm>
        </p:grpSpPr>
        <p:pic>
          <p:nvPicPr>
            <p:cNvPr id="74" name="Picture 73" descr="Free Envelope Clipart Black And White, Download Free Envelope Clipart Black  And White png images, Free ClipArts on Clipart Library">
              <a:extLst>
                <a:ext uri="{FF2B5EF4-FFF2-40B4-BE49-F238E27FC236}">
                  <a16:creationId xmlns:a16="http://schemas.microsoft.com/office/drawing/2014/main" id="{93FA21C0-E6C3-A928-E2E9-B0AE0BB4E46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75" name="TextBox 74">
              <a:extLst>
                <a:ext uri="{FF2B5EF4-FFF2-40B4-BE49-F238E27FC236}">
                  <a16:creationId xmlns:a16="http://schemas.microsoft.com/office/drawing/2014/main" id="{B409FF9B-6C59-35A6-BE5F-3C1F35C8DB9D}"/>
                </a:ext>
              </a:extLst>
            </p:cNvPr>
            <p:cNvSpPr txBox="1"/>
            <p:nvPr/>
          </p:nvSpPr>
          <p:spPr>
            <a:xfrm>
              <a:off x="5136022" y="4337314"/>
              <a:ext cx="288862" cy="338554"/>
            </a:xfrm>
            <a:prstGeom prst="rect">
              <a:avLst/>
            </a:prstGeom>
            <a:noFill/>
          </p:spPr>
          <p:txBody>
            <a:bodyPr wrap="none" rtlCol="0">
              <a:spAutoFit/>
            </a:bodyPr>
            <a:lstStyle/>
            <a:p>
              <a:r>
                <a:rPr lang="en-US" sz="1600" dirty="0"/>
                <a:t>3</a:t>
              </a:r>
            </a:p>
          </p:txBody>
        </p:sp>
      </p:grpSp>
      <p:grpSp>
        <p:nvGrpSpPr>
          <p:cNvPr id="76" name="Group 75">
            <a:extLst>
              <a:ext uri="{FF2B5EF4-FFF2-40B4-BE49-F238E27FC236}">
                <a16:creationId xmlns:a16="http://schemas.microsoft.com/office/drawing/2014/main" id="{58402484-E7C9-F4F4-17FF-EB3DCB1775D6}"/>
              </a:ext>
            </a:extLst>
          </p:cNvPr>
          <p:cNvGrpSpPr/>
          <p:nvPr/>
        </p:nvGrpSpPr>
        <p:grpSpPr>
          <a:xfrm>
            <a:off x="8148470" y="3541387"/>
            <a:ext cx="535720" cy="430783"/>
            <a:chOff x="5019005" y="4337314"/>
            <a:chExt cx="535720" cy="430783"/>
          </a:xfrm>
        </p:grpSpPr>
        <p:pic>
          <p:nvPicPr>
            <p:cNvPr id="77" name="Picture 76" descr="Free Envelope Clipart Black And White, Download Free Envelope Clipart Black  And White png images, Free ClipArts on Clipart Library">
              <a:extLst>
                <a:ext uri="{FF2B5EF4-FFF2-40B4-BE49-F238E27FC236}">
                  <a16:creationId xmlns:a16="http://schemas.microsoft.com/office/drawing/2014/main" id="{E6D02DE6-5D68-C20F-DEE9-97CE2EF224E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78" name="TextBox 77">
              <a:extLst>
                <a:ext uri="{FF2B5EF4-FFF2-40B4-BE49-F238E27FC236}">
                  <a16:creationId xmlns:a16="http://schemas.microsoft.com/office/drawing/2014/main" id="{88010769-63CA-D35A-1691-7C54EFF94A45}"/>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grpSp>
        <p:nvGrpSpPr>
          <p:cNvPr id="79" name="Group 78">
            <a:extLst>
              <a:ext uri="{FF2B5EF4-FFF2-40B4-BE49-F238E27FC236}">
                <a16:creationId xmlns:a16="http://schemas.microsoft.com/office/drawing/2014/main" id="{64C08790-098B-6B65-398B-596552921A2D}"/>
              </a:ext>
            </a:extLst>
          </p:cNvPr>
          <p:cNvGrpSpPr/>
          <p:nvPr/>
        </p:nvGrpSpPr>
        <p:grpSpPr>
          <a:xfrm>
            <a:off x="10811553" y="3539331"/>
            <a:ext cx="535720" cy="430783"/>
            <a:chOff x="5019005" y="4337314"/>
            <a:chExt cx="535720" cy="430783"/>
          </a:xfrm>
        </p:grpSpPr>
        <p:pic>
          <p:nvPicPr>
            <p:cNvPr id="80" name="Picture 79" descr="Free Envelope Clipart Black And White, Download Free Envelope Clipart Black  And White png images, Free ClipArts on Clipart Library">
              <a:extLst>
                <a:ext uri="{FF2B5EF4-FFF2-40B4-BE49-F238E27FC236}">
                  <a16:creationId xmlns:a16="http://schemas.microsoft.com/office/drawing/2014/main" id="{CE3F84B7-8BFA-9CC3-50AD-989E9CBA521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81" name="TextBox 80">
              <a:extLst>
                <a:ext uri="{FF2B5EF4-FFF2-40B4-BE49-F238E27FC236}">
                  <a16:creationId xmlns:a16="http://schemas.microsoft.com/office/drawing/2014/main" id="{657E483A-2465-ECCC-6E73-FCF490C0A6FD}"/>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grpSp>
        <p:nvGrpSpPr>
          <p:cNvPr id="82" name="Group 81">
            <a:extLst>
              <a:ext uri="{FF2B5EF4-FFF2-40B4-BE49-F238E27FC236}">
                <a16:creationId xmlns:a16="http://schemas.microsoft.com/office/drawing/2014/main" id="{A112CA8F-A6AF-A9C8-F5F6-F03D5C540B58}"/>
              </a:ext>
            </a:extLst>
          </p:cNvPr>
          <p:cNvGrpSpPr/>
          <p:nvPr/>
        </p:nvGrpSpPr>
        <p:grpSpPr>
          <a:xfrm>
            <a:off x="9410470" y="3532375"/>
            <a:ext cx="535720" cy="430783"/>
            <a:chOff x="5019005" y="4337314"/>
            <a:chExt cx="535720" cy="430783"/>
          </a:xfrm>
        </p:grpSpPr>
        <p:pic>
          <p:nvPicPr>
            <p:cNvPr id="83" name="Picture 82" descr="Free Envelope Clipart Black And White, Download Free Envelope Clipart Black  And White png images, Free ClipArts on Clipart Library">
              <a:extLst>
                <a:ext uri="{FF2B5EF4-FFF2-40B4-BE49-F238E27FC236}">
                  <a16:creationId xmlns:a16="http://schemas.microsoft.com/office/drawing/2014/main" id="{88138D02-516F-C15C-A493-35F041930AA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84" name="TextBox 83">
              <a:extLst>
                <a:ext uri="{FF2B5EF4-FFF2-40B4-BE49-F238E27FC236}">
                  <a16:creationId xmlns:a16="http://schemas.microsoft.com/office/drawing/2014/main" id="{AED4D736-C91E-EFB1-6810-27A284C6C195}"/>
                </a:ext>
              </a:extLst>
            </p:cNvPr>
            <p:cNvSpPr txBox="1"/>
            <p:nvPr/>
          </p:nvSpPr>
          <p:spPr>
            <a:xfrm>
              <a:off x="5136022" y="4337314"/>
              <a:ext cx="288862" cy="338554"/>
            </a:xfrm>
            <a:prstGeom prst="rect">
              <a:avLst/>
            </a:prstGeom>
            <a:noFill/>
          </p:spPr>
          <p:txBody>
            <a:bodyPr wrap="none" rtlCol="0">
              <a:spAutoFit/>
            </a:bodyPr>
            <a:lstStyle/>
            <a:p>
              <a:r>
                <a:rPr lang="en-US" sz="1600" dirty="0"/>
                <a:t>3</a:t>
              </a:r>
            </a:p>
          </p:txBody>
        </p:sp>
      </p:grpSp>
      <p:grpSp>
        <p:nvGrpSpPr>
          <p:cNvPr id="85" name="Group 84">
            <a:extLst>
              <a:ext uri="{FF2B5EF4-FFF2-40B4-BE49-F238E27FC236}">
                <a16:creationId xmlns:a16="http://schemas.microsoft.com/office/drawing/2014/main" id="{D5D71520-D386-64D6-BFC6-CC6C4D8C355F}"/>
              </a:ext>
            </a:extLst>
          </p:cNvPr>
          <p:cNvGrpSpPr/>
          <p:nvPr/>
        </p:nvGrpSpPr>
        <p:grpSpPr>
          <a:xfrm>
            <a:off x="8781905" y="3541387"/>
            <a:ext cx="535720" cy="430783"/>
            <a:chOff x="5019005" y="4337314"/>
            <a:chExt cx="535720" cy="430783"/>
          </a:xfrm>
        </p:grpSpPr>
        <p:pic>
          <p:nvPicPr>
            <p:cNvPr id="86" name="Picture 85" descr="Free Envelope Clipart Black And White, Download Free Envelope Clipart Black  And White png images, Free ClipArts on Clipart Library">
              <a:extLst>
                <a:ext uri="{FF2B5EF4-FFF2-40B4-BE49-F238E27FC236}">
                  <a16:creationId xmlns:a16="http://schemas.microsoft.com/office/drawing/2014/main" id="{DA96D119-28EE-21F0-6A42-522E2F4DC9D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87" name="TextBox 86">
              <a:extLst>
                <a:ext uri="{FF2B5EF4-FFF2-40B4-BE49-F238E27FC236}">
                  <a16:creationId xmlns:a16="http://schemas.microsoft.com/office/drawing/2014/main" id="{1CA860C8-DD1B-6114-CE63-963719FA59DF}"/>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grpSp>
        <p:nvGrpSpPr>
          <p:cNvPr id="88" name="Group 87">
            <a:extLst>
              <a:ext uri="{FF2B5EF4-FFF2-40B4-BE49-F238E27FC236}">
                <a16:creationId xmlns:a16="http://schemas.microsoft.com/office/drawing/2014/main" id="{324AFDAC-8CA0-A06C-5D19-647990DBA1C2}"/>
              </a:ext>
            </a:extLst>
          </p:cNvPr>
          <p:cNvGrpSpPr/>
          <p:nvPr/>
        </p:nvGrpSpPr>
        <p:grpSpPr>
          <a:xfrm>
            <a:off x="5407301" y="3101592"/>
            <a:ext cx="535720" cy="430783"/>
            <a:chOff x="5019005" y="4337314"/>
            <a:chExt cx="535720" cy="430783"/>
          </a:xfrm>
        </p:grpSpPr>
        <p:pic>
          <p:nvPicPr>
            <p:cNvPr id="89" name="Picture 88" descr="Free Envelope Clipart Black And White, Download Free Envelope Clipart Black  And White png images, Free ClipArts on Clipart Library">
              <a:extLst>
                <a:ext uri="{FF2B5EF4-FFF2-40B4-BE49-F238E27FC236}">
                  <a16:creationId xmlns:a16="http://schemas.microsoft.com/office/drawing/2014/main" id="{8CCC8D6F-607C-6A48-A0AA-FFD2F6CDA37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90" name="TextBox 89">
              <a:extLst>
                <a:ext uri="{FF2B5EF4-FFF2-40B4-BE49-F238E27FC236}">
                  <a16:creationId xmlns:a16="http://schemas.microsoft.com/office/drawing/2014/main" id="{C278F1B0-544F-24C2-17AA-FBFC2934D4D3}"/>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grpSp>
        <p:nvGrpSpPr>
          <p:cNvPr id="91" name="Group 90">
            <a:extLst>
              <a:ext uri="{FF2B5EF4-FFF2-40B4-BE49-F238E27FC236}">
                <a16:creationId xmlns:a16="http://schemas.microsoft.com/office/drawing/2014/main" id="{CF9831D3-2FF8-134F-B99E-AE6F2D4B0632}"/>
              </a:ext>
            </a:extLst>
          </p:cNvPr>
          <p:cNvGrpSpPr/>
          <p:nvPr/>
        </p:nvGrpSpPr>
        <p:grpSpPr>
          <a:xfrm>
            <a:off x="6757860" y="3541387"/>
            <a:ext cx="535720" cy="425749"/>
            <a:chOff x="5012593" y="4337314"/>
            <a:chExt cx="535720" cy="425749"/>
          </a:xfrm>
        </p:grpSpPr>
        <p:pic>
          <p:nvPicPr>
            <p:cNvPr id="92" name="Picture 91" descr="Free Envelope Clipart Black And White, Download Free Envelope Clipart Black  And White png images, Free ClipArts on Clipart Library">
              <a:extLst>
                <a:ext uri="{FF2B5EF4-FFF2-40B4-BE49-F238E27FC236}">
                  <a16:creationId xmlns:a16="http://schemas.microsoft.com/office/drawing/2014/main" id="{1E8B7628-CDC6-C384-52E3-B7E731538F4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2593" y="4394011"/>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93" name="TextBox 92">
              <a:extLst>
                <a:ext uri="{FF2B5EF4-FFF2-40B4-BE49-F238E27FC236}">
                  <a16:creationId xmlns:a16="http://schemas.microsoft.com/office/drawing/2014/main" id="{987DC62A-F3C7-AD8D-ED6D-6B7104439056}"/>
                </a:ext>
              </a:extLst>
            </p:cNvPr>
            <p:cNvSpPr txBox="1"/>
            <p:nvPr/>
          </p:nvSpPr>
          <p:spPr>
            <a:xfrm>
              <a:off x="5136022" y="4337314"/>
              <a:ext cx="288862" cy="338554"/>
            </a:xfrm>
            <a:prstGeom prst="rect">
              <a:avLst/>
            </a:prstGeom>
            <a:noFill/>
          </p:spPr>
          <p:txBody>
            <a:bodyPr wrap="none" rtlCol="0">
              <a:spAutoFit/>
            </a:bodyPr>
            <a:lstStyle/>
            <a:p>
              <a:r>
                <a:rPr lang="en-US" sz="1600" dirty="0"/>
                <a:t>2</a:t>
              </a:r>
            </a:p>
          </p:txBody>
        </p:sp>
      </p:grpSp>
      <p:pic>
        <p:nvPicPr>
          <p:cNvPr id="94" name="Graphic 93" descr="Close with solid fill">
            <a:extLst>
              <a:ext uri="{FF2B5EF4-FFF2-40B4-BE49-F238E27FC236}">
                <a16:creationId xmlns:a16="http://schemas.microsoft.com/office/drawing/2014/main" id="{B3EE336B-EF2E-900B-8905-DC85BF88154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26151" y="3457210"/>
            <a:ext cx="599138" cy="599138"/>
          </a:xfrm>
          <a:prstGeom prst="rect">
            <a:avLst/>
          </a:prstGeom>
        </p:spPr>
      </p:pic>
      <p:grpSp>
        <p:nvGrpSpPr>
          <p:cNvPr id="95" name="Group 94">
            <a:extLst>
              <a:ext uri="{FF2B5EF4-FFF2-40B4-BE49-F238E27FC236}">
                <a16:creationId xmlns:a16="http://schemas.microsoft.com/office/drawing/2014/main" id="{2F7B4637-D0BF-5CA7-F7CC-4488DF85D62C}"/>
              </a:ext>
            </a:extLst>
          </p:cNvPr>
          <p:cNvGrpSpPr/>
          <p:nvPr/>
        </p:nvGrpSpPr>
        <p:grpSpPr>
          <a:xfrm>
            <a:off x="10811553" y="3539331"/>
            <a:ext cx="535720" cy="430783"/>
            <a:chOff x="5019005" y="4337314"/>
            <a:chExt cx="535720" cy="430783"/>
          </a:xfrm>
        </p:grpSpPr>
        <p:pic>
          <p:nvPicPr>
            <p:cNvPr id="96" name="Picture 95" descr="Free Envelope Clipart Black And White, Download Free Envelope Clipart Black  And White png images, Free ClipArts on Clipart Library">
              <a:extLst>
                <a:ext uri="{FF2B5EF4-FFF2-40B4-BE49-F238E27FC236}">
                  <a16:creationId xmlns:a16="http://schemas.microsoft.com/office/drawing/2014/main" id="{2B3D1D26-0FF9-9916-416B-15BCAFF5484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97" name="TextBox 96">
              <a:extLst>
                <a:ext uri="{FF2B5EF4-FFF2-40B4-BE49-F238E27FC236}">
                  <a16:creationId xmlns:a16="http://schemas.microsoft.com/office/drawing/2014/main" id="{A47BA70B-F78C-EB5F-B697-C06E62872AE4}"/>
                </a:ext>
              </a:extLst>
            </p:cNvPr>
            <p:cNvSpPr txBox="1"/>
            <p:nvPr/>
          </p:nvSpPr>
          <p:spPr>
            <a:xfrm>
              <a:off x="5136022" y="4337314"/>
              <a:ext cx="288862" cy="338554"/>
            </a:xfrm>
            <a:prstGeom prst="rect">
              <a:avLst/>
            </a:prstGeom>
            <a:noFill/>
          </p:spPr>
          <p:txBody>
            <a:bodyPr wrap="none" rtlCol="0">
              <a:spAutoFit/>
            </a:bodyPr>
            <a:lstStyle/>
            <a:p>
              <a:r>
                <a:rPr lang="en-US" sz="1600" dirty="0"/>
                <a:t>3</a:t>
              </a:r>
            </a:p>
          </p:txBody>
        </p:sp>
      </p:grpSp>
      <p:grpSp>
        <p:nvGrpSpPr>
          <p:cNvPr id="98" name="Group 97">
            <a:extLst>
              <a:ext uri="{FF2B5EF4-FFF2-40B4-BE49-F238E27FC236}">
                <a16:creationId xmlns:a16="http://schemas.microsoft.com/office/drawing/2014/main" id="{C717D8D9-C2AF-8201-2857-9CACF56765F1}"/>
              </a:ext>
            </a:extLst>
          </p:cNvPr>
          <p:cNvGrpSpPr/>
          <p:nvPr/>
        </p:nvGrpSpPr>
        <p:grpSpPr>
          <a:xfrm>
            <a:off x="9404058" y="3532375"/>
            <a:ext cx="535720" cy="430783"/>
            <a:chOff x="5019005" y="4337314"/>
            <a:chExt cx="535720" cy="430783"/>
          </a:xfrm>
        </p:grpSpPr>
        <p:pic>
          <p:nvPicPr>
            <p:cNvPr id="99" name="Picture 98" descr="Free Envelope Clipart Black And White, Download Free Envelope Clipart Black  And White png images, Free ClipArts on Clipart Library">
              <a:extLst>
                <a:ext uri="{FF2B5EF4-FFF2-40B4-BE49-F238E27FC236}">
                  <a16:creationId xmlns:a16="http://schemas.microsoft.com/office/drawing/2014/main" id="{00DBC7DF-6852-DDF6-19A9-68FE0EED567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00" name="TextBox 99">
              <a:extLst>
                <a:ext uri="{FF2B5EF4-FFF2-40B4-BE49-F238E27FC236}">
                  <a16:creationId xmlns:a16="http://schemas.microsoft.com/office/drawing/2014/main" id="{82B35497-2819-EBBA-ACEF-F517543B1706}"/>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grpSp>
        <p:nvGrpSpPr>
          <p:cNvPr id="101" name="Group 100">
            <a:extLst>
              <a:ext uri="{FF2B5EF4-FFF2-40B4-BE49-F238E27FC236}">
                <a16:creationId xmlns:a16="http://schemas.microsoft.com/office/drawing/2014/main" id="{24410005-A3BE-C03E-1163-3DCCC805BE38}"/>
              </a:ext>
            </a:extLst>
          </p:cNvPr>
          <p:cNvGrpSpPr/>
          <p:nvPr/>
        </p:nvGrpSpPr>
        <p:grpSpPr>
          <a:xfrm>
            <a:off x="10811553" y="3541387"/>
            <a:ext cx="535720" cy="430783"/>
            <a:chOff x="5019005" y="4337314"/>
            <a:chExt cx="535720" cy="430783"/>
          </a:xfrm>
        </p:grpSpPr>
        <p:pic>
          <p:nvPicPr>
            <p:cNvPr id="102" name="Picture 101" descr="Free Envelope Clipart Black And White, Download Free Envelope Clipart Black  And White png images, Free ClipArts on Clipart Library">
              <a:extLst>
                <a:ext uri="{FF2B5EF4-FFF2-40B4-BE49-F238E27FC236}">
                  <a16:creationId xmlns:a16="http://schemas.microsoft.com/office/drawing/2014/main" id="{420ADCBE-46F9-EC4D-4D5C-934234D5EE22}"/>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03" name="TextBox 102">
              <a:extLst>
                <a:ext uri="{FF2B5EF4-FFF2-40B4-BE49-F238E27FC236}">
                  <a16:creationId xmlns:a16="http://schemas.microsoft.com/office/drawing/2014/main" id="{F7831FEF-7F69-3552-2CF6-667A906B1E2B}"/>
                </a:ext>
              </a:extLst>
            </p:cNvPr>
            <p:cNvSpPr txBox="1"/>
            <p:nvPr/>
          </p:nvSpPr>
          <p:spPr>
            <a:xfrm>
              <a:off x="5136022" y="4337314"/>
              <a:ext cx="288862" cy="338554"/>
            </a:xfrm>
            <a:prstGeom prst="rect">
              <a:avLst/>
            </a:prstGeom>
            <a:noFill/>
          </p:spPr>
          <p:txBody>
            <a:bodyPr wrap="none" rtlCol="0">
              <a:spAutoFit/>
            </a:bodyPr>
            <a:lstStyle/>
            <a:p>
              <a:r>
                <a:rPr lang="en-US" sz="1600" dirty="0"/>
                <a:t>4</a:t>
              </a:r>
            </a:p>
          </p:txBody>
        </p:sp>
      </p:grpSp>
      <p:sp>
        <p:nvSpPr>
          <p:cNvPr id="104" name="Rectangle: Rounded Corners 103">
            <a:extLst>
              <a:ext uri="{FF2B5EF4-FFF2-40B4-BE49-F238E27FC236}">
                <a16:creationId xmlns:a16="http://schemas.microsoft.com/office/drawing/2014/main" id="{A7BBE4B5-DFEA-F807-B95A-4E2959F240E5}"/>
              </a:ext>
            </a:extLst>
          </p:cNvPr>
          <p:cNvSpPr/>
          <p:nvPr/>
        </p:nvSpPr>
        <p:spPr>
          <a:xfrm>
            <a:off x="5476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Unique Message Identifiers</a:t>
            </a:r>
          </a:p>
        </p:txBody>
      </p:sp>
      <p:sp>
        <p:nvSpPr>
          <p:cNvPr id="105" name="Rectangle: Rounded Corners 104">
            <a:extLst>
              <a:ext uri="{FF2B5EF4-FFF2-40B4-BE49-F238E27FC236}">
                <a16:creationId xmlns:a16="http://schemas.microsoft.com/office/drawing/2014/main" id="{5451257A-1B8E-6495-1480-17BC5332CC5D}"/>
              </a:ext>
            </a:extLst>
          </p:cNvPr>
          <p:cNvSpPr/>
          <p:nvPr/>
        </p:nvSpPr>
        <p:spPr>
          <a:xfrm>
            <a:off x="536431" y="353933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State Storage</a:t>
            </a:r>
          </a:p>
        </p:txBody>
      </p:sp>
      <p:sp>
        <p:nvSpPr>
          <p:cNvPr id="106" name="Rectangle: Rounded Corners 105">
            <a:extLst>
              <a:ext uri="{FF2B5EF4-FFF2-40B4-BE49-F238E27FC236}">
                <a16:creationId xmlns:a16="http://schemas.microsoft.com/office/drawing/2014/main" id="{DF70DECE-A57F-071A-1833-7E017A068FD1}"/>
              </a:ext>
            </a:extLst>
          </p:cNvPr>
          <p:cNvSpPr/>
          <p:nvPr/>
        </p:nvSpPr>
        <p:spPr>
          <a:xfrm>
            <a:off x="546100" y="456009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Idempotent Processing Logic</a:t>
            </a:r>
          </a:p>
        </p:txBody>
      </p:sp>
    </p:spTree>
    <p:extLst>
      <p:ext uri="{BB962C8B-B14F-4D97-AF65-F5344CB8AC3E}">
        <p14:creationId xmlns:p14="http://schemas.microsoft.com/office/powerpoint/2010/main" val="23738952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fade">
                                      <p:cBhvr>
                                        <p:cTn id="10" dur="500"/>
                                        <p:tgtEl>
                                          <p:spTgt spid="27"/>
                                        </p:tgtEl>
                                      </p:cBhvr>
                                    </p:animEffect>
                                  </p:childTnLst>
                                </p:cTn>
                              </p:par>
                              <p:par>
                                <p:cTn id="11" presetID="10" presetClass="entr" presetSubtype="0" fill="hold"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fade">
                                      <p:cBhvr>
                                        <p:cTn id="13" dur="500"/>
                                        <p:tgtEl>
                                          <p:spTgt spid="55"/>
                                        </p:tgtEl>
                                      </p:cBhvr>
                                    </p:animEffect>
                                  </p:childTnLst>
                                </p:cTn>
                              </p:par>
                              <p:par>
                                <p:cTn id="14" presetID="10" presetClass="entr" presetSubtype="0" fill="hold" nodeType="with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fade">
                                      <p:cBhvr>
                                        <p:cTn id="16" dur="500"/>
                                        <p:tgtEl>
                                          <p:spTgt spid="61"/>
                                        </p:tgtEl>
                                      </p:cBhvr>
                                    </p:animEffect>
                                  </p:childTnLst>
                                </p:cTn>
                              </p:par>
                            </p:childTnLst>
                          </p:cTn>
                        </p:par>
                        <p:par>
                          <p:cTn id="17" fill="hold">
                            <p:stCondLst>
                              <p:cond delay="500"/>
                            </p:stCondLst>
                            <p:childTnLst>
                              <p:par>
                                <p:cTn id="18" presetID="42" presetClass="path" presetSubtype="0" accel="50000" decel="50000" fill="hold" nodeType="afterEffect">
                                  <p:stCondLst>
                                    <p:cond delay="250"/>
                                  </p:stCondLst>
                                  <p:childTnLst>
                                    <p:animMotion origin="layout" path="M 1.25E-6 -4.81481E-6 L 0.32877 0.20186 " pathEditMode="relative" rAng="0" ptsTypes="AA">
                                      <p:cBhvr>
                                        <p:cTn id="19" dur="1000" fill="hold"/>
                                        <p:tgtEl>
                                          <p:spTgt spid="21"/>
                                        </p:tgtEl>
                                        <p:attrNameLst>
                                          <p:attrName>ppt_x</p:attrName>
                                          <p:attrName>ppt_y</p:attrName>
                                        </p:attrNameLst>
                                      </p:cBhvr>
                                      <p:rCtr x="16432" y="10093"/>
                                    </p:animMotion>
                                  </p:childTnLst>
                                </p:cTn>
                              </p:par>
                              <p:par>
                                <p:cTn id="20" presetID="42" presetClass="path" presetSubtype="0" accel="50000" decel="50000" fill="hold" nodeType="withEffect">
                                  <p:stCondLst>
                                    <p:cond delay="250"/>
                                  </p:stCondLst>
                                  <p:childTnLst>
                                    <p:animMotion origin="layout" path="M 1.25E-6 7.40741E-7 L 0.27747 0.06389 " pathEditMode="relative" rAng="0" ptsTypes="AA">
                                      <p:cBhvr>
                                        <p:cTn id="21" dur="1000" fill="hold"/>
                                        <p:tgtEl>
                                          <p:spTgt spid="27"/>
                                        </p:tgtEl>
                                        <p:attrNameLst>
                                          <p:attrName>ppt_x</p:attrName>
                                          <p:attrName>ppt_y</p:attrName>
                                        </p:attrNameLst>
                                      </p:cBhvr>
                                      <p:rCtr x="13867" y="3194"/>
                                    </p:animMotion>
                                  </p:childTnLst>
                                </p:cTn>
                              </p:par>
                              <p:par>
                                <p:cTn id="22" presetID="42" presetClass="path" presetSubtype="0" accel="50000" decel="50000" fill="hold" nodeType="withEffect">
                                  <p:stCondLst>
                                    <p:cond delay="250"/>
                                  </p:stCondLst>
                                  <p:childTnLst>
                                    <p:animMotion origin="layout" path="M 2.08333E-6 1.85185E-6 L 0.22617 -0.0625 " pathEditMode="relative" rAng="0" ptsTypes="AA">
                                      <p:cBhvr>
                                        <p:cTn id="23" dur="1000" fill="hold"/>
                                        <p:tgtEl>
                                          <p:spTgt spid="55"/>
                                        </p:tgtEl>
                                        <p:attrNameLst>
                                          <p:attrName>ppt_x</p:attrName>
                                          <p:attrName>ppt_y</p:attrName>
                                        </p:attrNameLst>
                                      </p:cBhvr>
                                      <p:rCtr x="11302" y="-3125"/>
                                    </p:animMotion>
                                  </p:childTnLst>
                                </p:cTn>
                              </p:par>
                              <p:par>
                                <p:cTn id="24" presetID="42" presetClass="path" presetSubtype="0" accel="50000" decel="50000" fill="hold" nodeType="withEffect">
                                  <p:stCondLst>
                                    <p:cond delay="250"/>
                                  </p:stCondLst>
                                  <p:childTnLst>
                                    <p:animMotion origin="layout" path="M 2.91667E-6 -1.48148E-6 L 0.17383 -0.20879 " pathEditMode="relative" rAng="0" ptsTypes="AA">
                                      <p:cBhvr>
                                        <p:cTn id="25" dur="1000" fill="hold"/>
                                        <p:tgtEl>
                                          <p:spTgt spid="61"/>
                                        </p:tgtEl>
                                        <p:attrNameLst>
                                          <p:attrName>ppt_x</p:attrName>
                                          <p:attrName>ppt_y</p:attrName>
                                        </p:attrNameLst>
                                      </p:cBhvr>
                                      <p:rCtr x="8685" y="-10440"/>
                                    </p:animMotion>
                                  </p:childTnLst>
                                </p:cTn>
                              </p:par>
                            </p:childTnLst>
                          </p:cTn>
                        </p:par>
                        <p:par>
                          <p:cTn id="26" fill="hold">
                            <p:stCondLst>
                              <p:cond delay="1750"/>
                            </p:stCondLst>
                            <p:childTnLst>
                              <p:par>
                                <p:cTn id="27" presetID="1" presetClass="entr" presetSubtype="0" fill="hold" nodeType="after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xit" presetSubtype="0" fill="hold" nodeType="withEffect">
                                  <p:stCondLst>
                                    <p:cond delay="0"/>
                                  </p:stCondLst>
                                  <p:childTnLst>
                                    <p:set>
                                      <p:cBhvr>
                                        <p:cTn id="36" dur="1" fill="hold">
                                          <p:stCondLst>
                                            <p:cond delay="0"/>
                                          </p:stCondLst>
                                        </p:cTn>
                                        <p:tgtEl>
                                          <p:spTgt spid="21"/>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27"/>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55"/>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61"/>
                                        </p:tgtEl>
                                        <p:attrNameLst>
                                          <p:attrName>style.visibility</p:attrName>
                                        </p:attrNameLst>
                                      </p:cBhvr>
                                      <p:to>
                                        <p:strVal val="hidden"/>
                                      </p:to>
                                    </p:set>
                                  </p:childTnLst>
                                </p:cTn>
                              </p:par>
                            </p:childTnLst>
                          </p:cTn>
                        </p:par>
                        <p:par>
                          <p:cTn id="43" fill="hold">
                            <p:stCondLst>
                              <p:cond delay="1750"/>
                            </p:stCondLst>
                            <p:childTnLst>
                              <p:par>
                                <p:cTn id="44" presetID="42" presetClass="path" presetSubtype="0" accel="50000" decel="50000" fill="hold" nodeType="afterEffect">
                                  <p:stCondLst>
                                    <p:cond delay="0"/>
                                  </p:stCondLst>
                                  <p:childTnLst>
                                    <p:animMotion origin="layout" path="M -4.79167E-6 4.81481E-6 L 0.11485 0.00023 " pathEditMode="relative" rAng="0" ptsTypes="AA">
                                      <p:cBhvr>
                                        <p:cTn id="45" dur="500" fill="hold"/>
                                        <p:tgtEl>
                                          <p:spTgt spid="24"/>
                                        </p:tgtEl>
                                        <p:attrNameLst>
                                          <p:attrName>ppt_x</p:attrName>
                                          <p:attrName>ppt_y</p:attrName>
                                        </p:attrNameLst>
                                      </p:cBhvr>
                                      <p:rCtr x="5742" y="0"/>
                                    </p:animMotion>
                                  </p:childTnLst>
                                </p:cTn>
                              </p:par>
                            </p:childTnLst>
                          </p:cTn>
                        </p:par>
                        <p:par>
                          <p:cTn id="46" fill="hold">
                            <p:stCondLst>
                              <p:cond delay="2250"/>
                            </p:stCondLst>
                            <p:childTnLst>
                              <p:par>
                                <p:cTn id="47" presetID="1" presetClass="entr" presetSubtype="0" fill="hold" nodeType="after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24"/>
                                        </p:tgtEl>
                                        <p:attrNameLst>
                                          <p:attrName>style.visibility</p:attrName>
                                        </p:attrNameLst>
                                      </p:cBhvr>
                                      <p:to>
                                        <p:strVal val="hidden"/>
                                      </p:to>
                                    </p:set>
                                  </p:childTnLst>
                                </p:cTn>
                              </p:par>
                            </p:childTnLst>
                          </p:cTn>
                        </p:par>
                        <p:par>
                          <p:cTn id="51" fill="hold">
                            <p:stCondLst>
                              <p:cond delay="2250"/>
                            </p:stCondLst>
                            <p:childTnLst>
                              <p:par>
                                <p:cTn id="52" presetID="42" presetClass="path" presetSubtype="0" accel="50000" decel="50000" fill="hold" nodeType="afterEffect">
                                  <p:stCondLst>
                                    <p:cond delay="0"/>
                                  </p:stCondLst>
                                  <p:childTnLst>
                                    <p:animMotion origin="layout" path="M -2.29167E-6 4.81481E-6 L 0.05156 4.81481E-6 " pathEditMode="relative" rAng="0" ptsTypes="AA">
                                      <p:cBhvr>
                                        <p:cTn id="53" dur="500" fill="hold"/>
                                        <p:tgtEl>
                                          <p:spTgt spid="50"/>
                                        </p:tgtEl>
                                        <p:attrNameLst>
                                          <p:attrName>ppt_x</p:attrName>
                                          <p:attrName>ppt_y</p:attrName>
                                        </p:attrNameLst>
                                      </p:cBhvr>
                                      <p:rCtr x="2578" y="0"/>
                                    </p:animMotion>
                                  </p:childTnLst>
                                </p:cTn>
                              </p:par>
                              <p:par>
                                <p:cTn id="54" presetID="42" presetClass="path" presetSubtype="0" accel="50000" decel="50000" fill="hold" nodeType="withEffect">
                                  <p:stCondLst>
                                    <p:cond delay="0"/>
                                  </p:stCondLst>
                                  <p:childTnLst>
                                    <p:animMotion origin="layout" path="M 8.33333E-7 4.81481E-6 L 0.05195 4.81481E-6 " pathEditMode="relative" rAng="0" ptsTypes="AA">
                                      <p:cBhvr>
                                        <p:cTn id="55" dur="500" fill="hold"/>
                                        <p:tgtEl>
                                          <p:spTgt spid="58"/>
                                        </p:tgtEl>
                                        <p:attrNameLst>
                                          <p:attrName>ppt_x</p:attrName>
                                          <p:attrName>ppt_y</p:attrName>
                                        </p:attrNameLst>
                                      </p:cBhvr>
                                      <p:rCtr x="2591" y="0"/>
                                    </p:animMotion>
                                  </p:childTnLst>
                                </p:cTn>
                              </p:par>
                              <p:par>
                                <p:cTn id="56" presetID="42" presetClass="path" presetSubtype="0" accel="50000" decel="50000" fill="hold" nodeType="withEffect">
                                  <p:stCondLst>
                                    <p:cond delay="0"/>
                                  </p:stCondLst>
                                  <p:childTnLst>
                                    <p:animMotion origin="layout" path="M 3.95833E-6 -7.40741E-7 L 0.05195 0.0007 " pathEditMode="relative" rAng="0" ptsTypes="AA">
                                      <p:cBhvr>
                                        <p:cTn id="57" dur="500" fill="hold"/>
                                        <p:tgtEl>
                                          <p:spTgt spid="64"/>
                                        </p:tgtEl>
                                        <p:attrNameLst>
                                          <p:attrName>ppt_x</p:attrName>
                                          <p:attrName>ppt_y</p:attrName>
                                        </p:attrNameLst>
                                      </p:cBhvr>
                                      <p:rCtr x="2591" y="23"/>
                                    </p:animMotion>
                                  </p:childTnLst>
                                </p:cTn>
                              </p:par>
                            </p:childTnLst>
                          </p:cTn>
                        </p:par>
                        <p:par>
                          <p:cTn id="58" fill="hold">
                            <p:stCondLst>
                              <p:cond delay="2750"/>
                            </p:stCondLst>
                            <p:childTnLst>
                              <p:par>
                                <p:cTn id="59" presetID="1" presetClass="entr" presetSubtype="0" fill="hold" nodeType="afterEffect">
                                  <p:stCondLst>
                                    <p:cond delay="0"/>
                                  </p:stCondLst>
                                  <p:childTnLst>
                                    <p:set>
                                      <p:cBhvr>
                                        <p:cTn id="60" dur="1" fill="hold">
                                          <p:stCondLst>
                                            <p:cond delay="0"/>
                                          </p:stCondLst>
                                        </p:cTn>
                                        <p:tgtEl>
                                          <p:spTgt spid="7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6"/>
                                        </p:tgtEl>
                                        <p:attrNameLst>
                                          <p:attrName>style.visibility</p:attrName>
                                        </p:attrNameLst>
                                      </p:cBhvr>
                                      <p:to>
                                        <p:strVal val="visible"/>
                                      </p:to>
                                    </p:set>
                                  </p:childTnLst>
                                </p:cTn>
                              </p:par>
                              <p:par>
                                <p:cTn id="65" presetID="1" presetClass="exit" presetSubtype="0" fill="hold" nodeType="withEffect">
                                  <p:stCondLst>
                                    <p:cond delay="0"/>
                                  </p:stCondLst>
                                  <p:childTnLst>
                                    <p:set>
                                      <p:cBhvr>
                                        <p:cTn id="66" dur="1" fill="hold">
                                          <p:stCondLst>
                                            <p:cond delay="0"/>
                                          </p:stCondLst>
                                        </p:cTn>
                                        <p:tgtEl>
                                          <p:spTgt spid="50"/>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58"/>
                                        </p:tgtEl>
                                        <p:attrNameLst>
                                          <p:attrName>style.visibility</p:attrName>
                                        </p:attrNameLst>
                                      </p:cBhvr>
                                      <p:to>
                                        <p:strVal val="hidden"/>
                                      </p:to>
                                    </p:set>
                                  </p:childTnLst>
                                </p:cTn>
                              </p:par>
                              <p:par>
                                <p:cTn id="69" presetID="1" presetClass="exit" presetSubtype="0" fill="hold" nodeType="withEffect">
                                  <p:stCondLst>
                                    <p:cond delay="0"/>
                                  </p:stCondLst>
                                  <p:childTnLst>
                                    <p:set>
                                      <p:cBhvr>
                                        <p:cTn id="70" dur="1" fill="hold">
                                          <p:stCondLst>
                                            <p:cond delay="0"/>
                                          </p:stCondLst>
                                        </p:cTn>
                                        <p:tgtEl>
                                          <p:spTgt spid="64"/>
                                        </p:tgtEl>
                                        <p:attrNameLst>
                                          <p:attrName>style.visibility</p:attrName>
                                        </p:attrNameLst>
                                      </p:cBhvr>
                                      <p:to>
                                        <p:strVal val="hidden"/>
                                      </p:to>
                                    </p:set>
                                  </p:childTnLst>
                                </p:cTn>
                              </p:par>
                            </p:childTnLst>
                          </p:cTn>
                        </p:par>
                        <p:par>
                          <p:cTn id="71" fill="hold">
                            <p:stCondLst>
                              <p:cond delay="2750"/>
                            </p:stCondLst>
                            <p:childTnLst>
                              <p:par>
                                <p:cTn id="72" presetID="9" presetClass="exit" presetSubtype="0" fill="hold" nodeType="afterEffect">
                                  <p:stCondLst>
                                    <p:cond delay="0"/>
                                  </p:stCondLst>
                                  <p:childTnLst>
                                    <p:animEffect transition="out" filter="dissolve">
                                      <p:cBhvr>
                                        <p:cTn id="73" dur="500"/>
                                        <p:tgtEl>
                                          <p:spTgt spid="67"/>
                                        </p:tgtEl>
                                      </p:cBhvr>
                                    </p:animEffect>
                                    <p:set>
                                      <p:cBhvr>
                                        <p:cTn id="74" dur="1" fill="hold">
                                          <p:stCondLst>
                                            <p:cond delay="499"/>
                                          </p:stCondLst>
                                        </p:cTn>
                                        <p:tgtEl>
                                          <p:spTgt spid="67"/>
                                        </p:tgtEl>
                                        <p:attrNameLst>
                                          <p:attrName>style.visibility</p:attrName>
                                        </p:attrNameLst>
                                      </p:cBhvr>
                                      <p:to>
                                        <p:strVal val="hidden"/>
                                      </p:to>
                                    </p:set>
                                  </p:childTnLst>
                                </p:cTn>
                              </p:par>
                            </p:childTnLst>
                          </p:cTn>
                        </p:par>
                        <p:par>
                          <p:cTn id="75" fill="hold">
                            <p:stCondLst>
                              <p:cond delay="3250"/>
                            </p:stCondLst>
                            <p:childTnLst>
                              <p:par>
                                <p:cTn id="76" presetID="42" presetClass="path" presetSubtype="0" accel="50000" decel="50000" fill="hold" nodeType="afterEffect">
                                  <p:stCondLst>
                                    <p:cond delay="0"/>
                                  </p:stCondLst>
                                  <p:childTnLst>
                                    <p:animMotion origin="layout" path="M -4.79167E-6 -7.40741E-7 L 0.11472 0.0007 " pathEditMode="relative" rAng="0" ptsTypes="AA">
                                      <p:cBhvr>
                                        <p:cTn id="77" dur="500" fill="hold"/>
                                        <p:tgtEl>
                                          <p:spTgt spid="70"/>
                                        </p:tgtEl>
                                        <p:attrNameLst>
                                          <p:attrName>ppt_x</p:attrName>
                                          <p:attrName>ppt_y</p:attrName>
                                        </p:attrNameLst>
                                      </p:cBhvr>
                                      <p:rCtr x="5729" y="23"/>
                                    </p:animMotion>
                                  </p:childTnLst>
                                </p:cTn>
                              </p:par>
                            </p:childTnLst>
                          </p:cTn>
                        </p:par>
                        <p:par>
                          <p:cTn id="78" fill="hold">
                            <p:stCondLst>
                              <p:cond delay="3750"/>
                            </p:stCondLst>
                            <p:childTnLst>
                              <p:par>
                                <p:cTn id="79" presetID="1" presetClass="entr" presetSubtype="0" fill="hold" nodeType="afterEffect">
                                  <p:stCondLst>
                                    <p:cond delay="0"/>
                                  </p:stCondLst>
                                  <p:childTnLst>
                                    <p:set>
                                      <p:cBhvr>
                                        <p:cTn id="80" dur="1" fill="hold">
                                          <p:stCondLst>
                                            <p:cond delay="0"/>
                                          </p:stCondLst>
                                        </p:cTn>
                                        <p:tgtEl>
                                          <p:spTgt spid="79"/>
                                        </p:tgtEl>
                                        <p:attrNameLst>
                                          <p:attrName>style.visibility</p:attrName>
                                        </p:attrNameLst>
                                      </p:cBhvr>
                                      <p:to>
                                        <p:strVal val="visible"/>
                                      </p:to>
                                    </p:set>
                                  </p:childTnLst>
                                </p:cTn>
                              </p:par>
                              <p:par>
                                <p:cTn id="81" presetID="1" presetClass="exit" presetSubtype="0" fill="hold" nodeType="withEffect">
                                  <p:stCondLst>
                                    <p:cond delay="0"/>
                                  </p:stCondLst>
                                  <p:childTnLst>
                                    <p:set>
                                      <p:cBhvr>
                                        <p:cTn id="82" dur="1" fill="hold">
                                          <p:stCondLst>
                                            <p:cond delay="0"/>
                                          </p:stCondLst>
                                        </p:cTn>
                                        <p:tgtEl>
                                          <p:spTgt spid="70"/>
                                        </p:tgtEl>
                                        <p:attrNameLst>
                                          <p:attrName>style.visibility</p:attrName>
                                        </p:attrNameLst>
                                      </p:cBhvr>
                                      <p:to>
                                        <p:strVal val="hidden"/>
                                      </p:to>
                                    </p:set>
                                  </p:childTnLst>
                                </p:cTn>
                              </p:par>
                            </p:childTnLst>
                          </p:cTn>
                        </p:par>
                        <p:par>
                          <p:cTn id="83" fill="hold">
                            <p:stCondLst>
                              <p:cond delay="3750"/>
                            </p:stCondLst>
                            <p:childTnLst>
                              <p:par>
                                <p:cTn id="84" presetID="42" presetClass="path" presetSubtype="0" accel="50000" decel="50000" fill="hold" nodeType="afterEffect">
                                  <p:stCondLst>
                                    <p:cond delay="0"/>
                                  </p:stCondLst>
                                  <p:childTnLst>
                                    <p:animMotion origin="layout" path="M -2.29167E-6 4.81481E-6 L 0.05156 4.81481E-6 " pathEditMode="relative" rAng="0" ptsTypes="AA">
                                      <p:cBhvr>
                                        <p:cTn id="85" dur="500" fill="hold"/>
                                        <p:tgtEl>
                                          <p:spTgt spid="73"/>
                                        </p:tgtEl>
                                        <p:attrNameLst>
                                          <p:attrName>ppt_x</p:attrName>
                                          <p:attrName>ppt_y</p:attrName>
                                        </p:attrNameLst>
                                      </p:cBhvr>
                                      <p:rCtr x="2578" y="0"/>
                                    </p:animMotion>
                                  </p:childTnLst>
                                </p:cTn>
                              </p:par>
                              <p:par>
                                <p:cTn id="86" presetID="42" presetClass="path" presetSubtype="0" accel="50000" decel="50000" fill="hold" nodeType="withEffect">
                                  <p:stCondLst>
                                    <p:cond delay="0"/>
                                  </p:stCondLst>
                                  <p:childTnLst>
                                    <p:animMotion origin="layout" path="M 8.33333E-7 4.81481E-6 L 0.05195 4.81481E-6 " pathEditMode="relative" rAng="0" ptsTypes="AA">
                                      <p:cBhvr>
                                        <p:cTn id="87" dur="500" fill="hold"/>
                                        <p:tgtEl>
                                          <p:spTgt spid="76"/>
                                        </p:tgtEl>
                                        <p:attrNameLst>
                                          <p:attrName>ppt_x</p:attrName>
                                          <p:attrName>ppt_y</p:attrName>
                                        </p:attrNameLst>
                                      </p:cBhvr>
                                      <p:rCtr x="2591" y="0"/>
                                    </p:animMotion>
                                  </p:childTnLst>
                                </p:cTn>
                              </p:par>
                            </p:childTnLst>
                          </p:cTn>
                        </p:par>
                        <p:par>
                          <p:cTn id="88" fill="hold">
                            <p:stCondLst>
                              <p:cond delay="4250"/>
                            </p:stCondLst>
                            <p:childTnLst>
                              <p:par>
                                <p:cTn id="89" presetID="1" presetClass="entr" presetSubtype="0" fill="hold" nodeType="afterEffect">
                                  <p:stCondLst>
                                    <p:cond delay="0"/>
                                  </p:stCondLst>
                                  <p:childTnLst>
                                    <p:set>
                                      <p:cBhvr>
                                        <p:cTn id="90" dur="1" fill="hold">
                                          <p:stCondLst>
                                            <p:cond delay="0"/>
                                          </p:stCondLst>
                                        </p:cTn>
                                        <p:tgtEl>
                                          <p:spTgt spid="82"/>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5"/>
                                        </p:tgtEl>
                                        <p:attrNameLst>
                                          <p:attrName>style.visibility</p:attrName>
                                        </p:attrNameLst>
                                      </p:cBhvr>
                                      <p:to>
                                        <p:strVal val="visible"/>
                                      </p:to>
                                    </p:set>
                                  </p:childTnLst>
                                </p:cTn>
                              </p:par>
                              <p:par>
                                <p:cTn id="93" presetID="1" presetClass="exit" presetSubtype="0" fill="hold" nodeType="withEffect">
                                  <p:stCondLst>
                                    <p:cond delay="0"/>
                                  </p:stCondLst>
                                  <p:childTnLst>
                                    <p:set>
                                      <p:cBhvr>
                                        <p:cTn id="94" dur="1" fill="hold">
                                          <p:stCondLst>
                                            <p:cond delay="0"/>
                                          </p:stCondLst>
                                        </p:cTn>
                                        <p:tgtEl>
                                          <p:spTgt spid="73"/>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76"/>
                                        </p:tgtEl>
                                        <p:attrNameLst>
                                          <p:attrName>style.visibility</p:attrName>
                                        </p:attrNameLst>
                                      </p:cBhvr>
                                      <p:to>
                                        <p:strVal val="hidden"/>
                                      </p:to>
                                    </p:set>
                                  </p:childTnLst>
                                </p:cTn>
                              </p:par>
                            </p:childTnLst>
                          </p:cTn>
                        </p:par>
                        <p:par>
                          <p:cTn id="97" fill="hold">
                            <p:stCondLst>
                              <p:cond delay="4250"/>
                            </p:stCondLst>
                            <p:childTnLst>
                              <p:par>
                                <p:cTn id="98" presetID="9" presetClass="exit" presetSubtype="0" fill="hold" nodeType="afterEffect">
                                  <p:stCondLst>
                                    <p:cond delay="500"/>
                                  </p:stCondLst>
                                  <p:childTnLst>
                                    <p:animEffect transition="out" filter="dissolve">
                                      <p:cBhvr>
                                        <p:cTn id="99" dur="500"/>
                                        <p:tgtEl>
                                          <p:spTgt spid="79"/>
                                        </p:tgtEl>
                                      </p:cBhvr>
                                    </p:animEffect>
                                    <p:set>
                                      <p:cBhvr>
                                        <p:cTn id="100" dur="1" fill="hold">
                                          <p:stCondLst>
                                            <p:cond delay="499"/>
                                          </p:stCondLst>
                                        </p:cTn>
                                        <p:tgtEl>
                                          <p:spTgt spid="79"/>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0" presetClass="entr" presetSubtype="0" fill="hold" nodeType="clickEffect">
                                  <p:stCondLst>
                                    <p:cond delay="0"/>
                                  </p:stCondLst>
                                  <p:childTnLst>
                                    <p:set>
                                      <p:cBhvr>
                                        <p:cTn id="104" dur="1" fill="hold">
                                          <p:stCondLst>
                                            <p:cond delay="0"/>
                                          </p:stCondLst>
                                        </p:cTn>
                                        <p:tgtEl>
                                          <p:spTgt spid="88"/>
                                        </p:tgtEl>
                                        <p:attrNameLst>
                                          <p:attrName>style.visibility</p:attrName>
                                        </p:attrNameLst>
                                      </p:cBhvr>
                                      <p:to>
                                        <p:strVal val="visible"/>
                                      </p:to>
                                    </p:set>
                                    <p:animEffect transition="in" filter="fade">
                                      <p:cBhvr>
                                        <p:cTn id="105" dur="500"/>
                                        <p:tgtEl>
                                          <p:spTgt spid="88"/>
                                        </p:tgtEl>
                                      </p:cBhvr>
                                    </p:animEffect>
                                  </p:childTnLst>
                                </p:cTn>
                              </p:par>
                            </p:childTnLst>
                          </p:cTn>
                        </p:par>
                      </p:childTnLst>
                    </p:cTn>
                  </p:par>
                  <p:par>
                    <p:cTn id="106" fill="hold">
                      <p:stCondLst>
                        <p:cond delay="indefinite"/>
                      </p:stCondLst>
                      <p:childTnLst>
                        <p:par>
                          <p:cTn id="107" fill="hold">
                            <p:stCondLst>
                              <p:cond delay="0"/>
                            </p:stCondLst>
                            <p:childTnLst>
                              <p:par>
                                <p:cTn id="108" presetID="42" presetClass="path" presetSubtype="0" accel="50000" decel="50000" fill="hold" nodeType="clickEffect">
                                  <p:stCondLst>
                                    <p:cond delay="0"/>
                                  </p:stCondLst>
                                  <p:childTnLst>
                                    <p:animMotion origin="layout" path="M 6.25E-7 -4.81481E-6 L 0.11094 0.06297 " pathEditMode="relative" rAng="0" ptsTypes="AA">
                                      <p:cBhvr>
                                        <p:cTn id="109" dur="750" fill="hold"/>
                                        <p:tgtEl>
                                          <p:spTgt spid="88"/>
                                        </p:tgtEl>
                                        <p:attrNameLst>
                                          <p:attrName>ppt_x</p:attrName>
                                          <p:attrName>ppt_y</p:attrName>
                                        </p:attrNameLst>
                                      </p:cBhvr>
                                      <p:rCtr x="5547" y="3148"/>
                                    </p:animMotion>
                                  </p:childTnLst>
                                </p:cTn>
                              </p:par>
                            </p:childTnLst>
                          </p:cTn>
                        </p:par>
                        <p:par>
                          <p:cTn id="110" fill="hold">
                            <p:stCondLst>
                              <p:cond delay="750"/>
                            </p:stCondLst>
                            <p:childTnLst>
                              <p:par>
                                <p:cTn id="111" presetID="1" presetClass="entr" presetSubtype="0" fill="hold" nodeType="afterEffect">
                                  <p:stCondLst>
                                    <p:cond delay="0"/>
                                  </p:stCondLst>
                                  <p:childTnLst>
                                    <p:set>
                                      <p:cBhvr>
                                        <p:cTn id="112" dur="1" fill="hold">
                                          <p:stCondLst>
                                            <p:cond delay="0"/>
                                          </p:stCondLst>
                                        </p:cTn>
                                        <p:tgtEl>
                                          <p:spTgt spid="91"/>
                                        </p:tgtEl>
                                        <p:attrNameLst>
                                          <p:attrName>style.visibility</p:attrName>
                                        </p:attrNameLst>
                                      </p:cBhvr>
                                      <p:to>
                                        <p:strVal val="visible"/>
                                      </p:to>
                                    </p:set>
                                  </p:childTnLst>
                                </p:cTn>
                              </p:par>
                              <p:par>
                                <p:cTn id="113" presetID="1" presetClass="exit" presetSubtype="0" fill="hold" nodeType="withEffect">
                                  <p:stCondLst>
                                    <p:cond delay="0"/>
                                  </p:stCondLst>
                                  <p:childTnLst>
                                    <p:set>
                                      <p:cBhvr>
                                        <p:cTn id="114" dur="1" fill="hold">
                                          <p:stCondLst>
                                            <p:cond delay="0"/>
                                          </p:stCondLst>
                                        </p:cTn>
                                        <p:tgtEl>
                                          <p:spTgt spid="88"/>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94"/>
                                        </p:tgtEl>
                                        <p:attrNameLst>
                                          <p:attrName>style.visibility</p:attrName>
                                        </p:attrNameLst>
                                      </p:cBhvr>
                                      <p:to>
                                        <p:strVal val="visible"/>
                                      </p:to>
                                    </p:set>
                                    <p:animEffect transition="in" filter="fade">
                                      <p:cBhvr>
                                        <p:cTn id="119" dur="500"/>
                                        <p:tgtEl>
                                          <p:spTgt spid="94"/>
                                        </p:tgtEl>
                                      </p:cBhvr>
                                    </p:animEffect>
                                  </p:childTnLst>
                                </p:cTn>
                              </p:par>
                            </p:childTnLst>
                          </p:cTn>
                        </p:par>
                        <p:par>
                          <p:cTn id="120" fill="hold">
                            <p:stCondLst>
                              <p:cond delay="500"/>
                            </p:stCondLst>
                            <p:childTnLst>
                              <p:par>
                                <p:cTn id="121" presetID="53" presetClass="exit" presetSubtype="32" fill="hold" nodeType="afterEffect">
                                  <p:stCondLst>
                                    <p:cond delay="500"/>
                                  </p:stCondLst>
                                  <p:childTnLst>
                                    <p:anim calcmode="lin" valueType="num">
                                      <p:cBhvr>
                                        <p:cTn id="122" dur="500"/>
                                        <p:tgtEl>
                                          <p:spTgt spid="91"/>
                                        </p:tgtEl>
                                        <p:attrNameLst>
                                          <p:attrName>ppt_w</p:attrName>
                                        </p:attrNameLst>
                                      </p:cBhvr>
                                      <p:tavLst>
                                        <p:tav tm="0">
                                          <p:val>
                                            <p:strVal val="ppt_w"/>
                                          </p:val>
                                        </p:tav>
                                        <p:tav tm="100000">
                                          <p:val>
                                            <p:fltVal val="0"/>
                                          </p:val>
                                        </p:tav>
                                      </p:tavLst>
                                    </p:anim>
                                    <p:anim calcmode="lin" valueType="num">
                                      <p:cBhvr>
                                        <p:cTn id="123" dur="500"/>
                                        <p:tgtEl>
                                          <p:spTgt spid="91"/>
                                        </p:tgtEl>
                                        <p:attrNameLst>
                                          <p:attrName>ppt_h</p:attrName>
                                        </p:attrNameLst>
                                      </p:cBhvr>
                                      <p:tavLst>
                                        <p:tav tm="0">
                                          <p:val>
                                            <p:strVal val="ppt_h"/>
                                          </p:val>
                                        </p:tav>
                                        <p:tav tm="100000">
                                          <p:val>
                                            <p:fltVal val="0"/>
                                          </p:val>
                                        </p:tav>
                                      </p:tavLst>
                                    </p:anim>
                                    <p:animEffect transition="out" filter="fade">
                                      <p:cBhvr>
                                        <p:cTn id="124" dur="500"/>
                                        <p:tgtEl>
                                          <p:spTgt spid="91"/>
                                        </p:tgtEl>
                                      </p:cBhvr>
                                    </p:animEffect>
                                    <p:set>
                                      <p:cBhvr>
                                        <p:cTn id="125" dur="1" fill="hold">
                                          <p:stCondLst>
                                            <p:cond delay="499"/>
                                          </p:stCondLst>
                                        </p:cTn>
                                        <p:tgtEl>
                                          <p:spTgt spid="91"/>
                                        </p:tgtEl>
                                        <p:attrNameLst>
                                          <p:attrName>style.visibility</p:attrName>
                                        </p:attrNameLst>
                                      </p:cBhvr>
                                      <p:to>
                                        <p:strVal val="hidden"/>
                                      </p:to>
                                    </p:set>
                                  </p:childTnLst>
                                </p:cTn>
                              </p:par>
                              <p:par>
                                <p:cTn id="126" presetID="53" presetClass="exit" presetSubtype="32" fill="hold" nodeType="withEffect">
                                  <p:stCondLst>
                                    <p:cond delay="500"/>
                                  </p:stCondLst>
                                  <p:childTnLst>
                                    <p:anim calcmode="lin" valueType="num">
                                      <p:cBhvr>
                                        <p:cTn id="127" dur="500"/>
                                        <p:tgtEl>
                                          <p:spTgt spid="94"/>
                                        </p:tgtEl>
                                        <p:attrNameLst>
                                          <p:attrName>ppt_w</p:attrName>
                                        </p:attrNameLst>
                                      </p:cBhvr>
                                      <p:tavLst>
                                        <p:tav tm="0">
                                          <p:val>
                                            <p:strVal val="ppt_w"/>
                                          </p:val>
                                        </p:tav>
                                        <p:tav tm="100000">
                                          <p:val>
                                            <p:fltVal val="0"/>
                                          </p:val>
                                        </p:tav>
                                      </p:tavLst>
                                    </p:anim>
                                    <p:anim calcmode="lin" valueType="num">
                                      <p:cBhvr>
                                        <p:cTn id="128" dur="500"/>
                                        <p:tgtEl>
                                          <p:spTgt spid="94"/>
                                        </p:tgtEl>
                                        <p:attrNameLst>
                                          <p:attrName>ppt_h</p:attrName>
                                        </p:attrNameLst>
                                      </p:cBhvr>
                                      <p:tavLst>
                                        <p:tav tm="0">
                                          <p:val>
                                            <p:strVal val="ppt_h"/>
                                          </p:val>
                                        </p:tav>
                                        <p:tav tm="100000">
                                          <p:val>
                                            <p:fltVal val="0"/>
                                          </p:val>
                                        </p:tav>
                                      </p:tavLst>
                                    </p:anim>
                                    <p:animEffect transition="out" filter="fade">
                                      <p:cBhvr>
                                        <p:cTn id="129" dur="500"/>
                                        <p:tgtEl>
                                          <p:spTgt spid="94"/>
                                        </p:tgtEl>
                                      </p:cBhvr>
                                    </p:animEffect>
                                    <p:set>
                                      <p:cBhvr>
                                        <p:cTn id="130" dur="1" fill="hold">
                                          <p:stCondLst>
                                            <p:cond delay="499"/>
                                          </p:stCondLst>
                                        </p:cTn>
                                        <p:tgtEl>
                                          <p:spTgt spid="94"/>
                                        </p:tgtEl>
                                        <p:attrNameLst>
                                          <p:attrName>style.visibility</p:attrName>
                                        </p:attrNameLst>
                                      </p:cBhvr>
                                      <p:to>
                                        <p:strVal val="hidden"/>
                                      </p:to>
                                    </p:set>
                                  </p:childTnLst>
                                </p:cTn>
                              </p:par>
                            </p:childTnLst>
                          </p:cTn>
                        </p:par>
                        <p:par>
                          <p:cTn id="131" fill="hold">
                            <p:stCondLst>
                              <p:cond delay="1500"/>
                            </p:stCondLst>
                            <p:childTnLst>
                              <p:par>
                                <p:cTn id="132" presetID="42" presetClass="path" presetSubtype="0" accel="50000" decel="50000" fill="hold" nodeType="afterEffect">
                                  <p:stCondLst>
                                    <p:cond delay="500"/>
                                  </p:stCondLst>
                                  <p:childTnLst>
                                    <p:animMotion origin="layout" path="M -4.79167E-6 3.7037E-6 L 0.11485 0.00069 " pathEditMode="relative" rAng="0" ptsTypes="AA">
                                      <p:cBhvr>
                                        <p:cTn id="133" dur="500" fill="hold"/>
                                        <p:tgtEl>
                                          <p:spTgt spid="82"/>
                                        </p:tgtEl>
                                        <p:attrNameLst>
                                          <p:attrName>ppt_x</p:attrName>
                                          <p:attrName>ppt_y</p:attrName>
                                        </p:attrNameLst>
                                      </p:cBhvr>
                                      <p:rCtr x="5742" y="23"/>
                                    </p:animMotion>
                                  </p:childTnLst>
                                </p:cTn>
                              </p:par>
                            </p:childTnLst>
                          </p:cTn>
                        </p:par>
                        <p:par>
                          <p:cTn id="134" fill="hold">
                            <p:stCondLst>
                              <p:cond delay="2500"/>
                            </p:stCondLst>
                            <p:childTnLst>
                              <p:par>
                                <p:cTn id="135" presetID="1" presetClass="entr" presetSubtype="0" fill="hold" nodeType="afterEffect">
                                  <p:stCondLst>
                                    <p:cond delay="0"/>
                                  </p:stCondLst>
                                  <p:childTnLst>
                                    <p:set>
                                      <p:cBhvr>
                                        <p:cTn id="136" dur="1" fill="hold">
                                          <p:stCondLst>
                                            <p:cond delay="0"/>
                                          </p:stCondLst>
                                        </p:cTn>
                                        <p:tgtEl>
                                          <p:spTgt spid="95"/>
                                        </p:tgtEl>
                                        <p:attrNameLst>
                                          <p:attrName>style.visibility</p:attrName>
                                        </p:attrNameLst>
                                      </p:cBhvr>
                                      <p:to>
                                        <p:strVal val="visible"/>
                                      </p:to>
                                    </p:set>
                                  </p:childTnLst>
                                </p:cTn>
                              </p:par>
                              <p:par>
                                <p:cTn id="137" presetID="1" presetClass="exit" presetSubtype="0" fill="hold" nodeType="withEffect">
                                  <p:stCondLst>
                                    <p:cond delay="0"/>
                                  </p:stCondLst>
                                  <p:childTnLst>
                                    <p:set>
                                      <p:cBhvr>
                                        <p:cTn id="138" dur="1" fill="hold">
                                          <p:stCondLst>
                                            <p:cond delay="0"/>
                                          </p:stCondLst>
                                        </p:cTn>
                                        <p:tgtEl>
                                          <p:spTgt spid="82"/>
                                        </p:tgtEl>
                                        <p:attrNameLst>
                                          <p:attrName>style.visibility</p:attrName>
                                        </p:attrNameLst>
                                      </p:cBhvr>
                                      <p:to>
                                        <p:strVal val="hidden"/>
                                      </p:to>
                                    </p:set>
                                  </p:childTnLst>
                                </p:cTn>
                              </p:par>
                            </p:childTnLst>
                          </p:cTn>
                        </p:par>
                        <p:par>
                          <p:cTn id="139" fill="hold">
                            <p:stCondLst>
                              <p:cond delay="2500"/>
                            </p:stCondLst>
                            <p:childTnLst>
                              <p:par>
                                <p:cTn id="140" presetID="42" presetClass="path" presetSubtype="0" accel="50000" decel="50000" fill="hold" nodeType="afterEffect">
                                  <p:stCondLst>
                                    <p:cond delay="0"/>
                                  </p:stCondLst>
                                  <p:childTnLst>
                                    <p:animMotion origin="layout" path="M -2.29167E-6 4.81481E-6 L 0.05156 4.81481E-6 " pathEditMode="relative" rAng="0" ptsTypes="AA">
                                      <p:cBhvr>
                                        <p:cTn id="141" dur="500" fill="hold"/>
                                        <p:tgtEl>
                                          <p:spTgt spid="85"/>
                                        </p:tgtEl>
                                        <p:attrNameLst>
                                          <p:attrName>ppt_x</p:attrName>
                                          <p:attrName>ppt_y</p:attrName>
                                        </p:attrNameLst>
                                      </p:cBhvr>
                                      <p:rCtr x="2578" y="0"/>
                                    </p:animMotion>
                                  </p:childTnLst>
                                </p:cTn>
                              </p:par>
                            </p:childTnLst>
                          </p:cTn>
                        </p:par>
                        <p:par>
                          <p:cTn id="142" fill="hold">
                            <p:stCondLst>
                              <p:cond delay="3000"/>
                            </p:stCondLst>
                            <p:childTnLst>
                              <p:par>
                                <p:cTn id="143" presetID="1" presetClass="entr" presetSubtype="0" fill="hold" nodeType="afterEffect">
                                  <p:stCondLst>
                                    <p:cond delay="0"/>
                                  </p:stCondLst>
                                  <p:childTnLst>
                                    <p:set>
                                      <p:cBhvr>
                                        <p:cTn id="144" dur="1" fill="hold">
                                          <p:stCondLst>
                                            <p:cond delay="0"/>
                                          </p:stCondLst>
                                        </p:cTn>
                                        <p:tgtEl>
                                          <p:spTgt spid="98"/>
                                        </p:tgtEl>
                                        <p:attrNameLst>
                                          <p:attrName>style.visibility</p:attrName>
                                        </p:attrNameLst>
                                      </p:cBhvr>
                                      <p:to>
                                        <p:strVal val="visible"/>
                                      </p:to>
                                    </p:set>
                                  </p:childTnLst>
                                </p:cTn>
                              </p:par>
                              <p:par>
                                <p:cTn id="145" presetID="1" presetClass="exit" presetSubtype="0" fill="hold" nodeType="withEffect">
                                  <p:stCondLst>
                                    <p:cond delay="0"/>
                                  </p:stCondLst>
                                  <p:childTnLst>
                                    <p:set>
                                      <p:cBhvr>
                                        <p:cTn id="146" dur="1" fill="hold">
                                          <p:stCondLst>
                                            <p:cond delay="0"/>
                                          </p:stCondLst>
                                        </p:cTn>
                                        <p:tgtEl>
                                          <p:spTgt spid="85"/>
                                        </p:tgtEl>
                                        <p:attrNameLst>
                                          <p:attrName>style.visibility</p:attrName>
                                        </p:attrNameLst>
                                      </p:cBhvr>
                                      <p:to>
                                        <p:strVal val="hidden"/>
                                      </p:to>
                                    </p:set>
                                  </p:childTnLst>
                                </p:cTn>
                              </p:par>
                            </p:childTnLst>
                          </p:cTn>
                        </p:par>
                        <p:par>
                          <p:cTn id="147" fill="hold">
                            <p:stCondLst>
                              <p:cond delay="3000"/>
                            </p:stCondLst>
                            <p:childTnLst>
                              <p:par>
                                <p:cTn id="148" presetID="9" presetClass="exit" presetSubtype="0" fill="hold" nodeType="afterEffect">
                                  <p:stCondLst>
                                    <p:cond delay="0"/>
                                  </p:stCondLst>
                                  <p:childTnLst>
                                    <p:animEffect transition="out" filter="dissolve">
                                      <p:cBhvr>
                                        <p:cTn id="149" dur="500"/>
                                        <p:tgtEl>
                                          <p:spTgt spid="95"/>
                                        </p:tgtEl>
                                      </p:cBhvr>
                                    </p:animEffect>
                                    <p:set>
                                      <p:cBhvr>
                                        <p:cTn id="150" dur="1" fill="hold">
                                          <p:stCondLst>
                                            <p:cond delay="499"/>
                                          </p:stCondLst>
                                        </p:cTn>
                                        <p:tgtEl>
                                          <p:spTgt spid="95"/>
                                        </p:tgtEl>
                                        <p:attrNameLst>
                                          <p:attrName>style.visibility</p:attrName>
                                        </p:attrNameLst>
                                      </p:cBhvr>
                                      <p:to>
                                        <p:strVal val="hidden"/>
                                      </p:to>
                                    </p:set>
                                  </p:childTnLst>
                                </p:cTn>
                              </p:par>
                            </p:childTnLst>
                          </p:cTn>
                        </p:par>
                        <p:par>
                          <p:cTn id="151" fill="hold">
                            <p:stCondLst>
                              <p:cond delay="3500"/>
                            </p:stCondLst>
                            <p:childTnLst>
                              <p:par>
                                <p:cTn id="152" presetID="42" presetClass="path" presetSubtype="0" accel="50000" decel="50000" fill="hold" nodeType="afterEffect">
                                  <p:stCondLst>
                                    <p:cond delay="0"/>
                                  </p:stCondLst>
                                  <p:childTnLst>
                                    <p:animMotion origin="layout" path="M -3.95833E-6 3.7037E-6 L 0.11563 0.00092 " pathEditMode="relative" rAng="0" ptsTypes="AA">
                                      <p:cBhvr>
                                        <p:cTn id="153" dur="500" fill="hold"/>
                                        <p:tgtEl>
                                          <p:spTgt spid="98"/>
                                        </p:tgtEl>
                                        <p:attrNameLst>
                                          <p:attrName>ppt_x</p:attrName>
                                          <p:attrName>ppt_y</p:attrName>
                                        </p:attrNameLst>
                                      </p:cBhvr>
                                      <p:rCtr x="5781" y="46"/>
                                    </p:animMotion>
                                  </p:childTnLst>
                                </p:cTn>
                              </p:par>
                            </p:childTnLst>
                          </p:cTn>
                        </p:par>
                        <p:par>
                          <p:cTn id="154" fill="hold">
                            <p:stCondLst>
                              <p:cond delay="4000"/>
                            </p:stCondLst>
                            <p:childTnLst>
                              <p:par>
                                <p:cTn id="155" presetID="1" presetClass="entr" presetSubtype="0" fill="hold" nodeType="afterEffect">
                                  <p:stCondLst>
                                    <p:cond delay="0"/>
                                  </p:stCondLst>
                                  <p:childTnLst>
                                    <p:set>
                                      <p:cBhvr>
                                        <p:cTn id="156" dur="1" fill="hold">
                                          <p:stCondLst>
                                            <p:cond delay="0"/>
                                          </p:stCondLst>
                                        </p:cTn>
                                        <p:tgtEl>
                                          <p:spTgt spid="101"/>
                                        </p:tgtEl>
                                        <p:attrNameLst>
                                          <p:attrName>style.visibility</p:attrName>
                                        </p:attrNameLst>
                                      </p:cBhvr>
                                      <p:to>
                                        <p:strVal val="visible"/>
                                      </p:to>
                                    </p:set>
                                  </p:childTnLst>
                                </p:cTn>
                              </p:par>
                              <p:par>
                                <p:cTn id="157" presetID="1" presetClass="exit" presetSubtype="0" fill="hold" nodeType="withEffect">
                                  <p:stCondLst>
                                    <p:cond delay="0"/>
                                  </p:stCondLst>
                                  <p:childTnLst>
                                    <p:set>
                                      <p:cBhvr>
                                        <p:cTn id="158" dur="1" fill="hold">
                                          <p:stCondLst>
                                            <p:cond delay="0"/>
                                          </p:stCondLst>
                                        </p:cTn>
                                        <p:tgtEl>
                                          <p:spTgt spid="98"/>
                                        </p:tgtEl>
                                        <p:attrNameLst>
                                          <p:attrName>style.visibility</p:attrName>
                                        </p:attrNameLst>
                                      </p:cBhvr>
                                      <p:to>
                                        <p:strVal val="hidden"/>
                                      </p:to>
                                    </p:set>
                                  </p:childTnLst>
                                </p:cTn>
                              </p:par>
                            </p:childTnLst>
                          </p:cTn>
                        </p:par>
                        <p:par>
                          <p:cTn id="159" fill="hold">
                            <p:stCondLst>
                              <p:cond delay="4000"/>
                            </p:stCondLst>
                            <p:childTnLst>
                              <p:par>
                                <p:cTn id="160" presetID="9" presetClass="exit" presetSubtype="0" fill="hold" nodeType="afterEffect">
                                  <p:stCondLst>
                                    <p:cond delay="0"/>
                                  </p:stCondLst>
                                  <p:childTnLst>
                                    <p:animEffect transition="out" filter="dissolve">
                                      <p:cBhvr>
                                        <p:cTn id="161" dur="500"/>
                                        <p:tgtEl>
                                          <p:spTgt spid="101"/>
                                        </p:tgtEl>
                                      </p:cBhvr>
                                    </p:animEffect>
                                    <p:set>
                                      <p:cBhvr>
                                        <p:cTn id="162" dur="1" fill="hold">
                                          <p:stCondLst>
                                            <p:cond delay="499"/>
                                          </p:stCondLst>
                                        </p:cTn>
                                        <p:tgtEl>
                                          <p:spTgt spid="10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2300B-C57B-5895-0E7B-CBBEC81487FF}"/>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B67CBD39-2E04-7A21-4ABE-E362B7846376}"/>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Integrity</a:t>
            </a:r>
          </a:p>
        </p:txBody>
      </p:sp>
      <p:sp>
        <p:nvSpPr>
          <p:cNvPr id="4" name="Primary Context Box">
            <a:extLst>
              <a:ext uri="{FF2B5EF4-FFF2-40B4-BE49-F238E27FC236}">
                <a16:creationId xmlns:a16="http://schemas.microsoft.com/office/drawing/2014/main" id="{C59A3531-8EC5-227B-6691-66F5D606ED95}"/>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Reliability</a:t>
            </a:r>
          </a:p>
        </p:txBody>
      </p:sp>
      <p:sp>
        <p:nvSpPr>
          <p:cNvPr id="5" name="Secondary Content Box">
            <a:extLst>
              <a:ext uri="{FF2B5EF4-FFF2-40B4-BE49-F238E27FC236}">
                <a16:creationId xmlns:a16="http://schemas.microsoft.com/office/drawing/2014/main" id="{BF8C3571-7125-F6CB-3902-33FA6B3B20FD}"/>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Efficiency</a:t>
            </a:r>
          </a:p>
        </p:txBody>
      </p:sp>
      <p:sp>
        <p:nvSpPr>
          <p:cNvPr id="11" name="Rectangle: Rounded Corners 10">
            <a:extLst>
              <a:ext uri="{FF2B5EF4-FFF2-40B4-BE49-F238E27FC236}">
                <a16:creationId xmlns:a16="http://schemas.microsoft.com/office/drawing/2014/main" id="{0B7FBF9B-2A2F-A4E6-F95B-C01704360A09}"/>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35595E8E-A61B-3488-8037-76E9DF84A148}"/>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90961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5BD87-0AFE-BF32-4E56-62CD5EE673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CFB345-C0D4-D693-8D8F-69C01C01C518}"/>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95303198-781E-8A77-4A78-B86AAB7AF8ED}"/>
              </a:ext>
            </a:extLst>
          </p:cNvPr>
          <p:cNvSpPr/>
          <p:nvPr/>
        </p:nvSpPr>
        <p:spPr>
          <a:xfrm>
            <a:off x="1487488"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720F4C92-E6A9-6D09-BAB5-428C2FA8D317}"/>
              </a:ext>
            </a:extLst>
          </p:cNvPr>
          <p:cNvSpPr/>
          <p:nvPr/>
        </p:nvSpPr>
        <p:spPr>
          <a:xfrm>
            <a:off x="7128829"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State Management</a:t>
            </a:r>
          </a:p>
        </p:txBody>
      </p:sp>
      <p:sp>
        <p:nvSpPr>
          <p:cNvPr id="11" name="Rectangle: Rounded Corners 10">
            <a:extLst>
              <a:ext uri="{FF2B5EF4-FFF2-40B4-BE49-F238E27FC236}">
                <a16:creationId xmlns:a16="http://schemas.microsoft.com/office/drawing/2014/main" id="{39BAAC20-4C25-64FD-6B6F-C086D5BAB82C}"/>
              </a:ext>
            </a:extLst>
          </p:cNvPr>
          <p:cNvSpPr/>
          <p:nvPr/>
        </p:nvSpPr>
        <p:spPr>
          <a:xfrm>
            <a:off x="1487488"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658902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AA19F-85AB-B2F7-FCDD-34A185B470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F6D58-C470-6EA6-4901-61F0FB00AD20}"/>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C04BEB5D-C485-820C-CEEF-DB99D18ECB30}"/>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Payment Processing</a:t>
            </a:r>
          </a:p>
        </p:txBody>
      </p:sp>
      <p:sp>
        <p:nvSpPr>
          <p:cNvPr id="4" name="Primary Context Box">
            <a:extLst>
              <a:ext uri="{FF2B5EF4-FFF2-40B4-BE49-F238E27FC236}">
                <a16:creationId xmlns:a16="http://schemas.microsoft.com/office/drawing/2014/main" id="{970B6E92-72F9-4850-37A6-55794A730712}"/>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Order Management</a:t>
            </a:r>
          </a:p>
        </p:txBody>
      </p:sp>
      <p:sp>
        <p:nvSpPr>
          <p:cNvPr id="5" name="Secondary Content Box">
            <a:extLst>
              <a:ext uri="{FF2B5EF4-FFF2-40B4-BE49-F238E27FC236}">
                <a16:creationId xmlns:a16="http://schemas.microsoft.com/office/drawing/2014/main" id="{05CB7902-FEF7-9FAC-E715-971C46AB6CA9}"/>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Inventory Updates</a:t>
            </a:r>
          </a:p>
        </p:txBody>
      </p:sp>
    </p:spTree>
    <p:extLst>
      <p:ext uri="{BB962C8B-B14F-4D97-AF65-F5344CB8AC3E}">
        <p14:creationId xmlns:p14="http://schemas.microsoft.com/office/powerpoint/2010/main" val="3277833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 shot of a computer&#10;&#10;AI-generated content may be incorrect.">
            <a:extLst>
              <a:ext uri="{FF2B5EF4-FFF2-40B4-BE49-F238E27FC236}">
                <a16:creationId xmlns:a16="http://schemas.microsoft.com/office/drawing/2014/main" id="{ABFB8C0B-4159-B3E0-E28F-165C3B4D892F}"/>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3830" y="1232400"/>
            <a:ext cx="3781953" cy="4210638"/>
          </a:xfrm>
        </p:spPr>
      </p:pic>
      <p:sp>
        <p:nvSpPr>
          <p:cNvPr id="5" name="Title 3">
            <a:extLst>
              <a:ext uri="{FF2B5EF4-FFF2-40B4-BE49-F238E27FC236}">
                <a16:creationId xmlns:a16="http://schemas.microsoft.com/office/drawing/2014/main" id="{E31F770B-9E4D-B3B5-6453-846440CC6EA6}"/>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36861B86-7783-3D48-7A81-7E83E654B9D3}"/>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Tree>
    <p:extLst>
      <p:ext uri="{BB962C8B-B14F-4D97-AF65-F5344CB8AC3E}">
        <p14:creationId xmlns:p14="http://schemas.microsoft.com/office/powerpoint/2010/main" val="2482237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 shot of a computer code&#10;&#10;AI-generated content may be incorrect.">
            <a:extLst>
              <a:ext uri="{FF2B5EF4-FFF2-40B4-BE49-F238E27FC236}">
                <a16:creationId xmlns:a16="http://schemas.microsoft.com/office/drawing/2014/main" id="{A45DD031-966B-CAD9-285E-4EC32EA0DCF3}"/>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59792" y="1057619"/>
            <a:ext cx="7038469" cy="4699369"/>
          </a:xfrm>
        </p:spPr>
      </p:pic>
      <p:sp>
        <p:nvSpPr>
          <p:cNvPr id="5" name="Title 3">
            <a:extLst>
              <a:ext uri="{FF2B5EF4-FFF2-40B4-BE49-F238E27FC236}">
                <a16:creationId xmlns:a16="http://schemas.microsoft.com/office/drawing/2014/main" id="{E5BE9154-DC2F-1B90-5737-19C04294A187}"/>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F01B7378-D656-724D-233C-F9B95E4DA44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677CF5DA-64CB-0FF1-4917-30C17AAAA91F}"/>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BE4A0FE6-8A7B-5B4F-DD6A-FE26554DB32A}"/>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475399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close-up of text&#10;&#10;AI-generated content may be incorrect.">
            <a:extLst>
              <a:ext uri="{FF2B5EF4-FFF2-40B4-BE49-F238E27FC236}">
                <a16:creationId xmlns:a16="http://schemas.microsoft.com/office/drawing/2014/main" id="{BB2003D5-82A7-EBCB-08C0-6F0238ADDF44}"/>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86184" y="1057619"/>
            <a:ext cx="6963747" cy="1829055"/>
          </a:xfrm>
        </p:spPr>
      </p:pic>
      <p:sp>
        <p:nvSpPr>
          <p:cNvPr id="5" name="Title 3">
            <a:extLst>
              <a:ext uri="{FF2B5EF4-FFF2-40B4-BE49-F238E27FC236}">
                <a16:creationId xmlns:a16="http://schemas.microsoft.com/office/drawing/2014/main" id="{74B3BC77-A2AE-F3F6-2E78-127342373AD6}"/>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6C976EAC-A9B0-0AEF-917D-CE6457D3CDFF}"/>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E2B28AC7-2157-231F-8B3E-67753984ED2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44A9DB25-13BB-44E3-D5B2-07B397287C03}"/>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8BA301E3-7565-9A72-B4B6-3178FE074D70}"/>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State Entity</a:t>
            </a:r>
          </a:p>
        </p:txBody>
      </p:sp>
      <p:sp>
        <p:nvSpPr>
          <p:cNvPr id="10" name="Rectangle: Rounded Corners 9">
            <a:extLst>
              <a:ext uri="{FF2B5EF4-FFF2-40B4-BE49-F238E27FC236}">
                <a16:creationId xmlns:a16="http://schemas.microsoft.com/office/drawing/2014/main" id="{6122C60D-DD46-E338-9697-09E63447ED73}"/>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874864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omputer screen shot of a program&#10;&#10;AI-generated content may be incorrect.">
            <a:extLst>
              <a:ext uri="{FF2B5EF4-FFF2-40B4-BE49-F238E27FC236}">
                <a16:creationId xmlns:a16="http://schemas.microsoft.com/office/drawing/2014/main" id="{05FCD2E3-234D-687F-2CC9-EB5E02038A22}"/>
              </a:ext>
            </a:extLst>
          </p:cNvPr>
          <p:cNvPicPr>
            <a:picLocks noGrp="1" noChangeAspect="1"/>
          </p:cNvPicPr>
          <p:nvPr>
            <p:ph idx="1"/>
          </p:nvPr>
        </p:nvPicPr>
        <p:blipFill>
          <a:blip r:embed="rId2" cstate="email">
            <a:extLst>
              <a:ext uri="{28A0092B-C50C-407E-A947-70E740481C1C}">
                <a14:useLocalDpi xmlns:a14="http://schemas.microsoft.com/office/drawing/2010/main"/>
              </a:ext>
            </a:extLst>
          </a:blip>
          <a:stretch>
            <a:fillRect/>
          </a:stretch>
        </p:blipFill>
        <p:spPr>
          <a:xfrm>
            <a:off x="4306888" y="934925"/>
            <a:ext cx="7335837" cy="4805587"/>
          </a:xfrm>
        </p:spPr>
      </p:pic>
      <p:sp>
        <p:nvSpPr>
          <p:cNvPr id="5" name="Title 3">
            <a:extLst>
              <a:ext uri="{FF2B5EF4-FFF2-40B4-BE49-F238E27FC236}">
                <a16:creationId xmlns:a16="http://schemas.microsoft.com/office/drawing/2014/main" id="{DA0A2F85-58B9-6699-B8E7-7051C7B74941}"/>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2C56FB23-031A-DDE4-73D8-C77DE317BA6C}"/>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CF22E80F-0246-0548-93DC-19F1587C2736}"/>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22F49A1D-377F-B71E-3079-0862A72EC56B}"/>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E4E34C97-1655-D440-81E2-89D29F6267FF}"/>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State Entity</a:t>
            </a:r>
          </a:p>
        </p:txBody>
      </p:sp>
      <p:sp>
        <p:nvSpPr>
          <p:cNvPr id="10" name="Rectangle: Rounded Corners 9">
            <a:extLst>
              <a:ext uri="{FF2B5EF4-FFF2-40B4-BE49-F238E27FC236}">
                <a16:creationId xmlns:a16="http://schemas.microsoft.com/office/drawing/2014/main" id="{8E25D5D7-2150-C680-BAB3-B8AB1269262B}"/>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47CFB946-83B9-E4D2-0638-69BA4B3BF92D}"/>
              </a:ext>
            </a:extLst>
          </p:cNvPr>
          <p:cNvSpPr/>
          <p:nvPr/>
        </p:nvSpPr>
        <p:spPr>
          <a:xfrm>
            <a:off x="548254"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2" name="Rectangle: Rounded Corners 11">
            <a:extLst>
              <a:ext uri="{FF2B5EF4-FFF2-40B4-BE49-F238E27FC236}">
                <a16:creationId xmlns:a16="http://schemas.microsoft.com/office/drawing/2014/main" id="{54E5EBC2-0CE5-7196-1CAE-F25B7151ADD1}"/>
              </a:ext>
            </a:extLst>
          </p:cNvPr>
          <p:cNvSpPr/>
          <p:nvPr/>
        </p:nvSpPr>
        <p:spPr>
          <a:xfrm>
            <a:off x="548255"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4087996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descr="A screenshot of a computer program&#10;&#10;AI-generated content may be incorrect.">
            <a:extLst>
              <a:ext uri="{FF2B5EF4-FFF2-40B4-BE49-F238E27FC236}">
                <a16:creationId xmlns:a16="http://schemas.microsoft.com/office/drawing/2014/main" id="{2054C353-4197-022F-21AC-4954DE5C6D8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695737" y="769972"/>
            <a:ext cx="3776459" cy="5419324"/>
          </a:xfrm>
        </p:spPr>
      </p:pic>
      <p:sp>
        <p:nvSpPr>
          <p:cNvPr id="5" name="Title 3">
            <a:extLst>
              <a:ext uri="{FF2B5EF4-FFF2-40B4-BE49-F238E27FC236}">
                <a16:creationId xmlns:a16="http://schemas.microsoft.com/office/drawing/2014/main" id="{A8D4C9E3-3AAF-675F-04FF-6C45C8AE8CAF}"/>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718AB11B-D293-89C3-47EE-DAC6F34D1EC0}"/>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742CACCF-DD72-DAFA-B87C-25AF1A5D95DA}"/>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7B686824-CEF4-713E-4BD2-09AB2B81A7DA}"/>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325C0140-FDF4-7299-EEDA-F0CDFAE7C9E6}"/>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State Entity</a:t>
            </a:r>
          </a:p>
        </p:txBody>
      </p:sp>
      <p:sp>
        <p:nvSpPr>
          <p:cNvPr id="10" name="Rectangle: Rounded Corners 9">
            <a:extLst>
              <a:ext uri="{FF2B5EF4-FFF2-40B4-BE49-F238E27FC236}">
                <a16:creationId xmlns:a16="http://schemas.microsoft.com/office/drawing/2014/main" id="{A73ED204-2026-ACCC-9077-0366D9BF48E3}"/>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E0E2DC31-4C2C-B4CB-AA11-870F2BBE68E5}"/>
              </a:ext>
            </a:extLst>
          </p:cNvPr>
          <p:cNvSpPr/>
          <p:nvPr/>
        </p:nvSpPr>
        <p:spPr>
          <a:xfrm>
            <a:off x="548254"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2" name="Rectangle: Rounded Corners 11">
            <a:extLst>
              <a:ext uri="{FF2B5EF4-FFF2-40B4-BE49-F238E27FC236}">
                <a16:creationId xmlns:a16="http://schemas.microsoft.com/office/drawing/2014/main" id="{379F2E85-6B7B-B59F-EA90-7DA14B0935A5}"/>
              </a:ext>
            </a:extLst>
          </p:cNvPr>
          <p:cNvSpPr/>
          <p:nvPr/>
        </p:nvSpPr>
        <p:spPr>
          <a:xfrm>
            <a:off x="548255"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7CFCC2EF-98DD-E5E3-D957-8444C7837628}"/>
              </a:ext>
            </a:extLst>
          </p:cNvPr>
          <p:cNvSpPr/>
          <p:nvPr/>
        </p:nvSpPr>
        <p:spPr>
          <a:xfrm>
            <a:off x="548253"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Receiver</a:t>
            </a:r>
          </a:p>
        </p:txBody>
      </p:sp>
      <p:sp>
        <p:nvSpPr>
          <p:cNvPr id="14" name="Rectangle: Rounded Corners 13">
            <a:extLst>
              <a:ext uri="{FF2B5EF4-FFF2-40B4-BE49-F238E27FC236}">
                <a16:creationId xmlns:a16="http://schemas.microsoft.com/office/drawing/2014/main" id="{3B39F7D8-E7BD-2502-7305-E4239B617CD1}"/>
              </a:ext>
            </a:extLst>
          </p:cNvPr>
          <p:cNvSpPr/>
          <p:nvPr/>
        </p:nvSpPr>
        <p:spPr>
          <a:xfrm>
            <a:off x="548254"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8" name="Picture 17">
            <a:extLst>
              <a:ext uri="{FF2B5EF4-FFF2-40B4-BE49-F238E27FC236}">
                <a16:creationId xmlns:a16="http://schemas.microsoft.com/office/drawing/2014/main" id="{20940891-0BEE-26BA-BCA6-61392ED4D10C}"/>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95737" y="1303717"/>
            <a:ext cx="7344800" cy="533474"/>
          </a:xfrm>
          <a:prstGeom prst="rect">
            <a:avLst/>
          </a:prstGeom>
        </p:spPr>
      </p:pic>
      <p:pic>
        <p:nvPicPr>
          <p:cNvPr id="20" name="Picture 19" descr="A computer screen shot of a message&#10;&#10;AI-generated content may be incorrect.">
            <a:extLst>
              <a:ext uri="{FF2B5EF4-FFF2-40B4-BE49-F238E27FC236}">
                <a16:creationId xmlns:a16="http://schemas.microsoft.com/office/drawing/2014/main" id="{CEC10D09-B73D-8C14-9D3C-7DB42362AE1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695731" y="691590"/>
            <a:ext cx="7344800" cy="5679538"/>
          </a:xfrm>
          <a:prstGeom prst="rect">
            <a:avLst/>
          </a:prstGeom>
        </p:spPr>
      </p:pic>
    </p:spTree>
    <p:extLst>
      <p:ext uri="{BB962C8B-B14F-4D97-AF65-F5344CB8AC3E}">
        <p14:creationId xmlns:p14="http://schemas.microsoft.com/office/powerpoint/2010/main" val="1713788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16"/>
                                        </p:tgtEl>
                                        <p:attrNameLst>
                                          <p:attrName>style.opacity</p:attrName>
                                        </p:attrNameLst>
                                      </p:cBhvr>
                                      <p:to>
                                        <p:strVal val="0.25"/>
                                      </p:to>
                                    </p:set>
                                    <p:animEffect filter="image" prLst="opacity: 0.25">
                                      <p:cBhvr rctx="IE">
                                        <p:cTn id="7" dur="indefinite"/>
                                        <p:tgtEl>
                                          <p:spTgt spid="16"/>
                                        </p:tgtEl>
                                      </p:cBhvr>
                                    </p:animEffect>
                                  </p:childTnLst>
                                </p:cTn>
                              </p:par>
                              <p:par>
                                <p:cTn id="8" presetID="53" presetClass="entr" presetSubtype="16"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 calcmode="lin" valueType="num">
                                      <p:cBhvr>
                                        <p:cTn id="10" dur="500" fill="hold"/>
                                        <p:tgtEl>
                                          <p:spTgt spid="18"/>
                                        </p:tgtEl>
                                        <p:attrNameLst>
                                          <p:attrName>ppt_w</p:attrName>
                                        </p:attrNameLst>
                                      </p:cBhvr>
                                      <p:tavLst>
                                        <p:tav tm="0">
                                          <p:val>
                                            <p:fltVal val="0"/>
                                          </p:val>
                                        </p:tav>
                                        <p:tav tm="100000">
                                          <p:val>
                                            <p:strVal val="#ppt_w"/>
                                          </p:val>
                                        </p:tav>
                                      </p:tavLst>
                                    </p:anim>
                                    <p:anim calcmode="lin" valueType="num">
                                      <p:cBhvr>
                                        <p:cTn id="11" dur="500" fill="hold"/>
                                        <p:tgtEl>
                                          <p:spTgt spid="18"/>
                                        </p:tgtEl>
                                        <p:attrNameLst>
                                          <p:attrName>ppt_h</p:attrName>
                                        </p:attrNameLst>
                                      </p:cBhvr>
                                      <p:tavLst>
                                        <p:tav tm="0">
                                          <p:val>
                                            <p:fltVal val="0"/>
                                          </p:val>
                                        </p:tav>
                                        <p:tav tm="100000">
                                          <p:val>
                                            <p:strVal val="#ppt_h"/>
                                          </p:val>
                                        </p:tav>
                                      </p:tavLst>
                                    </p:anim>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nodeType="clickEffect">
                                  <p:stCondLst>
                                    <p:cond delay="0"/>
                                  </p:stCondLst>
                                  <p:childTnLst>
                                    <p:animEffect transition="out" filter="fade">
                                      <p:cBhvr>
                                        <p:cTn id="16" dur="500"/>
                                        <p:tgtEl>
                                          <p:spTgt spid="18"/>
                                        </p:tgtEl>
                                      </p:cBhvr>
                                    </p:animEffect>
                                    <p:set>
                                      <p:cBhvr>
                                        <p:cTn id="17" dur="1" fill="hold">
                                          <p:stCondLst>
                                            <p:cond delay="499"/>
                                          </p:stCondLst>
                                        </p:cTn>
                                        <p:tgtEl>
                                          <p:spTgt spid="18"/>
                                        </p:tgtEl>
                                        <p:attrNameLst>
                                          <p:attrName>style.visibility</p:attrName>
                                        </p:attrNameLst>
                                      </p:cBhvr>
                                      <p:to>
                                        <p:strVal val="hidden"/>
                                      </p:to>
                                    </p:set>
                                  </p:childTnLst>
                                </p:cTn>
                              </p:par>
                              <p:par>
                                <p:cTn id="18" presetID="53" presetClass="entr" presetSubtype="16" fill="hold" nodeType="withEffect">
                                  <p:stCondLst>
                                    <p:cond delay="0"/>
                                  </p:stCondLst>
                                  <p:childTnLst>
                                    <p:set>
                                      <p:cBhvr>
                                        <p:cTn id="19" dur="1" fill="hold">
                                          <p:stCondLst>
                                            <p:cond delay="0"/>
                                          </p:stCondLst>
                                        </p:cTn>
                                        <p:tgtEl>
                                          <p:spTgt spid="20"/>
                                        </p:tgtEl>
                                        <p:attrNameLst>
                                          <p:attrName>style.visibility</p:attrName>
                                        </p:attrNameLst>
                                      </p:cBhvr>
                                      <p:to>
                                        <p:strVal val="visible"/>
                                      </p:to>
                                    </p:set>
                                    <p:anim calcmode="lin" valueType="num">
                                      <p:cBhvr>
                                        <p:cTn id="20" dur="500" fill="hold"/>
                                        <p:tgtEl>
                                          <p:spTgt spid="20"/>
                                        </p:tgtEl>
                                        <p:attrNameLst>
                                          <p:attrName>ppt_w</p:attrName>
                                        </p:attrNameLst>
                                      </p:cBhvr>
                                      <p:tavLst>
                                        <p:tav tm="0">
                                          <p:val>
                                            <p:fltVal val="0"/>
                                          </p:val>
                                        </p:tav>
                                        <p:tav tm="100000">
                                          <p:val>
                                            <p:strVal val="#ppt_w"/>
                                          </p:val>
                                        </p:tav>
                                      </p:tavLst>
                                    </p:anim>
                                    <p:anim calcmode="lin" valueType="num">
                                      <p:cBhvr>
                                        <p:cTn id="21" dur="500" fill="hold"/>
                                        <p:tgtEl>
                                          <p:spTgt spid="20"/>
                                        </p:tgtEl>
                                        <p:attrNameLst>
                                          <p:attrName>ppt_h</p:attrName>
                                        </p:attrNameLst>
                                      </p:cBhvr>
                                      <p:tavLst>
                                        <p:tav tm="0">
                                          <p:val>
                                            <p:fltVal val="0"/>
                                          </p:val>
                                        </p:tav>
                                        <p:tav tm="100000">
                                          <p:val>
                                            <p:strVal val="#ppt_h"/>
                                          </p:val>
                                        </p:tav>
                                      </p:tavLst>
                                    </p:anim>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Content Placeholder 17" descr="A screenshot of a computer&#10;&#10;AI-generated content may be incorrect.">
            <a:extLst>
              <a:ext uri="{FF2B5EF4-FFF2-40B4-BE49-F238E27FC236}">
                <a16:creationId xmlns:a16="http://schemas.microsoft.com/office/drawing/2014/main" id="{092CC416-8629-726D-89FE-6FC64422CC0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98710" y="235354"/>
            <a:ext cx="5306165" cy="2991267"/>
          </a:xfrm>
        </p:spPr>
      </p:pic>
      <p:sp>
        <p:nvSpPr>
          <p:cNvPr id="5" name="Title 3">
            <a:extLst>
              <a:ext uri="{FF2B5EF4-FFF2-40B4-BE49-F238E27FC236}">
                <a16:creationId xmlns:a16="http://schemas.microsoft.com/office/drawing/2014/main" id="{A0115EF6-28FA-2BE0-5FAF-784DD16BF000}"/>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C96B17D4-7E30-B6F8-180B-C7EC554DA72D}"/>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F2B778B5-A1F8-CC32-4DF2-43722B1FE96B}"/>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4D050E17-266B-1081-47BF-643013C2A2A7}"/>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A59AC90B-DBD6-028E-9F6F-3E5F793EB18A}"/>
              </a:ext>
            </a:extLst>
          </p:cNvPr>
          <p:cNvSpPr/>
          <p:nvPr/>
        </p:nvSpPr>
        <p:spPr>
          <a:xfrm>
            <a:off x="548255"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State Entity</a:t>
            </a:r>
          </a:p>
        </p:txBody>
      </p:sp>
      <p:sp>
        <p:nvSpPr>
          <p:cNvPr id="10" name="Rectangle: Rounded Corners 9">
            <a:extLst>
              <a:ext uri="{FF2B5EF4-FFF2-40B4-BE49-F238E27FC236}">
                <a16:creationId xmlns:a16="http://schemas.microsoft.com/office/drawing/2014/main" id="{90F92713-F959-1B12-43DB-40B3823FEB53}"/>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45904495-A6D8-0120-D2FE-433B85D3C068}"/>
              </a:ext>
            </a:extLst>
          </p:cNvPr>
          <p:cNvSpPr/>
          <p:nvPr/>
        </p:nvSpPr>
        <p:spPr>
          <a:xfrm>
            <a:off x="548254"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2" name="Rectangle: Rounded Corners 11">
            <a:extLst>
              <a:ext uri="{FF2B5EF4-FFF2-40B4-BE49-F238E27FC236}">
                <a16:creationId xmlns:a16="http://schemas.microsoft.com/office/drawing/2014/main" id="{89F3E96F-09D5-2DC6-F615-60D511F8B117}"/>
              </a:ext>
            </a:extLst>
          </p:cNvPr>
          <p:cNvSpPr/>
          <p:nvPr/>
        </p:nvSpPr>
        <p:spPr>
          <a:xfrm>
            <a:off x="548255"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3C5186AA-4F4A-A588-7D0B-548B24F53DC9}"/>
              </a:ext>
            </a:extLst>
          </p:cNvPr>
          <p:cNvSpPr/>
          <p:nvPr/>
        </p:nvSpPr>
        <p:spPr>
          <a:xfrm>
            <a:off x="548253"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Receiver</a:t>
            </a:r>
          </a:p>
        </p:txBody>
      </p:sp>
      <p:sp>
        <p:nvSpPr>
          <p:cNvPr id="14" name="Rectangle: Rounded Corners 13">
            <a:extLst>
              <a:ext uri="{FF2B5EF4-FFF2-40B4-BE49-F238E27FC236}">
                <a16:creationId xmlns:a16="http://schemas.microsoft.com/office/drawing/2014/main" id="{A9365AE2-2D46-76A7-9CB3-9457521DE2D1}"/>
              </a:ext>
            </a:extLst>
          </p:cNvPr>
          <p:cNvSpPr/>
          <p:nvPr/>
        </p:nvSpPr>
        <p:spPr>
          <a:xfrm>
            <a:off x="548254"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5" name="Primary Context Box">
            <a:extLst>
              <a:ext uri="{FF2B5EF4-FFF2-40B4-BE49-F238E27FC236}">
                <a16:creationId xmlns:a16="http://schemas.microsoft.com/office/drawing/2014/main" id="{7307C994-FB8F-1E80-13CF-8E5AA189C1D2}"/>
              </a:ext>
            </a:extLst>
          </p:cNvPr>
          <p:cNvSpPr/>
          <p:nvPr/>
        </p:nvSpPr>
        <p:spPr>
          <a:xfrm>
            <a:off x="548252" y="418365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6" name="Rectangle: Rounded Corners 15">
            <a:extLst>
              <a:ext uri="{FF2B5EF4-FFF2-40B4-BE49-F238E27FC236}">
                <a16:creationId xmlns:a16="http://schemas.microsoft.com/office/drawing/2014/main" id="{29B61CA4-7100-96A6-99EC-2706F1B8C1D2}"/>
              </a:ext>
            </a:extLst>
          </p:cNvPr>
          <p:cNvSpPr/>
          <p:nvPr/>
        </p:nvSpPr>
        <p:spPr>
          <a:xfrm>
            <a:off x="548253" y="3558451"/>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20" name="Picture 19" descr="A screenshot of a computer&#10;&#10;AI-generated content may be incorrect.">
            <a:extLst>
              <a:ext uri="{FF2B5EF4-FFF2-40B4-BE49-F238E27FC236}">
                <a16:creationId xmlns:a16="http://schemas.microsoft.com/office/drawing/2014/main" id="{DC9CA36D-82BD-D3AD-9243-70A862A13DE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598710" y="3427657"/>
            <a:ext cx="5306165" cy="2991267"/>
          </a:xfrm>
          <a:prstGeom prst="rect">
            <a:avLst/>
          </a:prstGeom>
        </p:spPr>
      </p:pic>
      <p:sp>
        <p:nvSpPr>
          <p:cNvPr id="21" name="TextBox 20">
            <a:extLst>
              <a:ext uri="{FF2B5EF4-FFF2-40B4-BE49-F238E27FC236}">
                <a16:creationId xmlns:a16="http://schemas.microsoft.com/office/drawing/2014/main" id="{CBAC4179-BB7F-05E7-3A15-4E98F627A31B}"/>
              </a:ext>
            </a:extLst>
          </p:cNvPr>
          <p:cNvSpPr txBox="1"/>
          <p:nvPr/>
        </p:nvSpPr>
        <p:spPr>
          <a:xfrm>
            <a:off x="10052251" y="457200"/>
            <a:ext cx="1728165" cy="584775"/>
          </a:xfrm>
          <a:prstGeom prst="rect">
            <a:avLst/>
          </a:prstGeom>
          <a:noFill/>
        </p:spPr>
        <p:txBody>
          <a:bodyPr wrap="none" rtlCol="0">
            <a:spAutoFit/>
          </a:bodyPr>
          <a:lstStyle/>
          <a:p>
            <a:r>
              <a:rPr lang="en-US" sz="3200" b="1" dirty="0">
                <a:solidFill>
                  <a:schemeClr val="accent6"/>
                </a:solidFill>
              </a:rPr>
              <a:t>Producer</a:t>
            </a:r>
          </a:p>
        </p:txBody>
      </p:sp>
      <p:sp>
        <p:nvSpPr>
          <p:cNvPr id="22" name="TextBox 21">
            <a:extLst>
              <a:ext uri="{FF2B5EF4-FFF2-40B4-BE49-F238E27FC236}">
                <a16:creationId xmlns:a16="http://schemas.microsoft.com/office/drawing/2014/main" id="{CA11A895-88C0-CE81-45AD-5C8CB0BCF05E}"/>
              </a:ext>
            </a:extLst>
          </p:cNvPr>
          <p:cNvSpPr txBox="1"/>
          <p:nvPr/>
        </p:nvSpPr>
        <p:spPr>
          <a:xfrm>
            <a:off x="10052251" y="3598884"/>
            <a:ext cx="1912703" cy="584775"/>
          </a:xfrm>
          <a:prstGeom prst="rect">
            <a:avLst/>
          </a:prstGeom>
          <a:noFill/>
        </p:spPr>
        <p:txBody>
          <a:bodyPr wrap="none" rtlCol="0">
            <a:spAutoFit/>
          </a:bodyPr>
          <a:lstStyle/>
          <a:p>
            <a:r>
              <a:rPr lang="en-US" sz="3200" b="1" dirty="0">
                <a:solidFill>
                  <a:schemeClr val="accent6"/>
                </a:solidFill>
              </a:rPr>
              <a:t>Consumer</a:t>
            </a:r>
          </a:p>
        </p:txBody>
      </p:sp>
      <p:pic>
        <p:nvPicPr>
          <p:cNvPr id="24" name="Picture 23" descr="A screenshot of a computer&#10;&#10;AI-generated content may be incorrect.">
            <a:extLst>
              <a:ext uri="{FF2B5EF4-FFF2-40B4-BE49-F238E27FC236}">
                <a16:creationId xmlns:a16="http://schemas.microsoft.com/office/drawing/2014/main" id="{47C5F4DC-1456-BD8D-4747-3A5DB48BCA07}"/>
              </a:ext>
            </a:extLst>
          </p:cNvPr>
          <p:cNvPicPr>
            <a:picLocks noChangeAspect="1"/>
          </p:cNvPicPr>
          <p:nvPr/>
        </p:nvPicPr>
        <p:blipFill rotWithShape="1">
          <a:blip r:embed="rId4">
            <a:extLst>
              <a:ext uri="{28A0092B-C50C-407E-A947-70E740481C1C}">
                <a14:useLocalDpi xmlns:a14="http://schemas.microsoft.com/office/drawing/2010/main"/>
              </a:ext>
            </a:extLst>
          </a:blip>
          <a:srcRect/>
          <a:stretch>
            <a:fillRect/>
          </a:stretch>
        </p:blipFill>
        <p:spPr>
          <a:xfrm>
            <a:off x="4598710" y="235354"/>
            <a:ext cx="5306165" cy="2991267"/>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C9A1756B-4666-2E46-0A5B-F21CB4F2689D}"/>
              </a:ext>
            </a:extLst>
          </p:cNvPr>
          <p:cNvPicPr>
            <a:picLocks noChangeAspect="1"/>
          </p:cNvPicPr>
          <p:nvPr/>
        </p:nvPicPr>
        <p:blipFill rotWithShape="1">
          <a:blip r:embed="rId5">
            <a:extLst>
              <a:ext uri="{28A0092B-C50C-407E-A947-70E740481C1C}">
                <a14:useLocalDpi xmlns:a14="http://schemas.microsoft.com/office/drawing/2010/main"/>
              </a:ext>
            </a:extLst>
          </a:blip>
          <a:srcRect/>
          <a:stretch>
            <a:fillRect/>
          </a:stretch>
        </p:blipFill>
        <p:spPr>
          <a:xfrm>
            <a:off x="4598710" y="3427657"/>
            <a:ext cx="5306165" cy="2991267"/>
          </a:xfrm>
          <a:prstGeom prst="rect">
            <a:avLst/>
          </a:prstGeom>
        </p:spPr>
      </p:pic>
    </p:spTree>
    <p:extLst>
      <p:ext uri="{BB962C8B-B14F-4D97-AF65-F5344CB8AC3E}">
        <p14:creationId xmlns:p14="http://schemas.microsoft.com/office/powerpoint/2010/main" val="4208651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wipe(up)">
                                      <p:cBhvr>
                                        <p:cTn id="21" dur="500"/>
                                        <p:tgtEl>
                                          <p:spTgt spid="2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up)">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5BDA1-1D29-37C5-FE7A-76EB0C0E2ED6}"/>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A5E46940-96A3-FC3F-2084-52E260FBCB03}"/>
              </a:ext>
            </a:extLst>
          </p:cNvPr>
          <p:cNvSpPr/>
          <p:nvPr/>
        </p:nvSpPr>
        <p:spPr>
          <a:xfrm>
            <a:off x="1489076"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Use Unique Identifiers</a:t>
            </a:r>
          </a:p>
        </p:txBody>
      </p:sp>
      <p:sp>
        <p:nvSpPr>
          <p:cNvPr id="5" name="Rectangle: Rounded Corners 4">
            <a:extLst>
              <a:ext uri="{FF2B5EF4-FFF2-40B4-BE49-F238E27FC236}">
                <a16:creationId xmlns:a16="http://schemas.microsoft.com/office/drawing/2014/main" id="{17F27129-58A4-C3E8-9D37-03A1B4069ECB}"/>
              </a:ext>
            </a:extLst>
          </p:cNvPr>
          <p:cNvSpPr/>
          <p:nvPr/>
        </p:nvSpPr>
        <p:spPr>
          <a:xfrm>
            <a:off x="7126288"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Maintain Processing State</a:t>
            </a:r>
          </a:p>
        </p:txBody>
      </p:sp>
      <p:sp>
        <p:nvSpPr>
          <p:cNvPr id="6" name="Rectangle: Rounded Corners 5">
            <a:extLst>
              <a:ext uri="{FF2B5EF4-FFF2-40B4-BE49-F238E27FC236}">
                <a16:creationId xmlns:a16="http://schemas.microsoft.com/office/drawing/2014/main" id="{98B9AF3E-A581-B8DB-FF13-6C1CF63D4A82}"/>
              </a:ext>
            </a:extLst>
          </p:cNvPr>
          <p:cNvSpPr/>
          <p:nvPr/>
        </p:nvSpPr>
        <p:spPr>
          <a:xfrm>
            <a:off x="1487488" y="3570487"/>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Implement Idempotent Logic</a:t>
            </a:r>
          </a:p>
        </p:txBody>
      </p:sp>
      <p:sp>
        <p:nvSpPr>
          <p:cNvPr id="7" name="Rectangle: Rounded Corners 6">
            <a:extLst>
              <a:ext uri="{FF2B5EF4-FFF2-40B4-BE49-F238E27FC236}">
                <a16:creationId xmlns:a16="http://schemas.microsoft.com/office/drawing/2014/main" id="{3AF3A5EF-53F8-7C1E-91C6-54733333F437}"/>
              </a:ext>
            </a:extLst>
          </p:cNvPr>
          <p:cNvSpPr/>
          <p:nvPr/>
        </p:nvSpPr>
        <p:spPr>
          <a:xfrm>
            <a:off x="7126288" y="3519488"/>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Monitor and Audit</a:t>
            </a:r>
          </a:p>
        </p:txBody>
      </p:sp>
    </p:spTree>
    <p:extLst>
      <p:ext uri="{BB962C8B-B14F-4D97-AF65-F5344CB8AC3E}">
        <p14:creationId xmlns:p14="http://schemas.microsoft.com/office/powerpoint/2010/main" val="3790900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DD662-6275-438F-3B66-7A2C0106509F}"/>
              </a:ext>
            </a:extLst>
          </p:cNvPr>
          <p:cNvSpPr>
            <a:spLocks noGrp="1"/>
          </p:cNvSpPr>
          <p:nvPr>
            <p:ph type="title"/>
          </p:nvPr>
        </p:nvSpPr>
        <p:spPr/>
        <p:txBody>
          <a:bodyPr/>
          <a:lstStyle/>
          <a:p>
            <a:r>
              <a:rPr lang="en-US" dirty="0"/>
              <a:t>Advanced Processing Techniques</a:t>
            </a:r>
          </a:p>
        </p:txBody>
      </p:sp>
      <p:sp>
        <p:nvSpPr>
          <p:cNvPr id="3" name="Text Placeholder 2">
            <a:extLst>
              <a:ext uri="{FF2B5EF4-FFF2-40B4-BE49-F238E27FC236}">
                <a16:creationId xmlns:a16="http://schemas.microsoft.com/office/drawing/2014/main" id="{7E463034-BD6C-0350-BE66-8C2FC16339E1}"/>
              </a:ext>
            </a:extLst>
          </p:cNvPr>
          <p:cNvSpPr>
            <a:spLocks noGrp="1"/>
          </p:cNvSpPr>
          <p:nvPr>
            <p:ph type="body" sz="quarter" idx="10"/>
          </p:nvPr>
        </p:nvSpPr>
        <p:spPr/>
        <p:txBody>
          <a:bodyPr/>
          <a:lstStyle/>
          <a:p>
            <a:r>
              <a:rPr lang="en-US" dirty="0"/>
              <a:t>Pattern 2: Messaging Scheduling</a:t>
            </a:r>
          </a:p>
        </p:txBody>
      </p:sp>
    </p:spTree>
    <p:extLst>
      <p:ext uri="{BB962C8B-B14F-4D97-AF65-F5344CB8AC3E}">
        <p14:creationId xmlns:p14="http://schemas.microsoft.com/office/powerpoint/2010/main" val="3640641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F9C2-2964-47AF-6B13-09A6E4CBB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E0FA5-0FC2-5D73-FEC0-156DD065EE4D}"/>
              </a:ext>
            </a:extLst>
          </p:cNvPr>
          <p:cNvSpPr>
            <a:spLocks noGrp="1"/>
          </p:cNvSpPr>
          <p:nvPr>
            <p:ph type="title"/>
          </p:nvPr>
        </p:nvSpPr>
        <p:spPr/>
        <p:txBody>
          <a:bodyPr>
            <a:normAutofit fontScale="90000"/>
          </a:bodyPr>
          <a:lstStyle/>
          <a:p>
            <a:r>
              <a:rPr lang="en-US" dirty="0"/>
              <a:t>What is the Idempotent Receiver Pattern</a:t>
            </a:r>
          </a:p>
        </p:txBody>
      </p:sp>
      <p:sp>
        <p:nvSpPr>
          <p:cNvPr id="3" name="Primary Context Box">
            <a:extLst>
              <a:ext uri="{FF2B5EF4-FFF2-40B4-BE49-F238E27FC236}">
                <a16:creationId xmlns:a16="http://schemas.microsoft.com/office/drawing/2014/main" id="{D104830A-C5FF-080D-7DE0-0407BF4E116D}"/>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Delaying the processing of a message.</a:t>
            </a:r>
          </a:p>
        </p:txBody>
      </p:sp>
      <p:sp>
        <p:nvSpPr>
          <p:cNvPr id="4" name="Secondary Content Box">
            <a:extLst>
              <a:ext uri="{FF2B5EF4-FFF2-40B4-BE49-F238E27FC236}">
                <a16:creationId xmlns:a16="http://schemas.microsoft.com/office/drawing/2014/main" id="{144322BC-3487-B42F-375F-71B7258EB4A9}"/>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Enable system to handle tasks at appropriate times.</a:t>
            </a:r>
          </a:p>
        </p:txBody>
      </p:sp>
    </p:spTree>
    <p:extLst>
      <p:ext uri="{BB962C8B-B14F-4D97-AF65-F5344CB8AC3E}">
        <p14:creationId xmlns:p14="http://schemas.microsoft.com/office/powerpoint/2010/main" val="11438463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D4A2-4981-2CAC-5FB0-70A7AE4CE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EB971C-9F4A-F86B-A5B5-0460FD3BA173}"/>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EB87DF2C-D1FC-1967-069E-57272FCA0226}"/>
              </a:ext>
            </a:extLst>
          </p:cNvPr>
          <p:cNvSpPr/>
          <p:nvPr/>
        </p:nvSpPr>
        <p:spPr>
          <a:xfrm>
            <a:off x="5476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Scheduler</a:t>
            </a:r>
          </a:p>
        </p:txBody>
      </p:sp>
      <p:sp>
        <p:nvSpPr>
          <p:cNvPr id="105" name="Rectangle: Rounded Corners 104">
            <a:extLst>
              <a:ext uri="{FF2B5EF4-FFF2-40B4-BE49-F238E27FC236}">
                <a16:creationId xmlns:a16="http://schemas.microsoft.com/office/drawing/2014/main" id="{4EFE73BE-DC48-6C3F-FD26-7896C095955A}"/>
              </a:ext>
            </a:extLst>
          </p:cNvPr>
          <p:cNvSpPr/>
          <p:nvPr/>
        </p:nvSpPr>
        <p:spPr>
          <a:xfrm>
            <a:off x="4307681"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Queue</a:t>
            </a:r>
          </a:p>
        </p:txBody>
      </p:sp>
      <p:sp>
        <p:nvSpPr>
          <p:cNvPr id="106" name="Rectangle: Rounded Corners 105">
            <a:extLst>
              <a:ext uri="{FF2B5EF4-FFF2-40B4-BE49-F238E27FC236}">
                <a16:creationId xmlns:a16="http://schemas.microsoft.com/office/drawing/2014/main" id="{257DA776-2610-4101-10A7-6E8BC06E2518}"/>
              </a:ext>
            </a:extLst>
          </p:cNvPr>
          <p:cNvSpPr/>
          <p:nvPr/>
        </p:nvSpPr>
        <p:spPr>
          <a:xfrm>
            <a:off x="80660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Time-Based Triggers</a:t>
            </a:r>
          </a:p>
        </p:txBody>
      </p:sp>
    </p:spTree>
    <p:extLst>
      <p:ext uri="{BB962C8B-B14F-4D97-AF65-F5344CB8AC3E}">
        <p14:creationId xmlns:p14="http://schemas.microsoft.com/office/powerpoint/2010/main" val="39039846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7EC11-5C38-494B-DAB8-2B7B6836BE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061BEC-60AB-203D-5993-0342D61808D9}"/>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F6ECDEA3-221D-F8CE-2266-7BA48AB7B5FE}"/>
              </a:ext>
            </a:extLst>
          </p:cNvPr>
          <p:cNvSpPr/>
          <p:nvPr/>
        </p:nvSpPr>
        <p:spPr>
          <a:xfrm>
            <a:off x="547688" y="251052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Scheduler</a:t>
            </a:r>
          </a:p>
        </p:txBody>
      </p:sp>
      <p:sp>
        <p:nvSpPr>
          <p:cNvPr id="105" name="Rectangle: Rounded Corners 104">
            <a:extLst>
              <a:ext uri="{FF2B5EF4-FFF2-40B4-BE49-F238E27FC236}">
                <a16:creationId xmlns:a16="http://schemas.microsoft.com/office/drawing/2014/main" id="{1ECA7FE9-87A6-5505-563A-FF453A8CFAC5}"/>
              </a:ext>
            </a:extLst>
          </p:cNvPr>
          <p:cNvSpPr/>
          <p:nvPr/>
        </p:nvSpPr>
        <p:spPr>
          <a:xfrm>
            <a:off x="536431" y="353933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Queue</a:t>
            </a:r>
          </a:p>
        </p:txBody>
      </p:sp>
      <p:sp>
        <p:nvSpPr>
          <p:cNvPr id="106" name="Rectangle: Rounded Corners 105">
            <a:extLst>
              <a:ext uri="{FF2B5EF4-FFF2-40B4-BE49-F238E27FC236}">
                <a16:creationId xmlns:a16="http://schemas.microsoft.com/office/drawing/2014/main" id="{D4BB83E1-AEF7-D0B0-44AE-07A815FB67E9}"/>
              </a:ext>
            </a:extLst>
          </p:cNvPr>
          <p:cNvSpPr/>
          <p:nvPr/>
        </p:nvSpPr>
        <p:spPr>
          <a:xfrm>
            <a:off x="546100" y="456009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Time-Based Triggers</a:t>
            </a:r>
          </a:p>
        </p:txBody>
      </p:sp>
      <p:sp>
        <p:nvSpPr>
          <p:cNvPr id="6" name="Rectangle: Rounded Corners 5">
            <a:extLst>
              <a:ext uri="{FF2B5EF4-FFF2-40B4-BE49-F238E27FC236}">
                <a16:creationId xmlns:a16="http://schemas.microsoft.com/office/drawing/2014/main" id="{21516FAF-956A-AF71-6157-E05644035B7C}"/>
              </a:ext>
            </a:extLst>
          </p:cNvPr>
          <p:cNvSpPr/>
          <p:nvPr/>
        </p:nvSpPr>
        <p:spPr>
          <a:xfrm>
            <a:off x="6769426" y="3162249"/>
            <a:ext cx="3422076"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7" name="Oval 6">
            <a:extLst>
              <a:ext uri="{FF2B5EF4-FFF2-40B4-BE49-F238E27FC236}">
                <a16:creationId xmlns:a16="http://schemas.microsoft.com/office/drawing/2014/main" id="{22E2F78F-2CE4-7375-F5F6-B2304E8FDF2E}"/>
              </a:ext>
            </a:extLst>
          </p:cNvPr>
          <p:cNvSpPr/>
          <p:nvPr/>
        </p:nvSpPr>
        <p:spPr>
          <a:xfrm>
            <a:off x="10837213" y="310065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8" name="Oval 7">
            <a:extLst>
              <a:ext uri="{FF2B5EF4-FFF2-40B4-BE49-F238E27FC236}">
                <a16:creationId xmlns:a16="http://schemas.microsoft.com/office/drawing/2014/main" id="{E4AFEE59-C208-FEBC-B099-0895A1239BE6}"/>
              </a:ext>
            </a:extLst>
          </p:cNvPr>
          <p:cNvSpPr/>
          <p:nvPr/>
        </p:nvSpPr>
        <p:spPr>
          <a:xfrm>
            <a:off x="5397925"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9" name="TextBox 8">
            <a:extLst>
              <a:ext uri="{FF2B5EF4-FFF2-40B4-BE49-F238E27FC236}">
                <a16:creationId xmlns:a16="http://schemas.microsoft.com/office/drawing/2014/main" id="{C05ACF65-172D-87CF-EF67-69776DAB3943}"/>
              </a:ext>
            </a:extLst>
          </p:cNvPr>
          <p:cNvSpPr txBox="1"/>
          <p:nvPr/>
        </p:nvSpPr>
        <p:spPr>
          <a:xfrm>
            <a:off x="8388099" y="3541387"/>
            <a:ext cx="184731" cy="338554"/>
          </a:xfrm>
          <a:prstGeom prst="rect">
            <a:avLst/>
          </a:prstGeom>
          <a:noFill/>
        </p:spPr>
        <p:txBody>
          <a:bodyPr wrap="none" rtlCol="0">
            <a:spAutoFit/>
          </a:bodyPr>
          <a:lstStyle/>
          <a:p>
            <a:endParaRPr lang="en-US" sz="1600" dirty="0"/>
          </a:p>
        </p:txBody>
      </p:sp>
      <p:sp>
        <p:nvSpPr>
          <p:cNvPr id="10" name="Rectangle: Rounded Corners 9">
            <a:extLst>
              <a:ext uri="{FF2B5EF4-FFF2-40B4-BE49-F238E27FC236}">
                <a16:creationId xmlns:a16="http://schemas.microsoft.com/office/drawing/2014/main" id="{89F79726-48D7-D347-03E3-64C735A126A6}"/>
              </a:ext>
            </a:extLst>
          </p:cNvPr>
          <p:cNvSpPr/>
          <p:nvPr/>
        </p:nvSpPr>
        <p:spPr>
          <a:xfrm>
            <a:off x="6769426" y="3912500"/>
            <a:ext cx="3422076" cy="563802"/>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pic>
        <p:nvPicPr>
          <p:cNvPr id="11" name="Picture 10" descr="Free Envelope Clipart Black And White, Download Free Envelope Clipart Black  And White png images, Free ClipArts on Clipart Library">
            <a:extLst>
              <a:ext uri="{FF2B5EF4-FFF2-40B4-BE49-F238E27FC236}">
                <a16:creationId xmlns:a16="http://schemas.microsoft.com/office/drawing/2014/main" id="{B142236F-5CA3-9224-FE2A-191FAD47F70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94877" y="32596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Free Envelope Clipart Black And White, Download Free Envelope Clipart Black  And White png images, Free ClipArts on Clipart Library">
            <a:extLst>
              <a:ext uri="{FF2B5EF4-FFF2-40B4-BE49-F238E27FC236}">
                <a16:creationId xmlns:a16="http://schemas.microsoft.com/office/drawing/2014/main" id="{0F2113F6-8143-4848-E92B-827E65A44C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455003" y="32713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Free Envelope Clipart Black And White, Download Free Envelope Clipart Black  And White png images, Free ClipArts on Clipart Library">
            <a:extLst>
              <a:ext uri="{FF2B5EF4-FFF2-40B4-BE49-F238E27FC236}">
                <a16:creationId xmlns:a16="http://schemas.microsoft.com/office/drawing/2014/main" id="{D8A8E140-2819-7B8D-418B-6B7926F345CB}"/>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34165" y="3259623"/>
            <a:ext cx="535720" cy="369052"/>
          </a:xfrm>
          <a:prstGeom prst="rect">
            <a:avLst/>
          </a:prstGeom>
          <a:noFill/>
          <a:extLst>
            <a:ext uri="{909E8E84-426E-40DD-AFC4-6F175D3DCCD1}">
              <a14:hiddenFill xmlns:a14="http://schemas.microsoft.com/office/drawing/2010/main">
                <a:solidFill>
                  <a:srgbClr val="FFFFFF"/>
                </a:solidFill>
              </a14:hiddenFill>
            </a:ext>
          </a:extLst>
        </p:spPr>
      </p:pic>
      <p:grpSp>
        <p:nvGrpSpPr>
          <p:cNvPr id="14" name="Group 13">
            <a:extLst>
              <a:ext uri="{FF2B5EF4-FFF2-40B4-BE49-F238E27FC236}">
                <a16:creationId xmlns:a16="http://schemas.microsoft.com/office/drawing/2014/main" id="{24BE1F51-F6ED-CAA4-9E1B-F1DF9CB17924}"/>
              </a:ext>
            </a:extLst>
          </p:cNvPr>
          <p:cNvGrpSpPr/>
          <p:nvPr/>
        </p:nvGrpSpPr>
        <p:grpSpPr>
          <a:xfrm>
            <a:off x="5421803" y="3197789"/>
            <a:ext cx="652743" cy="427865"/>
            <a:chOff x="4960493" y="4337211"/>
            <a:chExt cx="652743" cy="427865"/>
          </a:xfrm>
        </p:grpSpPr>
        <p:pic>
          <p:nvPicPr>
            <p:cNvPr id="15" name="Picture 14" descr="Free Envelope Clipart Black And White, Download Free Envelope Clipart Black  And White png images, Free ClipArts on Clipart Library">
              <a:extLst>
                <a:ext uri="{FF2B5EF4-FFF2-40B4-BE49-F238E27FC236}">
                  <a16:creationId xmlns:a16="http://schemas.microsoft.com/office/drawing/2014/main" id="{0851906C-512D-77A3-0BC7-B4A3CEF351B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32428" y="4396024"/>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8B1D59F2-8CEC-4323-4864-7294F31B91D4}"/>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grpSp>
        <p:nvGrpSpPr>
          <p:cNvPr id="17" name="Group 16">
            <a:extLst>
              <a:ext uri="{FF2B5EF4-FFF2-40B4-BE49-F238E27FC236}">
                <a16:creationId xmlns:a16="http://schemas.microsoft.com/office/drawing/2014/main" id="{94788979-D62E-2633-B30B-8D316A4673CF}"/>
              </a:ext>
            </a:extLst>
          </p:cNvPr>
          <p:cNvGrpSpPr/>
          <p:nvPr/>
        </p:nvGrpSpPr>
        <p:grpSpPr>
          <a:xfrm>
            <a:off x="6798551" y="3190723"/>
            <a:ext cx="652743" cy="430886"/>
            <a:chOff x="4960493" y="4337211"/>
            <a:chExt cx="652743" cy="430886"/>
          </a:xfrm>
        </p:grpSpPr>
        <p:pic>
          <p:nvPicPr>
            <p:cNvPr id="30" name="Picture 29" descr="Free Envelope Clipart Black And White, Download Free Envelope Clipart Black  And White png images, Free ClipArts on Clipart Library">
              <a:extLst>
                <a:ext uri="{FF2B5EF4-FFF2-40B4-BE49-F238E27FC236}">
                  <a16:creationId xmlns:a16="http://schemas.microsoft.com/office/drawing/2014/main" id="{0CD12B91-C5AE-41E7-5A58-B712E22EE24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1" name="TextBox 30">
              <a:extLst>
                <a:ext uri="{FF2B5EF4-FFF2-40B4-BE49-F238E27FC236}">
                  <a16:creationId xmlns:a16="http://schemas.microsoft.com/office/drawing/2014/main" id="{6BDC79B0-3F00-964B-CA9B-67BF3FE90678}"/>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grpSp>
        <p:nvGrpSpPr>
          <p:cNvPr id="32" name="Group 31">
            <a:extLst>
              <a:ext uri="{FF2B5EF4-FFF2-40B4-BE49-F238E27FC236}">
                <a16:creationId xmlns:a16="http://schemas.microsoft.com/office/drawing/2014/main" id="{69EDB256-433B-AE86-BBAF-3592F3F7711C}"/>
              </a:ext>
            </a:extLst>
          </p:cNvPr>
          <p:cNvGrpSpPr/>
          <p:nvPr/>
        </p:nvGrpSpPr>
        <p:grpSpPr>
          <a:xfrm>
            <a:off x="6798551" y="3926979"/>
            <a:ext cx="652743" cy="430886"/>
            <a:chOff x="4960493" y="4337211"/>
            <a:chExt cx="652743" cy="430886"/>
          </a:xfrm>
        </p:grpSpPr>
        <p:pic>
          <p:nvPicPr>
            <p:cNvPr id="33" name="Picture 32" descr="Free Envelope Clipart Black And White, Download Free Envelope Clipart Black  And White png images, Free ClipArts on Clipart Library">
              <a:extLst>
                <a:ext uri="{FF2B5EF4-FFF2-40B4-BE49-F238E27FC236}">
                  <a16:creationId xmlns:a16="http://schemas.microsoft.com/office/drawing/2014/main" id="{3C7EFD72-CF91-89AE-0DB9-09AF6181FFC1}"/>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1A37D9E5-F037-77AA-ACF3-599B81EEA5A9}"/>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pic>
        <p:nvPicPr>
          <p:cNvPr id="35" name="Picture 34" descr="Free Envelope Clipart Black And White, Download Free Envelope Clipart Black  And White png images, Free ClipArts on Clipart Library">
            <a:extLst>
              <a:ext uri="{FF2B5EF4-FFF2-40B4-BE49-F238E27FC236}">
                <a16:creationId xmlns:a16="http://schemas.microsoft.com/office/drawing/2014/main" id="{4341D42A-A76A-D8C5-8216-D17048511F9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93738" y="3263729"/>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descr="Free Envelope Clipart Black And White, Download Free Envelope Clipart Black  And White png images, Free ClipArts on Clipart Library">
            <a:extLst>
              <a:ext uri="{FF2B5EF4-FFF2-40B4-BE49-F238E27FC236}">
                <a16:creationId xmlns:a16="http://schemas.microsoft.com/office/drawing/2014/main" id="{7CC86A1E-BE53-EAD7-4645-1F84F136E95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455003" y="3265698"/>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36" descr="Free Envelope Clipart Black And White, Download Free Envelope Clipart Black  And White png images, Free ClipArts on Clipart Library">
            <a:extLst>
              <a:ext uri="{FF2B5EF4-FFF2-40B4-BE49-F238E27FC236}">
                <a16:creationId xmlns:a16="http://schemas.microsoft.com/office/drawing/2014/main" id="{D8BDE18D-3DDA-8BFA-91E6-B4F99FE7A47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34165" y="3252557"/>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descr="Free Envelope Clipart Black And White, Download Free Envelope Clipart Black  And White png images, Free ClipArts on Clipart Library">
            <a:extLst>
              <a:ext uri="{FF2B5EF4-FFF2-40B4-BE49-F238E27FC236}">
                <a16:creationId xmlns:a16="http://schemas.microsoft.com/office/drawing/2014/main" id="{C7873FFB-61A3-DE72-A9AC-CF30F1EA99A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490174" y="3256602"/>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descr="Free Envelope Clipart Black And White, Download Free Envelope Clipart Black  And White png images, Free ClipArts on Clipart Library">
            <a:extLst>
              <a:ext uri="{FF2B5EF4-FFF2-40B4-BE49-F238E27FC236}">
                <a16:creationId xmlns:a16="http://schemas.microsoft.com/office/drawing/2014/main" id="{971A60B5-F93D-F1A5-5770-D98FBBFAB8A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455003" y="3271323"/>
            <a:ext cx="535720" cy="369052"/>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roup 39">
            <a:extLst>
              <a:ext uri="{FF2B5EF4-FFF2-40B4-BE49-F238E27FC236}">
                <a16:creationId xmlns:a16="http://schemas.microsoft.com/office/drawing/2014/main" id="{E1689A1E-B314-D995-0154-16EF11F9AF47}"/>
              </a:ext>
            </a:extLst>
          </p:cNvPr>
          <p:cNvGrpSpPr/>
          <p:nvPr/>
        </p:nvGrpSpPr>
        <p:grpSpPr>
          <a:xfrm>
            <a:off x="8783844" y="3209489"/>
            <a:ext cx="652743" cy="430886"/>
            <a:chOff x="4960493" y="4337211"/>
            <a:chExt cx="652743" cy="430886"/>
          </a:xfrm>
        </p:grpSpPr>
        <p:pic>
          <p:nvPicPr>
            <p:cNvPr id="41" name="Picture 40" descr="Free Envelope Clipart Black And White, Download Free Envelope Clipart Black  And White png images, Free ClipArts on Clipart Library">
              <a:extLst>
                <a:ext uri="{FF2B5EF4-FFF2-40B4-BE49-F238E27FC236}">
                  <a16:creationId xmlns:a16="http://schemas.microsoft.com/office/drawing/2014/main" id="{506CB09A-56DA-89BD-E29E-CD0EB239F589}"/>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06C23455-87A4-F69C-200E-5E3A9877064B}"/>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pic>
        <p:nvPicPr>
          <p:cNvPr id="43" name="Picture 42" descr="Free Envelope Clipart Black And White, Download Free Envelope Clipart Black  And White png images, Free ClipArts on Clipart Library">
            <a:extLst>
              <a:ext uri="{FF2B5EF4-FFF2-40B4-BE49-F238E27FC236}">
                <a16:creationId xmlns:a16="http://schemas.microsoft.com/office/drawing/2014/main" id="{2E819BBE-35F9-ECBD-3D15-D6279EE952EE}"/>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934165" y="3266689"/>
            <a:ext cx="535720" cy="369052"/>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oup 43">
            <a:extLst>
              <a:ext uri="{FF2B5EF4-FFF2-40B4-BE49-F238E27FC236}">
                <a16:creationId xmlns:a16="http://schemas.microsoft.com/office/drawing/2014/main" id="{0C7F5F08-9A83-D1E2-9CAB-47B59EE4CCD5}"/>
              </a:ext>
            </a:extLst>
          </p:cNvPr>
          <p:cNvGrpSpPr/>
          <p:nvPr/>
        </p:nvGrpSpPr>
        <p:grpSpPr>
          <a:xfrm>
            <a:off x="9396491" y="3209489"/>
            <a:ext cx="652743" cy="430886"/>
            <a:chOff x="4960493" y="4337211"/>
            <a:chExt cx="652743" cy="430886"/>
          </a:xfrm>
        </p:grpSpPr>
        <p:pic>
          <p:nvPicPr>
            <p:cNvPr id="45" name="Picture 44" descr="Free Envelope Clipart Black And White, Download Free Envelope Clipart Black  And White png images, Free ClipArts on Clipart Library">
              <a:extLst>
                <a:ext uri="{FF2B5EF4-FFF2-40B4-BE49-F238E27FC236}">
                  <a16:creationId xmlns:a16="http://schemas.microsoft.com/office/drawing/2014/main" id="{F2DA215F-5B18-B243-3B9C-22676990B287}"/>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6" name="TextBox 45">
              <a:extLst>
                <a:ext uri="{FF2B5EF4-FFF2-40B4-BE49-F238E27FC236}">
                  <a16:creationId xmlns:a16="http://schemas.microsoft.com/office/drawing/2014/main" id="{989A1C03-DEC1-7C3A-FEE8-4E8A8276CED6}"/>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grpSp>
        <p:nvGrpSpPr>
          <p:cNvPr id="47" name="Group 46">
            <a:extLst>
              <a:ext uri="{FF2B5EF4-FFF2-40B4-BE49-F238E27FC236}">
                <a16:creationId xmlns:a16="http://schemas.microsoft.com/office/drawing/2014/main" id="{A8B6AA12-7F10-75C4-723D-4B787DC0F344}"/>
              </a:ext>
            </a:extLst>
          </p:cNvPr>
          <p:cNvGrpSpPr/>
          <p:nvPr/>
        </p:nvGrpSpPr>
        <p:grpSpPr>
          <a:xfrm>
            <a:off x="10871309" y="3197789"/>
            <a:ext cx="652743" cy="430886"/>
            <a:chOff x="4960493" y="4337211"/>
            <a:chExt cx="652743" cy="430886"/>
          </a:xfrm>
        </p:grpSpPr>
        <p:pic>
          <p:nvPicPr>
            <p:cNvPr id="48" name="Picture 47" descr="Free Envelope Clipart Black And White, Download Free Envelope Clipart Black  And White png images, Free ClipArts on Clipart Library">
              <a:extLst>
                <a:ext uri="{FF2B5EF4-FFF2-40B4-BE49-F238E27FC236}">
                  <a16:creationId xmlns:a16="http://schemas.microsoft.com/office/drawing/2014/main" id="{F853E842-26A3-EEC7-277E-B7630C92F8FA}"/>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019005" y="4399045"/>
              <a:ext cx="535720" cy="369052"/>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D8902247-FB87-B621-0768-F3A3C11CC2A2}"/>
                </a:ext>
              </a:extLst>
            </p:cNvPr>
            <p:cNvSpPr txBox="1"/>
            <p:nvPr/>
          </p:nvSpPr>
          <p:spPr>
            <a:xfrm>
              <a:off x="4960493" y="4337211"/>
              <a:ext cx="652743" cy="338554"/>
            </a:xfrm>
            <a:prstGeom prst="rect">
              <a:avLst/>
            </a:prstGeom>
            <a:noFill/>
          </p:spPr>
          <p:txBody>
            <a:bodyPr wrap="none" rtlCol="0">
              <a:spAutoFit/>
            </a:bodyPr>
            <a:lstStyle/>
            <a:p>
              <a:r>
                <a:rPr lang="en-US" sz="1600" dirty="0"/>
                <a:t>1 min</a:t>
              </a:r>
            </a:p>
          </p:txBody>
        </p:sp>
      </p:grpSp>
    </p:spTree>
    <p:extLst>
      <p:ext uri="{BB962C8B-B14F-4D97-AF65-F5344CB8AC3E}">
        <p14:creationId xmlns:p14="http://schemas.microsoft.com/office/powerpoint/2010/main" val="13646631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42" presetClass="path" presetSubtype="0" accel="50000" decel="50000" fill="hold" nodeType="withEffect">
                                  <p:stCondLst>
                                    <p:cond delay="0"/>
                                  </p:stCondLst>
                                  <p:childTnLst>
                                    <p:animMotion origin="layout" path="M 3.75E-6 -3.33333E-6 L 0.32487 0.00186 " pathEditMode="relative" rAng="0" ptsTypes="AA">
                                      <p:cBhvr>
                                        <p:cTn id="9" dur="500" fill="hold"/>
                                        <p:tgtEl>
                                          <p:spTgt spid="11"/>
                                        </p:tgtEl>
                                        <p:attrNameLst>
                                          <p:attrName>ppt_x</p:attrName>
                                          <p:attrName>ppt_y</p:attrName>
                                        </p:attrNameLst>
                                      </p:cBhvr>
                                      <p:rCtr x="16237" y="93"/>
                                    </p:animMotion>
                                  </p:childTnLst>
                                </p:cTn>
                              </p:par>
                            </p:childTnLst>
                          </p:cTn>
                        </p:par>
                        <p:par>
                          <p:cTn id="10" fill="hold">
                            <p:stCondLst>
                              <p:cond delay="500"/>
                            </p:stCondLst>
                            <p:childTnLst>
                              <p:par>
                                <p:cTn id="11" presetID="1" presetClass="entr" presetSubtype="0" fill="hold" nodeType="after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par>
                          <p:cTn id="15" fill="hold">
                            <p:stCondLst>
                              <p:cond delay="500"/>
                            </p:stCondLst>
                            <p:childTnLst>
                              <p:par>
                                <p:cTn id="16" presetID="42" presetClass="path" presetSubtype="0" accel="50000" decel="50000" fill="hold" nodeType="afterEffect">
                                  <p:stCondLst>
                                    <p:cond delay="0"/>
                                  </p:stCondLst>
                                  <p:childTnLst>
                                    <p:animMotion origin="layout" path="M 4.16667E-6 4.81481E-6 L 0.12083 -0.0007 " pathEditMode="relative" rAng="0" ptsTypes="AA">
                                      <p:cBhvr>
                                        <p:cTn id="17" dur="500" fill="hold"/>
                                        <p:tgtEl>
                                          <p:spTgt spid="12"/>
                                        </p:tgtEl>
                                        <p:attrNameLst>
                                          <p:attrName>ppt_x</p:attrName>
                                          <p:attrName>ppt_y</p:attrName>
                                        </p:attrNameLst>
                                      </p:cBhvr>
                                      <p:rCtr x="6042" y="-46"/>
                                    </p:animMotion>
                                  </p:childTnLst>
                                </p:cTn>
                              </p:par>
                            </p:childTnLst>
                          </p:cTn>
                        </p:par>
                        <p:par>
                          <p:cTn id="18" fill="hold">
                            <p:stCondLst>
                              <p:cond delay="1000"/>
                            </p:stCondLst>
                            <p:childTnLst>
                              <p:par>
                                <p:cTn id="19" presetID="1" presetClass="entr" presetSubtype="0" fill="hold" nodeType="after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2"/>
                                        </p:tgtEl>
                                        <p:attrNameLst>
                                          <p:attrName>style.visibility</p:attrName>
                                        </p:attrNameLst>
                                      </p:cBhvr>
                                      <p:to>
                                        <p:strVal val="hidden"/>
                                      </p:to>
                                    </p:set>
                                  </p:childTnLst>
                                </p:cTn>
                              </p:par>
                            </p:childTnLst>
                          </p:cTn>
                        </p:par>
                        <p:par>
                          <p:cTn id="23" fill="hold">
                            <p:stCondLst>
                              <p:cond delay="1000"/>
                            </p:stCondLst>
                            <p:childTnLst>
                              <p:par>
                                <p:cTn id="24" presetID="9" presetClass="exit" presetSubtype="0" fill="hold" nodeType="afterEffect">
                                  <p:stCondLst>
                                    <p:cond delay="0"/>
                                  </p:stCondLst>
                                  <p:childTnLst>
                                    <p:animEffect transition="out" filter="dissolve">
                                      <p:cBhvr>
                                        <p:cTn id="25" dur="500"/>
                                        <p:tgtEl>
                                          <p:spTgt spid="13"/>
                                        </p:tgtEl>
                                      </p:cBhvr>
                                    </p:animEffect>
                                    <p:set>
                                      <p:cBhvr>
                                        <p:cTn id="26" dur="1" fill="hold">
                                          <p:stCondLst>
                                            <p:cond delay="499"/>
                                          </p:stCondLst>
                                        </p:cTn>
                                        <p:tgtEl>
                                          <p:spTgt spid="1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par>
                          <p:cTn id="32" fill="hold">
                            <p:stCondLst>
                              <p:cond delay="500"/>
                            </p:stCondLst>
                            <p:childTnLst>
                              <p:par>
                                <p:cTn id="33" presetID="42" presetClass="path" presetSubtype="0" accel="50000" decel="50000" fill="hold" nodeType="afterEffect">
                                  <p:stCondLst>
                                    <p:cond delay="0"/>
                                  </p:stCondLst>
                                  <p:childTnLst>
                                    <p:animMotion origin="layout" path="M -4.16667E-6 -3.7037E-6 L 0.11211 -0.00139 " pathEditMode="relative" rAng="0" ptsTypes="AA">
                                      <p:cBhvr>
                                        <p:cTn id="34" dur="500" fill="hold"/>
                                        <p:tgtEl>
                                          <p:spTgt spid="14"/>
                                        </p:tgtEl>
                                        <p:attrNameLst>
                                          <p:attrName>ppt_x</p:attrName>
                                          <p:attrName>ppt_y</p:attrName>
                                        </p:attrNameLst>
                                      </p:cBhvr>
                                      <p:rCtr x="5599" y="-69"/>
                                    </p:animMotion>
                                  </p:childTnLst>
                                </p:cTn>
                              </p:par>
                            </p:childTnLst>
                          </p:cTn>
                        </p:par>
                        <p:par>
                          <p:cTn id="35" fill="hold">
                            <p:stCondLst>
                              <p:cond delay="1000"/>
                            </p:stCondLst>
                            <p:childTnLst>
                              <p:par>
                                <p:cTn id="36" presetID="1" presetClass="entr" presetSubtype="0" fill="hold" nodeType="after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par>
                                <p:cTn id="38" presetID="1" presetClass="exit" presetSubtype="0" fill="hold" nodeType="withEffect">
                                  <p:stCondLst>
                                    <p:cond delay="0"/>
                                  </p:stCondLst>
                                  <p:childTnLst>
                                    <p:set>
                                      <p:cBhvr>
                                        <p:cTn id="39" dur="1" fill="hold">
                                          <p:stCondLst>
                                            <p:cond delay="0"/>
                                          </p:stCondLst>
                                        </p:cTn>
                                        <p:tgtEl>
                                          <p:spTgt spid="14"/>
                                        </p:tgtEl>
                                        <p:attrNameLst>
                                          <p:attrName>style.visibility</p:attrName>
                                        </p:attrNameLst>
                                      </p:cBhvr>
                                      <p:to>
                                        <p:strVal val="hidden"/>
                                      </p:to>
                                    </p:set>
                                  </p:childTnLst>
                                </p:cTn>
                              </p:par>
                            </p:childTnLst>
                          </p:cTn>
                        </p:par>
                      </p:childTnLst>
                    </p:cTn>
                  </p:par>
                  <p:par>
                    <p:cTn id="40" fill="hold">
                      <p:stCondLst>
                        <p:cond delay="indefinite"/>
                      </p:stCondLst>
                      <p:childTnLst>
                        <p:par>
                          <p:cTn id="41" fill="hold">
                            <p:stCondLst>
                              <p:cond delay="0"/>
                            </p:stCondLst>
                            <p:childTnLst>
                              <p:par>
                                <p:cTn id="42" presetID="42" presetClass="path" presetSubtype="0" accel="50000" decel="50000" fill="hold" nodeType="clickEffect">
                                  <p:stCondLst>
                                    <p:cond delay="0"/>
                                  </p:stCondLst>
                                  <p:childTnLst>
                                    <p:animMotion origin="layout" path="M 5E-6 2.22222E-6 L -0.00013 0.10741 " pathEditMode="relative" rAng="0" ptsTypes="AA">
                                      <p:cBhvr>
                                        <p:cTn id="43" dur="500" fill="hold"/>
                                        <p:tgtEl>
                                          <p:spTgt spid="17"/>
                                        </p:tgtEl>
                                        <p:attrNameLst>
                                          <p:attrName>ppt_x</p:attrName>
                                          <p:attrName>ppt_y</p:attrName>
                                        </p:attrNameLst>
                                      </p:cBhvr>
                                      <p:rCtr x="-13" y="5370"/>
                                    </p:animMotion>
                                  </p:childTnLst>
                                </p:cTn>
                              </p:par>
                            </p:childTnLst>
                          </p:cTn>
                        </p:par>
                        <p:par>
                          <p:cTn id="44" fill="hold">
                            <p:stCondLst>
                              <p:cond delay="500"/>
                            </p:stCondLst>
                            <p:childTnLst>
                              <p:par>
                                <p:cTn id="45" presetID="1" presetClass="entr" presetSubtype="0" fill="hold" nodeType="after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childTnLst>
                          </p:cTn>
                        </p:par>
                        <p:par>
                          <p:cTn id="47" fill="hold">
                            <p:stCondLst>
                              <p:cond delay="500"/>
                            </p:stCondLst>
                            <p:childTnLst>
                              <p:par>
                                <p:cTn id="48" presetID="1" presetClass="exit" presetSubtype="0" fill="hold" nodeType="afterEffect">
                                  <p:stCondLst>
                                    <p:cond delay="0"/>
                                  </p:stCondLst>
                                  <p:childTnLst>
                                    <p:set>
                                      <p:cBhvr>
                                        <p:cTn id="49" dur="1" fill="hold">
                                          <p:stCondLst>
                                            <p:cond delay="0"/>
                                          </p:stCondLst>
                                        </p:cTn>
                                        <p:tgtEl>
                                          <p:spTgt spid="17"/>
                                        </p:tgtEl>
                                        <p:attrNameLst>
                                          <p:attrName>style.visibility</p:attrName>
                                        </p:attrNameLst>
                                      </p:cBhvr>
                                      <p:to>
                                        <p:strVal val="hidden"/>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fade">
                                      <p:cBhvr>
                                        <p:cTn id="54" dur="500"/>
                                        <p:tgtEl>
                                          <p:spTgt spid="35"/>
                                        </p:tgtEl>
                                      </p:cBhvr>
                                    </p:animEffect>
                                  </p:childTnLst>
                                </p:cTn>
                              </p:par>
                            </p:childTnLst>
                          </p:cTn>
                        </p:par>
                        <p:par>
                          <p:cTn id="55" fill="hold">
                            <p:stCondLst>
                              <p:cond delay="500"/>
                            </p:stCondLst>
                            <p:childTnLst>
                              <p:par>
                                <p:cTn id="56" presetID="42" presetClass="path" presetSubtype="0" accel="50000" decel="50000" fill="hold" nodeType="afterEffect">
                                  <p:stCondLst>
                                    <p:cond delay="0"/>
                                  </p:stCondLst>
                                  <p:childTnLst>
                                    <p:animMotion origin="layout" path="M 3.95833E-6 2.22222E-6 L 0.32395 0.00046 " pathEditMode="relative" rAng="0" ptsTypes="AA">
                                      <p:cBhvr>
                                        <p:cTn id="57" dur="500" fill="hold"/>
                                        <p:tgtEl>
                                          <p:spTgt spid="35"/>
                                        </p:tgtEl>
                                        <p:attrNameLst>
                                          <p:attrName>ppt_x</p:attrName>
                                          <p:attrName>ppt_y</p:attrName>
                                        </p:attrNameLst>
                                      </p:cBhvr>
                                      <p:rCtr x="16198" y="23"/>
                                    </p:animMotion>
                                  </p:childTnLst>
                                </p:cTn>
                              </p:par>
                            </p:childTnLst>
                          </p:cTn>
                        </p:par>
                        <p:par>
                          <p:cTn id="58" fill="hold">
                            <p:stCondLst>
                              <p:cond delay="1000"/>
                            </p:stCondLst>
                            <p:childTnLst>
                              <p:par>
                                <p:cTn id="59" presetID="1" presetClass="entr" presetSubtype="0" fill="hold" nodeType="after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35"/>
                                        </p:tgtEl>
                                        <p:attrNameLst>
                                          <p:attrName>style.visibility</p:attrName>
                                        </p:attrNameLst>
                                      </p:cBhvr>
                                      <p:to>
                                        <p:strVal val="hidden"/>
                                      </p:to>
                                    </p:set>
                                  </p:childTnLst>
                                </p:cTn>
                              </p:par>
                            </p:childTnLst>
                          </p:cTn>
                        </p:par>
                        <p:par>
                          <p:cTn id="63" fill="hold">
                            <p:stCondLst>
                              <p:cond delay="1000"/>
                            </p:stCondLst>
                            <p:childTnLst>
                              <p:par>
                                <p:cTn id="64" presetID="42" presetClass="path" presetSubtype="0" accel="50000" decel="50000" fill="hold" nodeType="afterEffect">
                                  <p:stCondLst>
                                    <p:cond delay="0"/>
                                  </p:stCondLst>
                                  <p:childTnLst>
                                    <p:animMotion origin="layout" path="M 4.16667E-6 7.40741E-7 L 0.12109 -0.00301 " pathEditMode="relative" rAng="0" ptsTypes="AA">
                                      <p:cBhvr>
                                        <p:cTn id="65" dur="500" fill="hold"/>
                                        <p:tgtEl>
                                          <p:spTgt spid="36"/>
                                        </p:tgtEl>
                                        <p:attrNameLst>
                                          <p:attrName>ppt_x</p:attrName>
                                          <p:attrName>ppt_y</p:attrName>
                                        </p:attrNameLst>
                                      </p:cBhvr>
                                      <p:rCtr x="6055" y="-162"/>
                                    </p:animMotion>
                                  </p:childTnLst>
                                </p:cTn>
                              </p:par>
                            </p:childTnLst>
                          </p:cTn>
                        </p:par>
                        <p:par>
                          <p:cTn id="66" fill="hold">
                            <p:stCondLst>
                              <p:cond delay="1500"/>
                            </p:stCondLst>
                            <p:childTnLst>
                              <p:par>
                                <p:cTn id="67" presetID="1" presetClass="entr" presetSubtype="0" fill="hold" nodeType="after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childTnLst>
                          </p:cTn>
                        </p:par>
                        <p:par>
                          <p:cTn id="69" fill="hold">
                            <p:stCondLst>
                              <p:cond delay="1500"/>
                            </p:stCondLst>
                            <p:childTnLst>
                              <p:par>
                                <p:cTn id="70" presetID="1" presetClass="exit" presetSubtype="0" fill="hold" nodeType="afterEffect">
                                  <p:stCondLst>
                                    <p:cond delay="0"/>
                                  </p:stCondLst>
                                  <p:childTnLst>
                                    <p:set>
                                      <p:cBhvr>
                                        <p:cTn id="71" dur="1" fill="hold">
                                          <p:stCondLst>
                                            <p:cond delay="0"/>
                                          </p:stCondLst>
                                        </p:cTn>
                                        <p:tgtEl>
                                          <p:spTgt spid="36"/>
                                        </p:tgtEl>
                                        <p:attrNameLst>
                                          <p:attrName>style.visibility</p:attrName>
                                        </p:attrNameLst>
                                      </p:cBhvr>
                                      <p:to>
                                        <p:strVal val="hidden"/>
                                      </p:to>
                                    </p:set>
                                  </p:childTnLst>
                                </p:cTn>
                              </p:par>
                            </p:childTnLst>
                          </p:cTn>
                        </p:par>
                        <p:par>
                          <p:cTn id="72" fill="hold">
                            <p:stCondLst>
                              <p:cond delay="1500"/>
                            </p:stCondLst>
                            <p:childTnLst>
                              <p:par>
                                <p:cTn id="73" presetID="10" presetClass="entr" presetSubtype="0" fill="hold" nodeType="after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500"/>
                                        <p:tgtEl>
                                          <p:spTgt spid="38"/>
                                        </p:tgtEl>
                                      </p:cBhvr>
                                    </p:animEffect>
                                  </p:childTnLst>
                                </p:cTn>
                              </p:par>
                            </p:childTnLst>
                          </p:cTn>
                        </p:par>
                        <p:par>
                          <p:cTn id="76" fill="hold">
                            <p:stCondLst>
                              <p:cond delay="2000"/>
                            </p:stCondLst>
                            <p:childTnLst>
                              <p:par>
                                <p:cTn id="77" presetID="42" presetClass="path" presetSubtype="0" accel="50000" decel="50000" fill="hold" nodeType="afterEffect">
                                  <p:stCondLst>
                                    <p:cond delay="0"/>
                                  </p:stCondLst>
                                  <p:childTnLst>
                                    <p:animMotion origin="layout" path="M 4.375E-6 -3.7037E-7 L 0.32526 0.00232 " pathEditMode="relative" rAng="0" ptsTypes="AA">
                                      <p:cBhvr>
                                        <p:cTn id="78" dur="500" fill="hold"/>
                                        <p:tgtEl>
                                          <p:spTgt spid="38"/>
                                        </p:tgtEl>
                                        <p:attrNameLst>
                                          <p:attrName>ppt_x</p:attrName>
                                          <p:attrName>ppt_y</p:attrName>
                                        </p:attrNameLst>
                                      </p:cBhvr>
                                      <p:rCtr x="16263" y="116"/>
                                    </p:animMotion>
                                  </p:childTnLst>
                                </p:cTn>
                              </p:par>
                            </p:childTnLst>
                          </p:cTn>
                        </p:par>
                        <p:par>
                          <p:cTn id="79" fill="hold">
                            <p:stCondLst>
                              <p:cond delay="2500"/>
                            </p:stCondLst>
                            <p:childTnLst>
                              <p:par>
                                <p:cTn id="80" presetID="1" presetClass="entr" presetSubtype="0" fill="hold" nodeType="afterEffect">
                                  <p:stCondLst>
                                    <p:cond delay="0"/>
                                  </p:stCondLst>
                                  <p:childTnLst>
                                    <p:set>
                                      <p:cBhvr>
                                        <p:cTn id="81" dur="1" fill="hold">
                                          <p:stCondLst>
                                            <p:cond delay="0"/>
                                          </p:stCondLst>
                                        </p:cTn>
                                        <p:tgtEl>
                                          <p:spTgt spid="39"/>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3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42" presetClass="path" presetSubtype="0" accel="50000" decel="50000" fill="hold" nodeType="clickEffect">
                                  <p:stCondLst>
                                    <p:cond delay="0"/>
                                  </p:stCondLst>
                                  <p:childTnLst>
                                    <p:animMotion origin="layout" path="M 5E-6 4.81481E-6 L 0.16303 -0.10394 " pathEditMode="relative" rAng="0" ptsTypes="AA">
                                      <p:cBhvr>
                                        <p:cTn id="87" dur="500" fill="hold"/>
                                        <p:tgtEl>
                                          <p:spTgt spid="32"/>
                                        </p:tgtEl>
                                        <p:attrNameLst>
                                          <p:attrName>ppt_x</p:attrName>
                                          <p:attrName>ppt_y</p:attrName>
                                        </p:attrNameLst>
                                      </p:cBhvr>
                                      <p:rCtr x="8151" y="-5208"/>
                                    </p:animMotion>
                                  </p:childTnLst>
                                </p:cTn>
                              </p:par>
                            </p:childTnLst>
                          </p:cTn>
                        </p:par>
                        <p:par>
                          <p:cTn id="88" fill="hold">
                            <p:stCondLst>
                              <p:cond delay="500"/>
                            </p:stCondLst>
                            <p:childTnLst>
                              <p:par>
                                <p:cTn id="89" presetID="1" presetClass="entr" presetSubtype="0" fill="hold" nodeType="afterEffect">
                                  <p:stCondLst>
                                    <p:cond delay="0"/>
                                  </p:stCondLst>
                                  <p:childTnLst>
                                    <p:set>
                                      <p:cBhvr>
                                        <p:cTn id="90" dur="1" fill="hold">
                                          <p:stCondLst>
                                            <p:cond delay="0"/>
                                          </p:stCondLst>
                                        </p:cTn>
                                        <p:tgtEl>
                                          <p:spTgt spid="40"/>
                                        </p:tgtEl>
                                        <p:attrNameLst>
                                          <p:attrName>style.visibility</p:attrName>
                                        </p:attrNameLst>
                                      </p:cBhvr>
                                      <p:to>
                                        <p:strVal val="visible"/>
                                      </p:to>
                                    </p:set>
                                  </p:childTnLst>
                                </p:cTn>
                              </p:par>
                              <p:par>
                                <p:cTn id="91" presetID="1" presetClass="exit" presetSubtype="0" fill="hold" nodeType="withEffect">
                                  <p:stCondLst>
                                    <p:cond delay="0"/>
                                  </p:stCondLst>
                                  <p:childTnLst>
                                    <p:set>
                                      <p:cBhvr>
                                        <p:cTn id="92" dur="1" fill="hold">
                                          <p:stCondLst>
                                            <p:cond delay="0"/>
                                          </p:stCondLst>
                                        </p:cTn>
                                        <p:tgtEl>
                                          <p:spTgt spid="32"/>
                                        </p:tgtEl>
                                        <p:attrNameLst>
                                          <p:attrName>style.visibility</p:attrName>
                                        </p:attrNameLst>
                                      </p:cBhvr>
                                      <p:to>
                                        <p:strVal val="hidden"/>
                                      </p:to>
                                    </p:set>
                                  </p:childTnLst>
                                </p:cTn>
                              </p:par>
                            </p:childTnLst>
                          </p:cTn>
                        </p:par>
                        <p:par>
                          <p:cTn id="93" fill="hold">
                            <p:stCondLst>
                              <p:cond delay="500"/>
                            </p:stCondLst>
                            <p:childTnLst>
                              <p:par>
                                <p:cTn id="94" presetID="9" presetClass="exit" presetSubtype="0" fill="hold" nodeType="afterEffect">
                                  <p:stCondLst>
                                    <p:cond delay="0"/>
                                  </p:stCondLst>
                                  <p:childTnLst>
                                    <p:animEffect transition="out" filter="dissolve">
                                      <p:cBhvr>
                                        <p:cTn id="95" dur="500"/>
                                        <p:tgtEl>
                                          <p:spTgt spid="37"/>
                                        </p:tgtEl>
                                      </p:cBhvr>
                                    </p:animEffect>
                                    <p:set>
                                      <p:cBhvr>
                                        <p:cTn id="96" dur="1" fill="hold">
                                          <p:stCondLst>
                                            <p:cond delay="499"/>
                                          </p:stCondLst>
                                        </p:cTn>
                                        <p:tgtEl>
                                          <p:spTgt spid="37"/>
                                        </p:tgtEl>
                                        <p:attrNameLst>
                                          <p:attrName>style.visibility</p:attrName>
                                        </p:attrNameLst>
                                      </p:cBhvr>
                                      <p:to>
                                        <p:strVal val="hidden"/>
                                      </p:to>
                                    </p:set>
                                  </p:childTnLst>
                                </p:cTn>
                              </p:par>
                            </p:childTnLst>
                          </p:cTn>
                        </p:par>
                        <p:par>
                          <p:cTn id="97" fill="hold">
                            <p:stCondLst>
                              <p:cond delay="1000"/>
                            </p:stCondLst>
                            <p:childTnLst>
                              <p:par>
                                <p:cTn id="98" presetID="42" presetClass="path" presetSubtype="0" accel="50000" decel="50000" fill="hold" nodeType="afterEffect">
                                  <p:stCondLst>
                                    <p:cond delay="0"/>
                                  </p:stCondLst>
                                  <p:childTnLst>
                                    <p:animMotion origin="layout" path="M 4.16667E-6 4.81481E-6 L 0.12096 -0.00139 " pathEditMode="relative" rAng="0" ptsTypes="AA">
                                      <p:cBhvr>
                                        <p:cTn id="99" dur="500" fill="hold"/>
                                        <p:tgtEl>
                                          <p:spTgt spid="39"/>
                                        </p:tgtEl>
                                        <p:attrNameLst>
                                          <p:attrName>ppt_x</p:attrName>
                                          <p:attrName>ppt_y</p:attrName>
                                        </p:attrNameLst>
                                      </p:cBhvr>
                                      <p:rCtr x="6042" y="-69"/>
                                    </p:animMotion>
                                  </p:childTnLst>
                                </p:cTn>
                              </p:par>
                            </p:childTnLst>
                          </p:cTn>
                        </p:par>
                        <p:par>
                          <p:cTn id="100" fill="hold">
                            <p:stCondLst>
                              <p:cond delay="1500"/>
                            </p:stCondLst>
                            <p:childTnLst>
                              <p:par>
                                <p:cTn id="101" presetID="1" presetClass="entr" presetSubtype="0" fill="hold" nodeType="afterEffect">
                                  <p:stCondLst>
                                    <p:cond delay="0"/>
                                  </p:stCondLst>
                                  <p:childTnLst>
                                    <p:set>
                                      <p:cBhvr>
                                        <p:cTn id="102" dur="1" fill="hold">
                                          <p:stCondLst>
                                            <p:cond delay="0"/>
                                          </p:stCondLst>
                                        </p:cTn>
                                        <p:tgtEl>
                                          <p:spTgt spid="43"/>
                                        </p:tgtEl>
                                        <p:attrNameLst>
                                          <p:attrName>style.visibility</p:attrName>
                                        </p:attrNameLst>
                                      </p:cBhvr>
                                      <p:to>
                                        <p:strVal val="visible"/>
                                      </p:to>
                                    </p:set>
                                  </p:childTnLst>
                                </p:cTn>
                              </p:par>
                              <p:par>
                                <p:cTn id="103" presetID="1" presetClass="exit" presetSubtype="0" fill="hold" nodeType="withEffect">
                                  <p:stCondLst>
                                    <p:cond delay="0"/>
                                  </p:stCondLst>
                                  <p:childTnLst>
                                    <p:set>
                                      <p:cBhvr>
                                        <p:cTn id="104" dur="1" fill="hold">
                                          <p:stCondLst>
                                            <p:cond delay="0"/>
                                          </p:stCondLst>
                                        </p:cTn>
                                        <p:tgtEl>
                                          <p:spTgt spid="39"/>
                                        </p:tgtEl>
                                        <p:attrNameLst>
                                          <p:attrName>style.visibility</p:attrName>
                                        </p:attrNameLst>
                                      </p:cBhvr>
                                      <p:to>
                                        <p:strVal val="hidden"/>
                                      </p:to>
                                    </p:set>
                                  </p:childTnLst>
                                </p:cTn>
                              </p:par>
                            </p:childTnLst>
                          </p:cTn>
                        </p:par>
                        <p:par>
                          <p:cTn id="105" fill="hold">
                            <p:stCondLst>
                              <p:cond delay="1500"/>
                            </p:stCondLst>
                            <p:childTnLst>
                              <p:par>
                                <p:cTn id="106" presetID="42" presetClass="path" presetSubtype="0" accel="50000" decel="50000" fill="hold" nodeType="afterEffect">
                                  <p:stCondLst>
                                    <p:cond delay="0"/>
                                  </p:stCondLst>
                                  <p:childTnLst>
                                    <p:animMotion origin="layout" path="M 4.58333E-6 4.44444E-6 L 0.05026 0.00463 " pathEditMode="relative" rAng="0" ptsTypes="AA">
                                      <p:cBhvr>
                                        <p:cTn id="107" dur="500" fill="hold"/>
                                        <p:tgtEl>
                                          <p:spTgt spid="40"/>
                                        </p:tgtEl>
                                        <p:attrNameLst>
                                          <p:attrName>ppt_x</p:attrName>
                                          <p:attrName>ppt_y</p:attrName>
                                        </p:attrNameLst>
                                      </p:cBhvr>
                                      <p:rCtr x="2513" y="231"/>
                                    </p:animMotion>
                                  </p:childTnLst>
                                </p:cTn>
                              </p:par>
                            </p:childTnLst>
                          </p:cTn>
                        </p:par>
                        <p:par>
                          <p:cTn id="108" fill="hold">
                            <p:stCondLst>
                              <p:cond delay="2000"/>
                            </p:stCondLst>
                            <p:childTnLst>
                              <p:par>
                                <p:cTn id="109" presetID="1" presetClass="entr" presetSubtype="0" fill="hold" nodeType="after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par>
                                <p:cTn id="111" presetID="1" presetClass="exit" presetSubtype="0" fill="hold" nodeType="withEffect">
                                  <p:stCondLst>
                                    <p:cond delay="0"/>
                                  </p:stCondLst>
                                  <p:childTnLst>
                                    <p:set>
                                      <p:cBhvr>
                                        <p:cTn id="112" dur="1" fill="hold">
                                          <p:stCondLst>
                                            <p:cond delay="0"/>
                                          </p:stCondLst>
                                        </p:cTn>
                                        <p:tgtEl>
                                          <p:spTgt spid="40"/>
                                        </p:tgtEl>
                                        <p:attrNameLst>
                                          <p:attrName>style.visibility</p:attrName>
                                        </p:attrNameLst>
                                      </p:cBhvr>
                                      <p:to>
                                        <p:strVal val="hidden"/>
                                      </p:to>
                                    </p:set>
                                  </p:childTnLst>
                                </p:cTn>
                              </p:par>
                            </p:childTnLst>
                          </p:cTn>
                        </p:par>
                        <p:par>
                          <p:cTn id="113" fill="hold">
                            <p:stCondLst>
                              <p:cond delay="2000"/>
                            </p:stCondLst>
                            <p:childTnLst>
                              <p:par>
                                <p:cTn id="114" presetID="9" presetClass="exit" presetSubtype="0" fill="hold" nodeType="afterEffect">
                                  <p:stCondLst>
                                    <p:cond delay="0"/>
                                  </p:stCondLst>
                                  <p:childTnLst>
                                    <p:animEffect transition="out" filter="dissolve">
                                      <p:cBhvr>
                                        <p:cTn id="115" dur="500"/>
                                        <p:tgtEl>
                                          <p:spTgt spid="43"/>
                                        </p:tgtEl>
                                      </p:cBhvr>
                                    </p:animEffect>
                                    <p:set>
                                      <p:cBhvr>
                                        <p:cTn id="116" dur="1" fill="hold">
                                          <p:stCondLst>
                                            <p:cond delay="499"/>
                                          </p:stCondLst>
                                        </p:cTn>
                                        <p:tgtEl>
                                          <p:spTgt spid="43"/>
                                        </p:tgtEl>
                                        <p:attrNameLst>
                                          <p:attrName>style.visibility</p:attrName>
                                        </p:attrNameLst>
                                      </p:cBhvr>
                                      <p:to>
                                        <p:strVal val="hidden"/>
                                      </p:to>
                                    </p:set>
                                  </p:childTnLst>
                                </p:cTn>
                              </p:par>
                            </p:childTnLst>
                          </p:cTn>
                        </p:par>
                        <p:par>
                          <p:cTn id="117" fill="hold">
                            <p:stCondLst>
                              <p:cond delay="2500"/>
                            </p:stCondLst>
                            <p:childTnLst>
                              <p:par>
                                <p:cTn id="118" presetID="42" presetClass="path" presetSubtype="0" accel="50000" decel="50000" fill="hold" nodeType="afterEffect">
                                  <p:stCondLst>
                                    <p:cond delay="0"/>
                                  </p:stCondLst>
                                  <p:childTnLst>
                                    <p:animMotion origin="layout" path="M 4.16667E-6 4.44444E-6 L 0.12122 0.00069 " pathEditMode="relative" rAng="0" ptsTypes="AA">
                                      <p:cBhvr>
                                        <p:cTn id="119" dur="500" fill="hold"/>
                                        <p:tgtEl>
                                          <p:spTgt spid="44"/>
                                        </p:tgtEl>
                                        <p:attrNameLst>
                                          <p:attrName>ppt_x</p:attrName>
                                          <p:attrName>ppt_y</p:attrName>
                                        </p:attrNameLst>
                                      </p:cBhvr>
                                      <p:rCtr x="6055" y="23"/>
                                    </p:animMotion>
                                  </p:childTnLst>
                                </p:cTn>
                              </p:par>
                            </p:childTnLst>
                          </p:cTn>
                        </p:par>
                        <p:par>
                          <p:cTn id="120" fill="hold">
                            <p:stCondLst>
                              <p:cond delay="3000"/>
                            </p:stCondLst>
                            <p:childTnLst>
                              <p:par>
                                <p:cTn id="121" presetID="1" presetClass="entr" presetSubtype="0" fill="hold" nodeType="afterEffect">
                                  <p:stCondLst>
                                    <p:cond delay="0"/>
                                  </p:stCondLst>
                                  <p:childTnLst>
                                    <p:set>
                                      <p:cBhvr>
                                        <p:cTn id="122" dur="1" fill="hold">
                                          <p:stCondLst>
                                            <p:cond delay="0"/>
                                          </p:stCondLst>
                                        </p:cTn>
                                        <p:tgtEl>
                                          <p:spTgt spid="47"/>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44"/>
                                        </p:tgtEl>
                                        <p:attrNameLst>
                                          <p:attrName>style.visibility</p:attrName>
                                        </p:attrNameLst>
                                      </p:cBhvr>
                                      <p:to>
                                        <p:strVal val="hidden"/>
                                      </p:to>
                                    </p:set>
                                  </p:childTnLst>
                                </p:cTn>
                              </p:par>
                            </p:childTnLst>
                          </p:cTn>
                        </p:par>
                        <p:par>
                          <p:cTn id="125" fill="hold">
                            <p:stCondLst>
                              <p:cond delay="3000"/>
                            </p:stCondLst>
                            <p:childTnLst>
                              <p:par>
                                <p:cTn id="126" presetID="9" presetClass="exit" presetSubtype="0" fill="hold" nodeType="afterEffect">
                                  <p:stCondLst>
                                    <p:cond delay="0"/>
                                  </p:stCondLst>
                                  <p:childTnLst>
                                    <p:animEffect transition="out" filter="dissolve">
                                      <p:cBhvr>
                                        <p:cTn id="127" dur="500"/>
                                        <p:tgtEl>
                                          <p:spTgt spid="47"/>
                                        </p:tgtEl>
                                      </p:cBhvr>
                                    </p:animEffect>
                                    <p:set>
                                      <p:cBhvr>
                                        <p:cTn id="128" dur="1" fill="hold">
                                          <p:stCondLst>
                                            <p:cond delay="499"/>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0EE3C-2010-7538-F9F8-97C518A4F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303E0-00BE-1A08-672B-4451CB7535B5}"/>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B043239A-3010-48A2-D558-F6B9764B8AC9}"/>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Controlled Processing</a:t>
            </a:r>
          </a:p>
        </p:txBody>
      </p:sp>
      <p:sp>
        <p:nvSpPr>
          <p:cNvPr id="4" name="Primary Context Box">
            <a:extLst>
              <a:ext uri="{FF2B5EF4-FFF2-40B4-BE49-F238E27FC236}">
                <a16:creationId xmlns:a16="http://schemas.microsoft.com/office/drawing/2014/main" id="{692A8633-D623-2283-D2FC-2DF9E23A9326}"/>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Resource Optimization</a:t>
            </a:r>
          </a:p>
        </p:txBody>
      </p:sp>
      <p:sp>
        <p:nvSpPr>
          <p:cNvPr id="5" name="Secondary Content Box">
            <a:extLst>
              <a:ext uri="{FF2B5EF4-FFF2-40B4-BE49-F238E27FC236}">
                <a16:creationId xmlns:a16="http://schemas.microsoft.com/office/drawing/2014/main" id="{21CED410-8363-E691-A8F6-CCA86EA826AC}"/>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Improved Reliability</a:t>
            </a:r>
          </a:p>
        </p:txBody>
      </p:sp>
      <p:sp>
        <p:nvSpPr>
          <p:cNvPr id="11" name="Rectangle: Rounded Corners 10">
            <a:extLst>
              <a:ext uri="{FF2B5EF4-FFF2-40B4-BE49-F238E27FC236}">
                <a16:creationId xmlns:a16="http://schemas.microsoft.com/office/drawing/2014/main" id="{03361439-70A8-6B91-BCFB-C934438AB4CE}"/>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8A62CC1F-E2F1-BE85-B3F7-C12E464ECAA0}"/>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52101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92EA4-B820-2C37-5187-293B7F903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8FEE7A-907E-BA04-EDE0-E2D819F37E50}"/>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EFF3B680-C20D-B853-2CA1-6A60990EA527}"/>
              </a:ext>
            </a:extLst>
          </p:cNvPr>
          <p:cNvSpPr/>
          <p:nvPr/>
        </p:nvSpPr>
        <p:spPr>
          <a:xfrm>
            <a:off x="1487488"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D1CEE909-6E2F-6CD4-FC9E-6A1F5CC5D2FE}"/>
              </a:ext>
            </a:extLst>
          </p:cNvPr>
          <p:cNvSpPr/>
          <p:nvPr/>
        </p:nvSpPr>
        <p:spPr>
          <a:xfrm>
            <a:off x="7128829"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Potential Delays</a:t>
            </a:r>
          </a:p>
        </p:txBody>
      </p:sp>
      <p:sp>
        <p:nvSpPr>
          <p:cNvPr id="11" name="Rectangle: Rounded Corners 10">
            <a:extLst>
              <a:ext uri="{FF2B5EF4-FFF2-40B4-BE49-F238E27FC236}">
                <a16:creationId xmlns:a16="http://schemas.microsoft.com/office/drawing/2014/main" id="{7C459E18-07CC-8B57-5787-CB01E196F095}"/>
              </a:ext>
            </a:extLst>
          </p:cNvPr>
          <p:cNvSpPr/>
          <p:nvPr/>
        </p:nvSpPr>
        <p:spPr>
          <a:xfrm>
            <a:off x="1487488"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809080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7C7D2-264A-E48B-AD1C-39FB497AA3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B1FA2-288F-F497-7803-96334973AEE5}"/>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70EF8C3D-6A6E-225C-FBFE-89B96D7BCB31}"/>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Delayed Notifications</a:t>
            </a:r>
          </a:p>
        </p:txBody>
      </p:sp>
      <p:sp>
        <p:nvSpPr>
          <p:cNvPr id="4" name="Primary Context Box">
            <a:extLst>
              <a:ext uri="{FF2B5EF4-FFF2-40B4-BE49-F238E27FC236}">
                <a16:creationId xmlns:a16="http://schemas.microsoft.com/office/drawing/2014/main" id="{09BACBC6-1740-23CC-3E5C-8839B26CC1B7}"/>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Batch Processing</a:t>
            </a:r>
          </a:p>
        </p:txBody>
      </p:sp>
      <p:sp>
        <p:nvSpPr>
          <p:cNvPr id="5" name="Secondary Content Box">
            <a:extLst>
              <a:ext uri="{FF2B5EF4-FFF2-40B4-BE49-F238E27FC236}">
                <a16:creationId xmlns:a16="http://schemas.microsoft.com/office/drawing/2014/main" id="{576B4DDA-436D-C2E1-25E6-961BDBD5B67F}"/>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Retry Logic</a:t>
            </a:r>
          </a:p>
        </p:txBody>
      </p:sp>
    </p:spTree>
    <p:extLst>
      <p:ext uri="{BB962C8B-B14F-4D97-AF65-F5344CB8AC3E}">
        <p14:creationId xmlns:p14="http://schemas.microsoft.com/office/powerpoint/2010/main" val="40658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 program&#10;&#10;AI-generated content may be incorrect.">
            <a:extLst>
              <a:ext uri="{FF2B5EF4-FFF2-40B4-BE49-F238E27FC236}">
                <a16:creationId xmlns:a16="http://schemas.microsoft.com/office/drawing/2014/main" id="{5CC898E7-CFDF-B8E9-7FFD-A9DA30CABCF9}"/>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4094" y="1232694"/>
            <a:ext cx="3781425" cy="4210050"/>
          </a:xfrm>
        </p:spPr>
      </p:pic>
      <p:sp>
        <p:nvSpPr>
          <p:cNvPr id="5" name="Title 3">
            <a:extLst>
              <a:ext uri="{FF2B5EF4-FFF2-40B4-BE49-F238E27FC236}">
                <a16:creationId xmlns:a16="http://schemas.microsoft.com/office/drawing/2014/main" id="{E8243E0A-B875-5507-C738-45BF0F393401}"/>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A3613E56-28C6-B47E-29B4-A148AFC7A983}"/>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Tree>
    <p:extLst>
      <p:ext uri="{BB962C8B-B14F-4D97-AF65-F5344CB8AC3E}">
        <p14:creationId xmlns:p14="http://schemas.microsoft.com/office/powerpoint/2010/main" val="24467250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omputer screen shot of a program&#10;&#10;AI-generated content may be incorrect.">
            <a:extLst>
              <a:ext uri="{FF2B5EF4-FFF2-40B4-BE49-F238E27FC236}">
                <a16:creationId xmlns:a16="http://schemas.microsoft.com/office/drawing/2014/main" id="{4237F56D-622B-EE85-245E-6168528A9C59}"/>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655344" y="1048512"/>
            <a:ext cx="7177236" cy="4551418"/>
          </a:xfrm>
        </p:spPr>
      </p:pic>
      <p:sp>
        <p:nvSpPr>
          <p:cNvPr id="5" name="Title 3">
            <a:extLst>
              <a:ext uri="{FF2B5EF4-FFF2-40B4-BE49-F238E27FC236}">
                <a16:creationId xmlns:a16="http://schemas.microsoft.com/office/drawing/2014/main" id="{B5D740A0-1E9F-79FF-D8B2-0BAAC86FA3AC}"/>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522099E8-D382-AD30-DB75-C13AC84B77AD}"/>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E172CA82-A346-DBA8-F3D3-80E18563A785}"/>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60FB00CD-080D-9FC5-18B0-6016E7258BA4}"/>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4106609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omputer screen shot of a program&#10;&#10;AI-generated content may be incorrect.">
            <a:extLst>
              <a:ext uri="{FF2B5EF4-FFF2-40B4-BE49-F238E27FC236}">
                <a16:creationId xmlns:a16="http://schemas.microsoft.com/office/drawing/2014/main" id="{CA2E5F5B-E5B5-4DD2-038A-8CDAC86A82BA}"/>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06888" y="1062208"/>
            <a:ext cx="7628421" cy="4732536"/>
          </a:xfrm>
        </p:spPr>
      </p:pic>
      <p:sp>
        <p:nvSpPr>
          <p:cNvPr id="5" name="Title 3">
            <a:extLst>
              <a:ext uri="{FF2B5EF4-FFF2-40B4-BE49-F238E27FC236}">
                <a16:creationId xmlns:a16="http://schemas.microsoft.com/office/drawing/2014/main" id="{944B0FAC-F383-2C83-65B3-52F122936BF0}"/>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A78988AB-DE71-B27F-798D-B96D8B143F83}"/>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F91C4C02-D481-3D93-951D-26919F9D9369}"/>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4BBC8669-55C9-F911-8A22-C1DBBF7E136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Rectangle 10">
            <a:extLst>
              <a:ext uri="{FF2B5EF4-FFF2-40B4-BE49-F238E27FC236}">
                <a16:creationId xmlns:a16="http://schemas.microsoft.com/office/drawing/2014/main" id="{72CDB12C-269A-7565-827E-FC6B43FA4E50}"/>
              </a:ext>
            </a:extLst>
          </p:cNvPr>
          <p:cNvSpPr/>
          <p:nvPr/>
        </p:nvSpPr>
        <p:spPr>
          <a:xfrm>
            <a:off x="4123941" y="2923429"/>
            <a:ext cx="6785064" cy="1010093"/>
          </a:xfrm>
          <a:prstGeom prst="rect">
            <a:avLst/>
          </a:prstGeom>
          <a:noFill/>
          <a:ln w="3810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Primary Context Box">
            <a:extLst>
              <a:ext uri="{FF2B5EF4-FFF2-40B4-BE49-F238E27FC236}">
                <a16:creationId xmlns:a16="http://schemas.microsoft.com/office/drawing/2014/main" id="{74A907EC-49D0-9EF8-4725-3587E9069349}"/>
              </a:ext>
            </a:extLst>
          </p:cNvPr>
          <p:cNvSpPr/>
          <p:nvPr/>
        </p:nvSpPr>
        <p:spPr>
          <a:xfrm>
            <a:off x="548256" y="229822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3" name="Rectangle: Rounded Corners 12">
            <a:extLst>
              <a:ext uri="{FF2B5EF4-FFF2-40B4-BE49-F238E27FC236}">
                <a16:creationId xmlns:a16="http://schemas.microsoft.com/office/drawing/2014/main" id="{C2280B35-76A3-DC54-C94C-93D53190B880}"/>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3064241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2"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2)">
                                      <p:cBhvr>
                                        <p:cTn id="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descr="A computer screen shot of a program code&#10;&#10;AI-generated content may be incorrect.">
            <a:extLst>
              <a:ext uri="{FF2B5EF4-FFF2-40B4-BE49-F238E27FC236}">
                <a16:creationId xmlns:a16="http://schemas.microsoft.com/office/drawing/2014/main" id="{CB168B31-D533-9EB9-0411-4072B2CD681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306888" y="916043"/>
            <a:ext cx="7614839" cy="5027557"/>
          </a:xfrm>
        </p:spPr>
      </p:pic>
      <p:sp>
        <p:nvSpPr>
          <p:cNvPr id="5" name="Title 3">
            <a:extLst>
              <a:ext uri="{FF2B5EF4-FFF2-40B4-BE49-F238E27FC236}">
                <a16:creationId xmlns:a16="http://schemas.microsoft.com/office/drawing/2014/main" id="{870E01B4-94AC-5BEB-3B30-CFBDC2076801}"/>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EA2FFA6C-181F-C7D9-6872-142C5B306B10}"/>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3F4317F2-4517-54CA-9DB1-17CF8D989F78}"/>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02826CEE-207F-B4C8-4834-080F0FBBFA44}"/>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6A4F32ED-A3B0-66C3-A60E-26DA05D75D72}"/>
              </a:ext>
            </a:extLst>
          </p:cNvPr>
          <p:cNvSpPr/>
          <p:nvPr/>
        </p:nvSpPr>
        <p:spPr>
          <a:xfrm>
            <a:off x="548256" y="229822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6E5E9CB5-8B12-4D01-FF88-4FBA492B6895}"/>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CC4B5AAD-C84C-A9B0-85F8-B62ADCD5C784}"/>
              </a:ext>
            </a:extLst>
          </p:cNvPr>
          <p:cNvSpPr/>
          <p:nvPr/>
        </p:nvSpPr>
        <p:spPr>
          <a:xfrm>
            <a:off x="548255" y="291616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6FFE7AAB-BA65-A2BA-89A5-30FC65E2068E}"/>
              </a:ext>
            </a:extLst>
          </p:cNvPr>
          <p:cNvSpPr/>
          <p:nvPr/>
        </p:nvSpPr>
        <p:spPr>
          <a:xfrm>
            <a:off x="548256" y="2298221"/>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6730240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Content Placeholder 15" descr="A black screen with a white button&#10;&#10;AI-generated content may be incorrect.">
            <a:extLst>
              <a:ext uri="{FF2B5EF4-FFF2-40B4-BE49-F238E27FC236}">
                <a16:creationId xmlns:a16="http://schemas.microsoft.com/office/drawing/2014/main" id="{AC85C245-EE7B-315F-CA57-13ACA59C297A}"/>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629533" y="1159629"/>
            <a:ext cx="6877050" cy="2228850"/>
          </a:xfrm>
        </p:spPr>
      </p:pic>
      <p:sp>
        <p:nvSpPr>
          <p:cNvPr id="5" name="Title 3">
            <a:extLst>
              <a:ext uri="{FF2B5EF4-FFF2-40B4-BE49-F238E27FC236}">
                <a16:creationId xmlns:a16="http://schemas.microsoft.com/office/drawing/2014/main" id="{B40E112E-56CB-02F5-BC45-FA20266A851B}"/>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44428A85-BCF6-C9BA-7E59-3842EE17E3C8}"/>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Namespace</a:t>
            </a:r>
          </a:p>
        </p:txBody>
      </p:sp>
      <p:sp>
        <p:nvSpPr>
          <p:cNvPr id="7" name="Primary Context Box">
            <a:extLst>
              <a:ext uri="{FF2B5EF4-FFF2-40B4-BE49-F238E27FC236}">
                <a16:creationId xmlns:a16="http://schemas.microsoft.com/office/drawing/2014/main" id="{FF1BAF73-FBC6-76EA-6782-22F94E8F2F64}"/>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887033D7-F15A-9E9C-E087-66771550DA45}"/>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5EADE891-DEE2-A2F5-1B7C-D99628C1370A}"/>
              </a:ext>
            </a:extLst>
          </p:cNvPr>
          <p:cNvSpPr/>
          <p:nvPr/>
        </p:nvSpPr>
        <p:spPr>
          <a:xfrm>
            <a:off x="548256" y="229822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Producer</a:t>
            </a:r>
          </a:p>
        </p:txBody>
      </p:sp>
      <p:sp>
        <p:nvSpPr>
          <p:cNvPr id="10" name="Rectangle: Rounded Corners 9">
            <a:extLst>
              <a:ext uri="{FF2B5EF4-FFF2-40B4-BE49-F238E27FC236}">
                <a16:creationId xmlns:a16="http://schemas.microsoft.com/office/drawing/2014/main" id="{18847C24-E5E5-94A6-24C2-2B958B63B5BB}"/>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56371F67-DC92-60DD-F8F0-A670F4DDF5AB}"/>
              </a:ext>
            </a:extLst>
          </p:cNvPr>
          <p:cNvSpPr/>
          <p:nvPr/>
        </p:nvSpPr>
        <p:spPr>
          <a:xfrm>
            <a:off x="548255" y="291616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38195940-F266-CAE8-ACE2-E09E025196B6}"/>
              </a:ext>
            </a:extLst>
          </p:cNvPr>
          <p:cNvSpPr/>
          <p:nvPr/>
        </p:nvSpPr>
        <p:spPr>
          <a:xfrm>
            <a:off x="548256" y="2298221"/>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DED66232-0149-9AB9-7701-0D791277FD3C}"/>
              </a:ext>
            </a:extLst>
          </p:cNvPr>
          <p:cNvSpPr/>
          <p:nvPr/>
        </p:nvSpPr>
        <p:spPr>
          <a:xfrm>
            <a:off x="548254" y="3550480"/>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4" name="Rectangle: Rounded Corners 13">
            <a:extLst>
              <a:ext uri="{FF2B5EF4-FFF2-40B4-BE49-F238E27FC236}">
                <a16:creationId xmlns:a16="http://schemas.microsoft.com/office/drawing/2014/main" id="{745D9ABF-2936-0AF5-A27B-0C48BF3D0DA6}"/>
              </a:ext>
            </a:extLst>
          </p:cNvPr>
          <p:cNvSpPr/>
          <p:nvPr/>
        </p:nvSpPr>
        <p:spPr>
          <a:xfrm>
            <a:off x="548255" y="291616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9" name="TextBox 18">
            <a:extLst>
              <a:ext uri="{FF2B5EF4-FFF2-40B4-BE49-F238E27FC236}">
                <a16:creationId xmlns:a16="http://schemas.microsoft.com/office/drawing/2014/main" id="{EDD27536-21DD-6F94-0CAF-A117B9361B73}"/>
              </a:ext>
            </a:extLst>
          </p:cNvPr>
          <p:cNvSpPr txBox="1"/>
          <p:nvPr/>
        </p:nvSpPr>
        <p:spPr>
          <a:xfrm>
            <a:off x="7203973" y="574854"/>
            <a:ext cx="1728165" cy="584775"/>
          </a:xfrm>
          <a:prstGeom prst="rect">
            <a:avLst/>
          </a:prstGeom>
          <a:noFill/>
        </p:spPr>
        <p:txBody>
          <a:bodyPr wrap="none" rtlCol="0">
            <a:spAutoFit/>
          </a:bodyPr>
          <a:lstStyle/>
          <a:p>
            <a:r>
              <a:rPr lang="en-US" sz="3200" b="1" dirty="0">
                <a:solidFill>
                  <a:schemeClr val="accent6"/>
                </a:solidFill>
              </a:rPr>
              <a:t>Producer</a:t>
            </a:r>
          </a:p>
        </p:txBody>
      </p:sp>
      <p:sp>
        <p:nvSpPr>
          <p:cNvPr id="20" name="TextBox 19">
            <a:extLst>
              <a:ext uri="{FF2B5EF4-FFF2-40B4-BE49-F238E27FC236}">
                <a16:creationId xmlns:a16="http://schemas.microsoft.com/office/drawing/2014/main" id="{1DCB87B4-C64F-5A35-6892-F20A02340966}"/>
              </a:ext>
            </a:extLst>
          </p:cNvPr>
          <p:cNvSpPr txBox="1"/>
          <p:nvPr/>
        </p:nvSpPr>
        <p:spPr>
          <a:xfrm>
            <a:off x="7111705" y="3388479"/>
            <a:ext cx="1912703" cy="584775"/>
          </a:xfrm>
          <a:prstGeom prst="rect">
            <a:avLst/>
          </a:prstGeom>
          <a:noFill/>
        </p:spPr>
        <p:txBody>
          <a:bodyPr wrap="none" rtlCol="0">
            <a:spAutoFit/>
          </a:bodyPr>
          <a:lstStyle/>
          <a:p>
            <a:r>
              <a:rPr lang="en-US" sz="3200" b="1" dirty="0">
                <a:solidFill>
                  <a:schemeClr val="accent6"/>
                </a:solidFill>
              </a:rPr>
              <a:t>Consumer</a:t>
            </a:r>
          </a:p>
        </p:txBody>
      </p:sp>
      <p:pic>
        <p:nvPicPr>
          <p:cNvPr id="24" name="Picture 23" descr="A screenshot of a computer&#10;&#10;AI-generated content may be incorrect.">
            <a:extLst>
              <a:ext uri="{FF2B5EF4-FFF2-40B4-BE49-F238E27FC236}">
                <a16:creationId xmlns:a16="http://schemas.microsoft.com/office/drawing/2014/main" id="{8A1774B6-B501-C88D-C49D-36833E372BC8}"/>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629533" y="3973254"/>
            <a:ext cx="6877050" cy="2228850"/>
          </a:xfrm>
          <a:prstGeom prst="rect">
            <a:avLst/>
          </a:prstGeom>
        </p:spPr>
      </p:pic>
      <p:pic>
        <p:nvPicPr>
          <p:cNvPr id="26" name="Picture 25" descr="A screenshot of a computer&#10;&#10;AI-generated content may be incorrect.">
            <a:extLst>
              <a:ext uri="{FF2B5EF4-FFF2-40B4-BE49-F238E27FC236}">
                <a16:creationId xmlns:a16="http://schemas.microsoft.com/office/drawing/2014/main" id="{D48006C8-3FFD-F2E4-7F7D-0C0ABC5CDD6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629533" y="1159629"/>
            <a:ext cx="6877050" cy="2228850"/>
          </a:xfrm>
          <a:prstGeom prst="rect">
            <a:avLst/>
          </a:prstGeom>
        </p:spPr>
      </p:pic>
      <p:pic>
        <p:nvPicPr>
          <p:cNvPr id="28" name="Picture 27" descr="A screenshot of a computer&#10;&#10;AI-generated content may be incorrect.">
            <a:extLst>
              <a:ext uri="{FF2B5EF4-FFF2-40B4-BE49-F238E27FC236}">
                <a16:creationId xmlns:a16="http://schemas.microsoft.com/office/drawing/2014/main" id="{8B0A7CBD-9D53-6F48-14B0-14447486BF58}"/>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629533" y="3973254"/>
            <a:ext cx="6877050" cy="2228850"/>
          </a:xfrm>
          <a:prstGeom prst="rect">
            <a:avLst/>
          </a:prstGeom>
        </p:spPr>
      </p:pic>
      <p:pic>
        <p:nvPicPr>
          <p:cNvPr id="30" name="Picture 29" descr="A screenshot of a computer&#10;&#10;AI-generated content may be incorrect.">
            <a:extLst>
              <a:ext uri="{FF2B5EF4-FFF2-40B4-BE49-F238E27FC236}">
                <a16:creationId xmlns:a16="http://schemas.microsoft.com/office/drawing/2014/main" id="{0200D8D5-9999-1E6F-C470-DBFB96B5B5C2}"/>
              </a:ext>
            </a:extLst>
          </p:cNvPr>
          <p:cNvPicPr>
            <a:picLocks noChangeAspect="1"/>
          </p:cNvPicPr>
          <p:nvPr/>
        </p:nvPicPr>
        <p:blipFill rotWithShape="1">
          <a:blip r:embed="rId6">
            <a:extLst>
              <a:ext uri="{28A0092B-C50C-407E-A947-70E740481C1C}">
                <a14:useLocalDpi xmlns:a14="http://schemas.microsoft.com/office/drawing/2010/main"/>
              </a:ext>
            </a:extLst>
          </a:blip>
          <a:srcRect/>
          <a:stretch>
            <a:fillRect/>
          </a:stretch>
        </p:blipFill>
        <p:spPr>
          <a:xfrm>
            <a:off x="4629533" y="3973254"/>
            <a:ext cx="6877050" cy="2228850"/>
          </a:xfrm>
          <a:prstGeom prst="rect">
            <a:avLst/>
          </a:prstGeom>
        </p:spPr>
      </p:pic>
    </p:spTree>
    <p:extLst>
      <p:ext uri="{BB962C8B-B14F-4D97-AF65-F5344CB8AC3E}">
        <p14:creationId xmlns:p14="http://schemas.microsoft.com/office/powerpoint/2010/main" val="236369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fade">
                                      <p:cBhvr>
                                        <p:cTn id="16" dur="500"/>
                                        <p:tgtEl>
                                          <p:spTgt spid="24"/>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wipe(up)">
                                      <p:cBhvr>
                                        <p:cTn id="21" dur="500"/>
                                        <p:tgtEl>
                                          <p:spTgt spid="26"/>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up)">
                                      <p:cBhvr>
                                        <p:cTn id="25" dur="500"/>
                                        <p:tgtEl>
                                          <p:spTgt spid="2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wipe(up)">
                                      <p:cBhvr>
                                        <p:cTn id="3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3F01F-A440-8D74-F65D-8008679480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A52198-2881-C1D6-5154-F3A5797DCAD0}"/>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12A8C6A3-231D-1652-3DB6-529E6330FFA9}"/>
              </a:ext>
            </a:extLst>
          </p:cNvPr>
          <p:cNvSpPr/>
          <p:nvPr/>
        </p:nvSpPr>
        <p:spPr>
          <a:xfrm>
            <a:off x="1489076"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Define Scheduling Criteria</a:t>
            </a:r>
          </a:p>
        </p:txBody>
      </p:sp>
      <p:sp>
        <p:nvSpPr>
          <p:cNvPr id="5" name="Rectangle: Rounded Corners 4">
            <a:extLst>
              <a:ext uri="{FF2B5EF4-FFF2-40B4-BE49-F238E27FC236}">
                <a16:creationId xmlns:a16="http://schemas.microsoft.com/office/drawing/2014/main" id="{8FC36BCF-80F7-EFC2-E5F6-F6E8A42275BA}"/>
              </a:ext>
            </a:extLst>
          </p:cNvPr>
          <p:cNvSpPr/>
          <p:nvPr/>
        </p:nvSpPr>
        <p:spPr>
          <a:xfrm>
            <a:off x="7126288"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Implement Scheduling Logic</a:t>
            </a:r>
          </a:p>
        </p:txBody>
      </p:sp>
      <p:sp>
        <p:nvSpPr>
          <p:cNvPr id="6" name="Rectangle: Rounded Corners 5">
            <a:extLst>
              <a:ext uri="{FF2B5EF4-FFF2-40B4-BE49-F238E27FC236}">
                <a16:creationId xmlns:a16="http://schemas.microsoft.com/office/drawing/2014/main" id="{1A513E87-E335-7C6F-812E-51206CAA825E}"/>
              </a:ext>
            </a:extLst>
          </p:cNvPr>
          <p:cNvSpPr/>
          <p:nvPr/>
        </p:nvSpPr>
        <p:spPr>
          <a:xfrm>
            <a:off x="1487488" y="3570487"/>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Monitor and Manage</a:t>
            </a:r>
          </a:p>
        </p:txBody>
      </p:sp>
      <p:sp>
        <p:nvSpPr>
          <p:cNvPr id="7" name="Rectangle: Rounded Corners 6">
            <a:extLst>
              <a:ext uri="{FF2B5EF4-FFF2-40B4-BE49-F238E27FC236}">
                <a16:creationId xmlns:a16="http://schemas.microsoft.com/office/drawing/2014/main" id="{06962CDF-CFFC-BBCE-D47A-073FDE34734B}"/>
              </a:ext>
            </a:extLst>
          </p:cNvPr>
          <p:cNvSpPr/>
          <p:nvPr/>
        </p:nvSpPr>
        <p:spPr>
          <a:xfrm>
            <a:off x="7126288" y="3519488"/>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Handle Failures</a:t>
            </a:r>
          </a:p>
        </p:txBody>
      </p:sp>
    </p:spTree>
    <p:extLst>
      <p:ext uri="{BB962C8B-B14F-4D97-AF65-F5344CB8AC3E}">
        <p14:creationId xmlns:p14="http://schemas.microsoft.com/office/powerpoint/2010/main" val="102962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AA2ED-A635-16C5-A043-4D1B6335150B}"/>
              </a:ext>
            </a:extLst>
          </p:cNvPr>
          <p:cNvSpPr>
            <a:spLocks noGrp="1"/>
          </p:cNvSpPr>
          <p:nvPr>
            <p:ph type="title"/>
          </p:nvPr>
        </p:nvSpPr>
        <p:spPr/>
        <p:txBody>
          <a:bodyPr/>
          <a:lstStyle/>
          <a:p>
            <a:r>
              <a:rPr lang="en-US" dirty="0"/>
              <a:t>Advanced Processing Techniques</a:t>
            </a:r>
          </a:p>
        </p:txBody>
      </p:sp>
      <p:sp>
        <p:nvSpPr>
          <p:cNvPr id="3" name="Text Placeholder 2">
            <a:extLst>
              <a:ext uri="{FF2B5EF4-FFF2-40B4-BE49-F238E27FC236}">
                <a16:creationId xmlns:a16="http://schemas.microsoft.com/office/drawing/2014/main" id="{30B3264B-4475-8AAD-3DBD-EDDC04B35A53}"/>
              </a:ext>
            </a:extLst>
          </p:cNvPr>
          <p:cNvSpPr>
            <a:spLocks noGrp="1"/>
          </p:cNvSpPr>
          <p:nvPr>
            <p:ph type="body" sz="quarter" idx="10"/>
          </p:nvPr>
        </p:nvSpPr>
        <p:spPr/>
        <p:txBody>
          <a:bodyPr/>
          <a:lstStyle/>
          <a:p>
            <a:r>
              <a:rPr lang="en-US" dirty="0"/>
              <a:t>Pattern 3: Claim Checks</a:t>
            </a:r>
          </a:p>
        </p:txBody>
      </p:sp>
    </p:spTree>
    <p:extLst>
      <p:ext uri="{BB962C8B-B14F-4D97-AF65-F5344CB8AC3E}">
        <p14:creationId xmlns:p14="http://schemas.microsoft.com/office/powerpoint/2010/main" val="1532854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DD93D-3327-CA7F-BA75-AAB30AC4F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4BA9C-1B0E-5DFE-7117-12A1E5D76581}"/>
              </a:ext>
            </a:extLst>
          </p:cNvPr>
          <p:cNvSpPr>
            <a:spLocks noGrp="1"/>
          </p:cNvSpPr>
          <p:nvPr>
            <p:ph type="title"/>
          </p:nvPr>
        </p:nvSpPr>
        <p:spPr/>
        <p:txBody>
          <a:bodyPr>
            <a:normAutofit fontScale="90000"/>
          </a:bodyPr>
          <a:lstStyle/>
          <a:p>
            <a:r>
              <a:rPr lang="en-US" dirty="0"/>
              <a:t>What is the Idempotent Receiver Pattern</a:t>
            </a:r>
          </a:p>
        </p:txBody>
      </p:sp>
      <p:sp>
        <p:nvSpPr>
          <p:cNvPr id="3" name="Primary Context Box">
            <a:extLst>
              <a:ext uri="{FF2B5EF4-FFF2-40B4-BE49-F238E27FC236}">
                <a16:creationId xmlns:a16="http://schemas.microsoft.com/office/drawing/2014/main" id="{7DBA6CC0-B7C4-9BDD-1228-95AE41A825B2}"/>
              </a:ext>
            </a:extLst>
          </p:cNvPr>
          <p:cNvSpPr/>
          <p:nvPr/>
        </p:nvSpPr>
        <p:spPr>
          <a:xfrm>
            <a:off x="1178332" y="2498725"/>
            <a:ext cx="4553977" cy="185896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Storing large payloads in external storage and passing a reference</a:t>
            </a:r>
          </a:p>
        </p:txBody>
      </p:sp>
      <p:sp>
        <p:nvSpPr>
          <p:cNvPr id="4" name="Secondary Content Box">
            <a:extLst>
              <a:ext uri="{FF2B5EF4-FFF2-40B4-BE49-F238E27FC236}">
                <a16:creationId xmlns:a16="http://schemas.microsoft.com/office/drawing/2014/main" id="{E6C1F14A-1CEF-B71B-9030-0C61BAEC45F0}"/>
              </a:ext>
            </a:extLst>
          </p:cNvPr>
          <p:cNvSpPr/>
          <p:nvPr/>
        </p:nvSpPr>
        <p:spPr>
          <a:xfrm>
            <a:off x="6459690" y="2498724"/>
            <a:ext cx="4515485" cy="1858963"/>
          </a:xfrm>
          <a:prstGeom prst="roundRect">
            <a:avLst>
              <a:gd name="adj" fmla="val 16667"/>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2"/>
                </a:solidFill>
              </a:rPr>
              <a:t>Reduce the size of messages in the queue</a:t>
            </a:r>
          </a:p>
        </p:txBody>
      </p:sp>
    </p:spTree>
    <p:extLst>
      <p:ext uri="{BB962C8B-B14F-4D97-AF65-F5344CB8AC3E}">
        <p14:creationId xmlns:p14="http://schemas.microsoft.com/office/powerpoint/2010/main" val="33241857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800D9-E063-5A79-EE7F-5497A6C49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09A378-85CE-E1DC-8C2A-3AC72D3262C2}"/>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E5E5B047-BD40-3FBA-6FCD-FBB32386029A}"/>
              </a:ext>
            </a:extLst>
          </p:cNvPr>
          <p:cNvSpPr/>
          <p:nvPr/>
        </p:nvSpPr>
        <p:spPr>
          <a:xfrm>
            <a:off x="1958975" y="2589212"/>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External Storage System</a:t>
            </a:r>
          </a:p>
        </p:txBody>
      </p:sp>
      <p:sp>
        <p:nvSpPr>
          <p:cNvPr id="105" name="Rectangle: Rounded Corners 104">
            <a:extLst>
              <a:ext uri="{FF2B5EF4-FFF2-40B4-BE49-F238E27FC236}">
                <a16:creationId xmlns:a16="http://schemas.microsoft.com/office/drawing/2014/main" id="{83757A5E-618D-5A32-12BC-FAD963081A27}"/>
              </a:ext>
            </a:extLst>
          </p:cNvPr>
          <p:cNvSpPr/>
          <p:nvPr/>
        </p:nvSpPr>
        <p:spPr>
          <a:xfrm>
            <a:off x="6656387" y="2609056"/>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Claim Check</a:t>
            </a:r>
          </a:p>
        </p:txBody>
      </p:sp>
      <p:sp>
        <p:nvSpPr>
          <p:cNvPr id="106" name="Rectangle: Rounded Corners 105">
            <a:extLst>
              <a:ext uri="{FF2B5EF4-FFF2-40B4-BE49-F238E27FC236}">
                <a16:creationId xmlns:a16="http://schemas.microsoft.com/office/drawing/2014/main" id="{F7C29DFD-E0A3-00C8-5EB8-73F19DA22AA9}"/>
              </a:ext>
            </a:extLst>
          </p:cNvPr>
          <p:cNvSpPr/>
          <p:nvPr/>
        </p:nvSpPr>
        <p:spPr>
          <a:xfrm>
            <a:off x="1958975"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Message Queue</a:t>
            </a:r>
          </a:p>
        </p:txBody>
      </p:sp>
      <p:sp>
        <p:nvSpPr>
          <p:cNvPr id="3" name="Rectangle: Rounded Corners 2">
            <a:extLst>
              <a:ext uri="{FF2B5EF4-FFF2-40B4-BE49-F238E27FC236}">
                <a16:creationId xmlns:a16="http://schemas.microsoft.com/office/drawing/2014/main" id="{00294123-BAF1-E5A8-A80D-DDDBC2BB2D2B}"/>
              </a:ext>
            </a:extLst>
          </p:cNvPr>
          <p:cNvSpPr/>
          <p:nvPr/>
        </p:nvSpPr>
        <p:spPr>
          <a:xfrm>
            <a:off x="6656387" y="3631407"/>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Payload Retrieval Logic</a:t>
            </a:r>
          </a:p>
        </p:txBody>
      </p:sp>
    </p:spTree>
    <p:extLst>
      <p:ext uri="{BB962C8B-B14F-4D97-AF65-F5344CB8AC3E}">
        <p14:creationId xmlns:p14="http://schemas.microsoft.com/office/powerpoint/2010/main" val="29426041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C9B6A-C757-E935-D9F9-C40C6CA0F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B0A4FD-E0D4-5821-AF74-3EAA4158AB5E}"/>
              </a:ext>
            </a:extLst>
          </p:cNvPr>
          <p:cNvSpPr>
            <a:spLocks noGrp="1"/>
          </p:cNvSpPr>
          <p:nvPr>
            <p:ph type="title"/>
          </p:nvPr>
        </p:nvSpPr>
        <p:spPr/>
        <p:txBody>
          <a:bodyPr/>
          <a:lstStyle/>
          <a:p>
            <a:r>
              <a:rPr lang="en-US" dirty="0"/>
              <a:t>Key Components &amp; Flow</a:t>
            </a:r>
          </a:p>
        </p:txBody>
      </p:sp>
      <p:sp>
        <p:nvSpPr>
          <p:cNvPr id="104" name="Rectangle: Rounded Corners 103">
            <a:extLst>
              <a:ext uri="{FF2B5EF4-FFF2-40B4-BE49-F238E27FC236}">
                <a16:creationId xmlns:a16="http://schemas.microsoft.com/office/drawing/2014/main" id="{FF75EE29-F013-5598-2C2B-69218153CD54}"/>
              </a:ext>
            </a:extLst>
          </p:cNvPr>
          <p:cNvSpPr/>
          <p:nvPr/>
        </p:nvSpPr>
        <p:spPr>
          <a:xfrm>
            <a:off x="547688" y="189384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External Storage System</a:t>
            </a:r>
          </a:p>
        </p:txBody>
      </p:sp>
      <p:sp>
        <p:nvSpPr>
          <p:cNvPr id="105" name="Rectangle: Rounded Corners 104">
            <a:extLst>
              <a:ext uri="{FF2B5EF4-FFF2-40B4-BE49-F238E27FC236}">
                <a16:creationId xmlns:a16="http://schemas.microsoft.com/office/drawing/2014/main" id="{229A2DE9-9696-4539-4986-FB8BC06A363C}"/>
              </a:ext>
            </a:extLst>
          </p:cNvPr>
          <p:cNvSpPr/>
          <p:nvPr/>
        </p:nvSpPr>
        <p:spPr>
          <a:xfrm>
            <a:off x="536431" y="2922651"/>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Claim Check</a:t>
            </a:r>
          </a:p>
        </p:txBody>
      </p:sp>
      <p:sp>
        <p:nvSpPr>
          <p:cNvPr id="106" name="Rectangle: Rounded Corners 105">
            <a:extLst>
              <a:ext uri="{FF2B5EF4-FFF2-40B4-BE49-F238E27FC236}">
                <a16:creationId xmlns:a16="http://schemas.microsoft.com/office/drawing/2014/main" id="{F5B180C1-9D25-AC3B-7DEA-E11AC5AD6DDB}"/>
              </a:ext>
            </a:extLst>
          </p:cNvPr>
          <p:cNvSpPr/>
          <p:nvPr/>
        </p:nvSpPr>
        <p:spPr>
          <a:xfrm>
            <a:off x="546100" y="394341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Message Queue</a:t>
            </a:r>
          </a:p>
        </p:txBody>
      </p:sp>
      <p:sp>
        <p:nvSpPr>
          <p:cNvPr id="3" name="Rectangle: Rounded Corners 2">
            <a:extLst>
              <a:ext uri="{FF2B5EF4-FFF2-40B4-BE49-F238E27FC236}">
                <a16:creationId xmlns:a16="http://schemas.microsoft.com/office/drawing/2014/main" id="{1821475E-3B3D-C7DE-466E-3DCD68969F71}"/>
              </a:ext>
            </a:extLst>
          </p:cNvPr>
          <p:cNvSpPr/>
          <p:nvPr/>
        </p:nvSpPr>
        <p:spPr>
          <a:xfrm>
            <a:off x="547688" y="4972224"/>
            <a:ext cx="3576637" cy="818356"/>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Payload Retrieval Logic</a:t>
            </a:r>
          </a:p>
        </p:txBody>
      </p:sp>
      <p:sp>
        <p:nvSpPr>
          <p:cNvPr id="4" name="Rectangle: Rounded Corners 3">
            <a:extLst>
              <a:ext uri="{FF2B5EF4-FFF2-40B4-BE49-F238E27FC236}">
                <a16:creationId xmlns:a16="http://schemas.microsoft.com/office/drawing/2014/main" id="{81CD9647-900D-189B-4BCE-9FA8A27C6D4C}"/>
              </a:ext>
            </a:extLst>
          </p:cNvPr>
          <p:cNvSpPr/>
          <p:nvPr/>
        </p:nvSpPr>
        <p:spPr>
          <a:xfrm>
            <a:off x="6418546" y="3162249"/>
            <a:ext cx="3422076" cy="563802"/>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dirty="0"/>
          </a:p>
        </p:txBody>
      </p:sp>
      <p:sp>
        <p:nvSpPr>
          <p:cNvPr id="5" name="Oval 4">
            <a:extLst>
              <a:ext uri="{FF2B5EF4-FFF2-40B4-BE49-F238E27FC236}">
                <a16:creationId xmlns:a16="http://schemas.microsoft.com/office/drawing/2014/main" id="{128A88BD-6C78-FA59-3722-854C75C6CB3F}"/>
              </a:ext>
            </a:extLst>
          </p:cNvPr>
          <p:cNvSpPr/>
          <p:nvPr/>
        </p:nvSpPr>
        <p:spPr>
          <a:xfrm>
            <a:off x="10486333" y="310065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8" name="Oval 17">
            <a:extLst>
              <a:ext uri="{FF2B5EF4-FFF2-40B4-BE49-F238E27FC236}">
                <a16:creationId xmlns:a16="http://schemas.microsoft.com/office/drawing/2014/main" id="{4EA2C9FF-5F2D-0BEF-70A4-B27BAF041C81}"/>
              </a:ext>
            </a:extLst>
          </p:cNvPr>
          <p:cNvSpPr/>
          <p:nvPr/>
        </p:nvSpPr>
        <p:spPr>
          <a:xfrm>
            <a:off x="5047045" y="3085507"/>
            <a:ext cx="729625" cy="68698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CA"/>
          </a:p>
        </p:txBody>
      </p:sp>
      <p:sp>
        <p:nvSpPr>
          <p:cNvPr id="19" name="TextBox 18">
            <a:extLst>
              <a:ext uri="{FF2B5EF4-FFF2-40B4-BE49-F238E27FC236}">
                <a16:creationId xmlns:a16="http://schemas.microsoft.com/office/drawing/2014/main" id="{D31F8B73-049A-0FEF-1254-E086289E26C5}"/>
              </a:ext>
            </a:extLst>
          </p:cNvPr>
          <p:cNvSpPr txBox="1"/>
          <p:nvPr/>
        </p:nvSpPr>
        <p:spPr>
          <a:xfrm>
            <a:off x="8037219" y="3541387"/>
            <a:ext cx="184731" cy="338554"/>
          </a:xfrm>
          <a:prstGeom prst="rect">
            <a:avLst/>
          </a:prstGeom>
          <a:noFill/>
        </p:spPr>
        <p:txBody>
          <a:bodyPr wrap="none" rtlCol="0">
            <a:spAutoFit/>
          </a:bodyPr>
          <a:lstStyle/>
          <a:p>
            <a:endParaRPr lang="en-US" sz="1600" dirty="0"/>
          </a:p>
        </p:txBody>
      </p:sp>
      <p:sp>
        <p:nvSpPr>
          <p:cNvPr id="20" name="Cylinder 19">
            <a:extLst>
              <a:ext uri="{FF2B5EF4-FFF2-40B4-BE49-F238E27FC236}">
                <a16:creationId xmlns:a16="http://schemas.microsoft.com/office/drawing/2014/main" id="{02D00683-CBC5-1379-468E-924BD84F47F6}"/>
              </a:ext>
            </a:extLst>
          </p:cNvPr>
          <p:cNvSpPr/>
          <p:nvPr/>
        </p:nvSpPr>
        <p:spPr>
          <a:xfrm>
            <a:off x="7118056" y="4259079"/>
            <a:ext cx="1838325" cy="979598"/>
          </a:xfrm>
          <a:prstGeom prst="can">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 name="Picture 20" descr="Free Envelope Clipart Black And White, Download Free Envelope Clipart Black  And White png images, Free ClipArts on Clipart Library">
            <a:extLst>
              <a:ext uri="{FF2B5EF4-FFF2-40B4-BE49-F238E27FC236}">
                <a16:creationId xmlns:a16="http://schemas.microsoft.com/office/drawing/2014/main" id="{8ADE4607-6A95-8A9B-6FCD-E476188B9C5F}"/>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143997" y="32596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2" name="Graphic 21" descr="Document with solid fill">
            <a:extLst>
              <a:ext uri="{FF2B5EF4-FFF2-40B4-BE49-F238E27FC236}">
                <a16:creationId xmlns:a16="http://schemas.microsoft.com/office/drawing/2014/main" id="{03081880-AC68-20A8-87D7-FDCD2709BDE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59142" y="3259623"/>
            <a:ext cx="369052" cy="369052"/>
          </a:xfrm>
          <a:prstGeom prst="rect">
            <a:avLst/>
          </a:prstGeom>
        </p:spPr>
      </p:pic>
      <p:pic>
        <p:nvPicPr>
          <p:cNvPr id="23" name="Graphic 22" descr="Document with solid fill">
            <a:extLst>
              <a:ext uri="{FF2B5EF4-FFF2-40B4-BE49-F238E27FC236}">
                <a16:creationId xmlns:a16="http://schemas.microsoft.com/office/drawing/2014/main" id="{52A0BE30-4B6C-4EF0-D2A5-FA0016B9121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36835" y="4564351"/>
            <a:ext cx="580077" cy="580077"/>
          </a:xfrm>
          <a:prstGeom prst="rect">
            <a:avLst/>
          </a:prstGeom>
        </p:spPr>
      </p:pic>
      <p:pic>
        <p:nvPicPr>
          <p:cNvPr id="24" name="Picture 23" descr="Free Envelope Clipart Black And White, Download Free Envelope Clipart Black  And White png images, Free ClipArts on Clipart Library">
            <a:extLst>
              <a:ext uri="{FF2B5EF4-FFF2-40B4-BE49-F238E27FC236}">
                <a16:creationId xmlns:a16="http://schemas.microsoft.com/office/drawing/2014/main" id="{503CB419-C258-6EDE-1D80-17A263D5B4AB}"/>
              </a:ext>
            </a:extLst>
          </p:cNvPr>
          <p:cNvPicPr>
            <a:picLocks noChangeAspect="1" noChangeArrowheads="1"/>
          </p:cNvPicPr>
          <p:nvPr/>
        </p:nvPicPr>
        <p:blipFill>
          <a:blip r:embed="rId3" cstate="email">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5143997" y="32596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descr="Free Envelope Clipart Black And White, Download Free Envelope Clipart Black  And White png images, Free ClipArts on Clipart Library">
            <a:extLst>
              <a:ext uri="{FF2B5EF4-FFF2-40B4-BE49-F238E27FC236}">
                <a16:creationId xmlns:a16="http://schemas.microsoft.com/office/drawing/2014/main" id="{0265E1F3-2A7D-FBB0-A0A1-02633AD3C2B0}"/>
              </a:ext>
            </a:extLst>
          </p:cNvPr>
          <p:cNvPicPr>
            <a:picLocks noChangeAspect="1" noChangeArrowheads="1"/>
          </p:cNvPicPr>
          <p:nvPr/>
        </p:nvPicPr>
        <p:blipFill>
          <a:blip r:embed="rId3" cstate="email">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9085707" y="32596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Free Envelope Clipart Black And White, Download Free Envelope Clipart Black  And White png images, Free ClipArts on Clipart Library">
            <a:extLst>
              <a:ext uri="{FF2B5EF4-FFF2-40B4-BE49-F238E27FC236}">
                <a16:creationId xmlns:a16="http://schemas.microsoft.com/office/drawing/2014/main" id="{9A75FCA5-A586-6899-9B23-BDBF23138BB9}"/>
              </a:ext>
            </a:extLst>
          </p:cNvPr>
          <p:cNvPicPr>
            <a:picLocks noChangeAspect="1" noChangeArrowheads="1"/>
          </p:cNvPicPr>
          <p:nvPr/>
        </p:nvPicPr>
        <p:blipFill>
          <a:blip r:embed="rId3" cstate="email">
            <a:duotone>
              <a:prstClr val="black"/>
              <a:schemeClr val="accent4">
                <a:tint val="45000"/>
                <a:satMod val="400000"/>
              </a:schemeClr>
            </a:duotone>
            <a:extLst>
              <a:ext uri="{28A0092B-C50C-407E-A947-70E740481C1C}">
                <a14:useLocalDpi xmlns:a14="http://schemas.microsoft.com/office/drawing/2010/main"/>
              </a:ext>
            </a:extLst>
          </a:blip>
          <a:srcRect/>
          <a:stretch>
            <a:fillRect/>
          </a:stretch>
        </p:blipFill>
        <p:spPr bwMode="auto">
          <a:xfrm>
            <a:off x="10583285" y="3259623"/>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27" name="Graphic 26" descr="Document with solid fill">
            <a:extLst>
              <a:ext uri="{FF2B5EF4-FFF2-40B4-BE49-F238E27FC236}">
                <a16:creationId xmlns:a16="http://schemas.microsoft.com/office/drawing/2014/main" id="{B7A7779B-DB33-FCF4-8C50-78BC5A3E44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842347" y="4669863"/>
            <a:ext cx="369052" cy="369052"/>
          </a:xfrm>
          <a:prstGeom prst="rect">
            <a:avLst/>
          </a:prstGeom>
        </p:spPr>
      </p:pic>
      <p:grpSp>
        <p:nvGrpSpPr>
          <p:cNvPr id="28" name="Group 27">
            <a:extLst>
              <a:ext uri="{FF2B5EF4-FFF2-40B4-BE49-F238E27FC236}">
                <a16:creationId xmlns:a16="http://schemas.microsoft.com/office/drawing/2014/main" id="{3B484633-6808-4980-F557-5397953ADA8B}"/>
              </a:ext>
            </a:extLst>
          </p:cNvPr>
          <p:cNvGrpSpPr/>
          <p:nvPr/>
        </p:nvGrpSpPr>
        <p:grpSpPr>
          <a:xfrm>
            <a:off x="10597012" y="3259623"/>
            <a:ext cx="584197" cy="369052"/>
            <a:chOff x="4750811" y="2769825"/>
            <a:chExt cx="584197" cy="369052"/>
          </a:xfrm>
        </p:grpSpPr>
        <p:pic>
          <p:nvPicPr>
            <p:cNvPr id="29" name="Picture 28" descr="Free Envelope Clipart Black And White, Download Free Envelope Clipart Black  And White png images, Free ClipArts on Clipart Library">
              <a:extLst>
                <a:ext uri="{FF2B5EF4-FFF2-40B4-BE49-F238E27FC236}">
                  <a16:creationId xmlns:a16="http://schemas.microsoft.com/office/drawing/2014/main" id="{90CE85AB-8337-EEB1-AB00-54B4CAEBFD53}"/>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750811" y="2769825"/>
              <a:ext cx="535720" cy="369052"/>
            </a:xfrm>
            <a:prstGeom prst="rect">
              <a:avLst/>
            </a:prstGeom>
            <a:noFill/>
            <a:extLst>
              <a:ext uri="{909E8E84-426E-40DD-AFC4-6F175D3DCCD1}">
                <a14:hiddenFill xmlns:a14="http://schemas.microsoft.com/office/drawing/2010/main">
                  <a:solidFill>
                    <a:srgbClr val="FFFFFF"/>
                  </a:solidFill>
                </a14:hiddenFill>
              </a:ext>
            </a:extLst>
          </p:spPr>
        </p:pic>
        <p:pic>
          <p:nvPicPr>
            <p:cNvPr id="50" name="Graphic 49" descr="Document with solid fill">
              <a:extLst>
                <a:ext uri="{FF2B5EF4-FFF2-40B4-BE49-F238E27FC236}">
                  <a16:creationId xmlns:a16="http://schemas.microsoft.com/office/drawing/2014/main" id="{F7812AE5-04A5-9223-0D49-D0833FF1ABE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965956" y="2769825"/>
              <a:ext cx="369052" cy="369052"/>
            </a:xfrm>
            <a:prstGeom prst="rect">
              <a:avLst/>
            </a:prstGeom>
          </p:spPr>
        </p:pic>
      </p:grpSp>
    </p:spTree>
    <p:extLst>
      <p:ext uri="{BB962C8B-B14F-4D97-AF65-F5344CB8AC3E}">
        <p14:creationId xmlns:p14="http://schemas.microsoft.com/office/powerpoint/2010/main" val="275258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path" presetSubtype="0" accel="50000" decel="50000" fill="hold" nodeType="clickEffect">
                                  <p:stCondLst>
                                    <p:cond delay="0"/>
                                  </p:stCondLst>
                                  <p:childTnLst>
                                    <p:animMotion origin="layout" path="M 2.5E-6 -3.33333E-6 L 0.20455 0.20787 " pathEditMode="relative" rAng="0" ptsTypes="AA">
                                      <p:cBhvr>
                                        <p:cTn id="16" dur="1000" fill="hold"/>
                                        <p:tgtEl>
                                          <p:spTgt spid="22"/>
                                        </p:tgtEl>
                                        <p:attrNameLst>
                                          <p:attrName>ppt_x</p:attrName>
                                          <p:attrName>ppt_y</p:attrName>
                                        </p:attrNameLst>
                                      </p:cBhvr>
                                      <p:rCtr x="10221" y="10394"/>
                                    </p:animMotion>
                                  </p:childTnLst>
                                </p:cTn>
                              </p:par>
                            </p:childTnLst>
                          </p:cTn>
                        </p:par>
                        <p:par>
                          <p:cTn id="17" fill="hold">
                            <p:stCondLst>
                              <p:cond delay="1000"/>
                            </p:stCondLst>
                            <p:childTnLst>
                              <p:par>
                                <p:cTn id="18" presetID="1" presetClass="entr" presetSubtype="0" fill="hold" nodeType="after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par>
                                <p:cTn id="20" presetID="1" presetClass="exit" presetSubtype="0" fill="hold" nodeType="withEffect">
                                  <p:stCondLst>
                                    <p:cond delay="0"/>
                                  </p:stCondLst>
                                  <p:childTnLst>
                                    <p:set>
                                      <p:cBhvr>
                                        <p:cTn id="21" dur="1" fill="hold">
                                          <p:stCondLst>
                                            <p:cond delay="0"/>
                                          </p:stCondLst>
                                        </p:cTn>
                                        <p:tgtEl>
                                          <p:spTgt spid="22"/>
                                        </p:tgtEl>
                                        <p:attrNameLst>
                                          <p:attrName>style.visibility</p:attrName>
                                        </p:attrNameLst>
                                      </p:cBhvr>
                                      <p:to>
                                        <p:strVal val="hidden"/>
                                      </p:to>
                                    </p:set>
                                  </p:childTnLst>
                                </p:cTn>
                              </p:par>
                            </p:childTnLst>
                          </p:cTn>
                        </p:par>
                        <p:par>
                          <p:cTn id="22" fill="hold">
                            <p:stCondLst>
                              <p:cond delay="1000"/>
                            </p:stCondLst>
                            <p:childTnLst>
                              <p:par>
                                <p:cTn id="23" presetID="10" presetClass="entr" presetSubtype="0" fill="hold" nodeType="after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childTnLst>
                          </p:cTn>
                        </p:par>
                        <p:par>
                          <p:cTn id="26" fill="hold">
                            <p:stCondLst>
                              <p:cond delay="1500"/>
                            </p:stCondLst>
                            <p:childTnLst>
                              <p:par>
                                <p:cTn id="27" presetID="1" presetClass="exit" presetSubtype="0" fill="hold" nodeType="afterEffect">
                                  <p:stCondLst>
                                    <p:cond delay="0"/>
                                  </p:stCondLst>
                                  <p:childTnLst>
                                    <p:set>
                                      <p:cBhvr>
                                        <p:cTn id="28" dur="1" fill="hold">
                                          <p:stCondLst>
                                            <p:cond delay="0"/>
                                          </p:stCondLst>
                                        </p:cTn>
                                        <p:tgtEl>
                                          <p:spTgt spid="2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nodeType="clickEffect">
                                  <p:stCondLst>
                                    <p:cond delay="0"/>
                                  </p:stCondLst>
                                  <p:childTnLst>
                                    <p:animMotion origin="layout" path="M -2.08333E-7 -3.33333E-6 L 0.32344 -3.33333E-6 " pathEditMode="relative" rAng="0" ptsTypes="AA">
                                      <p:cBhvr>
                                        <p:cTn id="32" dur="1000" fill="hold"/>
                                        <p:tgtEl>
                                          <p:spTgt spid="24"/>
                                        </p:tgtEl>
                                        <p:attrNameLst>
                                          <p:attrName>ppt_x</p:attrName>
                                          <p:attrName>ppt_y</p:attrName>
                                        </p:attrNameLst>
                                      </p:cBhvr>
                                      <p:rCtr x="16172" y="0"/>
                                    </p:animMotion>
                                  </p:childTnLst>
                                </p:cTn>
                              </p:par>
                            </p:childTnLst>
                          </p:cTn>
                        </p:par>
                        <p:par>
                          <p:cTn id="33" fill="hold">
                            <p:stCondLst>
                              <p:cond delay="1000"/>
                            </p:stCondLst>
                            <p:childTnLst>
                              <p:par>
                                <p:cTn id="34" presetID="1" presetClass="entr" presetSubtype="0" fill="hold" nodeType="after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par>
                                <p:cTn id="36" presetID="1" presetClass="exit" presetSubtype="0" fill="hold" nodeType="withEffect">
                                  <p:stCondLst>
                                    <p:cond delay="0"/>
                                  </p:stCondLst>
                                  <p:childTnLst>
                                    <p:set>
                                      <p:cBhvr>
                                        <p:cTn id="37" dur="1" fill="hold">
                                          <p:stCondLst>
                                            <p:cond delay="0"/>
                                          </p:stCondLst>
                                        </p:cTn>
                                        <p:tgtEl>
                                          <p:spTgt spid="24"/>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nodeType="clickEffect">
                                  <p:stCondLst>
                                    <p:cond delay="0"/>
                                  </p:stCondLst>
                                  <p:childTnLst>
                                    <p:animMotion origin="layout" path="M 2.5E-6 -3.33333E-6 L 0.12252 0.00139 " pathEditMode="relative" rAng="0" ptsTypes="AA">
                                      <p:cBhvr>
                                        <p:cTn id="41" dur="1000" fill="hold"/>
                                        <p:tgtEl>
                                          <p:spTgt spid="25"/>
                                        </p:tgtEl>
                                        <p:attrNameLst>
                                          <p:attrName>ppt_x</p:attrName>
                                          <p:attrName>ppt_y</p:attrName>
                                        </p:attrNameLst>
                                      </p:cBhvr>
                                      <p:rCtr x="6120" y="69"/>
                                    </p:animMotion>
                                  </p:childTnLst>
                                </p:cTn>
                              </p:par>
                            </p:childTnLst>
                          </p:cTn>
                        </p:par>
                        <p:par>
                          <p:cTn id="42" fill="hold">
                            <p:stCondLst>
                              <p:cond delay="1000"/>
                            </p:stCondLst>
                            <p:childTnLst>
                              <p:par>
                                <p:cTn id="43" presetID="1" presetClass="entr" presetSubtype="0" fill="hold" nodeType="after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25"/>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nodeType="clickEffect">
                                  <p:stCondLst>
                                    <p:cond delay="0"/>
                                  </p:stCondLst>
                                  <p:childTnLst>
                                    <p:set>
                                      <p:cBhvr>
                                        <p:cTn id="50" dur="1" fill="hold">
                                          <p:stCondLst>
                                            <p:cond delay="0"/>
                                          </p:stCondLst>
                                        </p:cTn>
                                        <p:tgtEl>
                                          <p:spTgt spid="23"/>
                                        </p:tgtEl>
                                        <p:attrNameLst>
                                          <p:attrName>style.visibility</p:attrName>
                                        </p:attrNameLst>
                                      </p:cBhvr>
                                      <p:to>
                                        <p:strVal val="hidden"/>
                                      </p:to>
                                    </p:set>
                                  </p:childTnLst>
                                </p:cTn>
                              </p:par>
                              <p:par>
                                <p:cTn id="51" presetID="1" presetClass="entr" presetSubtype="0" fill="hold"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42" presetClass="path" presetSubtype="0" accel="50000" decel="50000" fill="hold" nodeType="withEffect">
                                  <p:stCondLst>
                                    <p:cond delay="0"/>
                                  </p:stCondLst>
                                  <p:childTnLst>
                                    <p:animMotion origin="layout" path="M -3.33333E-6 -3.7037E-7 L 0.24076 -0.20787 " pathEditMode="relative" rAng="0" ptsTypes="AA">
                                      <p:cBhvr>
                                        <p:cTn id="54" dur="1000" fill="hold"/>
                                        <p:tgtEl>
                                          <p:spTgt spid="27"/>
                                        </p:tgtEl>
                                        <p:attrNameLst>
                                          <p:attrName>ppt_x</p:attrName>
                                          <p:attrName>ppt_y</p:attrName>
                                        </p:attrNameLst>
                                      </p:cBhvr>
                                      <p:rCtr x="12031" y="-10394"/>
                                    </p:animMotion>
                                  </p:childTnLst>
                                </p:cTn>
                              </p:par>
                            </p:childTnLst>
                          </p:cTn>
                        </p:par>
                        <p:par>
                          <p:cTn id="55" fill="hold">
                            <p:stCondLst>
                              <p:cond delay="1000"/>
                            </p:stCondLst>
                            <p:childTnLst>
                              <p:par>
                                <p:cTn id="56" presetID="10" presetClass="entr" presetSubtype="0" fill="hold" nodeType="after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par>
                                <p:cTn id="59" presetID="1" presetClass="exit" presetSubtype="0" fill="hold" nodeType="withEffect">
                                  <p:stCondLst>
                                    <p:cond delay="0"/>
                                  </p:stCondLst>
                                  <p:childTnLst>
                                    <p:set>
                                      <p:cBhvr>
                                        <p:cTn id="60" dur="1" fill="hold">
                                          <p:stCondLst>
                                            <p:cond delay="0"/>
                                          </p:stCondLst>
                                        </p:cTn>
                                        <p:tgtEl>
                                          <p:spTgt spid="26"/>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2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9" presetClass="exit" presetSubtype="0" fill="hold" nodeType="clickEffect">
                                  <p:stCondLst>
                                    <p:cond delay="0"/>
                                  </p:stCondLst>
                                  <p:childTnLst>
                                    <p:animEffect transition="out" filter="dissolve">
                                      <p:cBhvr>
                                        <p:cTn id="66" dur="500"/>
                                        <p:tgtEl>
                                          <p:spTgt spid="28"/>
                                        </p:tgtEl>
                                      </p:cBhvr>
                                    </p:animEffect>
                                    <p:set>
                                      <p:cBhvr>
                                        <p:cTn id="67" dur="1" fill="hold">
                                          <p:stCondLst>
                                            <p:cond delay="4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7A70D-E3EF-E636-3FB0-7A1B6FC22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0445A-D4C9-A0FD-8BE8-9C097CDC6357}"/>
              </a:ext>
            </a:extLst>
          </p:cNvPr>
          <p:cNvSpPr>
            <a:spLocks noGrp="1"/>
          </p:cNvSpPr>
          <p:nvPr>
            <p:ph type="title"/>
          </p:nvPr>
        </p:nvSpPr>
        <p:spPr/>
        <p:txBody>
          <a:bodyPr/>
          <a:lstStyle/>
          <a:p>
            <a:r>
              <a:rPr lang="en-US" dirty="0"/>
              <a:t>Benefits</a:t>
            </a:r>
          </a:p>
        </p:txBody>
      </p:sp>
      <p:sp>
        <p:nvSpPr>
          <p:cNvPr id="3" name="Primary Context Box">
            <a:extLst>
              <a:ext uri="{FF2B5EF4-FFF2-40B4-BE49-F238E27FC236}">
                <a16:creationId xmlns:a16="http://schemas.microsoft.com/office/drawing/2014/main" id="{8A82BC82-36B7-0ED2-2655-B11A4DF08913}"/>
              </a:ext>
            </a:extLst>
          </p:cNvPr>
          <p:cNvSpPr/>
          <p:nvPr/>
        </p:nvSpPr>
        <p:spPr>
          <a:xfrm>
            <a:off x="552767"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Improved Performance</a:t>
            </a:r>
          </a:p>
        </p:txBody>
      </p:sp>
      <p:sp>
        <p:nvSpPr>
          <p:cNvPr id="4" name="Primary Context Box">
            <a:extLst>
              <a:ext uri="{FF2B5EF4-FFF2-40B4-BE49-F238E27FC236}">
                <a16:creationId xmlns:a16="http://schemas.microsoft.com/office/drawing/2014/main" id="{416597A4-4BE1-168D-B8B4-198C57DD9EAD}"/>
              </a:ext>
            </a:extLst>
          </p:cNvPr>
          <p:cNvSpPr/>
          <p:nvPr/>
        </p:nvSpPr>
        <p:spPr>
          <a:xfrm>
            <a:off x="4325111" y="2453089"/>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Scalability</a:t>
            </a:r>
          </a:p>
        </p:txBody>
      </p:sp>
      <p:sp>
        <p:nvSpPr>
          <p:cNvPr id="5" name="Secondary Content Box">
            <a:extLst>
              <a:ext uri="{FF2B5EF4-FFF2-40B4-BE49-F238E27FC236}">
                <a16:creationId xmlns:a16="http://schemas.microsoft.com/office/drawing/2014/main" id="{444AF0CA-328A-BA8E-7CED-768C0032DA53}"/>
              </a:ext>
            </a:extLst>
          </p:cNvPr>
          <p:cNvSpPr/>
          <p:nvPr/>
        </p:nvSpPr>
        <p:spPr>
          <a:xfrm>
            <a:off x="8070215" y="246661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Resource Efficiency</a:t>
            </a:r>
          </a:p>
        </p:txBody>
      </p:sp>
      <p:sp>
        <p:nvSpPr>
          <p:cNvPr id="11" name="Rectangle: Rounded Corners 10">
            <a:extLst>
              <a:ext uri="{FF2B5EF4-FFF2-40B4-BE49-F238E27FC236}">
                <a16:creationId xmlns:a16="http://schemas.microsoft.com/office/drawing/2014/main" id="{9F244D14-4B18-590B-A52D-AE30DCF6DA09}"/>
              </a:ext>
            </a:extLst>
          </p:cNvPr>
          <p:cNvSpPr/>
          <p:nvPr/>
        </p:nvSpPr>
        <p:spPr>
          <a:xfrm>
            <a:off x="552767"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4" name="Rectangle: Rounded Corners 13">
            <a:extLst>
              <a:ext uri="{FF2B5EF4-FFF2-40B4-BE49-F238E27FC236}">
                <a16:creationId xmlns:a16="http://schemas.microsoft.com/office/drawing/2014/main" id="{CA170F8E-EC82-13C4-32F8-40EB56963EB7}"/>
              </a:ext>
            </a:extLst>
          </p:cNvPr>
          <p:cNvSpPr/>
          <p:nvPr/>
        </p:nvSpPr>
        <p:spPr>
          <a:xfrm>
            <a:off x="4325111" y="2453089"/>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634584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1" grpId="0" animBg="1"/>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9EE0-1A6C-89EB-5A1E-D9CB5DD53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B97F6-0F3F-C29B-282C-8EB133BC5303}"/>
              </a:ext>
            </a:extLst>
          </p:cNvPr>
          <p:cNvSpPr>
            <a:spLocks noGrp="1"/>
          </p:cNvSpPr>
          <p:nvPr>
            <p:ph type="title"/>
          </p:nvPr>
        </p:nvSpPr>
        <p:spPr/>
        <p:txBody>
          <a:bodyPr/>
          <a:lstStyle/>
          <a:p>
            <a:r>
              <a:rPr lang="en-US" dirty="0"/>
              <a:t>Drawbacks</a:t>
            </a:r>
          </a:p>
        </p:txBody>
      </p:sp>
      <p:sp>
        <p:nvSpPr>
          <p:cNvPr id="3" name="Primary Context Box">
            <a:extLst>
              <a:ext uri="{FF2B5EF4-FFF2-40B4-BE49-F238E27FC236}">
                <a16:creationId xmlns:a16="http://schemas.microsoft.com/office/drawing/2014/main" id="{7458A4FF-4107-4D5C-F4AF-093586987BA3}"/>
              </a:ext>
            </a:extLst>
          </p:cNvPr>
          <p:cNvSpPr/>
          <p:nvPr/>
        </p:nvSpPr>
        <p:spPr>
          <a:xfrm>
            <a:off x="546100" y="2404804"/>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Complexity</a:t>
            </a:r>
          </a:p>
        </p:txBody>
      </p:sp>
      <p:sp>
        <p:nvSpPr>
          <p:cNvPr id="4" name="Primary Context Box">
            <a:extLst>
              <a:ext uri="{FF2B5EF4-FFF2-40B4-BE49-F238E27FC236}">
                <a16:creationId xmlns:a16="http://schemas.microsoft.com/office/drawing/2014/main" id="{0FFA3A1B-DBFF-76AF-1844-003E31107B31}"/>
              </a:ext>
            </a:extLst>
          </p:cNvPr>
          <p:cNvSpPr/>
          <p:nvPr/>
        </p:nvSpPr>
        <p:spPr>
          <a:xfrm>
            <a:off x="4308157" y="2413738"/>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Latency</a:t>
            </a:r>
          </a:p>
        </p:txBody>
      </p:sp>
      <p:sp>
        <p:nvSpPr>
          <p:cNvPr id="11" name="Rectangle: Rounded Corners 10">
            <a:extLst>
              <a:ext uri="{FF2B5EF4-FFF2-40B4-BE49-F238E27FC236}">
                <a16:creationId xmlns:a16="http://schemas.microsoft.com/office/drawing/2014/main" id="{203FDA4A-4674-27DE-6EEC-FE789CC336B5}"/>
              </a:ext>
            </a:extLst>
          </p:cNvPr>
          <p:cNvSpPr/>
          <p:nvPr/>
        </p:nvSpPr>
        <p:spPr>
          <a:xfrm>
            <a:off x="546100" y="2404804"/>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5" name="Rectangle: Rounded Corners 4">
            <a:extLst>
              <a:ext uri="{FF2B5EF4-FFF2-40B4-BE49-F238E27FC236}">
                <a16:creationId xmlns:a16="http://schemas.microsoft.com/office/drawing/2014/main" id="{177F31C2-E875-B2D6-55FE-28DB13CE7928}"/>
              </a:ext>
            </a:extLst>
          </p:cNvPr>
          <p:cNvSpPr/>
          <p:nvPr/>
        </p:nvSpPr>
        <p:spPr>
          <a:xfrm>
            <a:off x="8067040" y="2413738"/>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Dependencies</a:t>
            </a:r>
          </a:p>
        </p:txBody>
      </p:sp>
      <p:sp>
        <p:nvSpPr>
          <p:cNvPr id="6" name="Rectangle: Rounded Corners 5">
            <a:extLst>
              <a:ext uri="{FF2B5EF4-FFF2-40B4-BE49-F238E27FC236}">
                <a16:creationId xmlns:a16="http://schemas.microsoft.com/office/drawing/2014/main" id="{1919B197-07E3-DC2F-F1CA-B105C67F5FA6}"/>
              </a:ext>
            </a:extLst>
          </p:cNvPr>
          <p:cNvSpPr/>
          <p:nvPr/>
        </p:nvSpPr>
        <p:spPr>
          <a:xfrm>
            <a:off x="4308157" y="2413738"/>
            <a:ext cx="3575685" cy="1020762"/>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949698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0"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1" grpId="0" animBg="1"/>
      <p:bldP spid="5" grpId="0" animBg="1"/>
      <p:bldP spid="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8BB33-36AF-A43A-97AC-05B73A6A6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129BB9-E733-68F5-0216-606701842844}"/>
              </a:ext>
            </a:extLst>
          </p:cNvPr>
          <p:cNvSpPr>
            <a:spLocks noGrp="1"/>
          </p:cNvSpPr>
          <p:nvPr>
            <p:ph type="title"/>
          </p:nvPr>
        </p:nvSpPr>
        <p:spPr/>
        <p:txBody>
          <a:bodyPr/>
          <a:lstStyle/>
          <a:p>
            <a:r>
              <a:rPr lang="en-US" dirty="0"/>
              <a:t>Use Cases</a:t>
            </a:r>
          </a:p>
        </p:txBody>
      </p:sp>
      <p:sp>
        <p:nvSpPr>
          <p:cNvPr id="3" name="Primary Context Box">
            <a:extLst>
              <a:ext uri="{FF2B5EF4-FFF2-40B4-BE49-F238E27FC236}">
                <a16:creationId xmlns:a16="http://schemas.microsoft.com/office/drawing/2014/main" id="{55D1072B-CB93-7B99-26AD-1CCD849F9999}"/>
              </a:ext>
            </a:extLst>
          </p:cNvPr>
          <p:cNvSpPr/>
          <p:nvPr/>
        </p:nvSpPr>
        <p:spPr>
          <a:xfrm>
            <a:off x="731203"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Large File Transfers</a:t>
            </a:r>
          </a:p>
        </p:txBody>
      </p:sp>
      <p:sp>
        <p:nvSpPr>
          <p:cNvPr id="4" name="Primary Context Box">
            <a:extLst>
              <a:ext uri="{FF2B5EF4-FFF2-40B4-BE49-F238E27FC236}">
                <a16:creationId xmlns:a16="http://schemas.microsoft.com/office/drawing/2014/main" id="{CA851811-0C2E-73A2-DA84-179BA29204AD}"/>
              </a:ext>
            </a:extLst>
          </p:cNvPr>
          <p:cNvSpPr/>
          <p:nvPr/>
        </p:nvSpPr>
        <p:spPr>
          <a:xfrm>
            <a:off x="4503547" y="2914680"/>
            <a:ext cx="3575685"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Complex Data Structures</a:t>
            </a:r>
          </a:p>
        </p:txBody>
      </p:sp>
      <p:sp>
        <p:nvSpPr>
          <p:cNvPr id="5" name="Secondary Content Box">
            <a:extLst>
              <a:ext uri="{FF2B5EF4-FFF2-40B4-BE49-F238E27FC236}">
                <a16:creationId xmlns:a16="http://schemas.microsoft.com/office/drawing/2014/main" id="{279A6DF3-41B4-53B0-4B3D-B0B4EDD2708C}"/>
              </a:ext>
            </a:extLst>
          </p:cNvPr>
          <p:cNvSpPr/>
          <p:nvPr/>
        </p:nvSpPr>
        <p:spPr>
          <a:xfrm>
            <a:off x="8275891" y="2914680"/>
            <a:ext cx="3549397" cy="10207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Resource Optimization</a:t>
            </a:r>
          </a:p>
        </p:txBody>
      </p:sp>
    </p:spTree>
    <p:extLst>
      <p:ext uri="{BB962C8B-B14F-4D97-AF65-F5344CB8AC3E}">
        <p14:creationId xmlns:p14="http://schemas.microsoft.com/office/powerpoint/2010/main" val="3431742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screenshot of a computer program&#10;&#10;AI-generated content may be incorrect.">
            <a:extLst>
              <a:ext uri="{FF2B5EF4-FFF2-40B4-BE49-F238E27FC236}">
                <a16:creationId xmlns:a16="http://schemas.microsoft.com/office/drawing/2014/main" id="{E41CF205-9B91-7B46-BE9A-78A6AAC10DE5}"/>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6084094" y="1232694"/>
            <a:ext cx="3781425" cy="4210050"/>
          </a:xfrm>
        </p:spPr>
      </p:pic>
      <p:sp>
        <p:nvSpPr>
          <p:cNvPr id="5" name="Title 3">
            <a:extLst>
              <a:ext uri="{FF2B5EF4-FFF2-40B4-BE49-F238E27FC236}">
                <a16:creationId xmlns:a16="http://schemas.microsoft.com/office/drawing/2014/main" id="{1BBD5CDE-2B87-52FA-A9D0-5D56CDBE4E01}"/>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FFB3C00A-C355-7715-DD18-3EB7766BE760}"/>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Tree>
    <p:extLst>
      <p:ext uri="{BB962C8B-B14F-4D97-AF65-F5344CB8AC3E}">
        <p14:creationId xmlns:p14="http://schemas.microsoft.com/office/powerpoint/2010/main" val="20035130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computer code with text&#10;&#10;AI-generated content may be incorrect.">
            <a:extLst>
              <a:ext uri="{FF2B5EF4-FFF2-40B4-BE49-F238E27FC236}">
                <a16:creationId xmlns:a16="http://schemas.microsoft.com/office/drawing/2014/main" id="{D48209B7-E6EA-303F-FD75-C3B328444FDB}"/>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50569" y="1085056"/>
            <a:ext cx="6848475" cy="4505325"/>
          </a:xfrm>
        </p:spPr>
      </p:pic>
      <p:sp>
        <p:nvSpPr>
          <p:cNvPr id="5" name="Title 3">
            <a:extLst>
              <a:ext uri="{FF2B5EF4-FFF2-40B4-BE49-F238E27FC236}">
                <a16:creationId xmlns:a16="http://schemas.microsoft.com/office/drawing/2014/main" id="{C7D5D270-E4DD-B46E-34C1-A77F32359C0A}"/>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88D51624-0B44-7BC1-6C65-B86A873E0FEB}"/>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270B1131-B6DC-5CB3-46E3-70D5DEEDB7A0}"/>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1293D5D8-E2C4-6907-28E5-7137DE495989}"/>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461224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descr="A screenshot of a computer program&#10;&#10;AI-generated content may be incorrect.">
            <a:extLst>
              <a:ext uri="{FF2B5EF4-FFF2-40B4-BE49-F238E27FC236}">
                <a16:creationId xmlns:a16="http://schemas.microsoft.com/office/drawing/2014/main" id="{290D26F9-AF87-5292-389A-F0B3C63D9B9B}"/>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21681" y="648586"/>
            <a:ext cx="7466441" cy="5560827"/>
          </a:xfrm>
        </p:spPr>
      </p:pic>
      <p:sp>
        <p:nvSpPr>
          <p:cNvPr id="5" name="Title 3">
            <a:extLst>
              <a:ext uri="{FF2B5EF4-FFF2-40B4-BE49-F238E27FC236}">
                <a16:creationId xmlns:a16="http://schemas.microsoft.com/office/drawing/2014/main" id="{0F06B7CA-EB48-72AE-D7A0-492ABA49B2E6}"/>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5E842563-57CC-CCB4-C77D-599AD8EF2899}"/>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FB38CCA6-48AF-E545-125B-76144746AE9F}"/>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3248B500-BF5C-2A5F-EB86-79C0293364A6}"/>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265A75A4-2B59-4D3A-1E06-65C720A86E61}"/>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10" name="Rectangle: Rounded Corners 9">
            <a:extLst>
              <a:ext uri="{FF2B5EF4-FFF2-40B4-BE49-F238E27FC236}">
                <a16:creationId xmlns:a16="http://schemas.microsoft.com/office/drawing/2014/main" id="{42A0FAB6-6599-476B-797C-088C36EE76B8}"/>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2878603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Content Placeholder 13" descr="A computer screen shot of a program&#10;&#10;AI-generated content may be incorrect.">
            <a:extLst>
              <a:ext uri="{FF2B5EF4-FFF2-40B4-BE49-F238E27FC236}">
                <a16:creationId xmlns:a16="http://schemas.microsoft.com/office/drawing/2014/main" id="{B1FF8A8C-6AC4-FCA3-89E0-5471ACAA27B2}"/>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4597529" y="752856"/>
            <a:ext cx="4651413" cy="5488456"/>
          </a:xfrm>
        </p:spPr>
      </p:pic>
      <p:sp>
        <p:nvSpPr>
          <p:cNvPr id="5" name="Title 3">
            <a:extLst>
              <a:ext uri="{FF2B5EF4-FFF2-40B4-BE49-F238E27FC236}">
                <a16:creationId xmlns:a16="http://schemas.microsoft.com/office/drawing/2014/main" id="{DE6F3501-1871-79BE-ECBB-1F3F00051402}"/>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B3A5BD23-E40C-FEB2-07FB-CC53DC163BEE}"/>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A0EE2665-39AC-7FD6-ECC7-128319601ABD}"/>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9933DD5D-1456-0AC2-9163-63F0EBD4EF64}"/>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346DDACD-0D86-2D24-963F-7353569871E5}"/>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10" name="Rectangle: Rounded Corners 9">
            <a:extLst>
              <a:ext uri="{FF2B5EF4-FFF2-40B4-BE49-F238E27FC236}">
                <a16:creationId xmlns:a16="http://schemas.microsoft.com/office/drawing/2014/main" id="{423430D7-59F5-46B6-1C16-3A2B216E0C02}"/>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86AD1D38-87EE-533E-642F-8467E5EBAD93}"/>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3CB21B9D-E8A9-148B-7113-4C3E80905B61}"/>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pic>
        <p:nvPicPr>
          <p:cNvPr id="16" name="Picture 15" descr="A screenshot of a computer program&#10;&#10;AI-generated content may be incorrect.">
            <a:extLst>
              <a:ext uri="{FF2B5EF4-FFF2-40B4-BE49-F238E27FC236}">
                <a16:creationId xmlns:a16="http://schemas.microsoft.com/office/drawing/2014/main" id="{CB4C2F31-0B8E-7F27-8979-03DE0D3FE283}"/>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597529" y="1682827"/>
            <a:ext cx="7389672" cy="3684957"/>
          </a:xfrm>
          <a:prstGeom prst="rect">
            <a:avLst/>
          </a:prstGeom>
        </p:spPr>
      </p:pic>
    </p:spTree>
    <p:extLst>
      <p:ext uri="{BB962C8B-B14F-4D97-AF65-F5344CB8AC3E}">
        <p14:creationId xmlns:p14="http://schemas.microsoft.com/office/powerpoint/2010/main" val="2068973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mph" presetSubtype="0" nodeType="clickEffect">
                                  <p:stCondLst>
                                    <p:cond delay="0"/>
                                  </p:stCondLst>
                                  <p:childTnLst>
                                    <p:set>
                                      <p:cBhvr>
                                        <p:cTn id="6" dur="indefinite"/>
                                        <p:tgtEl>
                                          <p:spTgt spid="14"/>
                                        </p:tgtEl>
                                        <p:attrNameLst>
                                          <p:attrName>style.opacity</p:attrName>
                                        </p:attrNameLst>
                                      </p:cBhvr>
                                      <p:to>
                                        <p:strVal val="0.25"/>
                                      </p:to>
                                    </p:set>
                                    <p:animEffect filter="image" prLst="opacity: 0.25">
                                      <p:cBhvr rctx="IE">
                                        <p:cTn id="7" dur="indefinite"/>
                                        <p:tgtEl>
                                          <p:spTgt spid="14"/>
                                        </p:tgtEl>
                                      </p:cBhvr>
                                    </p:animEffect>
                                  </p:childTnLst>
                                </p:cTn>
                              </p:par>
                              <p:par>
                                <p:cTn id="8" presetID="53" presetClass="entr" presetSubtype="16"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 calcmode="lin" valueType="num">
                                      <p:cBhvr>
                                        <p:cTn id="10" dur="500" fill="hold"/>
                                        <p:tgtEl>
                                          <p:spTgt spid="16"/>
                                        </p:tgtEl>
                                        <p:attrNameLst>
                                          <p:attrName>ppt_w</p:attrName>
                                        </p:attrNameLst>
                                      </p:cBhvr>
                                      <p:tavLst>
                                        <p:tav tm="0">
                                          <p:val>
                                            <p:fltVal val="0"/>
                                          </p:val>
                                        </p:tav>
                                        <p:tav tm="100000">
                                          <p:val>
                                            <p:strVal val="#ppt_w"/>
                                          </p:val>
                                        </p:tav>
                                      </p:tavLst>
                                    </p:anim>
                                    <p:anim calcmode="lin" valueType="num">
                                      <p:cBhvr>
                                        <p:cTn id="11" dur="500" fill="hold"/>
                                        <p:tgtEl>
                                          <p:spTgt spid="16"/>
                                        </p:tgtEl>
                                        <p:attrNameLst>
                                          <p:attrName>ppt_h</p:attrName>
                                        </p:attrNameLst>
                                      </p:cBhvr>
                                      <p:tavLst>
                                        <p:tav tm="0">
                                          <p:val>
                                            <p:fltVal val="0"/>
                                          </p:val>
                                        </p:tav>
                                        <p:tav tm="100000">
                                          <p:val>
                                            <p:strVal val="#ppt_h"/>
                                          </p:val>
                                        </p:tav>
                                      </p:tavLst>
                                    </p:anim>
                                    <p:animEffect transition="in" filter="fade">
                                      <p:cBhvr>
                                        <p:cTn id="1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0B0102-A4B9-541D-A505-669343374302}"/>
              </a:ext>
            </a:extLst>
          </p:cNvPr>
          <p:cNvSpPr>
            <a:spLocks noGrp="1"/>
          </p:cNvSpPr>
          <p:nvPr>
            <p:ph idx="1"/>
          </p:nvPr>
        </p:nvSpPr>
        <p:spPr/>
        <p:txBody>
          <a:bodyPr/>
          <a:lstStyle/>
          <a:p>
            <a:endParaRPr lang="en-US"/>
          </a:p>
        </p:txBody>
      </p:sp>
      <p:sp>
        <p:nvSpPr>
          <p:cNvPr id="5" name="Title 3">
            <a:extLst>
              <a:ext uri="{FF2B5EF4-FFF2-40B4-BE49-F238E27FC236}">
                <a16:creationId xmlns:a16="http://schemas.microsoft.com/office/drawing/2014/main" id="{C68542A1-445D-B68E-B50E-7C9718D312FC}"/>
              </a:ext>
            </a:extLst>
          </p:cNvPr>
          <p:cNvSpPr>
            <a:spLocks noGrp="1"/>
          </p:cNvSpPr>
          <p:nvPr>
            <p:ph type="title"/>
          </p:nvPr>
        </p:nvSpPr>
        <p:spPr>
          <a:xfrm>
            <a:off x="548640" y="457200"/>
            <a:ext cx="3575304" cy="591312"/>
          </a:xfrm>
        </p:spPr>
        <p:txBody>
          <a:bodyPr/>
          <a:lstStyle/>
          <a:p>
            <a:r>
              <a:rPr lang="en-US" dirty="0"/>
              <a:t>Documentation</a:t>
            </a:r>
          </a:p>
        </p:txBody>
      </p:sp>
      <p:sp>
        <p:nvSpPr>
          <p:cNvPr id="6" name="Primary Context Box">
            <a:extLst>
              <a:ext uri="{FF2B5EF4-FFF2-40B4-BE49-F238E27FC236}">
                <a16:creationId xmlns:a16="http://schemas.microsoft.com/office/drawing/2014/main" id="{B5A2DD68-AFBC-8D51-0740-D89EEA874E40}"/>
              </a:ext>
            </a:extLst>
          </p:cNvPr>
          <p:cNvSpPr/>
          <p:nvPr/>
        </p:nvSpPr>
        <p:spPr>
          <a:xfrm>
            <a:off x="548259" y="1057619"/>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Namespace</a:t>
            </a:r>
          </a:p>
        </p:txBody>
      </p:sp>
      <p:sp>
        <p:nvSpPr>
          <p:cNvPr id="7" name="Primary Context Box">
            <a:extLst>
              <a:ext uri="{FF2B5EF4-FFF2-40B4-BE49-F238E27FC236}">
                <a16:creationId xmlns:a16="http://schemas.microsoft.com/office/drawing/2014/main" id="{6A26F39D-427E-0672-936B-674BA7F3F201}"/>
              </a:ext>
            </a:extLst>
          </p:cNvPr>
          <p:cNvSpPr/>
          <p:nvPr/>
        </p:nvSpPr>
        <p:spPr>
          <a:xfrm>
            <a:off x="548256" y="1682827"/>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8" name="Rectangle: Rounded Corners 7">
            <a:extLst>
              <a:ext uri="{FF2B5EF4-FFF2-40B4-BE49-F238E27FC236}">
                <a16:creationId xmlns:a16="http://schemas.microsoft.com/office/drawing/2014/main" id="{78098C37-C69F-C142-A9FF-5DE19C3BCFEC}"/>
              </a:ext>
            </a:extLst>
          </p:cNvPr>
          <p:cNvSpPr/>
          <p:nvPr/>
        </p:nvSpPr>
        <p:spPr>
          <a:xfrm>
            <a:off x="548259" y="1057619"/>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9" name="Primary Context Box">
            <a:extLst>
              <a:ext uri="{FF2B5EF4-FFF2-40B4-BE49-F238E27FC236}">
                <a16:creationId xmlns:a16="http://schemas.microsoft.com/office/drawing/2014/main" id="{8F6B9675-96D8-0F24-4CD5-A4D92C8A19FD}"/>
              </a:ext>
            </a:extLst>
          </p:cNvPr>
          <p:cNvSpPr/>
          <p:nvPr/>
        </p:nvSpPr>
        <p:spPr>
          <a:xfrm>
            <a:off x="548256" y="2308035"/>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Queue</a:t>
            </a:r>
          </a:p>
        </p:txBody>
      </p:sp>
      <p:sp>
        <p:nvSpPr>
          <p:cNvPr id="10" name="Rectangle: Rounded Corners 9">
            <a:extLst>
              <a:ext uri="{FF2B5EF4-FFF2-40B4-BE49-F238E27FC236}">
                <a16:creationId xmlns:a16="http://schemas.microsoft.com/office/drawing/2014/main" id="{BCB0B00B-33C1-3969-331D-98F1740880EE}"/>
              </a:ext>
            </a:extLst>
          </p:cNvPr>
          <p:cNvSpPr/>
          <p:nvPr/>
        </p:nvSpPr>
        <p:spPr>
          <a:xfrm>
            <a:off x="548256" y="1682827"/>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1" name="Primary Context Box">
            <a:extLst>
              <a:ext uri="{FF2B5EF4-FFF2-40B4-BE49-F238E27FC236}">
                <a16:creationId xmlns:a16="http://schemas.microsoft.com/office/drawing/2014/main" id="{135D8CC8-1023-B6DB-4B08-CDA6F39DEA9E}"/>
              </a:ext>
            </a:extLst>
          </p:cNvPr>
          <p:cNvSpPr/>
          <p:nvPr/>
        </p:nvSpPr>
        <p:spPr>
          <a:xfrm>
            <a:off x="548255" y="2933243"/>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Create the Consumer</a:t>
            </a:r>
          </a:p>
        </p:txBody>
      </p:sp>
      <p:sp>
        <p:nvSpPr>
          <p:cNvPr id="12" name="Rectangle: Rounded Corners 11">
            <a:extLst>
              <a:ext uri="{FF2B5EF4-FFF2-40B4-BE49-F238E27FC236}">
                <a16:creationId xmlns:a16="http://schemas.microsoft.com/office/drawing/2014/main" id="{A17B585E-35F3-61C4-2998-F44DADE50C7B}"/>
              </a:ext>
            </a:extLst>
          </p:cNvPr>
          <p:cNvSpPr/>
          <p:nvPr/>
        </p:nvSpPr>
        <p:spPr>
          <a:xfrm>
            <a:off x="548256" y="2308035"/>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
        <p:nvSpPr>
          <p:cNvPr id="13" name="Primary Context Box">
            <a:extLst>
              <a:ext uri="{FF2B5EF4-FFF2-40B4-BE49-F238E27FC236}">
                <a16:creationId xmlns:a16="http://schemas.microsoft.com/office/drawing/2014/main" id="{5E67FC83-3790-AF9B-1D06-8AF55F934D83}"/>
              </a:ext>
            </a:extLst>
          </p:cNvPr>
          <p:cNvSpPr/>
          <p:nvPr/>
        </p:nvSpPr>
        <p:spPr>
          <a:xfrm>
            <a:off x="548255" y="3558451"/>
            <a:ext cx="3575685" cy="512835"/>
          </a:xfrm>
          <a:prstGeom prst="roundRect">
            <a:avLst/>
          </a:prstGeom>
          <a:solidFill>
            <a:schemeClr val="accent2">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2"/>
                </a:solidFill>
              </a:rPr>
              <a:t>Run the Demo</a:t>
            </a:r>
          </a:p>
        </p:txBody>
      </p:sp>
      <p:sp>
        <p:nvSpPr>
          <p:cNvPr id="14" name="Rectangle: Rounded Corners 13">
            <a:extLst>
              <a:ext uri="{FF2B5EF4-FFF2-40B4-BE49-F238E27FC236}">
                <a16:creationId xmlns:a16="http://schemas.microsoft.com/office/drawing/2014/main" id="{71F86F11-F475-5B94-FD49-D4520DAFE873}"/>
              </a:ext>
            </a:extLst>
          </p:cNvPr>
          <p:cNvSpPr/>
          <p:nvPr/>
        </p:nvSpPr>
        <p:spPr>
          <a:xfrm>
            <a:off x="548255" y="2933243"/>
            <a:ext cx="3575685" cy="512835"/>
          </a:xfrm>
          <a:prstGeom prst="roundRect">
            <a:avLst/>
          </a:prstGeom>
          <a:solidFill>
            <a:schemeClr val="tx1">
              <a:alpha val="5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b="1" dirty="0"/>
          </a:p>
        </p:txBody>
      </p:sp>
    </p:spTree>
    <p:extLst>
      <p:ext uri="{BB962C8B-B14F-4D97-AF65-F5344CB8AC3E}">
        <p14:creationId xmlns:p14="http://schemas.microsoft.com/office/powerpoint/2010/main" val="1923657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78E1CF9F-2FF4-447D-EE54-DD016A2F173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3548" y="1500187"/>
            <a:ext cx="4953000" cy="385762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D6F6608F-34EF-DD05-A0AD-741DD1FD4B4E}"/>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645277" y="867241"/>
            <a:ext cx="6353175" cy="235267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E8177488-7984-0CC8-1C03-3EA5E548667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5678614" y="3973254"/>
            <a:ext cx="6286500" cy="2343150"/>
          </a:xfrm>
          <a:prstGeom prst="rect">
            <a:avLst/>
          </a:prstGeom>
        </p:spPr>
      </p:pic>
      <p:sp>
        <p:nvSpPr>
          <p:cNvPr id="8" name="TextBox 7">
            <a:extLst>
              <a:ext uri="{FF2B5EF4-FFF2-40B4-BE49-F238E27FC236}">
                <a16:creationId xmlns:a16="http://schemas.microsoft.com/office/drawing/2014/main" id="{69A11DC3-FE36-72E6-C21F-3D1678659737}"/>
              </a:ext>
            </a:extLst>
          </p:cNvPr>
          <p:cNvSpPr txBox="1"/>
          <p:nvPr/>
        </p:nvSpPr>
        <p:spPr>
          <a:xfrm>
            <a:off x="7957781" y="282466"/>
            <a:ext cx="1728165" cy="584775"/>
          </a:xfrm>
          <a:prstGeom prst="rect">
            <a:avLst/>
          </a:prstGeom>
          <a:noFill/>
        </p:spPr>
        <p:txBody>
          <a:bodyPr wrap="none" rtlCol="0">
            <a:spAutoFit/>
          </a:bodyPr>
          <a:lstStyle/>
          <a:p>
            <a:r>
              <a:rPr lang="en-US" sz="3200" b="1" dirty="0">
                <a:solidFill>
                  <a:schemeClr val="accent6"/>
                </a:solidFill>
              </a:rPr>
              <a:t>Producer</a:t>
            </a:r>
          </a:p>
        </p:txBody>
      </p:sp>
      <p:sp>
        <p:nvSpPr>
          <p:cNvPr id="9" name="TextBox 8">
            <a:extLst>
              <a:ext uri="{FF2B5EF4-FFF2-40B4-BE49-F238E27FC236}">
                <a16:creationId xmlns:a16="http://schemas.microsoft.com/office/drawing/2014/main" id="{E159C2AE-4A78-78D9-E87A-FDB61974F2FF}"/>
              </a:ext>
            </a:extLst>
          </p:cNvPr>
          <p:cNvSpPr txBox="1"/>
          <p:nvPr/>
        </p:nvSpPr>
        <p:spPr>
          <a:xfrm>
            <a:off x="7865511" y="3444238"/>
            <a:ext cx="1912703" cy="584775"/>
          </a:xfrm>
          <a:prstGeom prst="rect">
            <a:avLst/>
          </a:prstGeom>
          <a:noFill/>
        </p:spPr>
        <p:txBody>
          <a:bodyPr wrap="none" rtlCol="0">
            <a:spAutoFit/>
          </a:bodyPr>
          <a:lstStyle/>
          <a:p>
            <a:r>
              <a:rPr lang="en-US" sz="3200" b="1" dirty="0">
                <a:solidFill>
                  <a:schemeClr val="accent6"/>
                </a:solidFill>
              </a:rPr>
              <a:t>Consumer</a:t>
            </a:r>
          </a:p>
        </p:txBody>
      </p:sp>
      <p:pic>
        <p:nvPicPr>
          <p:cNvPr id="11" name="Picture 10" descr="A screenshot of a computer&#10;&#10;AI-generated content may be incorrect.">
            <a:extLst>
              <a:ext uri="{FF2B5EF4-FFF2-40B4-BE49-F238E27FC236}">
                <a16:creationId xmlns:a16="http://schemas.microsoft.com/office/drawing/2014/main" id="{58C30DB7-C825-F7F1-0ED0-93008047FE6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a:fillRect/>
          </a:stretch>
        </p:blipFill>
        <p:spPr>
          <a:xfrm>
            <a:off x="193548" y="1500187"/>
            <a:ext cx="4953000" cy="3857625"/>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BC325817-6106-D91C-65BD-671B58A0F5A3}"/>
              </a:ext>
            </a:extLst>
          </p:cNvPr>
          <p:cNvPicPr>
            <a:picLocks noChangeAspect="1"/>
          </p:cNvPicPr>
          <p:nvPr/>
        </p:nvPicPr>
        <p:blipFill rotWithShape="1">
          <a:blip r:embed="rId6">
            <a:extLst>
              <a:ext uri="{28A0092B-C50C-407E-A947-70E740481C1C}">
                <a14:useLocalDpi xmlns:a14="http://schemas.microsoft.com/office/drawing/2010/main"/>
              </a:ext>
            </a:extLst>
          </a:blip>
          <a:srcRect/>
          <a:stretch>
            <a:fillRect/>
          </a:stretch>
        </p:blipFill>
        <p:spPr>
          <a:xfrm>
            <a:off x="5645277" y="867241"/>
            <a:ext cx="6353175" cy="2352675"/>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C2D78F20-7B8B-62C0-B349-ABBF411CDD6A}"/>
              </a:ext>
            </a:extLst>
          </p:cNvPr>
          <p:cNvPicPr>
            <a:picLocks noChangeAspect="1"/>
          </p:cNvPicPr>
          <p:nvPr/>
        </p:nvPicPr>
        <p:blipFill rotWithShape="1">
          <a:blip r:embed="rId7">
            <a:extLst>
              <a:ext uri="{28A0092B-C50C-407E-A947-70E740481C1C}">
                <a14:useLocalDpi xmlns:a14="http://schemas.microsoft.com/office/drawing/2010/main"/>
              </a:ext>
            </a:extLst>
          </a:blip>
          <a:srcRect/>
          <a:stretch>
            <a:fillRect/>
          </a:stretch>
        </p:blipFill>
        <p:spPr>
          <a:xfrm>
            <a:off x="5678614" y="3973254"/>
            <a:ext cx="6286500" cy="2343150"/>
          </a:xfrm>
          <a:prstGeom prst="rect">
            <a:avLst/>
          </a:prstGeom>
        </p:spPr>
      </p:pic>
    </p:spTree>
    <p:extLst>
      <p:ext uri="{BB962C8B-B14F-4D97-AF65-F5344CB8AC3E}">
        <p14:creationId xmlns:p14="http://schemas.microsoft.com/office/powerpoint/2010/main" val="232035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wipe(up)">
                                      <p:cBhvr>
                                        <p:cTn id="3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5792B-DA4D-2683-87FE-9CB1B894C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3C42C-8100-E9C4-54A5-3DDFEE8DBC90}"/>
              </a:ext>
            </a:extLst>
          </p:cNvPr>
          <p:cNvSpPr>
            <a:spLocks noGrp="1"/>
          </p:cNvSpPr>
          <p:nvPr>
            <p:ph type="title"/>
          </p:nvPr>
        </p:nvSpPr>
        <p:spPr/>
        <p:txBody>
          <a:bodyPr/>
          <a:lstStyle/>
          <a:p>
            <a:r>
              <a:rPr lang="en-US" dirty="0"/>
              <a:t>Key Points to Remember</a:t>
            </a:r>
          </a:p>
        </p:txBody>
      </p:sp>
      <p:sp>
        <p:nvSpPr>
          <p:cNvPr id="4" name="Rectangle: Rounded Corners 3">
            <a:extLst>
              <a:ext uri="{FF2B5EF4-FFF2-40B4-BE49-F238E27FC236}">
                <a16:creationId xmlns:a16="http://schemas.microsoft.com/office/drawing/2014/main" id="{FF26F00F-CB06-B69F-917A-44579496DAF3}"/>
              </a:ext>
            </a:extLst>
          </p:cNvPr>
          <p:cNvSpPr/>
          <p:nvPr/>
        </p:nvSpPr>
        <p:spPr>
          <a:xfrm>
            <a:off x="1489076"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Storage Large Payloads Externally</a:t>
            </a:r>
          </a:p>
        </p:txBody>
      </p:sp>
      <p:sp>
        <p:nvSpPr>
          <p:cNvPr id="5" name="Rectangle: Rounded Corners 4">
            <a:extLst>
              <a:ext uri="{FF2B5EF4-FFF2-40B4-BE49-F238E27FC236}">
                <a16:creationId xmlns:a16="http://schemas.microsoft.com/office/drawing/2014/main" id="{3E5A4E27-A669-B41B-B3BC-E01010494393}"/>
              </a:ext>
            </a:extLst>
          </p:cNvPr>
          <p:cNvSpPr/>
          <p:nvPr/>
        </p:nvSpPr>
        <p:spPr>
          <a:xfrm>
            <a:off x="7126288" y="1554480"/>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Include Claim Checks</a:t>
            </a:r>
          </a:p>
        </p:txBody>
      </p:sp>
      <p:sp>
        <p:nvSpPr>
          <p:cNvPr id="6" name="Rectangle: Rounded Corners 5">
            <a:extLst>
              <a:ext uri="{FF2B5EF4-FFF2-40B4-BE49-F238E27FC236}">
                <a16:creationId xmlns:a16="http://schemas.microsoft.com/office/drawing/2014/main" id="{87A91BAF-1D8F-2F4D-7EB9-CED7F25E2799}"/>
              </a:ext>
            </a:extLst>
          </p:cNvPr>
          <p:cNvSpPr/>
          <p:nvPr/>
        </p:nvSpPr>
        <p:spPr>
          <a:xfrm>
            <a:off x="1487488" y="3570487"/>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Ensure Storage Reliability</a:t>
            </a:r>
          </a:p>
        </p:txBody>
      </p:sp>
      <p:sp>
        <p:nvSpPr>
          <p:cNvPr id="7" name="Rectangle: Rounded Corners 6">
            <a:extLst>
              <a:ext uri="{FF2B5EF4-FFF2-40B4-BE49-F238E27FC236}">
                <a16:creationId xmlns:a16="http://schemas.microsoft.com/office/drawing/2014/main" id="{F7E96AFD-23A1-8F99-D831-3BDE2A0BA45F}"/>
              </a:ext>
            </a:extLst>
          </p:cNvPr>
          <p:cNvSpPr/>
          <p:nvPr/>
        </p:nvSpPr>
        <p:spPr>
          <a:xfrm>
            <a:off x="7126288" y="3519488"/>
            <a:ext cx="3576637" cy="1733033"/>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Coordinate Components</a:t>
            </a:r>
          </a:p>
        </p:txBody>
      </p:sp>
    </p:spTree>
    <p:extLst>
      <p:ext uri="{BB962C8B-B14F-4D97-AF65-F5344CB8AC3E}">
        <p14:creationId xmlns:p14="http://schemas.microsoft.com/office/powerpoint/2010/main" val="3748652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7E8D83-268F-3D3B-F5B2-748DCCABFB1A}"/>
              </a:ext>
            </a:extLst>
          </p:cNvPr>
          <p:cNvSpPr>
            <a:spLocks noGrp="1"/>
          </p:cNvSpPr>
          <p:nvPr>
            <p:ph type="title"/>
          </p:nvPr>
        </p:nvSpPr>
        <p:spPr/>
        <p:txBody>
          <a:bodyPr/>
          <a:lstStyle/>
          <a:p>
            <a:r>
              <a:rPr lang="en-US" dirty="0"/>
              <a:t>Advanced Processing Techniques</a:t>
            </a:r>
          </a:p>
        </p:txBody>
      </p:sp>
      <p:sp>
        <p:nvSpPr>
          <p:cNvPr id="3" name="Text Placeholder 2">
            <a:extLst>
              <a:ext uri="{FF2B5EF4-FFF2-40B4-BE49-F238E27FC236}">
                <a16:creationId xmlns:a16="http://schemas.microsoft.com/office/drawing/2014/main" id="{D2C5678B-64D0-6B62-3DEB-FED42590A1EF}"/>
              </a:ext>
            </a:extLst>
          </p:cNvPr>
          <p:cNvSpPr>
            <a:spLocks noGrp="1"/>
          </p:cNvSpPr>
          <p:nvPr>
            <p:ph type="body" sz="quarter" idx="10"/>
          </p:nvPr>
        </p:nvSpPr>
        <p:spPr/>
        <p:txBody>
          <a:bodyPr/>
          <a:lstStyle/>
          <a:p>
            <a:r>
              <a:rPr lang="en-US" dirty="0"/>
              <a:t>Wrap-Up</a:t>
            </a:r>
          </a:p>
        </p:txBody>
      </p:sp>
    </p:spTree>
    <p:extLst>
      <p:ext uri="{BB962C8B-B14F-4D97-AF65-F5344CB8AC3E}">
        <p14:creationId xmlns:p14="http://schemas.microsoft.com/office/powerpoint/2010/main" val="37816911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3ACFF-5071-B3E3-4F26-F0685B0822AA}"/>
              </a:ext>
            </a:extLst>
          </p:cNvPr>
          <p:cNvSpPr>
            <a:spLocks noGrp="1"/>
          </p:cNvSpPr>
          <p:nvPr>
            <p:ph type="title"/>
          </p:nvPr>
        </p:nvSpPr>
        <p:spPr/>
        <p:txBody>
          <a:bodyPr/>
          <a:lstStyle/>
          <a:p>
            <a:r>
              <a:rPr lang="en-US" dirty="0"/>
              <a:t>Key Takeaways</a:t>
            </a:r>
          </a:p>
        </p:txBody>
      </p:sp>
      <p:sp>
        <p:nvSpPr>
          <p:cNvPr id="4" name="Rectangle: Rounded Corners 3">
            <a:extLst>
              <a:ext uri="{FF2B5EF4-FFF2-40B4-BE49-F238E27FC236}">
                <a16:creationId xmlns:a16="http://schemas.microsoft.com/office/drawing/2014/main" id="{CAA775EE-5D27-A5B3-B56C-4E9BA532D9F5}"/>
              </a:ext>
            </a:extLst>
          </p:cNvPr>
          <p:cNvSpPr/>
          <p:nvPr/>
        </p:nvSpPr>
        <p:spPr>
          <a:xfrm>
            <a:off x="547688" y="2498725"/>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Idempotent Receivers</a:t>
            </a:r>
          </a:p>
        </p:txBody>
      </p:sp>
      <p:sp>
        <p:nvSpPr>
          <p:cNvPr id="5" name="Rectangle: Rounded Corners 4">
            <a:extLst>
              <a:ext uri="{FF2B5EF4-FFF2-40B4-BE49-F238E27FC236}">
                <a16:creationId xmlns:a16="http://schemas.microsoft.com/office/drawing/2014/main" id="{6948905F-576A-7632-99E5-D286B95F84A7}"/>
              </a:ext>
            </a:extLst>
          </p:cNvPr>
          <p:cNvSpPr/>
          <p:nvPr/>
        </p:nvSpPr>
        <p:spPr>
          <a:xfrm>
            <a:off x="4307681" y="2498726"/>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Message Scheduling</a:t>
            </a:r>
          </a:p>
        </p:txBody>
      </p:sp>
      <p:sp>
        <p:nvSpPr>
          <p:cNvPr id="6" name="Rectangle: Rounded Corners 5">
            <a:extLst>
              <a:ext uri="{FF2B5EF4-FFF2-40B4-BE49-F238E27FC236}">
                <a16:creationId xmlns:a16="http://schemas.microsoft.com/office/drawing/2014/main" id="{B41283C1-E020-18E2-C18A-D1D298BAB23A}"/>
              </a:ext>
            </a:extLst>
          </p:cNvPr>
          <p:cNvSpPr/>
          <p:nvPr/>
        </p:nvSpPr>
        <p:spPr>
          <a:xfrm>
            <a:off x="8067675" y="2498726"/>
            <a:ext cx="3576637" cy="1858962"/>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2"/>
                </a:solidFill>
              </a:rPr>
              <a:t>Claim Checks</a:t>
            </a:r>
          </a:p>
        </p:txBody>
      </p:sp>
    </p:spTree>
    <p:extLst>
      <p:ext uri="{BB962C8B-B14F-4D97-AF65-F5344CB8AC3E}">
        <p14:creationId xmlns:p14="http://schemas.microsoft.com/office/powerpoint/2010/main" val="10572596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3DB07-036F-21EA-0F3B-6B1DA4B6C50A}"/>
              </a:ext>
            </a:extLst>
          </p:cNvPr>
          <p:cNvSpPr>
            <a:spLocks noGrp="1"/>
          </p:cNvSpPr>
          <p:nvPr>
            <p:ph type="title"/>
          </p:nvPr>
        </p:nvSpPr>
        <p:spPr/>
        <p:txBody>
          <a:bodyPr>
            <a:normAutofit fontScale="90000"/>
          </a:bodyPr>
          <a:lstStyle/>
          <a:p>
            <a:r>
              <a:rPr lang="en-US" dirty="0"/>
              <a:t>Preview of What’s Next in the Workshop</a:t>
            </a:r>
          </a:p>
        </p:txBody>
      </p:sp>
      <p:sp>
        <p:nvSpPr>
          <p:cNvPr id="3" name="Primary Context Box">
            <a:extLst>
              <a:ext uri="{FF2B5EF4-FFF2-40B4-BE49-F238E27FC236}">
                <a16:creationId xmlns:a16="http://schemas.microsoft.com/office/drawing/2014/main" id="{95B70A07-A2B7-0815-C156-7D28D413F981}"/>
              </a:ext>
            </a:extLst>
          </p:cNvPr>
          <p:cNvSpPr/>
          <p:nvPr/>
        </p:nvSpPr>
        <p:spPr>
          <a:xfrm>
            <a:off x="1020762"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Messaging Essentials</a:t>
            </a:r>
          </a:p>
        </p:txBody>
      </p:sp>
      <p:sp>
        <p:nvSpPr>
          <p:cNvPr id="9" name="Rectangle: Rounded Corners 8">
            <a:extLst>
              <a:ext uri="{FF2B5EF4-FFF2-40B4-BE49-F238E27FC236}">
                <a16:creationId xmlns:a16="http://schemas.microsoft.com/office/drawing/2014/main" id="{F6F2E2BD-19F3-AC5C-1426-88F43624D2D7}"/>
              </a:ext>
            </a:extLst>
          </p:cNvPr>
          <p:cNvSpPr/>
          <p:nvPr/>
        </p:nvSpPr>
        <p:spPr>
          <a:xfrm>
            <a:off x="6657657" y="147796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Core Messaging Patterns</a:t>
            </a:r>
          </a:p>
        </p:txBody>
      </p:sp>
      <p:sp>
        <p:nvSpPr>
          <p:cNvPr id="10" name="Rectangle: Rounded Corners 9">
            <a:extLst>
              <a:ext uri="{FF2B5EF4-FFF2-40B4-BE49-F238E27FC236}">
                <a16:creationId xmlns:a16="http://schemas.microsoft.com/office/drawing/2014/main" id="{142B842D-B53E-1FEC-1C52-3EFA88D1946C}"/>
              </a:ext>
            </a:extLst>
          </p:cNvPr>
          <p:cNvSpPr/>
          <p:nvPr/>
        </p:nvSpPr>
        <p:spPr>
          <a:xfrm>
            <a:off x="1018856" y="2489483"/>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Routing &amp; Processing</a:t>
            </a:r>
          </a:p>
        </p:txBody>
      </p:sp>
      <p:sp>
        <p:nvSpPr>
          <p:cNvPr id="11" name="Rectangle: Rounded Corners 10">
            <a:extLst>
              <a:ext uri="{FF2B5EF4-FFF2-40B4-BE49-F238E27FC236}">
                <a16:creationId xmlns:a16="http://schemas.microsoft.com/office/drawing/2014/main" id="{6EFCEC62-ED8E-60DB-86A2-4A8BC0C98705}"/>
              </a:ext>
            </a:extLst>
          </p:cNvPr>
          <p:cNvSpPr/>
          <p:nvPr/>
        </p:nvSpPr>
        <p:spPr>
          <a:xfrm>
            <a:off x="6658610" y="2495815"/>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Advanced Processing Techniques</a:t>
            </a:r>
          </a:p>
        </p:txBody>
      </p:sp>
      <p:sp>
        <p:nvSpPr>
          <p:cNvPr id="12" name="Rectangle: Rounded Corners 11">
            <a:extLst>
              <a:ext uri="{FF2B5EF4-FFF2-40B4-BE49-F238E27FC236}">
                <a16:creationId xmlns:a16="http://schemas.microsoft.com/office/drawing/2014/main" id="{C2853758-C8FF-38BF-BF31-97889C27F874}"/>
              </a:ext>
            </a:extLst>
          </p:cNvPr>
          <p:cNvSpPr/>
          <p:nvPr/>
        </p:nvSpPr>
        <p:spPr>
          <a:xfrm>
            <a:off x="1018856" y="3526756"/>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Resilience &amp; Reliability</a:t>
            </a:r>
          </a:p>
        </p:txBody>
      </p:sp>
      <p:sp>
        <p:nvSpPr>
          <p:cNvPr id="13" name="Rectangle: Rounded Corners 12">
            <a:extLst>
              <a:ext uri="{FF2B5EF4-FFF2-40B4-BE49-F238E27FC236}">
                <a16:creationId xmlns:a16="http://schemas.microsoft.com/office/drawing/2014/main" id="{61CDBE5B-B45A-4425-B434-170136091110}"/>
              </a:ext>
            </a:extLst>
          </p:cNvPr>
          <p:cNvSpPr/>
          <p:nvPr/>
        </p:nvSpPr>
        <p:spPr>
          <a:xfrm>
            <a:off x="6658610" y="352028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Streaming &amp; Integrations</a:t>
            </a:r>
          </a:p>
        </p:txBody>
      </p:sp>
      <p:sp>
        <p:nvSpPr>
          <p:cNvPr id="14" name="Rectangle: Rounded Corners 13">
            <a:extLst>
              <a:ext uri="{FF2B5EF4-FFF2-40B4-BE49-F238E27FC236}">
                <a16:creationId xmlns:a16="http://schemas.microsoft.com/office/drawing/2014/main" id="{AE2DDD8E-54D6-645D-5959-085CB3501568}"/>
              </a:ext>
            </a:extLst>
          </p:cNvPr>
          <p:cNvSpPr/>
          <p:nvPr/>
        </p:nvSpPr>
        <p:spPr>
          <a:xfrm>
            <a:off x="1018858" y="4531801"/>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Data Considerations</a:t>
            </a:r>
          </a:p>
        </p:txBody>
      </p:sp>
      <p:sp>
        <p:nvSpPr>
          <p:cNvPr id="15" name="Rectangle: Rounded Corners 14">
            <a:extLst>
              <a:ext uri="{FF2B5EF4-FFF2-40B4-BE49-F238E27FC236}">
                <a16:creationId xmlns:a16="http://schemas.microsoft.com/office/drawing/2014/main" id="{F95599BB-3A5B-8440-C2DD-6A14FC4B8BFA}"/>
              </a:ext>
            </a:extLst>
          </p:cNvPr>
          <p:cNvSpPr/>
          <p:nvPr/>
        </p:nvSpPr>
        <p:spPr>
          <a:xfrm>
            <a:off x="6658610" y="4564239"/>
            <a:ext cx="4514533"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Hands-On Exercises</a:t>
            </a:r>
          </a:p>
        </p:txBody>
      </p:sp>
    </p:spTree>
    <p:extLst>
      <p:ext uri="{BB962C8B-B14F-4D97-AF65-F5344CB8AC3E}">
        <p14:creationId xmlns:p14="http://schemas.microsoft.com/office/powerpoint/2010/main" val="152316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1000" fill="hold"/>
                                        <p:tgtEl>
                                          <p:spTgt spid="3"/>
                                        </p:tgtEl>
                                        <p:attrNameLst>
                                          <p:attrName>fillcolor</p:attrName>
                                        </p:attrNameLst>
                                      </p:cBhvr>
                                      <p:to>
                                        <a:schemeClr val="accent2"/>
                                      </p:to>
                                    </p:animClr>
                                    <p:set>
                                      <p:cBhvr>
                                        <p:cTn id="7" dur="1000" fill="hold"/>
                                        <p:tgtEl>
                                          <p:spTgt spid="3"/>
                                        </p:tgtEl>
                                        <p:attrNameLst>
                                          <p:attrName>fill.type</p:attrName>
                                        </p:attrNameLst>
                                      </p:cBhvr>
                                      <p:to>
                                        <p:strVal val="solid"/>
                                      </p:to>
                                    </p:set>
                                    <p:set>
                                      <p:cBhvr>
                                        <p:cTn id="8" dur="1000" fill="hold"/>
                                        <p:tgtEl>
                                          <p:spTgt spid="3"/>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1000" fill="hold"/>
                                        <p:tgtEl>
                                          <p:spTgt spid="9"/>
                                        </p:tgtEl>
                                        <p:attrNameLst>
                                          <p:attrName>fillcolor</p:attrName>
                                        </p:attrNameLst>
                                      </p:cBhvr>
                                      <p:to>
                                        <a:schemeClr val="accent2"/>
                                      </p:to>
                                    </p:animClr>
                                    <p:set>
                                      <p:cBhvr>
                                        <p:cTn id="11" dur="1000" fill="hold"/>
                                        <p:tgtEl>
                                          <p:spTgt spid="9"/>
                                        </p:tgtEl>
                                        <p:attrNameLst>
                                          <p:attrName>fill.type</p:attrName>
                                        </p:attrNameLst>
                                      </p:cBhvr>
                                      <p:to>
                                        <p:strVal val="solid"/>
                                      </p:to>
                                    </p:set>
                                    <p:set>
                                      <p:cBhvr>
                                        <p:cTn id="12" dur="1000" fill="hold"/>
                                        <p:tgtEl>
                                          <p:spTgt spid="9"/>
                                        </p:tgtEl>
                                        <p:attrNameLst>
                                          <p:attrName>fill.on</p:attrName>
                                        </p:attrNameLst>
                                      </p:cBhvr>
                                      <p:to>
                                        <p:strVal val="true"/>
                                      </p:to>
                                    </p:set>
                                  </p:childTnLst>
                                </p:cTn>
                              </p:par>
                              <p:par>
                                <p:cTn id="13" presetID="1" presetClass="emph" presetSubtype="2" fill="hold" nodeType="withEffect">
                                  <p:stCondLst>
                                    <p:cond delay="0"/>
                                  </p:stCondLst>
                                  <p:childTnLst>
                                    <p:animClr clrSpc="rgb" dir="cw">
                                      <p:cBhvr>
                                        <p:cTn id="14" dur="1000" fill="hold"/>
                                        <p:tgtEl>
                                          <p:spTgt spid="10"/>
                                        </p:tgtEl>
                                        <p:attrNameLst>
                                          <p:attrName>fillcolor</p:attrName>
                                        </p:attrNameLst>
                                      </p:cBhvr>
                                      <p:to>
                                        <a:schemeClr val="accent2"/>
                                      </p:to>
                                    </p:animClr>
                                    <p:set>
                                      <p:cBhvr>
                                        <p:cTn id="15" dur="1000" fill="hold"/>
                                        <p:tgtEl>
                                          <p:spTgt spid="10"/>
                                        </p:tgtEl>
                                        <p:attrNameLst>
                                          <p:attrName>fill.type</p:attrName>
                                        </p:attrNameLst>
                                      </p:cBhvr>
                                      <p:to>
                                        <p:strVal val="solid"/>
                                      </p:to>
                                    </p:set>
                                    <p:set>
                                      <p:cBhvr>
                                        <p:cTn id="16" dur="1000" fill="hold"/>
                                        <p:tgtEl>
                                          <p:spTgt spid="10"/>
                                        </p:tgtEl>
                                        <p:attrNameLst>
                                          <p:attrName>fill.on</p:attrName>
                                        </p:attrNameLst>
                                      </p:cBhvr>
                                      <p:to>
                                        <p:strVal val="true"/>
                                      </p:to>
                                    </p:set>
                                  </p:childTnLst>
                                </p:cTn>
                              </p:par>
                            </p:childTnLst>
                          </p:cTn>
                        </p:par>
                      </p:childTnLst>
                    </p:cTn>
                  </p:par>
                  <p:par>
                    <p:cTn id="17" fill="hold">
                      <p:stCondLst>
                        <p:cond delay="indefinite"/>
                      </p:stCondLst>
                      <p:childTnLst>
                        <p:par>
                          <p:cTn id="18" fill="hold">
                            <p:stCondLst>
                              <p:cond delay="0"/>
                            </p:stCondLst>
                            <p:childTnLst>
                              <p:par>
                                <p:cTn id="19" presetID="1" presetClass="emph" presetSubtype="2" fill="hold" nodeType="clickEffect">
                                  <p:stCondLst>
                                    <p:cond delay="0"/>
                                  </p:stCondLst>
                                  <p:childTnLst>
                                    <p:animClr clrSpc="rgb" dir="cw">
                                      <p:cBhvr>
                                        <p:cTn id="20" dur="1000" fill="hold"/>
                                        <p:tgtEl>
                                          <p:spTgt spid="11"/>
                                        </p:tgtEl>
                                        <p:attrNameLst>
                                          <p:attrName>fillcolor</p:attrName>
                                        </p:attrNameLst>
                                      </p:cBhvr>
                                      <p:to>
                                        <a:schemeClr val="hlink"/>
                                      </p:to>
                                    </p:animClr>
                                    <p:set>
                                      <p:cBhvr>
                                        <p:cTn id="21" dur="1000" fill="hold"/>
                                        <p:tgtEl>
                                          <p:spTgt spid="11"/>
                                        </p:tgtEl>
                                        <p:attrNameLst>
                                          <p:attrName>fill.type</p:attrName>
                                        </p:attrNameLst>
                                      </p:cBhvr>
                                      <p:to>
                                        <p:strVal val="solid"/>
                                      </p:to>
                                    </p:set>
                                    <p:set>
                                      <p:cBhvr>
                                        <p:cTn id="22" dur="1000" fill="hold"/>
                                        <p:tgtEl>
                                          <p:spTgt spid="11"/>
                                        </p:tgtEl>
                                        <p:attrNameLst>
                                          <p:attrName>fill.on</p:attrName>
                                        </p:attrNameLst>
                                      </p:cBhvr>
                                      <p:to>
                                        <p:strVal val="true"/>
                                      </p:to>
                                    </p:set>
                                  </p:childTnLst>
                                </p:cTn>
                              </p:par>
                            </p:childTnLst>
                          </p:cTn>
                        </p:par>
                      </p:childTnLst>
                    </p:cTn>
                  </p:par>
                  <p:par>
                    <p:cTn id="23" fill="hold">
                      <p:stCondLst>
                        <p:cond delay="indefinite"/>
                      </p:stCondLst>
                      <p:childTnLst>
                        <p:par>
                          <p:cTn id="24" fill="hold">
                            <p:stCondLst>
                              <p:cond delay="0"/>
                            </p:stCondLst>
                            <p:childTnLst>
                              <p:par>
                                <p:cTn id="25" presetID="1" presetClass="emph" presetSubtype="2" fill="hold" grpId="0" nodeType="clickEffect">
                                  <p:stCondLst>
                                    <p:cond delay="0"/>
                                  </p:stCondLst>
                                  <p:childTnLst>
                                    <p:animClr clrSpc="rgb" dir="cw">
                                      <p:cBhvr>
                                        <p:cTn id="26" dur="1000" fill="hold"/>
                                        <p:tgtEl>
                                          <p:spTgt spid="12"/>
                                        </p:tgtEl>
                                        <p:attrNameLst>
                                          <p:attrName>fillcolor</p:attrName>
                                        </p:attrNameLst>
                                      </p:cBhvr>
                                      <p:to>
                                        <a:srgbClr val="FF6600"/>
                                      </p:to>
                                    </p:animClr>
                                    <p:set>
                                      <p:cBhvr>
                                        <p:cTn id="27" dur="1000" fill="hold"/>
                                        <p:tgtEl>
                                          <p:spTgt spid="12"/>
                                        </p:tgtEl>
                                        <p:attrNameLst>
                                          <p:attrName>fill.type</p:attrName>
                                        </p:attrNameLst>
                                      </p:cBhvr>
                                      <p:to>
                                        <p:strVal val="solid"/>
                                      </p:to>
                                    </p:set>
                                    <p:set>
                                      <p:cBhvr>
                                        <p:cTn id="28" dur="1000" fill="hold"/>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6096A-E291-7C06-EE47-71EF7813BC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B3A2-DC10-6061-895D-28E4AF7C3AEE}"/>
              </a:ext>
            </a:extLst>
          </p:cNvPr>
          <p:cNvSpPr>
            <a:spLocks noGrp="1"/>
          </p:cNvSpPr>
          <p:nvPr>
            <p:ph type="title"/>
          </p:nvPr>
        </p:nvSpPr>
        <p:spPr/>
        <p:txBody>
          <a:bodyPr>
            <a:normAutofit fontScale="90000"/>
          </a:bodyPr>
          <a:lstStyle/>
          <a:p>
            <a:r>
              <a:rPr lang="en-US" dirty="0"/>
              <a:t>Preview of What’s Next in the Workshop</a:t>
            </a:r>
          </a:p>
        </p:txBody>
      </p:sp>
      <p:sp>
        <p:nvSpPr>
          <p:cNvPr id="12" name="Rectangle: Rounded Corners 11">
            <a:extLst>
              <a:ext uri="{FF2B5EF4-FFF2-40B4-BE49-F238E27FC236}">
                <a16:creationId xmlns:a16="http://schemas.microsoft.com/office/drawing/2014/main" id="{61FE7ECB-56A3-293C-8713-D8E333442827}"/>
              </a:ext>
            </a:extLst>
          </p:cNvPr>
          <p:cNvSpPr/>
          <p:nvPr/>
        </p:nvSpPr>
        <p:spPr>
          <a:xfrm>
            <a:off x="3838733" y="2473030"/>
            <a:ext cx="4514533" cy="838200"/>
          </a:xfrm>
          <a:prstGeom prst="roundRect">
            <a:avLst/>
          </a:prstGeom>
          <a:solidFill>
            <a:schemeClr val="accent4">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Resilience &amp; Reliability</a:t>
            </a:r>
          </a:p>
        </p:txBody>
      </p:sp>
      <p:sp>
        <p:nvSpPr>
          <p:cNvPr id="6" name="Rectangle: Rounded Corners 5">
            <a:extLst>
              <a:ext uri="{FF2B5EF4-FFF2-40B4-BE49-F238E27FC236}">
                <a16:creationId xmlns:a16="http://schemas.microsoft.com/office/drawing/2014/main" id="{2C0DF506-925B-A848-E773-E04C6FC67BB4}"/>
              </a:ext>
            </a:extLst>
          </p:cNvPr>
          <p:cNvSpPr/>
          <p:nvPr/>
        </p:nvSpPr>
        <p:spPr>
          <a:xfrm>
            <a:off x="549273" y="3534551"/>
            <a:ext cx="3091922"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Circuit Breaker</a:t>
            </a:r>
          </a:p>
        </p:txBody>
      </p:sp>
      <p:sp>
        <p:nvSpPr>
          <p:cNvPr id="7" name="Rectangle: Rounded Corners 6">
            <a:extLst>
              <a:ext uri="{FF2B5EF4-FFF2-40B4-BE49-F238E27FC236}">
                <a16:creationId xmlns:a16="http://schemas.microsoft.com/office/drawing/2014/main" id="{09017E32-A240-6143-DDE0-49F79D6C545B}"/>
              </a:ext>
            </a:extLst>
          </p:cNvPr>
          <p:cNvSpPr/>
          <p:nvPr/>
        </p:nvSpPr>
        <p:spPr>
          <a:xfrm>
            <a:off x="4550038" y="3519488"/>
            <a:ext cx="3091922"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Saga</a:t>
            </a:r>
          </a:p>
        </p:txBody>
      </p:sp>
      <p:sp>
        <p:nvSpPr>
          <p:cNvPr id="8" name="Rectangle: Rounded Corners 7">
            <a:extLst>
              <a:ext uri="{FF2B5EF4-FFF2-40B4-BE49-F238E27FC236}">
                <a16:creationId xmlns:a16="http://schemas.microsoft.com/office/drawing/2014/main" id="{6D77197E-CF59-6596-4FEA-1E405D35BAF1}"/>
              </a:ext>
            </a:extLst>
          </p:cNvPr>
          <p:cNvSpPr/>
          <p:nvPr/>
        </p:nvSpPr>
        <p:spPr>
          <a:xfrm>
            <a:off x="8550803" y="3534551"/>
            <a:ext cx="3091922" cy="838200"/>
          </a:xfrm>
          <a:prstGeom prst="roundRect">
            <a:avLst/>
          </a:prstGeom>
          <a:solidFill>
            <a:schemeClr val="accent3">
              <a:alpha val="2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600" b="1" dirty="0">
                <a:solidFill>
                  <a:schemeClr val="tx2"/>
                </a:solidFill>
              </a:rPr>
              <a:t>Sequence Convoy</a:t>
            </a:r>
          </a:p>
        </p:txBody>
      </p:sp>
    </p:spTree>
    <p:extLst>
      <p:ext uri="{BB962C8B-B14F-4D97-AF65-F5344CB8AC3E}">
        <p14:creationId xmlns:p14="http://schemas.microsoft.com/office/powerpoint/2010/main" val="122534173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Messaging Patterns Theme">
  <a:themeElements>
    <a:clrScheme name="Messaging Patterns">
      <a:dk1>
        <a:srgbClr val="333333"/>
      </a:dk1>
      <a:lt1>
        <a:srgbClr val="FFFFFF"/>
      </a:lt1>
      <a:dk2>
        <a:srgbClr val="003366"/>
      </a:dk2>
      <a:lt2>
        <a:srgbClr val="F4F6F7"/>
      </a:lt2>
      <a:accent1>
        <a:srgbClr val="003366"/>
      </a:accent1>
      <a:accent2>
        <a:srgbClr val="008080"/>
      </a:accent2>
      <a:accent3>
        <a:srgbClr val="DD3377"/>
      </a:accent3>
      <a:accent4>
        <a:srgbClr val="FF6600"/>
      </a:accent4>
      <a:accent5>
        <a:srgbClr val="3399FF"/>
      </a:accent5>
      <a:accent6>
        <a:srgbClr val="666666"/>
      </a:accent6>
      <a:hlink>
        <a:srgbClr val="3399FF"/>
      </a:hlink>
      <a:folHlink>
        <a:srgbClr val="DD3377"/>
      </a:folHlink>
    </a:clrScheme>
    <a:fontScheme name="Messaging Patterns">
      <a:majorFont>
        <a:latin typeface="Kamerik205 8"/>
        <a:ea typeface=""/>
        <a:cs typeface=""/>
      </a:majorFont>
      <a:minorFont>
        <a:latin typeface="Inte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74D1B7A-25F4-468A-BCD3-61BD71071BC8}" vid="{120AAE42-4739-44D7-83E5-4AE5E4AFEB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MessagingPatterns</Template>
  <TotalTime>1313</TotalTime>
  <Words>2717</Words>
  <Application>Microsoft Office PowerPoint</Application>
  <PresentationFormat>Widescreen</PresentationFormat>
  <Paragraphs>569</Paragraphs>
  <Slides>53</Slides>
  <Notes>24</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Aptos</vt:lpstr>
      <vt:lpstr>Arial</vt:lpstr>
      <vt:lpstr>Inter</vt:lpstr>
      <vt:lpstr>Kamerik205 8</vt:lpstr>
      <vt:lpstr>Messaging Patterns Theme</vt:lpstr>
      <vt:lpstr>Theme Style Guide</vt:lpstr>
      <vt:lpstr>Style Guide: Color Palette (Base Colors)</vt:lpstr>
      <vt:lpstr>Style Guide: Color Palette (Accent Colors)</vt:lpstr>
      <vt:lpstr>Theme Style Guide: Typography</vt:lpstr>
      <vt:lpstr>Style Guide: Layouts</vt:lpstr>
      <vt:lpstr>Style Guide: Content Box Styles</vt:lpstr>
      <vt:lpstr>Style Guide: Content Box Fill Styling</vt:lpstr>
      <vt:lpstr>Advanced Processing Techniques</vt:lpstr>
      <vt:lpstr>Advanced Processing Techniques</vt:lpstr>
      <vt:lpstr>What is the Idempotent Receiver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Documentation</vt:lpstr>
      <vt:lpstr>Documentation</vt:lpstr>
      <vt:lpstr>Key Points to Remember</vt:lpstr>
      <vt:lpstr>Advanced Processing Techniques</vt:lpstr>
      <vt:lpstr>What is the Idempotent Receiver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Documentation</vt:lpstr>
      <vt:lpstr>Key Points to Remember</vt:lpstr>
      <vt:lpstr>Advanced Processing Techniques</vt:lpstr>
      <vt:lpstr>What is the Idempotent Receiver Pattern</vt:lpstr>
      <vt:lpstr>Key Components &amp; Flow</vt:lpstr>
      <vt:lpstr>Key Components &amp; Flow</vt:lpstr>
      <vt:lpstr>Benefits</vt:lpstr>
      <vt:lpstr>Drawbacks</vt:lpstr>
      <vt:lpstr>Use Cases</vt:lpstr>
      <vt:lpstr>Documentation</vt:lpstr>
      <vt:lpstr>Documentation</vt:lpstr>
      <vt:lpstr>Documentation</vt:lpstr>
      <vt:lpstr>Documentation</vt:lpstr>
      <vt:lpstr>Documentation</vt:lpstr>
      <vt:lpstr>PowerPoint Presentation</vt:lpstr>
      <vt:lpstr>Key Points to Remember</vt:lpstr>
      <vt:lpstr>Advanced Processing Techniques</vt:lpstr>
      <vt:lpstr>Key Takeaways</vt:lpstr>
      <vt:lpstr>Preview of What’s Next in the Workshop</vt:lpstr>
      <vt:lpstr>Preview of What’s Next in the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Green</dc:creator>
  <cp:lastModifiedBy>Chad Green</cp:lastModifiedBy>
  <cp:revision>44</cp:revision>
  <dcterms:created xsi:type="dcterms:W3CDTF">2025-07-21T02:58:25Z</dcterms:created>
  <dcterms:modified xsi:type="dcterms:W3CDTF">2025-07-27T15:03:50Z</dcterms:modified>
</cp:coreProperties>
</file>