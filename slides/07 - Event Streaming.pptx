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57" r:id="rId2"/>
    <p:sldId id="258" r:id="rId3"/>
    <p:sldId id="261" r:id="rId4"/>
    <p:sldId id="259" r:id="rId5"/>
    <p:sldId id="260" r:id="rId6"/>
    <p:sldId id="262" r:id="rId7"/>
    <p:sldId id="263" r:id="rId8"/>
    <p:sldId id="290" r:id="rId9"/>
    <p:sldId id="380" r:id="rId10"/>
    <p:sldId id="291" r:id="rId11"/>
    <p:sldId id="414" r:id="rId12"/>
    <p:sldId id="458" r:id="rId13"/>
    <p:sldId id="293" r:id="rId14"/>
    <p:sldId id="460" r:id="rId15"/>
    <p:sldId id="294" r:id="rId16"/>
    <p:sldId id="459" r:id="rId17"/>
    <p:sldId id="295" r:id="rId18"/>
    <p:sldId id="463" r:id="rId19"/>
    <p:sldId id="464" r:id="rId20"/>
    <p:sldId id="465" r:id="rId21"/>
    <p:sldId id="466" r:id="rId22"/>
    <p:sldId id="467" r:id="rId23"/>
    <p:sldId id="468" r:id="rId24"/>
    <p:sldId id="469" r:id="rId25"/>
    <p:sldId id="470" r:id="rId26"/>
    <p:sldId id="471" r:id="rId27"/>
    <p:sldId id="472" r:id="rId28"/>
    <p:sldId id="473" r:id="rId29"/>
    <p:sldId id="474" r:id="rId30"/>
    <p:sldId id="475" r:id="rId31"/>
    <p:sldId id="454" r:id="rId32"/>
    <p:sldId id="455" r:id="rId33"/>
    <p:sldId id="456" r:id="rId34"/>
    <p:sldId id="47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me Style Guide" id="{532ADC95-8B68-4F96-9A13-E35FA0E58553}">
          <p14:sldIdLst>
            <p14:sldId id="257"/>
            <p14:sldId id="258"/>
            <p14:sldId id="261"/>
            <p14:sldId id="259"/>
            <p14:sldId id="260"/>
            <p14:sldId id="262"/>
            <p14:sldId id="263"/>
          </p14:sldIdLst>
        </p14:section>
        <p14:section name="Introduction" id="{90983BA4-56F5-46A5-87FD-742FE9977CDE}">
          <p14:sldIdLst>
            <p14:sldId id="290"/>
          </p14:sldIdLst>
        </p14:section>
        <p14:section name="Idempotent Receiver" id="{9F985ADF-C0EF-4554-82B5-70E2436ED504}">
          <p14:sldIdLst>
            <p14:sldId id="380"/>
            <p14:sldId id="291"/>
            <p14:sldId id="414"/>
            <p14:sldId id="458"/>
            <p14:sldId id="293"/>
            <p14:sldId id="460"/>
            <p14:sldId id="294"/>
            <p14:sldId id="459"/>
            <p14:sldId id="295"/>
            <p14:sldId id="463"/>
            <p14:sldId id="464"/>
            <p14:sldId id="465"/>
            <p14:sldId id="466"/>
            <p14:sldId id="467"/>
            <p14:sldId id="468"/>
            <p14:sldId id="469"/>
            <p14:sldId id="470"/>
            <p14:sldId id="471"/>
            <p14:sldId id="472"/>
            <p14:sldId id="473"/>
            <p14:sldId id="474"/>
            <p14:sldId id="475"/>
          </p14:sldIdLst>
        </p14:section>
        <p14:section name="Wrap-Up" id="{735F0729-385E-48B2-9CC9-321FEBC0D2F7}">
          <p14:sldIdLst>
            <p14:sldId id="454"/>
            <p14:sldId id="455"/>
            <p14:sldId id="456"/>
            <p14:sldId id="4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49" autoAdjust="0"/>
    <p:restoredTop sz="72563" autoAdjust="0"/>
  </p:normalViewPr>
  <p:slideViewPr>
    <p:cSldViewPr snapToGrid="0" showGuides="1">
      <p:cViewPr varScale="1">
        <p:scale>
          <a:sx n="113" d="100"/>
          <a:sy n="113" d="100"/>
        </p:scale>
        <p:origin x="14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5F2EF8-1963-4D06-0037-190C2628E8E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3C1DDF5-DDBF-7F05-6959-EDD7EE8CD5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64EA34-5607-42FC-A5EC-B3EB34B980C7}" type="datetimeFigureOut">
              <a:rPr lang="en-US" smtClean="0"/>
              <a:t>7/27/2025</a:t>
            </a:fld>
            <a:endParaRPr lang="en-US"/>
          </a:p>
        </p:txBody>
      </p:sp>
      <p:sp>
        <p:nvSpPr>
          <p:cNvPr id="4" name="Footer Placeholder 3">
            <a:extLst>
              <a:ext uri="{FF2B5EF4-FFF2-40B4-BE49-F238E27FC236}">
                <a16:creationId xmlns:a16="http://schemas.microsoft.com/office/drawing/2014/main" id="{7F37E494-0D1E-4B7E-8DC6-C5FDF16C7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D9A15D4-5BB1-9A3E-5C4E-00538AFC1B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32A3B4-E1AE-4DAF-AAB0-E27DAAB565AA}" type="slidenum">
              <a:rPr lang="en-US" smtClean="0"/>
              <a:t>‹#›</a:t>
            </a:fld>
            <a:endParaRPr lang="en-US"/>
          </a:p>
        </p:txBody>
      </p:sp>
    </p:spTree>
    <p:extLst>
      <p:ext uri="{BB962C8B-B14F-4D97-AF65-F5344CB8AC3E}">
        <p14:creationId xmlns:p14="http://schemas.microsoft.com/office/powerpoint/2010/main" val="1961642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B21A4E-9E2A-47D2-8D53-809F7F857FEB}" type="datetimeFigureOut">
              <a:rPr lang="en-US" smtClean="0"/>
              <a:t>7/27/2025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00ACD-0348-4F47-9C35-586193A86BF3}" type="slidenum">
              <a:rPr lang="en-US" smtClean="0"/>
              <a:t>‹#›</a:t>
            </a:fld>
            <a:endParaRPr lang="en-US"/>
          </a:p>
        </p:txBody>
      </p:sp>
    </p:spTree>
    <p:extLst>
      <p:ext uri="{BB962C8B-B14F-4D97-AF65-F5344CB8AC3E}">
        <p14:creationId xmlns:p14="http://schemas.microsoft.com/office/powerpoint/2010/main" val="3106955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a:t>
            </a:r>
            <a:r>
              <a:rPr lang="en-US" b="1" dirty="0"/>
              <a:t>Streaming and Integration Patterns</a:t>
            </a:r>
            <a:r>
              <a:rPr lang="en-US" b="0" dirty="0"/>
              <a:t> module. This section will explore patterns that leverage continuous data streams and facilitate effective integration between systems. These patterns are crucial for building real-time applications and ensuring seamless communication across architectural components.</a:t>
            </a:r>
          </a:p>
          <a:p>
            <a:endParaRPr lang="en-US" b="0" dirty="0"/>
          </a:p>
          <a:p>
            <a:r>
              <a:rPr lang="en-US" b="0" dirty="0"/>
              <a:t>By the end of this module, you will know to design messaging solutions that can handle continuous data streams and integrate various systems effectively. Let’s now check out the techniques to elevate your messaging capabilities to support real-time and integrated applications!</a:t>
            </a:r>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8</a:t>
            </a:fld>
            <a:endParaRPr lang="en-US"/>
          </a:p>
        </p:txBody>
      </p:sp>
    </p:spTree>
    <p:extLst>
      <p:ext uri="{BB962C8B-B14F-4D97-AF65-F5344CB8AC3E}">
        <p14:creationId xmlns:p14="http://schemas.microsoft.com/office/powerpoint/2010/main" val="152102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919A6-93D7-3B61-CAC3-7767CE5D1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0E1A5-F881-6111-AAF4-6C96AE9E73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BC8EE-773C-2549-19DC-529606462FFD}"/>
              </a:ext>
            </a:extLst>
          </p:cNvPr>
          <p:cNvSpPr>
            <a:spLocks noGrp="1"/>
          </p:cNvSpPr>
          <p:nvPr>
            <p:ph type="body" idx="1"/>
          </p:nvPr>
        </p:nvSpPr>
        <p:spPr/>
        <p:txBody>
          <a:bodyPr/>
          <a:lstStyle/>
          <a:p>
            <a:r>
              <a:rPr lang="en-US" b="1" u="sng" dirty="0"/>
              <a:t>Definition</a:t>
            </a:r>
            <a:endParaRPr lang="en-US" b="0" u="none" dirty="0"/>
          </a:p>
          <a:p>
            <a:r>
              <a:rPr lang="en-US" b="0" u="none" dirty="0"/>
              <a:t>Event streaming is a messaging pattern where continuous flow of data (events) is recorded and processed in real-time. Events are captured from sources like databases, applications, or devices and delivered to various consumers for processing.</a:t>
            </a:r>
          </a:p>
          <a:p>
            <a:endParaRPr lang="en-US" b="0" u="none" dirty="0"/>
          </a:p>
          <a:p>
            <a:endParaRPr lang="en-US" b="0" u="none" dirty="0"/>
          </a:p>
          <a:p>
            <a:r>
              <a:rPr lang="en-US" b="1" u="sng" dirty="0"/>
              <a:t>Purpose</a:t>
            </a:r>
            <a:endParaRPr lang="en-US" b="0" u="none" dirty="0"/>
          </a:p>
          <a:p>
            <a:r>
              <a:rPr lang="en-US" b="0" u="none" dirty="0"/>
              <a:t>It enables real-time data processing, allowing systems to react to events as they happen, rather than relying on batch processing.</a:t>
            </a:r>
            <a:endParaRPr lang="en-US" b="1" u="sng" dirty="0"/>
          </a:p>
        </p:txBody>
      </p:sp>
      <p:sp>
        <p:nvSpPr>
          <p:cNvPr id="4" name="Slide Number Placeholder 3">
            <a:extLst>
              <a:ext uri="{FF2B5EF4-FFF2-40B4-BE49-F238E27FC236}">
                <a16:creationId xmlns:a16="http://schemas.microsoft.com/office/drawing/2014/main" id="{6E4B305B-4319-5242-FACB-CE7FA5B8C41A}"/>
              </a:ext>
            </a:extLst>
          </p:cNvPr>
          <p:cNvSpPr>
            <a:spLocks noGrp="1"/>
          </p:cNvSpPr>
          <p:nvPr>
            <p:ph type="sldNum" sz="quarter" idx="5"/>
          </p:nvPr>
        </p:nvSpPr>
        <p:spPr/>
        <p:txBody>
          <a:bodyPr/>
          <a:lstStyle/>
          <a:p>
            <a:fld id="{F5000ACD-0348-4F47-9C35-586193A86BF3}" type="slidenum">
              <a:rPr lang="en-US" smtClean="0"/>
              <a:t>10</a:t>
            </a:fld>
            <a:endParaRPr lang="en-US"/>
          </a:p>
        </p:txBody>
      </p:sp>
    </p:spTree>
    <p:extLst>
      <p:ext uri="{BB962C8B-B14F-4D97-AF65-F5344CB8AC3E}">
        <p14:creationId xmlns:p14="http://schemas.microsoft.com/office/powerpoint/2010/main" val="378485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46C7-0660-8DFA-9A1E-115F00D3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98916-6C24-8303-40FB-318E14762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A6903-C696-9DA3-D4E4-D49E69CC114D}"/>
              </a:ext>
            </a:extLst>
          </p:cNvPr>
          <p:cNvSpPr>
            <a:spLocks noGrp="1"/>
          </p:cNvSpPr>
          <p:nvPr>
            <p:ph type="body" idx="1"/>
          </p:nvPr>
        </p:nvSpPr>
        <p:spPr/>
        <p:txBody>
          <a:bodyPr/>
          <a:lstStyle/>
          <a:p>
            <a:r>
              <a:rPr lang="en-US" b="1" u="sng" dirty="0"/>
              <a:t>Event Producer</a:t>
            </a:r>
            <a:endParaRPr lang="en-US" b="0" u="none" dirty="0"/>
          </a:p>
          <a:p>
            <a:r>
              <a:rPr lang="en-US" b="0" u="none" dirty="0"/>
              <a:t>The source that generates and sends events (e.g. sensors, applications, databases)</a:t>
            </a:r>
          </a:p>
          <a:p>
            <a:endParaRPr lang="en-US" b="0" u="none" dirty="0"/>
          </a:p>
          <a:p>
            <a:r>
              <a:rPr lang="en-US" b="1" u="sng" dirty="0"/>
              <a:t>Event Stream</a:t>
            </a:r>
            <a:endParaRPr lang="en-US" b="0" u="none" dirty="0"/>
          </a:p>
          <a:p>
            <a:r>
              <a:rPr lang="en-US" b="0" u="none" dirty="0"/>
              <a:t>The channel through which event flows, often managed by a streaming platform (e.g. Apache Kafka, Azure Event Hubs).</a:t>
            </a:r>
          </a:p>
          <a:p>
            <a:endParaRPr lang="en-US" b="0" u="none" dirty="0"/>
          </a:p>
          <a:p>
            <a:r>
              <a:rPr lang="en-US" b="1" u="sng" dirty="0"/>
              <a:t>Event Consumer</a:t>
            </a:r>
            <a:endParaRPr lang="en-US" b="0" u="none" dirty="0"/>
          </a:p>
          <a:p>
            <a:r>
              <a:rPr lang="en-US" b="0" u="none" dirty="0"/>
              <a:t>The component or service that reads and processes events from the steam.</a:t>
            </a:r>
          </a:p>
        </p:txBody>
      </p:sp>
      <p:sp>
        <p:nvSpPr>
          <p:cNvPr id="4" name="Slide Number Placeholder 3">
            <a:extLst>
              <a:ext uri="{FF2B5EF4-FFF2-40B4-BE49-F238E27FC236}">
                <a16:creationId xmlns:a16="http://schemas.microsoft.com/office/drawing/2014/main" id="{F7D5E704-F58C-43E5-E72D-CC6BD491DEE2}"/>
              </a:ext>
            </a:extLst>
          </p:cNvPr>
          <p:cNvSpPr>
            <a:spLocks noGrp="1"/>
          </p:cNvSpPr>
          <p:nvPr>
            <p:ph type="sldNum" sz="quarter" idx="5"/>
          </p:nvPr>
        </p:nvSpPr>
        <p:spPr/>
        <p:txBody>
          <a:bodyPr/>
          <a:lstStyle/>
          <a:p>
            <a:fld id="{F5000ACD-0348-4F47-9C35-586193A86BF3}" type="slidenum">
              <a:rPr lang="en-US" smtClean="0"/>
              <a:t>11</a:t>
            </a:fld>
            <a:endParaRPr lang="en-US"/>
          </a:p>
        </p:txBody>
      </p:sp>
    </p:spTree>
    <p:extLst>
      <p:ext uri="{BB962C8B-B14F-4D97-AF65-F5344CB8AC3E}">
        <p14:creationId xmlns:p14="http://schemas.microsoft.com/office/powerpoint/2010/main" val="2505944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Event Producer</a:t>
            </a:r>
            <a:endParaRPr lang="en-US" b="0" u="none" dirty="0"/>
          </a:p>
          <a:p>
            <a:r>
              <a:rPr lang="en-US" b="0" u="none" dirty="0"/>
              <a:t>The source that generates and sends events (e.g. sensors, applications, databases)</a:t>
            </a:r>
          </a:p>
          <a:p>
            <a:endParaRPr lang="en-US" b="0" u="none" dirty="0"/>
          </a:p>
          <a:p>
            <a:r>
              <a:rPr lang="en-US" b="1" u="sng" dirty="0"/>
              <a:t>Event Stream</a:t>
            </a:r>
            <a:endParaRPr lang="en-US" b="0" u="none" dirty="0"/>
          </a:p>
          <a:p>
            <a:r>
              <a:rPr lang="en-US" b="0" u="none" dirty="0"/>
              <a:t>The channel through which event flows, often managed by a streaming platform (e.g. Apache Kafka, Azure Event Hubs).</a:t>
            </a:r>
          </a:p>
          <a:p>
            <a:endParaRPr lang="en-US" b="0" u="none" dirty="0"/>
          </a:p>
          <a:p>
            <a:r>
              <a:rPr lang="en-US" b="1" u="sng" dirty="0"/>
              <a:t>Event Consumer</a:t>
            </a:r>
            <a:endParaRPr lang="en-US" b="0" u="none" dirty="0"/>
          </a:p>
          <a:p>
            <a:r>
              <a:rPr lang="en-US" b="0" u="none" dirty="0"/>
              <a:t>The component or service that reads and processes events from the steam.</a:t>
            </a:r>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12</a:t>
            </a:fld>
            <a:endParaRPr lang="en-US"/>
          </a:p>
        </p:txBody>
      </p:sp>
    </p:spTree>
    <p:extLst>
      <p:ext uri="{BB962C8B-B14F-4D97-AF65-F5344CB8AC3E}">
        <p14:creationId xmlns:p14="http://schemas.microsoft.com/office/powerpoint/2010/main" val="1415939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u="none" dirty="0"/>
              <a:t>Low Latency</a:t>
            </a:r>
            <a:r>
              <a:rPr lang="en-US" b="0" u="none" dirty="0"/>
              <a:t>: Immediate processing of data as events occur.</a:t>
            </a:r>
          </a:p>
          <a:p>
            <a:pPr marL="0" indent="0">
              <a:buFont typeface="Arial" panose="020B0604020202020204" pitchFamily="34" charset="0"/>
              <a:buNone/>
            </a:pPr>
            <a:endParaRPr lang="en-US" b="0" u="none" dirty="0"/>
          </a:p>
          <a:p>
            <a:pPr marL="0" indent="0">
              <a:buFont typeface="Arial" panose="020B0604020202020204" pitchFamily="34" charset="0"/>
              <a:buNone/>
            </a:pPr>
            <a:r>
              <a:rPr lang="en-US" b="1" u="none" dirty="0"/>
              <a:t>Scalability</a:t>
            </a:r>
            <a:r>
              <a:rPr lang="en-US" b="0" u="none" dirty="0"/>
              <a:t>: Efficiently handles large volumes of data.</a:t>
            </a:r>
          </a:p>
          <a:p>
            <a:pPr marL="0" indent="0">
              <a:buFont typeface="Arial" panose="020B0604020202020204" pitchFamily="34" charset="0"/>
              <a:buNone/>
            </a:pPr>
            <a:endParaRPr lang="en-US" b="0" u="none" dirty="0"/>
          </a:p>
          <a:p>
            <a:pPr marL="0" indent="0">
              <a:buFont typeface="Arial" panose="020B0604020202020204" pitchFamily="34" charset="0"/>
              <a:buNone/>
            </a:pPr>
            <a:r>
              <a:rPr lang="en-US" b="1" u="none" dirty="0"/>
              <a:t>Flexibility</a:t>
            </a:r>
            <a:r>
              <a:rPr lang="en-US" b="0" u="none" dirty="0"/>
              <a:t>: Supports various consumers and processing requirements.</a:t>
            </a:r>
            <a:endParaRPr lang="en-US" b="1" u="none" dirty="0"/>
          </a:p>
        </p:txBody>
      </p:sp>
      <p:sp>
        <p:nvSpPr>
          <p:cNvPr id="4" name="Slide Number Placeholder 3"/>
          <p:cNvSpPr>
            <a:spLocks noGrp="1"/>
          </p:cNvSpPr>
          <p:nvPr>
            <p:ph type="sldNum" sz="quarter" idx="5"/>
          </p:nvPr>
        </p:nvSpPr>
        <p:spPr/>
        <p:txBody>
          <a:bodyPr/>
          <a:lstStyle/>
          <a:p>
            <a:fld id="{F5000ACD-0348-4F47-9C35-586193A86BF3}" type="slidenum">
              <a:rPr lang="en-US" smtClean="0"/>
              <a:t>13</a:t>
            </a:fld>
            <a:endParaRPr lang="en-US"/>
          </a:p>
        </p:txBody>
      </p:sp>
    </p:spTree>
    <p:extLst>
      <p:ext uri="{BB962C8B-B14F-4D97-AF65-F5344CB8AC3E}">
        <p14:creationId xmlns:p14="http://schemas.microsoft.com/office/powerpoint/2010/main" val="3989978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AB8E8-C175-F8DA-0780-52A83D19D9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7FA24-ECC6-B300-3E85-F5EB1C4881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2A19D-0423-FDF1-1F90-F4CBF2753537}"/>
              </a:ext>
            </a:extLst>
          </p:cNvPr>
          <p:cNvSpPr>
            <a:spLocks noGrp="1"/>
          </p:cNvSpPr>
          <p:nvPr>
            <p:ph type="body" idx="1"/>
          </p:nvPr>
        </p:nvSpPr>
        <p:spPr/>
        <p:txBody>
          <a:bodyPr/>
          <a:lstStyle/>
          <a:p>
            <a:pPr marL="0" indent="0">
              <a:buFont typeface="Arial" panose="020B0604020202020204" pitchFamily="34" charset="0"/>
              <a:buNone/>
            </a:pPr>
            <a:r>
              <a:rPr lang="en-US" b="1" u="sng" dirty="0"/>
              <a:t>Complexity in Implementation and Maintenance</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Infrastructure Setup</a:t>
            </a:r>
            <a:r>
              <a:rPr lang="en-US" b="0" u="none" dirty="0"/>
              <a:t>: Setting up and managing the infrastructure for event streaming, such as Apache Kafka or Azure Event Hubs, can be complex. It requires careful planning, configuration, and ongoing maintenance.</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Data Processing</a:t>
            </a:r>
            <a:r>
              <a:rPr lang="en-US" b="0" u="none" dirty="0"/>
              <a:t>: Designing and implementing real-time data processing pipelines can be challenging, especially when dealing with high volumes of data and ensuring low-latency processing.</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Skills Requirements</a:t>
            </a:r>
            <a:r>
              <a:rPr lang="en-US" b="0" u="none" dirty="0"/>
              <a:t>: Requires specialized skills and knowledge to implement and maintain effectively, which may be a barrier for some teams.</a:t>
            </a:r>
            <a:endParaRPr lang="en-US" b="1" u="none" dirty="0"/>
          </a:p>
        </p:txBody>
      </p:sp>
      <p:sp>
        <p:nvSpPr>
          <p:cNvPr id="4" name="Slide Number Placeholder 3">
            <a:extLst>
              <a:ext uri="{FF2B5EF4-FFF2-40B4-BE49-F238E27FC236}">
                <a16:creationId xmlns:a16="http://schemas.microsoft.com/office/drawing/2014/main" id="{2B772826-B8EA-CB77-D529-316CAEB47371}"/>
              </a:ext>
            </a:extLst>
          </p:cNvPr>
          <p:cNvSpPr>
            <a:spLocks noGrp="1"/>
          </p:cNvSpPr>
          <p:nvPr>
            <p:ph type="sldNum" sz="quarter" idx="5"/>
          </p:nvPr>
        </p:nvSpPr>
        <p:spPr/>
        <p:txBody>
          <a:bodyPr/>
          <a:lstStyle/>
          <a:p>
            <a:fld id="{F5000ACD-0348-4F47-9C35-586193A86BF3}" type="slidenum">
              <a:rPr lang="en-US" smtClean="0"/>
              <a:t>14</a:t>
            </a:fld>
            <a:endParaRPr lang="en-US"/>
          </a:p>
        </p:txBody>
      </p:sp>
    </p:spTree>
    <p:extLst>
      <p:ext uri="{BB962C8B-B14F-4D97-AF65-F5344CB8AC3E}">
        <p14:creationId xmlns:p14="http://schemas.microsoft.com/office/powerpoint/2010/main" val="710538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5D7A-F7E6-B545-0C35-C0DDB38B2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B056B-5A41-24D4-BF72-9178B8986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F2EE9-4C13-30A7-7AB2-2E71D725DCD6}"/>
              </a:ext>
            </a:extLst>
          </p:cNvPr>
          <p:cNvSpPr>
            <a:spLocks noGrp="1"/>
          </p:cNvSpPr>
          <p:nvPr>
            <p:ph type="body" idx="1"/>
          </p:nvPr>
        </p:nvSpPr>
        <p:spPr/>
        <p:txBody>
          <a:bodyPr/>
          <a:lstStyle/>
          <a:p>
            <a:pPr marL="0" indent="0">
              <a:buFont typeface="Arial" panose="020B0604020202020204" pitchFamily="34" charset="0"/>
              <a:buNone/>
            </a:pPr>
            <a:r>
              <a:rPr lang="en-US" b="1" u="sng" dirty="0"/>
              <a:t>Scalability and Resource Management</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Resource Intensive</a:t>
            </a:r>
            <a:r>
              <a:rPr lang="en-US" b="0" u="none" dirty="0"/>
              <a:t>: Event streaming systems can be resource-intensive, requiring significant computational and storage resources to handle high volumes of data and ensure real-time processing.</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Scalability Challenges</a:t>
            </a:r>
            <a:r>
              <a:rPr lang="en-US" b="0" u="none" dirty="0"/>
              <a:t>: While event steaming systems are designed to scale, ensuring efficient and cost-effective scaling can be challenging. Balancing the load across multiple consumers and managing resource allocation effectively is crucial.</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Latency Management</a:t>
            </a:r>
            <a:r>
              <a:rPr lang="en-US" b="0" u="none" dirty="0"/>
              <a:t>: As the system scales, managing and minimizing latency to ensure timely processing of events becomes increasingly complex.</a:t>
            </a:r>
            <a:endParaRPr lang="en-US" b="1" u="none" dirty="0"/>
          </a:p>
        </p:txBody>
      </p:sp>
      <p:sp>
        <p:nvSpPr>
          <p:cNvPr id="4" name="Slide Number Placeholder 3">
            <a:extLst>
              <a:ext uri="{FF2B5EF4-FFF2-40B4-BE49-F238E27FC236}">
                <a16:creationId xmlns:a16="http://schemas.microsoft.com/office/drawing/2014/main" id="{91CBECDD-25DD-66C2-B08E-620CAADAE1AD}"/>
              </a:ext>
            </a:extLst>
          </p:cNvPr>
          <p:cNvSpPr>
            <a:spLocks noGrp="1"/>
          </p:cNvSpPr>
          <p:nvPr>
            <p:ph type="sldNum" sz="quarter" idx="5"/>
          </p:nvPr>
        </p:nvSpPr>
        <p:spPr/>
        <p:txBody>
          <a:bodyPr/>
          <a:lstStyle/>
          <a:p>
            <a:fld id="{F5000ACD-0348-4F47-9C35-586193A86BF3}" type="slidenum">
              <a:rPr lang="en-US" smtClean="0"/>
              <a:t>15</a:t>
            </a:fld>
            <a:endParaRPr lang="en-US"/>
          </a:p>
        </p:txBody>
      </p:sp>
    </p:spTree>
    <p:extLst>
      <p:ext uri="{BB962C8B-B14F-4D97-AF65-F5344CB8AC3E}">
        <p14:creationId xmlns:p14="http://schemas.microsoft.com/office/powerpoint/2010/main" val="713754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208EA-59ED-086F-2E36-2721C5A50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7D5A8-0C57-200F-4FE8-16A554091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3BCF1-6050-D0C6-D7F5-FEDA617B470A}"/>
              </a:ext>
            </a:extLst>
          </p:cNvPr>
          <p:cNvSpPr>
            <a:spLocks noGrp="1"/>
          </p:cNvSpPr>
          <p:nvPr>
            <p:ph type="body" idx="1"/>
          </p:nvPr>
        </p:nvSpPr>
        <p:spPr/>
        <p:txBody>
          <a:bodyPr/>
          <a:lstStyle/>
          <a:p>
            <a:pPr marL="0" indent="0">
              <a:buFont typeface="Arial" panose="020B0604020202020204" pitchFamily="34" charset="0"/>
              <a:buNone/>
            </a:pPr>
            <a:r>
              <a:rPr lang="en-US" b="1" u="sng" dirty="0"/>
              <a:t>Data Consistency and Reliability</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Data Loss Risk</a:t>
            </a:r>
            <a:r>
              <a:rPr lang="en-US" b="0" u="none" dirty="0"/>
              <a:t>: Ensuring data consistency and reliability in a distributed event streaming stem can be challenging. There is always a risk of data loss or duplication, especially during network failures or system crashes.</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Event Ordering</a:t>
            </a:r>
            <a:r>
              <a:rPr lang="en-US" b="0" u="none" dirty="0"/>
              <a:t>: Maintaining the order of events Is critical for certain applications. Ensuring that events are processed in the correct sequence across multiple consumers can be difficult.</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Error Handling</a:t>
            </a:r>
            <a:r>
              <a:rPr lang="en-US" b="0" u="none" dirty="0"/>
              <a:t>: Implementing robust error handling and recovery mechanisms to deal with failed or delayed events requires careful consideration and design.</a:t>
            </a:r>
            <a:endParaRPr lang="en-US" b="1" u="none" dirty="0"/>
          </a:p>
        </p:txBody>
      </p:sp>
      <p:sp>
        <p:nvSpPr>
          <p:cNvPr id="4" name="Slide Number Placeholder 3">
            <a:extLst>
              <a:ext uri="{FF2B5EF4-FFF2-40B4-BE49-F238E27FC236}">
                <a16:creationId xmlns:a16="http://schemas.microsoft.com/office/drawing/2014/main" id="{AAF4E3CC-BE40-0EE1-F26A-A2511A456838}"/>
              </a:ext>
            </a:extLst>
          </p:cNvPr>
          <p:cNvSpPr>
            <a:spLocks noGrp="1"/>
          </p:cNvSpPr>
          <p:nvPr>
            <p:ph type="sldNum" sz="quarter" idx="5"/>
          </p:nvPr>
        </p:nvSpPr>
        <p:spPr/>
        <p:txBody>
          <a:bodyPr/>
          <a:lstStyle/>
          <a:p>
            <a:fld id="{F5000ACD-0348-4F47-9C35-586193A86BF3}" type="slidenum">
              <a:rPr lang="en-US" smtClean="0"/>
              <a:t>16</a:t>
            </a:fld>
            <a:endParaRPr lang="en-US"/>
          </a:p>
        </p:txBody>
      </p:sp>
    </p:spTree>
    <p:extLst>
      <p:ext uri="{BB962C8B-B14F-4D97-AF65-F5344CB8AC3E}">
        <p14:creationId xmlns:p14="http://schemas.microsoft.com/office/powerpoint/2010/main" val="3759974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CF97-B27D-4F19-22FE-00ADB108B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5161F1-B2D1-F312-4DED-001934633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73F1A6-E3E6-FF27-5297-647872B6EA33}"/>
              </a:ext>
            </a:extLst>
          </p:cNvPr>
          <p:cNvSpPr>
            <a:spLocks noGrp="1"/>
          </p:cNvSpPr>
          <p:nvPr>
            <p:ph type="body" idx="1"/>
          </p:nvPr>
        </p:nvSpPr>
        <p:spPr/>
        <p:txBody>
          <a:bodyPr/>
          <a:lstStyle/>
          <a:p>
            <a:r>
              <a:rPr lang="en-US" b="1" u="sng" dirty="0"/>
              <a:t>Real-Time Analytics</a:t>
            </a:r>
            <a:endParaRPr lang="en-US" b="0" u="none" dirty="0"/>
          </a:p>
          <a:p>
            <a:r>
              <a:rPr lang="en-US" b="0" u="none" dirty="0"/>
              <a:t>Processing streaming data for immediate insights, such as stock market analysis or user activity monitoring.</a:t>
            </a:r>
          </a:p>
          <a:p>
            <a:endParaRPr lang="en-US" b="0" u="none" dirty="0"/>
          </a:p>
          <a:p>
            <a:r>
              <a:rPr lang="en-US" b="1" u="sng" dirty="0"/>
              <a:t>Data Integration</a:t>
            </a:r>
            <a:endParaRPr lang="en-US" b="0" u="none" dirty="0"/>
          </a:p>
          <a:p>
            <a:r>
              <a:rPr lang="en-US" b="0" u="none" dirty="0"/>
              <a:t>Synchronizing data across multiple systems in real-time.</a:t>
            </a:r>
          </a:p>
          <a:p>
            <a:endParaRPr lang="en-US" b="0" u="none" dirty="0"/>
          </a:p>
          <a:p>
            <a:r>
              <a:rPr lang="en-US" b="1" u="sng" dirty="0"/>
              <a:t>IoT Applications</a:t>
            </a:r>
            <a:endParaRPr lang="en-US" b="0" u="none" dirty="0"/>
          </a:p>
          <a:p>
            <a:r>
              <a:rPr lang="en-US" b="0" u="none" dirty="0"/>
              <a:t>Handling data from Internet of Things (IoT) devices for immediate action or analysis.</a:t>
            </a:r>
            <a:endParaRPr lang="en-US" b="1" u="sng" dirty="0"/>
          </a:p>
        </p:txBody>
      </p:sp>
      <p:sp>
        <p:nvSpPr>
          <p:cNvPr id="4" name="Slide Number Placeholder 3">
            <a:extLst>
              <a:ext uri="{FF2B5EF4-FFF2-40B4-BE49-F238E27FC236}">
                <a16:creationId xmlns:a16="http://schemas.microsoft.com/office/drawing/2014/main" id="{120C23AC-8EA3-1136-C25A-7D712BB97802}"/>
              </a:ext>
            </a:extLst>
          </p:cNvPr>
          <p:cNvSpPr>
            <a:spLocks noGrp="1"/>
          </p:cNvSpPr>
          <p:nvPr>
            <p:ph type="sldNum" sz="quarter" idx="5"/>
          </p:nvPr>
        </p:nvSpPr>
        <p:spPr/>
        <p:txBody>
          <a:bodyPr/>
          <a:lstStyle/>
          <a:p>
            <a:fld id="{F5000ACD-0348-4F47-9C35-586193A86BF3}" type="slidenum">
              <a:rPr lang="en-US" smtClean="0"/>
              <a:t>17</a:t>
            </a:fld>
            <a:endParaRPr lang="en-US"/>
          </a:p>
        </p:txBody>
      </p:sp>
    </p:spTree>
    <p:extLst>
      <p:ext uri="{BB962C8B-B14F-4D97-AF65-F5344CB8AC3E}">
        <p14:creationId xmlns:p14="http://schemas.microsoft.com/office/powerpoint/2010/main" val="599816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u="sng" dirty="0"/>
              <a:t>Log into Azure</a:t>
            </a:r>
          </a:p>
          <a:p>
            <a:pPr marL="0" indent="0">
              <a:buNone/>
            </a:pPr>
            <a:r>
              <a:rPr lang="en-US" b="0" u="none" dirty="0" err="1"/>
              <a:t>az</a:t>
            </a:r>
            <a:r>
              <a:rPr lang="en-US" b="0" u="none" dirty="0"/>
              <a:t> login</a:t>
            </a:r>
          </a:p>
        </p:txBody>
      </p:sp>
      <p:sp>
        <p:nvSpPr>
          <p:cNvPr id="4" name="Slide Number Placeholder 3"/>
          <p:cNvSpPr>
            <a:spLocks noGrp="1"/>
          </p:cNvSpPr>
          <p:nvPr>
            <p:ph type="sldNum" sz="quarter" idx="5"/>
          </p:nvPr>
        </p:nvSpPr>
        <p:spPr/>
        <p:txBody>
          <a:bodyPr/>
          <a:lstStyle/>
          <a:p>
            <a:fld id="{F5000ACD-0348-4F47-9C35-586193A86BF3}" type="slidenum">
              <a:rPr lang="en-US" smtClean="0"/>
              <a:t>19</a:t>
            </a:fld>
            <a:endParaRPr lang="en-US"/>
          </a:p>
        </p:txBody>
      </p:sp>
    </p:spTree>
    <p:extLst>
      <p:ext uri="{BB962C8B-B14F-4D97-AF65-F5344CB8AC3E}">
        <p14:creationId xmlns:p14="http://schemas.microsoft.com/office/powerpoint/2010/main" val="1313567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u="sng" dirty="0"/>
              <a:t>Create the Namespace</a:t>
            </a:r>
          </a:p>
          <a:p>
            <a:pPr marL="0" indent="0">
              <a:buNone/>
            </a:pPr>
            <a:r>
              <a:rPr lang="en-US" b="0" u="none" dirty="0" err="1"/>
              <a:t>az</a:t>
            </a:r>
            <a:r>
              <a:rPr lang="en-US" b="0" u="none" dirty="0"/>
              <a:t> </a:t>
            </a:r>
            <a:r>
              <a:rPr lang="en-US" b="0" u="none" dirty="0" err="1"/>
              <a:t>eventhubs</a:t>
            </a:r>
            <a:r>
              <a:rPr lang="en-US" b="0" u="none" dirty="0"/>
              <a:t> namespace create --name </a:t>
            </a:r>
            <a:r>
              <a:rPr lang="en-US" b="0" u="none" dirty="0" err="1"/>
              <a:t>codemash</a:t>
            </a:r>
            <a:r>
              <a:rPr lang="en-US" b="0" u="none" dirty="0"/>
              <a:t>-messaging-patterns --resource-group </a:t>
            </a:r>
            <a:r>
              <a:rPr lang="en-US" b="0" u="none" dirty="0" err="1"/>
              <a:t>rg-CodeMashMessagingPatterns</a:t>
            </a:r>
            <a:r>
              <a:rPr lang="en-US" b="0" u="none" dirty="0"/>
              <a:t> --location eastus2</a:t>
            </a:r>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20</a:t>
            </a:fld>
            <a:endParaRPr lang="en-US"/>
          </a:p>
        </p:txBody>
      </p:sp>
    </p:spTree>
    <p:extLst>
      <p:ext uri="{BB962C8B-B14F-4D97-AF65-F5344CB8AC3E}">
        <p14:creationId xmlns:p14="http://schemas.microsoft.com/office/powerpoint/2010/main" val="2186966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u="sng" dirty="0"/>
              <a:t>Create the Event Hub</a:t>
            </a:r>
          </a:p>
          <a:p>
            <a:pPr marL="0" indent="0">
              <a:buNone/>
            </a:pPr>
            <a:r>
              <a:rPr lang="en-US" b="0" u="none" dirty="0" err="1"/>
              <a:t>az</a:t>
            </a:r>
            <a:r>
              <a:rPr lang="en-US" b="0" u="none" dirty="0"/>
              <a:t> </a:t>
            </a:r>
            <a:r>
              <a:rPr lang="en-US" b="0" u="none" dirty="0" err="1"/>
              <a:t>eventhubs</a:t>
            </a:r>
            <a:r>
              <a:rPr lang="en-US" b="0" u="none" dirty="0"/>
              <a:t> </a:t>
            </a:r>
            <a:r>
              <a:rPr lang="en-US" b="0" u="none" dirty="0" err="1"/>
              <a:t>eventhub</a:t>
            </a:r>
            <a:r>
              <a:rPr lang="en-US" b="0" u="none" dirty="0"/>
              <a:t> create --name </a:t>
            </a:r>
            <a:r>
              <a:rPr lang="en-US" b="0" u="none" dirty="0" err="1"/>
              <a:t>EventStreamingPattern</a:t>
            </a:r>
            <a:r>
              <a:rPr lang="en-US" b="0" u="none" dirty="0"/>
              <a:t> --namespace-name </a:t>
            </a:r>
            <a:r>
              <a:rPr lang="en-US" b="0" u="none" dirty="0" err="1"/>
              <a:t>codemash</a:t>
            </a:r>
            <a:r>
              <a:rPr lang="en-US" b="0" u="none" dirty="0"/>
              <a:t>-messaging-patterns --resource-group </a:t>
            </a:r>
            <a:r>
              <a:rPr lang="en-US" b="0" u="none" dirty="0" err="1"/>
              <a:t>rg-CodeMashMessagingPatterns</a:t>
            </a:r>
            <a:endParaRPr lang="en-US" b="0" u="none" dirty="0"/>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21</a:t>
            </a:fld>
            <a:endParaRPr lang="en-US"/>
          </a:p>
        </p:txBody>
      </p:sp>
    </p:spTree>
    <p:extLst>
      <p:ext uri="{BB962C8B-B14F-4D97-AF65-F5344CB8AC3E}">
        <p14:creationId xmlns:p14="http://schemas.microsoft.com/office/powerpoint/2010/main" val="701014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u="sng" dirty="0"/>
              <a:t>Assign Azure Event Hubs Data Sender</a:t>
            </a:r>
          </a:p>
          <a:p>
            <a:pPr marL="0" indent="0">
              <a:buNone/>
            </a:pPr>
            <a:r>
              <a:rPr lang="en-US" b="0" i="0" dirty="0" err="1">
                <a:solidFill>
                  <a:srgbClr val="0101FD"/>
                </a:solidFill>
                <a:effectLst/>
                <a:latin typeface="SFMono-Regular"/>
              </a:rPr>
              <a:t>az</a:t>
            </a:r>
            <a:r>
              <a:rPr lang="en-US" b="0" i="0" dirty="0">
                <a:solidFill>
                  <a:srgbClr val="0101FD"/>
                </a:solidFill>
                <a:effectLst/>
                <a:latin typeface="SFMono-Regular"/>
              </a:rPr>
              <a:t> role assignment create </a:t>
            </a:r>
            <a:r>
              <a:rPr lang="en-US" b="0" i="0" dirty="0">
                <a:solidFill>
                  <a:srgbClr val="006881"/>
                </a:solidFill>
                <a:effectLst/>
                <a:latin typeface="SFMono-Regular"/>
              </a:rPr>
              <a:t>--assignee</a:t>
            </a:r>
            <a:r>
              <a:rPr lang="en-US" b="0" i="0" dirty="0">
                <a:solidFill>
                  <a:srgbClr val="161616"/>
                </a:solidFill>
                <a:effectLst/>
                <a:latin typeface="SFMono-Regular"/>
              </a:rPr>
              <a:t> </a:t>
            </a:r>
            <a:r>
              <a:rPr lang="en-US" b="0" i="0" dirty="0">
                <a:solidFill>
                  <a:srgbClr val="A31515"/>
                </a:solidFill>
                <a:effectLst/>
                <a:latin typeface="SFMono-Regular"/>
              </a:rPr>
              <a:t>“chadgreen@chadgreen.com"</a:t>
            </a:r>
            <a:r>
              <a:rPr lang="en-US" b="0" i="0" dirty="0">
                <a:solidFill>
                  <a:srgbClr val="161616"/>
                </a:solidFill>
                <a:effectLst/>
                <a:latin typeface="SFMono-Regular"/>
              </a:rPr>
              <a:t> </a:t>
            </a:r>
            <a:r>
              <a:rPr lang="en-US" b="0" i="0" dirty="0">
                <a:solidFill>
                  <a:srgbClr val="006881"/>
                </a:solidFill>
                <a:effectLst/>
                <a:latin typeface="SFMono-Regular"/>
              </a:rPr>
              <a:t>--role</a:t>
            </a:r>
            <a:r>
              <a:rPr lang="en-US" b="0" i="0" dirty="0">
                <a:solidFill>
                  <a:srgbClr val="161616"/>
                </a:solidFill>
                <a:effectLst/>
                <a:latin typeface="SFMono-Regular"/>
              </a:rPr>
              <a:t> </a:t>
            </a:r>
            <a:r>
              <a:rPr lang="en-US" b="0" i="0" dirty="0">
                <a:solidFill>
                  <a:srgbClr val="A31515"/>
                </a:solidFill>
                <a:effectLst/>
                <a:latin typeface="SFMono-Regular"/>
              </a:rPr>
              <a:t>"Azure Event Hubs Data Sender"</a:t>
            </a:r>
            <a:r>
              <a:rPr lang="en-US" b="0" i="0" dirty="0">
                <a:solidFill>
                  <a:srgbClr val="161616"/>
                </a:solidFill>
                <a:effectLst/>
                <a:latin typeface="SFMono-Regular"/>
              </a:rPr>
              <a:t> </a:t>
            </a:r>
            <a:r>
              <a:rPr lang="en-US" b="0" i="0" dirty="0">
                <a:solidFill>
                  <a:srgbClr val="006881"/>
                </a:solidFill>
                <a:effectLst/>
                <a:latin typeface="SFMono-Regular"/>
              </a:rPr>
              <a:t>--scope</a:t>
            </a:r>
            <a:r>
              <a:rPr lang="en-US" b="0" i="0" dirty="0">
                <a:solidFill>
                  <a:srgbClr val="161616"/>
                </a:solidFill>
                <a:effectLst/>
                <a:latin typeface="SFMono-Regular"/>
              </a:rPr>
              <a:t> </a:t>
            </a:r>
            <a:r>
              <a:rPr lang="en-US" b="0" i="0" dirty="0">
                <a:solidFill>
                  <a:srgbClr val="A31515"/>
                </a:solidFill>
                <a:effectLst/>
                <a:latin typeface="SFMono-Regular"/>
              </a:rPr>
              <a:t>"&lt;your-resource-id&gt;"</a:t>
            </a:r>
            <a:endParaRPr lang="en-US" b="0" u="none" dirty="0"/>
          </a:p>
          <a:p>
            <a:pPr marL="0" indent="0">
              <a:buNone/>
            </a:pPr>
            <a:endParaRPr lang="en-US" b="0" u="none" dirty="0"/>
          </a:p>
          <a:p>
            <a:pPr marL="0" indent="0">
              <a:buNone/>
            </a:pPr>
            <a:r>
              <a:rPr lang="en-US" b="1" u="sng" dirty="0"/>
              <a:t>Assign Azure Event Hubs Data Receiver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err="1">
                <a:solidFill>
                  <a:srgbClr val="0101FD"/>
                </a:solidFill>
                <a:effectLst/>
                <a:latin typeface="SFMono-Regular"/>
              </a:rPr>
              <a:t>az</a:t>
            </a:r>
            <a:r>
              <a:rPr lang="en-US" b="0" i="0" dirty="0">
                <a:solidFill>
                  <a:srgbClr val="0101FD"/>
                </a:solidFill>
                <a:effectLst/>
                <a:latin typeface="SFMono-Regular"/>
              </a:rPr>
              <a:t> role assignment create </a:t>
            </a:r>
            <a:r>
              <a:rPr lang="en-US" b="0" i="0" dirty="0">
                <a:solidFill>
                  <a:srgbClr val="006881"/>
                </a:solidFill>
                <a:effectLst/>
                <a:latin typeface="SFMono-Regular"/>
              </a:rPr>
              <a:t>--assignee</a:t>
            </a:r>
            <a:r>
              <a:rPr lang="en-US" b="0" i="0" dirty="0">
                <a:solidFill>
                  <a:srgbClr val="161616"/>
                </a:solidFill>
                <a:effectLst/>
                <a:latin typeface="SFMono-Regular"/>
              </a:rPr>
              <a:t> </a:t>
            </a:r>
            <a:r>
              <a:rPr lang="en-US" b="0" i="0" dirty="0">
                <a:solidFill>
                  <a:srgbClr val="A31515"/>
                </a:solidFill>
                <a:effectLst/>
                <a:latin typeface="SFMono-Regular"/>
              </a:rPr>
              <a:t>“chadgreen@chadgreen.com"</a:t>
            </a:r>
            <a:r>
              <a:rPr lang="en-US" b="0" i="0" dirty="0">
                <a:solidFill>
                  <a:srgbClr val="161616"/>
                </a:solidFill>
                <a:effectLst/>
                <a:latin typeface="SFMono-Regular"/>
              </a:rPr>
              <a:t> </a:t>
            </a:r>
            <a:r>
              <a:rPr lang="en-US" b="0" i="0" dirty="0">
                <a:solidFill>
                  <a:srgbClr val="006881"/>
                </a:solidFill>
                <a:effectLst/>
                <a:latin typeface="SFMono-Regular"/>
              </a:rPr>
              <a:t>--role</a:t>
            </a:r>
            <a:r>
              <a:rPr lang="en-US" b="0" i="0" dirty="0">
                <a:solidFill>
                  <a:srgbClr val="161616"/>
                </a:solidFill>
                <a:effectLst/>
                <a:latin typeface="SFMono-Regular"/>
              </a:rPr>
              <a:t> </a:t>
            </a:r>
            <a:r>
              <a:rPr lang="en-US" b="0" i="0" dirty="0">
                <a:solidFill>
                  <a:srgbClr val="A31515"/>
                </a:solidFill>
                <a:effectLst/>
                <a:latin typeface="SFMono-Regular"/>
              </a:rPr>
              <a:t>"Azure Event Hubs Data Receiver"</a:t>
            </a:r>
            <a:r>
              <a:rPr lang="en-US" b="0" i="0" dirty="0">
                <a:solidFill>
                  <a:srgbClr val="161616"/>
                </a:solidFill>
                <a:effectLst/>
                <a:latin typeface="SFMono-Regular"/>
              </a:rPr>
              <a:t> </a:t>
            </a:r>
            <a:r>
              <a:rPr lang="en-US" b="0" i="0" dirty="0">
                <a:solidFill>
                  <a:srgbClr val="006881"/>
                </a:solidFill>
                <a:effectLst/>
                <a:latin typeface="SFMono-Regular"/>
              </a:rPr>
              <a:t>--scope</a:t>
            </a:r>
            <a:r>
              <a:rPr lang="en-US" b="0" i="0" dirty="0">
                <a:solidFill>
                  <a:srgbClr val="161616"/>
                </a:solidFill>
                <a:effectLst/>
                <a:latin typeface="SFMono-Regular"/>
              </a:rPr>
              <a:t> </a:t>
            </a:r>
            <a:r>
              <a:rPr lang="en-US" b="0" i="0" dirty="0">
                <a:solidFill>
                  <a:srgbClr val="A31515"/>
                </a:solidFill>
                <a:effectLst/>
                <a:latin typeface="SFMono-Regular"/>
              </a:rPr>
              <a:t>"&lt;your-resource-id&gt;"</a:t>
            </a:r>
            <a:endParaRPr lang="en-US" b="0" u="none" dirty="0"/>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22</a:t>
            </a:fld>
            <a:endParaRPr lang="en-US"/>
          </a:p>
        </p:txBody>
      </p:sp>
    </p:spTree>
    <p:extLst>
      <p:ext uri="{BB962C8B-B14F-4D97-AF65-F5344CB8AC3E}">
        <p14:creationId xmlns:p14="http://schemas.microsoft.com/office/powerpoint/2010/main" val="3436800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u="sng" dirty="0"/>
              <a:t>Assign Azure Event Hubs Data Sender</a:t>
            </a:r>
          </a:p>
          <a:p>
            <a:pPr marL="0" indent="0">
              <a:buNone/>
            </a:pPr>
            <a:r>
              <a:rPr lang="en-US" b="0" i="0" dirty="0" err="1">
                <a:solidFill>
                  <a:srgbClr val="0101FD"/>
                </a:solidFill>
                <a:effectLst/>
                <a:latin typeface="SFMono-Regular"/>
              </a:rPr>
              <a:t>az</a:t>
            </a:r>
            <a:r>
              <a:rPr lang="en-US" b="0" i="0" dirty="0">
                <a:solidFill>
                  <a:srgbClr val="0101FD"/>
                </a:solidFill>
                <a:effectLst/>
                <a:latin typeface="SFMono-Regular"/>
              </a:rPr>
              <a:t> role assignment create </a:t>
            </a:r>
            <a:r>
              <a:rPr lang="en-US" b="0" i="0" dirty="0">
                <a:solidFill>
                  <a:srgbClr val="006881"/>
                </a:solidFill>
                <a:effectLst/>
                <a:latin typeface="SFMono-Regular"/>
              </a:rPr>
              <a:t>--assignee</a:t>
            </a:r>
            <a:r>
              <a:rPr lang="en-US" b="0" i="0" dirty="0">
                <a:solidFill>
                  <a:srgbClr val="161616"/>
                </a:solidFill>
                <a:effectLst/>
                <a:latin typeface="SFMono-Regular"/>
              </a:rPr>
              <a:t> </a:t>
            </a:r>
            <a:r>
              <a:rPr lang="en-US" b="0" i="0" dirty="0">
                <a:solidFill>
                  <a:srgbClr val="A31515"/>
                </a:solidFill>
                <a:effectLst/>
                <a:latin typeface="SFMono-Regular"/>
              </a:rPr>
              <a:t>“chadgreen@chadgreen.com"</a:t>
            </a:r>
            <a:r>
              <a:rPr lang="en-US" b="0" i="0" dirty="0">
                <a:solidFill>
                  <a:srgbClr val="161616"/>
                </a:solidFill>
                <a:effectLst/>
                <a:latin typeface="SFMono-Regular"/>
              </a:rPr>
              <a:t> </a:t>
            </a:r>
            <a:r>
              <a:rPr lang="en-US" b="0" i="0" dirty="0">
                <a:solidFill>
                  <a:srgbClr val="006881"/>
                </a:solidFill>
                <a:effectLst/>
                <a:latin typeface="SFMono-Regular"/>
              </a:rPr>
              <a:t>--role</a:t>
            </a:r>
            <a:r>
              <a:rPr lang="en-US" b="0" i="0" dirty="0">
                <a:solidFill>
                  <a:srgbClr val="161616"/>
                </a:solidFill>
                <a:effectLst/>
                <a:latin typeface="SFMono-Regular"/>
              </a:rPr>
              <a:t> </a:t>
            </a:r>
            <a:r>
              <a:rPr lang="en-US" b="0" i="0" dirty="0">
                <a:solidFill>
                  <a:srgbClr val="A31515"/>
                </a:solidFill>
                <a:effectLst/>
                <a:latin typeface="SFMono-Regular"/>
              </a:rPr>
              <a:t>"Azure Event Hubs Data Sender"</a:t>
            </a:r>
            <a:r>
              <a:rPr lang="en-US" b="0" i="0" dirty="0">
                <a:solidFill>
                  <a:srgbClr val="161616"/>
                </a:solidFill>
                <a:effectLst/>
                <a:latin typeface="SFMono-Regular"/>
              </a:rPr>
              <a:t> </a:t>
            </a:r>
            <a:r>
              <a:rPr lang="en-US" b="0" i="0" dirty="0">
                <a:solidFill>
                  <a:srgbClr val="006881"/>
                </a:solidFill>
                <a:effectLst/>
                <a:latin typeface="SFMono-Regular"/>
              </a:rPr>
              <a:t>--scope</a:t>
            </a:r>
            <a:r>
              <a:rPr lang="en-US" b="0" i="0" dirty="0">
                <a:solidFill>
                  <a:srgbClr val="161616"/>
                </a:solidFill>
                <a:effectLst/>
                <a:latin typeface="SFMono-Regular"/>
              </a:rPr>
              <a:t> </a:t>
            </a:r>
            <a:r>
              <a:rPr lang="en-US" b="0" i="0" dirty="0">
                <a:solidFill>
                  <a:srgbClr val="A31515"/>
                </a:solidFill>
                <a:effectLst/>
                <a:latin typeface="SFMono-Regular"/>
              </a:rPr>
              <a:t>"&lt;your-resource-id&gt;"</a:t>
            </a:r>
            <a:endParaRPr lang="en-US" b="0" u="none" dirty="0"/>
          </a:p>
          <a:p>
            <a:pPr marL="0" indent="0">
              <a:buNone/>
            </a:pPr>
            <a:endParaRPr lang="en-US" b="0" u="none" dirty="0"/>
          </a:p>
          <a:p>
            <a:pPr marL="0" indent="0">
              <a:buNone/>
            </a:pPr>
            <a:r>
              <a:rPr lang="en-US" b="1" u="sng" dirty="0"/>
              <a:t>Assign Azure Event Hubs Data Receiver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err="1">
                <a:solidFill>
                  <a:srgbClr val="0101FD"/>
                </a:solidFill>
                <a:effectLst/>
                <a:latin typeface="SFMono-Regular"/>
              </a:rPr>
              <a:t>az</a:t>
            </a:r>
            <a:r>
              <a:rPr lang="en-US" b="0" i="0" dirty="0">
                <a:solidFill>
                  <a:srgbClr val="0101FD"/>
                </a:solidFill>
                <a:effectLst/>
                <a:latin typeface="SFMono-Regular"/>
              </a:rPr>
              <a:t> role assignment create </a:t>
            </a:r>
            <a:r>
              <a:rPr lang="en-US" b="0" i="0" dirty="0">
                <a:solidFill>
                  <a:srgbClr val="006881"/>
                </a:solidFill>
                <a:effectLst/>
                <a:latin typeface="SFMono-Regular"/>
              </a:rPr>
              <a:t>--assignee</a:t>
            </a:r>
            <a:r>
              <a:rPr lang="en-US" b="0" i="0" dirty="0">
                <a:solidFill>
                  <a:srgbClr val="161616"/>
                </a:solidFill>
                <a:effectLst/>
                <a:latin typeface="SFMono-Regular"/>
              </a:rPr>
              <a:t> </a:t>
            </a:r>
            <a:r>
              <a:rPr lang="en-US" b="0" i="0" dirty="0">
                <a:solidFill>
                  <a:srgbClr val="A31515"/>
                </a:solidFill>
                <a:effectLst/>
                <a:latin typeface="SFMono-Regular"/>
              </a:rPr>
              <a:t>“chadgreen@chadgreen.com"</a:t>
            </a:r>
            <a:r>
              <a:rPr lang="en-US" b="0" i="0" dirty="0">
                <a:solidFill>
                  <a:srgbClr val="161616"/>
                </a:solidFill>
                <a:effectLst/>
                <a:latin typeface="SFMono-Regular"/>
              </a:rPr>
              <a:t> </a:t>
            </a:r>
            <a:r>
              <a:rPr lang="en-US" b="0" i="0" dirty="0">
                <a:solidFill>
                  <a:srgbClr val="006881"/>
                </a:solidFill>
                <a:effectLst/>
                <a:latin typeface="SFMono-Regular"/>
              </a:rPr>
              <a:t>--role</a:t>
            </a:r>
            <a:r>
              <a:rPr lang="en-US" b="0" i="0" dirty="0">
                <a:solidFill>
                  <a:srgbClr val="161616"/>
                </a:solidFill>
                <a:effectLst/>
                <a:latin typeface="SFMono-Regular"/>
              </a:rPr>
              <a:t> </a:t>
            </a:r>
            <a:r>
              <a:rPr lang="en-US" b="0" i="0" dirty="0">
                <a:solidFill>
                  <a:srgbClr val="A31515"/>
                </a:solidFill>
                <a:effectLst/>
                <a:latin typeface="SFMono-Regular"/>
              </a:rPr>
              <a:t>"Azure Event Hubs Data Receiver"</a:t>
            </a:r>
            <a:r>
              <a:rPr lang="en-US" b="0" i="0" dirty="0">
                <a:solidFill>
                  <a:srgbClr val="161616"/>
                </a:solidFill>
                <a:effectLst/>
                <a:latin typeface="SFMono-Regular"/>
              </a:rPr>
              <a:t> </a:t>
            </a:r>
            <a:r>
              <a:rPr lang="en-US" b="0" i="0" dirty="0">
                <a:solidFill>
                  <a:srgbClr val="006881"/>
                </a:solidFill>
                <a:effectLst/>
                <a:latin typeface="SFMono-Regular"/>
              </a:rPr>
              <a:t>--scope</a:t>
            </a:r>
            <a:r>
              <a:rPr lang="en-US" b="0" i="0" dirty="0">
                <a:solidFill>
                  <a:srgbClr val="161616"/>
                </a:solidFill>
                <a:effectLst/>
                <a:latin typeface="SFMono-Regular"/>
              </a:rPr>
              <a:t> </a:t>
            </a:r>
            <a:r>
              <a:rPr lang="en-US" b="0" i="0" dirty="0">
                <a:solidFill>
                  <a:srgbClr val="A31515"/>
                </a:solidFill>
                <a:effectLst/>
                <a:latin typeface="SFMono-Regular"/>
              </a:rPr>
              <a:t>"&lt;your-resource-id&gt;"</a:t>
            </a:r>
            <a:endParaRPr lang="en-US" b="0" u="none" dirty="0"/>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23</a:t>
            </a:fld>
            <a:endParaRPr lang="en-US"/>
          </a:p>
        </p:txBody>
      </p:sp>
    </p:spTree>
    <p:extLst>
      <p:ext uri="{BB962C8B-B14F-4D97-AF65-F5344CB8AC3E}">
        <p14:creationId xmlns:p14="http://schemas.microsoft.com/office/powerpoint/2010/main" val="2735186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u="sng" dirty="0"/>
              <a:t>Create Storage Account</a:t>
            </a:r>
          </a:p>
          <a:p>
            <a:pPr marL="0" indent="0">
              <a:buNone/>
            </a:pPr>
            <a:r>
              <a:rPr lang="en-US" b="0" i="0" dirty="0" err="1">
                <a:solidFill>
                  <a:srgbClr val="0101FD"/>
                </a:solidFill>
                <a:effectLst/>
                <a:latin typeface="SFMono-Regular"/>
              </a:rPr>
              <a:t>az</a:t>
            </a:r>
            <a:r>
              <a:rPr lang="en-US" b="0" i="0" dirty="0">
                <a:solidFill>
                  <a:srgbClr val="0101FD"/>
                </a:solidFill>
                <a:effectLst/>
                <a:latin typeface="SFMono-Regular"/>
              </a:rPr>
              <a:t> storage account create --name </a:t>
            </a:r>
            <a:r>
              <a:rPr lang="en-US" b="0" i="0" dirty="0" err="1">
                <a:solidFill>
                  <a:srgbClr val="0101FD"/>
                </a:solidFill>
                <a:effectLst/>
                <a:latin typeface="SFMono-Regular"/>
              </a:rPr>
              <a:t>stcodemash</a:t>
            </a:r>
            <a:r>
              <a:rPr lang="en-US" b="0" i="0" dirty="0">
                <a:solidFill>
                  <a:srgbClr val="0101FD"/>
                </a:solidFill>
                <a:effectLst/>
                <a:latin typeface="SFMono-Regular"/>
              </a:rPr>
              <a:t> --resource-group </a:t>
            </a:r>
            <a:r>
              <a:rPr lang="en-US" b="0" i="0" dirty="0" err="1">
                <a:solidFill>
                  <a:srgbClr val="0101FD"/>
                </a:solidFill>
                <a:effectLst/>
                <a:latin typeface="SFMono-Regular"/>
              </a:rPr>
              <a:t>rg-CodeMashMessagingPatterns</a:t>
            </a:r>
            <a:r>
              <a:rPr lang="en-US" b="0" i="0" dirty="0">
                <a:solidFill>
                  <a:srgbClr val="0101FD"/>
                </a:solidFill>
                <a:effectLst/>
                <a:latin typeface="SFMono-Regular"/>
              </a:rPr>
              <a:t> --location eastus2 --</a:t>
            </a:r>
            <a:r>
              <a:rPr lang="en-US" b="0" i="0" dirty="0" err="1">
                <a:solidFill>
                  <a:srgbClr val="0101FD"/>
                </a:solidFill>
                <a:effectLst/>
                <a:latin typeface="SFMono-Regular"/>
              </a:rPr>
              <a:t>sku</a:t>
            </a:r>
            <a:r>
              <a:rPr lang="en-US" b="0" i="0" dirty="0">
                <a:solidFill>
                  <a:srgbClr val="0101FD"/>
                </a:solidFill>
                <a:effectLst/>
                <a:latin typeface="SFMono-Regular"/>
              </a:rPr>
              <a:t> </a:t>
            </a:r>
            <a:r>
              <a:rPr lang="en-US" b="0" i="0" dirty="0" err="1">
                <a:solidFill>
                  <a:srgbClr val="0101FD"/>
                </a:solidFill>
                <a:effectLst/>
                <a:latin typeface="SFMono-Regular"/>
              </a:rPr>
              <a:t>Standard_LRS</a:t>
            </a:r>
            <a:r>
              <a:rPr lang="en-US" b="0" i="0" dirty="0">
                <a:solidFill>
                  <a:srgbClr val="0101FD"/>
                </a:solidFill>
                <a:effectLst/>
                <a:latin typeface="SFMono-Regular"/>
              </a:rPr>
              <a:t> --kind StorageV2 --min-</a:t>
            </a:r>
            <a:r>
              <a:rPr lang="en-US" b="0" i="0" dirty="0" err="1">
                <a:solidFill>
                  <a:srgbClr val="0101FD"/>
                </a:solidFill>
                <a:effectLst/>
                <a:latin typeface="SFMono-Regular"/>
              </a:rPr>
              <a:t>tls</a:t>
            </a:r>
            <a:r>
              <a:rPr lang="en-US" b="0" i="0" dirty="0">
                <a:solidFill>
                  <a:srgbClr val="0101FD"/>
                </a:solidFill>
                <a:effectLst/>
                <a:latin typeface="SFMono-Regular"/>
              </a:rPr>
              <a:t>-version TLS1_2 --allow-blob-public-access false</a:t>
            </a:r>
          </a:p>
          <a:p>
            <a:pPr marL="0" indent="0">
              <a:buNone/>
            </a:pPr>
            <a:endParaRPr lang="en-US" b="0" i="0" u="none" dirty="0">
              <a:solidFill>
                <a:srgbClr val="0101FD"/>
              </a:solidFill>
              <a:effectLst/>
              <a:latin typeface="SFMono-Regular"/>
            </a:endParaRPr>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24</a:t>
            </a:fld>
            <a:endParaRPr lang="en-US"/>
          </a:p>
        </p:txBody>
      </p:sp>
    </p:spTree>
    <p:extLst>
      <p:ext uri="{BB962C8B-B14F-4D97-AF65-F5344CB8AC3E}">
        <p14:creationId xmlns:p14="http://schemas.microsoft.com/office/powerpoint/2010/main" val="1559755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u="sng" dirty="0"/>
              <a:t>Assign Role to Storage Account</a:t>
            </a:r>
          </a:p>
          <a:p>
            <a:pPr marL="0" indent="0">
              <a:buNone/>
            </a:pPr>
            <a:r>
              <a:rPr lang="en-US" b="0" i="0" dirty="0" err="1">
                <a:solidFill>
                  <a:srgbClr val="0101FD"/>
                </a:solidFill>
                <a:effectLst/>
                <a:latin typeface="SFMono-Regular"/>
              </a:rPr>
              <a:t>az</a:t>
            </a:r>
            <a:r>
              <a:rPr lang="en-US" b="0" i="0" dirty="0">
                <a:solidFill>
                  <a:srgbClr val="0101FD"/>
                </a:solidFill>
                <a:effectLst/>
                <a:latin typeface="SFMono-Regular"/>
              </a:rPr>
              <a:t> role assignment create --assignee "&lt;</a:t>
            </a:r>
            <a:r>
              <a:rPr lang="en-US" b="0" i="0" dirty="0" err="1">
                <a:solidFill>
                  <a:srgbClr val="0101FD"/>
                </a:solidFill>
                <a:effectLst/>
                <a:latin typeface="SFMono-Regular"/>
              </a:rPr>
              <a:t>user@domain</a:t>
            </a:r>
            <a:r>
              <a:rPr lang="en-US" b="0" i="0" dirty="0">
                <a:solidFill>
                  <a:srgbClr val="0101FD"/>
                </a:solidFill>
                <a:effectLst/>
                <a:latin typeface="SFMono-Regular"/>
              </a:rPr>
              <a:t>&gt;" --role "Storage Blob Data Contributor" --scope "&lt;your-resource-id&gt;“</a:t>
            </a:r>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25</a:t>
            </a:fld>
            <a:endParaRPr lang="en-US"/>
          </a:p>
        </p:txBody>
      </p:sp>
    </p:spTree>
    <p:extLst>
      <p:ext uri="{BB962C8B-B14F-4D97-AF65-F5344CB8AC3E}">
        <p14:creationId xmlns:p14="http://schemas.microsoft.com/office/powerpoint/2010/main" val="2625420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u="sng" dirty="0"/>
              <a:t>Create Blob Container</a:t>
            </a:r>
          </a:p>
          <a:p>
            <a:pPr marL="0" indent="0">
              <a:buNone/>
            </a:pPr>
            <a:r>
              <a:rPr lang="en-US" b="0" i="0" dirty="0" err="1">
                <a:solidFill>
                  <a:srgbClr val="0101FD"/>
                </a:solidFill>
                <a:effectLst/>
                <a:latin typeface="SFMono-Regular"/>
              </a:rPr>
              <a:t>az</a:t>
            </a:r>
            <a:r>
              <a:rPr lang="en-US" b="0" i="0" dirty="0">
                <a:solidFill>
                  <a:srgbClr val="0101FD"/>
                </a:solidFill>
                <a:effectLst/>
                <a:latin typeface="SFMono-Regular"/>
              </a:rPr>
              <a:t> storage container create </a:t>
            </a:r>
            <a:r>
              <a:rPr lang="en-US" b="0" i="0" dirty="0">
                <a:solidFill>
                  <a:srgbClr val="006881"/>
                </a:solidFill>
                <a:effectLst/>
                <a:latin typeface="SFMono-Regular"/>
              </a:rPr>
              <a:t>--name</a:t>
            </a:r>
            <a:r>
              <a:rPr lang="en-US" b="0" i="0" dirty="0">
                <a:solidFill>
                  <a:srgbClr val="161616"/>
                </a:solidFill>
                <a:effectLst/>
                <a:latin typeface="SFMono-Regular"/>
              </a:rPr>
              <a:t> event-streaming </a:t>
            </a:r>
            <a:r>
              <a:rPr lang="en-US" b="0" i="0" dirty="0">
                <a:solidFill>
                  <a:srgbClr val="006881"/>
                </a:solidFill>
                <a:effectLst/>
                <a:latin typeface="SFMono-Regular"/>
              </a:rPr>
              <a:t>--account-name</a:t>
            </a:r>
            <a:r>
              <a:rPr lang="en-US" b="0" i="0" dirty="0">
                <a:solidFill>
                  <a:srgbClr val="161616"/>
                </a:solidFill>
                <a:effectLst/>
                <a:latin typeface="SFMono-Regular"/>
              </a:rPr>
              <a:t> </a:t>
            </a:r>
            <a:r>
              <a:rPr lang="en-US" b="0" i="0" dirty="0" err="1">
                <a:solidFill>
                  <a:srgbClr val="161616"/>
                </a:solidFill>
                <a:effectLst/>
                <a:latin typeface="SFMono-Regular"/>
              </a:rPr>
              <a:t>stcodemash</a:t>
            </a:r>
            <a:r>
              <a:rPr lang="en-US" b="0" i="0" dirty="0">
                <a:solidFill>
                  <a:srgbClr val="161616"/>
                </a:solidFill>
                <a:effectLst/>
                <a:latin typeface="SFMono-Regular"/>
              </a:rPr>
              <a:t> </a:t>
            </a:r>
            <a:r>
              <a:rPr lang="en-US" b="0" i="0" dirty="0">
                <a:solidFill>
                  <a:srgbClr val="006881"/>
                </a:solidFill>
                <a:effectLst/>
                <a:latin typeface="SFMono-Regular"/>
              </a:rPr>
              <a:t>--auth-mode</a:t>
            </a:r>
            <a:r>
              <a:rPr lang="en-US" b="0" i="0" dirty="0">
                <a:solidFill>
                  <a:srgbClr val="161616"/>
                </a:solidFill>
                <a:effectLst/>
                <a:latin typeface="SFMono-Regular"/>
              </a:rPr>
              <a:t> login</a:t>
            </a:r>
            <a:endParaRPr lang="en-US" b="1" u="sng" dirty="0"/>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26</a:t>
            </a:fld>
            <a:endParaRPr lang="en-US"/>
          </a:p>
        </p:txBody>
      </p:sp>
    </p:spTree>
    <p:extLst>
      <p:ext uri="{BB962C8B-B14F-4D97-AF65-F5344CB8AC3E}">
        <p14:creationId xmlns:p14="http://schemas.microsoft.com/office/powerpoint/2010/main" val="348735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Create a Message Producer</a:t>
            </a:r>
            <a:endParaRPr lang="en-US" b="0" dirty="0"/>
          </a:p>
          <a:p>
            <a:r>
              <a:rPr lang="en-US" b="0" u="none" dirty="0"/>
              <a:t>Use the Azure SDK to send a message to the </a:t>
            </a:r>
            <a:r>
              <a:rPr lang="en-US" b="0" i="1" u="none" dirty="0" err="1"/>
              <a:t>codemash.fundamentals.point</a:t>
            </a:r>
            <a:r>
              <a:rPr lang="en-US" b="0" i="1" u="none" dirty="0"/>
              <a:t>-to-point</a:t>
            </a:r>
            <a:r>
              <a:rPr lang="en-US" b="0" u="none" dirty="0"/>
              <a:t> queue.</a:t>
            </a:r>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27</a:t>
            </a:fld>
            <a:endParaRPr lang="en-US"/>
          </a:p>
        </p:txBody>
      </p:sp>
    </p:spTree>
    <p:extLst>
      <p:ext uri="{BB962C8B-B14F-4D97-AF65-F5344CB8AC3E}">
        <p14:creationId xmlns:p14="http://schemas.microsoft.com/office/powerpoint/2010/main" val="36579551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Create a Message Producer</a:t>
            </a:r>
            <a:endParaRPr lang="en-US" b="0" dirty="0"/>
          </a:p>
          <a:p>
            <a:r>
              <a:rPr lang="en-US" b="0" u="none" dirty="0"/>
              <a:t>Use the Azure SDK to send a message to the </a:t>
            </a:r>
            <a:r>
              <a:rPr lang="en-US" b="0" i="1" u="none" dirty="0" err="1"/>
              <a:t>codemash.fundamentals.point</a:t>
            </a:r>
            <a:r>
              <a:rPr lang="en-US" b="0" i="1" u="none" dirty="0"/>
              <a:t>-to-point</a:t>
            </a:r>
            <a:r>
              <a:rPr lang="en-US" b="0" u="none" dirty="0"/>
              <a:t> queue.</a:t>
            </a:r>
          </a:p>
        </p:txBody>
      </p:sp>
      <p:sp>
        <p:nvSpPr>
          <p:cNvPr id="4" name="Slide Number Placeholder 3"/>
          <p:cNvSpPr>
            <a:spLocks noGrp="1"/>
          </p:cNvSpPr>
          <p:nvPr>
            <p:ph type="sldNum" sz="quarter" idx="5"/>
          </p:nvPr>
        </p:nvSpPr>
        <p:spPr/>
        <p:txBody>
          <a:bodyPr/>
          <a:lstStyle/>
          <a:p>
            <a:fld id="{F5000ACD-0348-4F47-9C35-586193A86BF3}" type="slidenum">
              <a:rPr lang="en-US" smtClean="0"/>
              <a:t>28</a:t>
            </a:fld>
            <a:endParaRPr lang="en-US"/>
          </a:p>
        </p:txBody>
      </p:sp>
    </p:spTree>
    <p:extLst>
      <p:ext uri="{BB962C8B-B14F-4D97-AF65-F5344CB8AC3E}">
        <p14:creationId xmlns:p14="http://schemas.microsoft.com/office/powerpoint/2010/main" val="3257271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Run the Demo</a:t>
            </a:r>
            <a:endParaRPr lang="en-US" b="0" dirty="0"/>
          </a:p>
          <a:p>
            <a:pPr marL="171450" indent="-171450">
              <a:buFont typeface="Arial" panose="020B0604020202020204" pitchFamily="34" charset="0"/>
              <a:buChar char="•"/>
            </a:pPr>
            <a:r>
              <a:rPr lang="en-US" b="0" u="none" dirty="0"/>
              <a:t>Execute the producer code to send a message.</a:t>
            </a:r>
          </a:p>
          <a:p>
            <a:pPr marL="171450" indent="-171450">
              <a:buFont typeface="Arial" panose="020B0604020202020204" pitchFamily="34" charset="0"/>
              <a:buChar char="•"/>
            </a:pPr>
            <a:r>
              <a:rPr lang="en-US" b="0" u="none" dirty="0"/>
              <a:t>Execute the consumer code to receive and process the message.</a:t>
            </a:r>
          </a:p>
          <a:p>
            <a:pPr marL="171450" indent="-171450">
              <a:buFont typeface="Arial" panose="020B0604020202020204" pitchFamily="34" charset="0"/>
              <a:buChar char="•"/>
            </a:pPr>
            <a:r>
              <a:rPr lang="en-US" b="0" u="none" dirty="0"/>
              <a:t>Observer the message flow from the producer to the consumer.</a:t>
            </a:r>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29</a:t>
            </a:fld>
            <a:endParaRPr lang="en-US"/>
          </a:p>
        </p:txBody>
      </p:sp>
    </p:spTree>
    <p:extLst>
      <p:ext uri="{BB962C8B-B14F-4D97-AF65-F5344CB8AC3E}">
        <p14:creationId xmlns:p14="http://schemas.microsoft.com/office/powerpoint/2010/main" val="14680282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As we conclude the </a:t>
            </a:r>
            <a:r>
              <a:rPr lang="en-US" b="1" dirty="0"/>
              <a:t>Streaming and Integration Patterns</a:t>
            </a:r>
            <a:r>
              <a:rPr lang="en-US" b="0" dirty="0"/>
              <a:t> module, let’s summarize the key patterns and insights we have covered, and preview what is coming up next.</a:t>
            </a:r>
          </a:p>
        </p:txBody>
      </p:sp>
      <p:sp>
        <p:nvSpPr>
          <p:cNvPr id="4" name="Slide Number Placeholder 3"/>
          <p:cNvSpPr>
            <a:spLocks noGrp="1"/>
          </p:cNvSpPr>
          <p:nvPr>
            <p:ph type="sldNum" sz="quarter" idx="5"/>
          </p:nvPr>
        </p:nvSpPr>
        <p:spPr/>
        <p:txBody>
          <a:bodyPr/>
          <a:lstStyle/>
          <a:p>
            <a:fld id="{F5000ACD-0348-4F47-9C35-586193A86BF3}" type="slidenum">
              <a:rPr lang="en-US" smtClean="0"/>
              <a:t>31</a:t>
            </a:fld>
            <a:endParaRPr lang="en-US"/>
          </a:p>
        </p:txBody>
      </p:sp>
    </p:spTree>
    <p:extLst>
      <p:ext uri="{BB962C8B-B14F-4D97-AF65-F5344CB8AC3E}">
        <p14:creationId xmlns:p14="http://schemas.microsoft.com/office/powerpoint/2010/main" val="39964987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Takeaways</a:t>
            </a:r>
            <a:r>
              <a:rPr lang="en-US" b="0" dirty="0"/>
              <a:t>:</a:t>
            </a:r>
          </a:p>
          <a:p>
            <a:endParaRPr lang="en-US" b="0" dirty="0"/>
          </a:p>
          <a:p>
            <a:pPr marL="171450" indent="-171450">
              <a:buFont typeface="Arial" panose="020B0604020202020204" pitchFamily="34" charset="0"/>
              <a:buChar char="•"/>
            </a:pPr>
            <a:r>
              <a:rPr lang="en-US" b="1" dirty="0"/>
              <a:t>Event Streaming</a:t>
            </a:r>
            <a:r>
              <a:rPr lang="en-US" b="0" dirty="0"/>
              <a:t>: Understanding the principles of continuous data streams and their importance in real-time applications.</a:t>
            </a:r>
          </a:p>
          <a:p>
            <a:pPr marL="0" indent="0">
              <a:buFont typeface="Arial" panose="020B0604020202020204" pitchFamily="34" charset="0"/>
              <a:buNone/>
            </a:pPr>
            <a:endParaRPr lang="en-US" b="0" dirty="0"/>
          </a:p>
          <a:p>
            <a:pPr marL="0" indent="0">
              <a:buFont typeface="Arial" panose="020B0604020202020204" pitchFamily="34" charset="0"/>
              <a:buNone/>
            </a:pPr>
            <a:r>
              <a:rPr lang="en-US" b="0" dirty="0"/>
              <a:t>These patterns have equipped you with advanced techniques to handle real-time data processing and system integration, ensuring your messaging solutions are robust and efficient.</a:t>
            </a:r>
          </a:p>
        </p:txBody>
      </p:sp>
      <p:sp>
        <p:nvSpPr>
          <p:cNvPr id="4" name="Slide Number Placeholder 3"/>
          <p:cNvSpPr>
            <a:spLocks noGrp="1"/>
          </p:cNvSpPr>
          <p:nvPr>
            <p:ph type="sldNum" sz="quarter" idx="5"/>
          </p:nvPr>
        </p:nvSpPr>
        <p:spPr/>
        <p:txBody>
          <a:bodyPr/>
          <a:lstStyle/>
          <a:p>
            <a:fld id="{F5000ACD-0348-4F47-9C35-586193A86BF3}" type="slidenum">
              <a:rPr lang="en-US" smtClean="0"/>
              <a:t>32</a:t>
            </a:fld>
            <a:endParaRPr lang="en-US"/>
          </a:p>
        </p:txBody>
      </p:sp>
    </p:spTree>
    <p:extLst>
      <p:ext uri="{BB962C8B-B14F-4D97-AF65-F5344CB8AC3E}">
        <p14:creationId xmlns:p14="http://schemas.microsoft.com/office/powerpoint/2010/main" val="3166949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module, we will explore crucial design considerations that impact the overall architecture and performance of your messaging solutions. Here is a glimpse of what is to come:</a:t>
            </a:r>
          </a:p>
          <a:p>
            <a:endParaRPr lang="en-US" b="1" dirty="0"/>
          </a:p>
          <a:p>
            <a:pPr marL="171450" indent="-171450">
              <a:buFont typeface="Arial" panose="020B0604020202020204" pitchFamily="34" charset="0"/>
              <a:buChar char="•"/>
            </a:pPr>
            <a:r>
              <a:rPr lang="en-US" b="1" dirty="0"/>
              <a:t>Reliability</a:t>
            </a:r>
            <a:r>
              <a:rPr lang="en-US" b="0" dirty="0"/>
              <a:t>: Ensuring consistent and dependable message processing.</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Scalability</a:t>
            </a:r>
            <a:r>
              <a:rPr lang="en-US" b="0" dirty="0"/>
              <a:t>: Designing systems that can handle increased load effectively.</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Performance</a:t>
            </a:r>
            <a:r>
              <a:rPr lang="en-US" b="0" dirty="0"/>
              <a:t>: Optimizing message processing for speed and efficiency.</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Security</a:t>
            </a:r>
            <a:r>
              <a:rPr lang="en-US" b="0" dirty="0"/>
              <a:t>: Implementing measures to protect your messaging systems.</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Fault Tolerance</a:t>
            </a:r>
            <a:r>
              <a:rPr lang="en-US" b="0" dirty="0"/>
              <a:t>: Building systems that can recover gracefully from failures.</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Flexibility and Adaptability</a:t>
            </a:r>
            <a:r>
              <a:rPr lang="en-US" b="0" dirty="0"/>
              <a:t>: Designing solutions that can evolve with changing requirements.</a:t>
            </a:r>
            <a:endParaRPr lang="en-US" b="1" dirty="0"/>
          </a:p>
          <a:p>
            <a:pPr marL="0" indent="0">
              <a:buFont typeface="Arial" panose="020B0604020202020204" pitchFamily="34" charset="0"/>
              <a:buNone/>
            </a:pPr>
            <a:endParaRPr lang="en-US" b="0" dirty="0"/>
          </a:p>
          <a:p>
            <a:pPr marL="0" indent="0">
              <a:buFont typeface="Arial" panose="020B0604020202020204" pitchFamily="34" charset="0"/>
              <a:buNone/>
            </a:pPr>
            <a:r>
              <a:rPr lang="en-US" b="0" dirty="0"/>
              <a:t>This module will provide you with essential insights into designing messaging systems that are not only functional but also robust, scalable, and secure. Stayed tuned as we go into these critical aspects of designing resilient and adaptable messaging solutions!</a:t>
            </a:r>
            <a:endParaRPr lang="en-US" b="1" dirty="0"/>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34</a:t>
            </a:fld>
            <a:endParaRPr lang="en-US"/>
          </a:p>
        </p:txBody>
      </p:sp>
    </p:spTree>
    <p:extLst>
      <p:ext uri="{BB962C8B-B14F-4D97-AF65-F5344CB8AC3E}">
        <p14:creationId xmlns:p14="http://schemas.microsoft.com/office/powerpoint/2010/main" val="1669555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8872766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Presenation Title Footer">
            <a:extLst>
              <a:ext uri="{FF2B5EF4-FFF2-40B4-BE49-F238E27FC236}">
                <a16:creationId xmlns:a16="http://schemas.microsoft.com/office/drawing/2014/main" id="{3F8BB486-41EA-13B5-9AF0-42BBC8163251}"/>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3" name="Content Placeholder">
            <a:extLst>
              <a:ext uri="{FF2B5EF4-FFF2-40B4-BE49-F238E27FC236}">
                <a16:creationId xmlns:a16="http://schemas.microsoft.com/office/drawing/2014/main" id="{1206D206-CC76-B356-133C-0A969DA0AE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a:extLst>
              <a:ext uri="{FF2B5EF4-FFF2-40B4-BE49-F238E27FC236}">
                <a16:creationId xmlns:a16="http://schemas.microsoft.com/office/drawing/2014/main" id="{F798492D-9410-E54A-28DD-30F3F008EA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309583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5D7F92D-F719-DFA6-480F-E13D689414BC}"/>
              </a:ext>
            </a:extLst>
          </p:cNvPr>
          <p:cNvSpPr>
            <a:spLocks noGrp="1"/>
          </p:cNvSpPr>
          <p:nvPr>
            <p:ph type="title" hasCustomPrompt="1"/>
          </p:nvPr>
        </p:nvSpPr>
        <p:spPr>
          <a:xfrm>
            <a:off x="546099" y="583163"/>
            <a:ext cx="11099800" cy="2845837"/>
          </a:xfrm>
        </p:spPr>
        <p:txBody>
          <a:bodyPr anchor="b"/>
          <a:lstStyle>
            <a:lvl1pPr algn="ctr">
              <a:defRPr sz="6000">
                <a:solidFill>
                  <a:schemeClr val="bg2"/>
                </a:solidFill>
              </a:defRPr>
            </a:lvl1pPr>
          </a:lstStyle>
          <a:p>
            <a:r>
              <a:rPr lang="en-US" dirty="0"/>
              <a:t>Click to edit Section title</a:t>
            </a:r>
          </a:p>
        </p:txBody>
      </p:sp>
      <p:sp>
        <p:nvSpPr>
          <p:cNvPr id="3" name="Presentation Title">
            <a:extLst>
              <a:ext uri="{FF2B5EF4-FFF2-40B4-BE49-F238E27FC236}">
                <a16:creationId xmlns:a16="http://schemas.microsoft.com/office/drawing/2014/main" id="{F8450C63-0FDF-68E3-C430-6BE7AA1CDE18}"/>
              </a:ext>
            </a:extLst>
          </p:cNvPr>
          <p:cNvSpPr txBox="1"/>
          <p:nvPr userDrawn="1"/>
        </p:nvSpPr>
        <p:spPr>
          <a:xfrm>
            <a:off x="3486150" y="6396335"/>
            <a:ext cx="5219699" cy="461665"/>
          </a:xfrm>
          <a:prstGeom prst="rect">
            <a:avLst/>
          </a:prstGeom>
          <a:noFill/>
        </p:spPr>
        <p:txBody>
          <a:bodyPr wrap="none" rtlCol="0">
            <a:spAutoFit/>
          </a:bodyPr>
          <a:lstStyle/>
          <a:p>
            <a:r>
              <a:rPr lang="en-US" sz="2400" dirty="0">
                <a:solidFill>
                  <a:schemeClr val="accent6"/>
                </a:solidFill>
              </a:rPr>
              <a:t>Unlock the Power of Messaging Patterns</a:t>
            </a:r>
          </a:p>
        </p:txBody>
      </p:sp>
      <p:sp>
        <p:nvSpPr>
          <p:cNvPr id="9" name="Subection Title">
            <a:extLst>
              <a:ext uri="{FF2B5EF4-FFF2-40B4-BE49-F238E27FC236}">
                <a16:creationId xmlns:a16="http://schemas.microsoft.com/office/drawing/2014/main" id="{A24D9923-57B7-3F72-BDE9-973B963E0642}"/>
              </a:ext>
            </a:extLst>
          </p:cNvPr>
          <p:cNvSpPr>
            <a:spLocks noGrp="1"/>
          </p:cNvSpPr>
          <p:nvPr>
            <p:ph type="body" sz="quarter" idx="10" hasCustomPrompt="1"/>
          </p:nvPr>
        </p:nvSpPr>
        <p:spPr>
          <a:xfrm>
            <a:off x="642257" y="4455467"/>
            <a:ext cx="11003642" cy="914400"/>
          </a:xfrm>
        </p:spPr>
        <p:txBody>
          <a:bodyPr>
            <a:noAutofit/>
          </a:bodyPr>
          <a:lstStyle>
            <a:lvl1pPr marL="0" indent="0" algn="ctr">
              <a:buNone/>
              <a:defRPr lang="en-US" sz="4000" kern="1200" dirty="0">
                <a:solidFill>
                  <a:schemeClr val="bg2"/>
                </a:solidFill>
                <a:latin typeface="+mj-lt"/>
                <a:ea typeface="+mj-ea"/>
                <a:cs typeface="+mj-cs"/>
              </a:defRPr>
            </a:lvl1pPr>
          </a:lstStyle>
          <a:p>
            <a:pPr lvl="0"/>
            <a:r>
              <a:rPr lang="en-US" dirty="0"/>
              <a:t>Click to edit subsection title</a:t>
            </a:r>
          </a:p>
        </p:txBody>
      </p:sp>
    </p:spTree>
    <p:extLst>
      <p:ext uri="{BB962C8B-B14F-4D97-AF65-F5344CB8AC3E}">
        <p14:creationId xmlns:p14="http://schemas.microsoft.com/office/powerpoint/2010/main" val="19332208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Presenation Title Footer">
            <a:extLst>
              <a:ext uri="{FF2B5EF4-FFF2-40B4-BE49-F238E27FC236}">
                <a16:creationId xmlns:a16="http://schemas.microsoft.com/office/drawing/2014/main" id="{85E4057A-9753-03B7-9BF6-D812ABB82D5C}"/>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4" name="Secondary Content">
            <a:extLst>
              <a:ext uri="{FF2B5EF4-FFF2-40B4-BE49-F238E27FC236}">
                <a16:creationId xmlns:a16="http://schemas.microsoft.com/office/drawing/2014/main" id="{FDE02316-9F55-D549-0FD3-3FE4AE69933A}"/>
              </a:ext>
            </a:extLst>
          </p:cNvPr>
          <p:cNvSpPr>
            <a:spLocks noGrp="1"/>
          </p:cNvSpPr>
          <p:nvPr>
            <p:ph sz="half" idx="2"/>
          </p:nvPr>
        </p:nvSpPr>
        <p:spPr>
          <a:xfrm>
            <a:off x="6194778" y="1825625"/>
            <a:ext cx="5458968" cy="4389120"/>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rimary Content">
            <a:extLst>
              <a:ext uri="{FF2B5EF4-FFF2-40B4-BE49-F238E27FC236}">
                <a16:creationId xmlns:a16="http://schemas.microsoft.com/office/drawing/2014/main" id="{32C729A9-72A4-DC89-E3AD-B75906BA7649}"/>
              </a:ext>
            </a:extLst>
          </p:cNvPr>
          <p:cNvSpPr>
            <a:spLocks noGrp="1"/>
          </p:cNvSpPr>
          <p:nvPr>
            <p:ph sz="half" idx="1"/>
          </p:nvPr>
        </p:nvSpPr>
        <p:spPr>
          <a:xfrm>
            <a:off x="548640" y="1825625"/>
            <a:ext cx="5458968" cy="4389120"/>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a:extLst>
              <a:ext uri="{FF2B5EF4-FFF2-40B4-BE49-F238E27FC236}">
                <a16:creationId xmlns:a16="http://schemas.microsoft.com/office/drawing/2014/main" id="{026C142B-8301-F944-A303-6FF51130009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965641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Presenation Title Footer">
            <a:extLst>
              <a:ext uri="{FF2B5EF4-FFF2-40B4-BE49-F238E27FC236}">
                <a16:creationId xmlns:a16="http://schemas.microsoft.com/office/drawing/2014/main" id="{9EC920BD-70A9-B7EA-30FB-13D1FAF82F20}"/>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6" name="Rigth Comparison">
            <a:extLst>
              <a:ext uri="{FF2B5EF4-FFF2-40B4-BE49-F238E27FC236}">
                <a16:creationId xmlns:a16="http://schemas.microsoft.com/office/drawing/2014/main" id="{787CCB16-0AAE-E45C-6993-A6FC55DBF3F3}"/>
              </a:ext>
            </a:extLst>
          </p:cNvPr>
          <p:cNvSpPr>
            <a:spLocks noGrp="1"/>
          </p:cNvSpPr>
          <p:nvPr>
            <p:ph sz="quarter" idx="4"/>
          </p:nvPr>
        </p:nvSpPr>
        <p:spPr>
          <a:xfrm>
            <a:off x="6373368" y="2441448"/>
            <a:ext cx="5276088"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ight Comparison Title">
            <a:extLst>
              <a:ext uri="{FF2B5EF4-FFF2-40B4-BE49-F238E27FC236}">
                <a16:creationId xmlns:a16="http://schemas.microsoft.com/office/drawing/2014/main" id="{0F73AC93-FC06-15C6-D0B8-36C019116720}"/>
              </a:ext>
            </a:extLst>
          </p:cNvPr>
          <p:cNvSpPr>
            <a:spLocks noGrp="1"/>
          </p:cNvSpPr>
          <p:nvPr>
            <p:ph type="body" sz="quarter" idx="3"/>
          </p:nvPr>
        </p:nvSpPr>
        <p:spPr>
          <a:xfrm>
            <a:off x="6369812" y="1581912"/>
            <a:ext cx="52760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2" name="Comparison Divider">
            <a:extLst>
              <a:ext uri="{FF2B5EF4-FFF2-40B4-BE49-F238E27FC236}">
                <a16:creationId xmlns:a16="http://schemas.microsoft.com/office/drawing/2014/main" id="{6061AE4D-4A1A-2767-57FB-93B7BCF30EEF}"/>
              </a:ext>
            </a:extLst>
          </p:cNvPr>
          <p:cNvCxnSpPr>
            <a:cxnSpLocks/>
          </p:cNvCxnSpPr>
          <p:nvPr userDrawn="1"/>
        </p:nvCxnSpPr>
        <p:spPr>
          <a:xfrm flipH="1">
            <a:off x="6099048" y="1645920"/>
            <a:ext cx="4644" cy="4663440"/>
          </a:xfrm>
          <a:prstGeom prst="line">
            <a:avLst/>
          </a:prstGeom>
          <a:ln w="15875">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Left Comparison">
            <a:extLst>
              <a:ext uri="{FF2B5EF4-FFF2-40B4-BE49-F238E27FC236}">
                <a16:creationId xmlns:a16="http://schemas.microsoft.com/office/drawing/2014/main" id="{D91756C4-37D6-0386-0375-9847BBAB699D}"/>
              </a:ext>
            </a:extLst>
          </p:cNvPr>
          <p:cNvSpPr>
            <a:spLocks noGrp="1"/>
          </p:cNvSpPr>
          <p:nvPr>
            <p:ph sz="half" idx="2"/>
          </p:nvPr>
        </p:nvSpPr>
        <p:spPr>
          <a:xfrm>
            <a:off x="548640" y="2441447"/>
            <a:ext cx="5276088"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ett Comparison Title">
            <a:extLst>
              <a:ext uri="{FF2B5EF4-FFF2-40B4-BE49-F238E27FC236}">
                <a16:creationId xmlns:a16="http://schemas.microsoft.com/office/drawing/2014/main" id="{327D5202-CBB7-F61D-FC1B-581B290B6DD1}"/>
              </a:ext>
            </a:extLst>
          </p:cNvPr>
          <p:cNvSpPr>
            <a:spLocks noGrp="1"/>
          </p:cNvSpPr>
          <p:nvPr>
            <p:ph type="body" idx="1"/>
          </p:nvPr>
        </p:nvSpPr>
        <p:spPr>
          <a:xfrm>
            <a:off x="548640" y="1581912"/>
            <a:ext cx="52760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a:extLst>
              <a:ext uri="{FF2B5EF4-FFF2-40B4-BE49-F238E27FC236}">
                <a16:creationId xmlns:a16="http://schemas.microsoft.com/office/drawing/2014/main" id="{63BB01E2-8C0E-379A-B14D-0A9CBFA0D1BF}"/>
              </a:ext>
            </a:extLst>
          </p:cNvPr>
          <p:cNvSpPr>
            <a:spLocks noGrp="1"/>
          </p:cNvSpPr>
          <p:nvPr>
            <p:ph type="title"/>
          </p:nvPr>
        </p:nvSpPr>
        <p:spPr>
          <a:xfrm>
            <a:off x="550236" y="457200"/>
            <a:ext cx="11100816" cy="1097280"/>
          </a:xfrm>
        </p:spPr>
        <p:txBody>
          <a:bodyPr/>
          <a:lstStyle/>
          <a:p>
            <a:r>
              <a:rPr lang="en-US"/>
              <a:t>Click to edit Master title style</a:t>
            </a:r>
          </a:p>
        </p:txBody>
      </p:sp>
    </p:spTree>
    <p:extLst>
      <p:ext uri="{BB962C8B-B14F-4D97-AF65-F5344CB8AC3E}">
        <p14:creationId xmlns:p14="http://schemas.microsoft.com/office/powerpoint/2010/main" val="46662727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Presenation Title Footer">
            <a:extLst>
              <a:ext uri="{FF2B5EF4-FFF2-40B4-BE49-F238E27FC236}">
                <a16:creationId xmlns:a16="http://schemas.microsoft.com/office/drawing/2014/main" id="{3536266B-EC88-1F4B-858A-5E89E4A47DD2}"/>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2" name="Title">
            <a:extLst>
              <a:ext uri="{FF2B5EF4-FFF2-40B4-BE49-F238E27FC236}">
                <a16:creationId xmlns:a16="http://schemas.microsoft.com/office/drawing/2014/main" id="{831C5808-D707-8E1E-FCFD-39439C86BA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85212499"/>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345" userDrawn="1">
          <p15:clr>
            <a:srgbClr val="FBAE40"/>
          </p15:clr>
        </p15:guide>
        <p15:guide id="4" pos="822" userDrawn="1">
          <p15:clr>
            <a:srgbClr val="FBAE40"/>
          </p15:clr>
        </p15:guide>
        <p15:guide id="5" pos="937" userDrawn="1">
          <p15:clr>
            <a:srgbClr val="FBAE40"/>
          </p15:clr>
        </p15:guide>
        <p15:guide id="6" pos="1414" userDrawn="1">
          <p15:clr>
            <a:srgbClr val="FBAE40"/>
          </p15:clr>
        </p15:guide>
        <p15:guide id="7" pos="1529" userDrawn="1">
          <p15:clr>
            <a:srgbClr val="FBAE40"/>
          </p15:clr>
        </p15:guide>
        <p15:guide id="8" pos="2006" userDrawn="1">
          <p15:clr>
            <a:srgbClr val="FBAE40"/>
          </p15:clr>
        </p15:guide>
        <p15:guide id="9" pos="2121" userDrawn="1">
          <p15:clr>
            <a:srgbClr val="FBAE40"/>
          </p15:clr>
        </p15:guide>
        <p15:guide id="10" pos="2598" userDrawn="1">
          <p15:clr>
            <a:srgbClr val="FBAE40"/>
          </p15:clr>
        </p15:guide>
        <p15:guide id="11" pos="2713" userDrawn="1">
          <p15:clr>
            <a:srgbClr val="FBAE40"/>
          </p15:clr>
        </p15:guide>
        <p15:guide id="12" pos="3190" userDrawn="1">
          <p15:clr>
            <a:srgbClr val="FBAE40"/>
          </p15:clr>
        </p15:guide>
        <p15:guide id="13" pos="3305" userDrawn="1">
          <p15:clr>
            <a:srgbClr val="FBAE40"/>
          </p15:clr>
        </p15:guide>
        <p15:guide id="14" pos="3782" userDrawn="1">
          <p15:clr>
            <a:srgbClr val="FBAE40"/>
          </p15:clr>
        </p15:guide>
        <p15:guide id="15" pos="3897" userDrawn="1">
          <p15:clr>
            <a:srgbClr val="FBAE40"/>
          </p15:clr>
        </p15:guide>
        <p15:guide id="16" pos="4374" userDrawn="1">
          <p15:clr>
            <a:srgbClr val="FBAE40"/>
          </p15:clr>
        </p15:guide>
        <p15:guide id="17" pos="4489" userDrawn="1">
          <p15:clr>
            <a:srgbClr val="FBAE40"/>
          </p15:clr>
        </p15:guide>
        <p15:guide id="18" pos="4966" userDrawn="1">
          <p15:clr>
            <a:srgbClr val="FBAE40"/>
          </p15:clr>
        </p15:guide>
        <p15:guide id="19" pos="5081" userDrawn="1">
          <p15:clr>
            <a:srgbClr val="FBAE40"/>
          </p15:clr>
        </p15:guide>
        <p15:guide id="20" pos="5558" userDrawn="1">
          <p15:clr>
            <a:srgbClr val="FBAE40"/>
          </p15:clr>
        </p15:guide>
        <p15:guide id="21" pos="5673" userDrawn="1">
          <p15:clr>
            <a:srgbClr val="FBAE40"/>
          </p15:clr>
        </p15:guide>
        <p15:guide id="22" pos="6150" userDrawn="1">
          <p15:clr>
            <a:srgbClr val="FBAE40"/>
          </p15:clr>
        </p15:guide>
        <p15:guide id="23" pos="6265" userDrawn="1">
          <p15:clr>
            <a:srgbClr val="FBAE40"/>
          </p15:clr>
        </p15:guide>
        <p15:guide id="24" pos="6742" userDrawn="1">
          <p15:clr>
            <a:srgbClr val="FBAE40"/>
          </p15:clr>
        </p15:guide>
        <p15:guide id="25" pos="6857" userDrawn="1">
          <p15:clr>
            <a:srgbClr val="FBAE40"/>
          </p15:clr>
        </p15:guide>
        <p15:guide id="26" pos="7334" userDrawn="1">
          <p15:clr>
            <a:srgbClr val="FBAE40"/>
          </p15:clr>
        </p15:guide>
        <p15:guide id="27" orient="horz" userDrawn="1">
          <p15:clr>
            <a:srgbClr val="FBAE40"/>
          </p15:clr>
        </p15:guide>
        <p15:guide id="28" orient="horz" pos="4320" userDrawn="1">
          <p15:clr>
            <a:srgbClr val="FBAE40"/>
          </p15:clr>
        </p15:guide>
        <p15:guide id="29" orient="horz" pos="288" userDrawn="1">
          <p15:clr>
            <a:srgbClr val="FBAE40"/>
          </p15:clr>
        </p15:guide>
        <p15:guide id="30" orient="horz" pos="816" userDrawn="1">
          <p15:clr>
            <a:srgbClr val="FBAE40"/>
          </p15:clr>
        </p15:guide>
        <p15:guide id="31" orient="horz" pos="931" userDrawn="1">
          <p15:clr>
            <a:srgbClr val="FBAE40"/>
          </p15:clr>
        </p15:guide>
        <p15:guide id="32" orient="horz" pos="1459" userDrawn="1">
          <p15:clr>
            <a:srgbClr val="FBAE40"/>
          </p15:clr>
        </p15:guide>
        <p15:guide id="33" orient="horz" pos="1574" userDrawn="1">
          <p15:clr>
            <a:srgbClr val="FBAE40"/>
          </p15:clr>
        </p15:guide>
        <p15:guide id="34" orient="horz" pos="2102" userDrawn="1">
          <p15:clr>
            <a:srgbClr val="FBAE40"/>
          </p15:clr>
        </p15:guide>
        <p15:guide id="35" orient="horz" pos="2217" userDrawn="1">
          <p15:clr>
            <a:srgbClr val="FBAE40"/>
          </p15:clr>
        </p15:guide>
        <p15:guide id="36" orient="horz" pos="2745" userDrawn="1">
          <p15:clr>
            <a:srgbClr val="FBAE40"/>
          </p15:clr>
        </p15:guide>
        <p15:guide id="37" orient="horz" pos="2860" userDrawn="1">
          <p15:clr>
            <a:srgbClr val="FBAE40"/>
          </p15:clr>
        </p15:guide>
        <p15:guide id="38" orient="horz" pos="3388" userDrawn="1">
          <p15:clr>
            <a:srgbClr val="FBAE40"/>
          </p15:clr>
        </p15:guide>
        <p15:guide id="39" orient="horz" pos="3504" userDrawn="1">
          <p15:clr>
            <a:srgbClr val="FBAE40"/>
          </p15:clr>
        </p15:guide>
        <p15:guide id="40" orient="horz" pos="403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Presenation Title Footer">
            <a:extLst>
              <a:ext uri="{FF2B5EF4-FFF2-40B4-BE49-F238E27FC236}">
                <a16:creationId xmlns:a16="http://schemas.microsoft.com/office/drawing/2014/main" id="{5743D3FB-D8B4-73B9-0972-DBFB37F5D69B}"/>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Tree>
    <p:extLst>
      <p:ext uri="{BB962C8B-B14F-4D97-AF65-F5344CB8AC3E}">
        <p14:creationId xmlns:p14="http://schemas.microsoft.com/office/powerpoint/2010/main" val="401137824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Presenation Title Footer">
            <a:extLst>
              <a:ext uri="{FF2B5EF4-FFF2-40B4-BE49-F238E27FC236}">
                <a16:creationId xmlns:a16="http://schemas.microsoft.com/office/drawing/2014/main" id="{827AF5A6-F851-FB63-1669-61D5739419EF}"/>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3" name="Content Placeholder">
            <a:extLst>
              <a:ext uri="{FF2B5EF4-FFF2-40B4-BE49-F238E27FC236}">
                <a16:creationId xmlns:a16="http://schemas.microsoft.com/office/drawing/2014/main" id="{E6ED642B-92EB-1734-E5D9-077003B8A6E2}"/>
              </a:ext>
            </a:extLst>
          </p:cNvPr>
          <p:cNvSpPr>
            <a:spLocks noGrp="1"/>
          </p:cNvSpPr>
          <p:nvPr>
            <p:ph idx="1"/>
          </p:nvPr>
        </p:nvSpPr>
        <p:spPr>
          <a:xfrm>
            <a:off x="4306824" y="457200"/>
            <a:ext cx="7336536" cy="57607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a:extLst>
              <a:ext uri="{FF2B5EF4-FFF2-40B4-BE49-F238E27FC236}">
                <a16:creationId xmlns:a16="http://schemas.microsoft.com/office/drawing/2014/main" id="{7CA6B0FB-DB4A-6DCB-F760-974288FA2820}"/>
              </a:ext>
            </a:extLst>
          </p:cNvPr>
          <p:cNvSpPr>
            <a:spLocks noGrp="1"/>
          </p:cNvSpPr>
          <p:nvPr>
            <p:ph type="body" sz="half" idx="2"/>
          </p:nvPr>
        </p:nvSpPr>
        <p:spPr>
          <a:xfrm>
            <a:off x="548640" y="1965960"/>
            <a:ext cx="3575304" cy="42519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a:extLst>
              <a:ext uri="{FF2B5EF4-FFF2-40B4-BE49-F238E27FC236}">
                <a16:creationId xmlns:a16="http://schemas.microsoft.com/office/drawing/2014/main" id="{F0AA9804-C8FE-28D4-18D5-7F9DCA5851F4}"/>
              </a:ext>
            </a:extLst>
          </p:cNvPr>
          <p:cNvSpPr>
            <a:spLocks noGrp="1"/>
          </p:cNvSpPr>
          <p:nvPr>
            <p:ph type="title"/>
          </p:nvPr>
        </p:nvSpPr>
        <p:spPr>
          <a:xfrm>
            <a:off x="548640" y="457200"/>
            <a:ext cx="3575304" cy="1417320"/>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95748551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Presenation Title Footer">
            <a:extLst>
              <a:ext uri="{FF2B5EF4-FFF2-40B4-BE49-F238E27FC236}">
                <a16:creationId xmlns:a16="http://schemas.microsoft.com/office/drawing/2014/main" id="{DF8F8D25-E665-0209-243E-C399F20D9620}"/>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3" name="Picture Placeholder 2">
            <a:extLst>
              <a:ext uri="{FF2B5EF4-FFF2-40B4-BE49-F238E27FC236}">
                <a16:creationId xmlns:a16="http://schemas.microsoft.com/office/drawing/2014/main" id="{69667B8E-3FB1-AED5-8499-96A869DE570A}"/>
              </a:ext>
            </a:extLst>
          </p:cNvPr>
          <p:cNvSpPr>
            <a:spLocks noGrp="1"/>
          </p:cNvSpPr>
          <p:nvPr>
            <p:ph type="pic" idx="1"/>
          </p:nvPr>
        </p:nvSpPr>
        <p:spPr>
          <a:xfrm>
            <a:off x="4306824" y="457200"/>
            <a:ext cx="7333488" cy="57607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860A7C2-6F8A-E515-E20F-4EDB3F618E15}"/>
              </a:ext>
            </a:extLst>
          </p:cNvPr>
          <p:cNvSpPr>
            <a:spLocks noGrp="1"/>
          </p:cNvSpPr>
          <p:nvPr>
            <p:ph type="body" sz="half" idx="2"/>
          </p:nvPr>
        </p:nvSpPr>
        <p:spPr>
          <a:xfrm>
            <a:off x="548640" y="1965960"/>
            <a:ext cx="3575304" cy="42519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a:extLst>
              <a:ext uri="{FF2B5EF4-FFF2-40B4-BE49-F238E27FC236}">
                <a16:creationId xmlns:a16="http://schemas.microsoft.com/office/drawing/2014/main" id="{649B8AEF-8CB1-ED90-43F3-6A746020190B}"/>
              </a:ext>
            </a:extLst>
          </p:cNvPr>
          <p:cNvSpPr>
            <a:spLocks noGrp="1"/>
          </p:cNvSpPr>
          <p:nvPr>
            <p:ph type="title"/>
          </p:nvPr>
        </p:nvSpPr>
        <p:spPr>
          <a:xfrm>
            <a:off x="548640" y="457200"/>
            <a:ext cx="3575304" cy="1417320"/>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81961407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E7B727-76AE-E598-387E-27D5ED6BA62B}"/>
              </a:ext>
            </a:extLst>
          </p:cNvPr>
          <p:cNvSpPr>
            <a:spLocks noGrp="1"/>
          </p:cNvSpPr>
          <p:nvPr>
            <p:ph type="body" idx="1"/>
          </p:nvPr>
        </p:nvSpPr>
        <p:spPr>
          <a:xfrm>
            <a:off x="546100" y="1825625"/>
            <a:ext cx="11099800" cy="43891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a:extLst>
              <a:ext uri="{FF2B5EF4-FFF2-40B4-BE49-F238E27FC236}">
                <a16:creationId xmlns:a16="http://schemas.microsoft.com/office/drawing/2014/main" id="{5A65C17A-A8EA-6066-3EC9-89C46D9275D6}"/>
              </a:ext>
            </a:extLst>
          </p:cNvPr>
          <p:cNvSpPr>
            <a:spLocks noGrp="1"/>
          </p:cNvSpPr>
          <p:nvPr>
            <p:ph type="title"/>
          </p:nvPr>
        </p:nvSpPr>
        <p:spPr>
          <a:xfrm>
            <a:off x="546100" y="457200"/>
            <a:ext cx="11099800" cy="109728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591290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3BAF1-D41C-6ED0-3DDD-7C0F0AD82384}"/>
              </a:ext>
            </a:extLst>
          </p:cNvPr>
          <p:cNvSpPr>
            <a:spLocks noGrp="1"/>
          </p:cNvSpPr>
          <p:nvPr>
            <p:ph type="title"/>
          </p:nvPr>
        </p:nvSpPr>
        <p:spPr/>
        <p:txBody>
          <a:bodyPr/>
          <a:lstStyle/>
          <a:p>
            <a:r>
              <a:rPr lang="en-US" dirty="0"/>
              <a:t>Theme Style Guide</a:t>
            </a:r>
          </a:p>
        </p:txBody>
      </p:sp>
      <p:graphicFrame>
        <p:nvGraphicFramePr>
          <p:cNvPr id="3" name="Table 2">
            <a:extLst>
              <a:ext uri="{FF2B5EF4-FFF2-40B4-BE49-F238E27FC236}">
                <a16:creationId xmlns:a16="http://schemas.microsoft.com/office/drawing/2014/main" id="{D397CC35-0F6C-BAA3-5A01-32A5C8874FB7}"/>
              </a:ext>
            </a:extLst>
          </p:cNvPr>
          <p:cNvGraphicFramePr>
            <a:graphicFrameLocks noGrp="1"/>
          </p:cNvGraphicFramePr>
          <p:nvPr>
            <p:extLst>
              <p:ext uri="{D42A27DB-BD31-4B8C-83A1-F6EECF244321}">
                <p14:modId xmlns:p14="http://schemas.microsoft.com/office/powerpoint/2010/main" val="3420276839"/>
              </p:ext>
            </p:extLst>
          </p:nvPr>
        </p:nvGraphicFramePr>
        <p:xfrm>
          <a:off x="547688" y="1477963"/>
          <a:ext cx="7739994" cy="2595880"/>
        </p:xfrm>
        <a:graphic>
          <a:graphicData uri="http://schemas.openxmlformats.org/drawingml/2006/table">
            <a:tbl>
              <a:tblPr firstRow="1" bandRow="1">
                <a:tableStyleId>{5C22544A-7EE6-4342-B048-85BDC9FD1C3A}</a:tableStyleId>
              </a:tblPr>
              <a:tblGrid>
                <a:gridCol w="1295210">
                  <a:extLst>
                    <a:ext uri="{9D8B030D-6E8A-4147-A177-3AD203B41FA5}">
                      <a16:colId xmlns:a16="http://schemas.microsoft.com/office/drawing/2014/main" val="3749007155"/>
                    </a:ext>
                  </a:extLst>
                </a:gridCol>
                <a:gridCol w="2709333">
                  <a:extLst>
                    <a:ext uri="{9D8B030D-6E8A-4147-A177-3AD203B41FA5}">
                      <a16:colId xmlns:a16="http://schemas.microsoft.com/office/drawing/2014/main" val="1761761360"/>
                    </a:ext>
                  </a:extLst>
                </a:gridCol>
                <a:gridCol w="3735451">
                  <a:extLst>
                    <a:ext uri="{9D8B030D-6E8A-4147-A177-3AD203B41FA5}">
                      <a16:colId xmlns:a16="http://schemas.microsoft.com/office/drawing/2014/main" val="801812722"/>
                    </a:ext>
                  </a:extLst>
                </a:gridCol>
              </a:tblGrid>
              <a:tr h="370840">
                <a:tc>
                  <a:txBody>
                    <a:bodyPr/>
                    <a:lstStyle/>
                    <a:p>
                      <a:r>
                        <a:rPr lang="en-US" dirty="0"/>
                        <a:t>Accent Slot</a:t>
                      </a:r>
                    </a:p>
                  </a:txBody>
                  <a:tcPr/>
                </a:tc>
                <a:tc>
                  <a:txBody>
                    <a:bodyPr/>
                    <a:lstStyle/>
                    <a:p>
                      <a:r>
                        <a:rPr lang="en-US" dirty="0"/>
                        <a:t>Hext Color</a:t>
                      </a:r>
                    </a:p>
                  </a:txBody>
                  <a:tcPr/>
                </a:tc>
                <a:tc>
                  <a:txBody>
                    <a:bodyPr/>
                    <a:lstStyle/>
                    <a:p>
                      <a:r>
                        <a:rPr lang="en-US" dirty="0"/>
                        <a:t>Usage</a:t>
                      </a:r>
                    </a:p>
                  </a:txBody>
                  <a:tcPr/>
                </a:tc>
                <a:extLst>
                  <a:ext uri="{0D108BD9-81ED-4DB2-BD59-A6C34878D82A}">
                    <a16:rowId xmlns:a16="http://schemas.microsoft.com/office/drawing/2014/main" val="844874395"/>
                  </a:ext>
                </a:extLst>
              </a:tr>
              <a:tr h="370840">
                <a:tc>
                  <a:txBody>
                    <a:bodyPr/>
                    <a:lstStyle/>
                    <a:p>
                      <a:r>
                        <a:rPr lang="en-US" dirty="0"/>
                        <a:t>Accent 1</a:t>
                      </a:r>
                    </a:p>
                  </a:txBody>
                  <a:tcPr/>
                </a:tc>
                <a:tc>
                  <a:txBody>
                    <a:bodyPr/>
                    <a:lstStyle/>
                    <a:p>
                      <a:r>
                        <a:rPr lang="en-US" dirty="0"/>
                        <a:t>#XXXXXX</a:t>
                      </a:r>
                    </a:p>
                  </a:txBody>
                  <a:tcPr/>
                </a:tc>
                <a:tc>
                  <a:txBody>
                    <a:bodyPr/>
                    <a:lstStyle/>
                    <a:p>
                      <a:r>
                        <a:rPr lang="en-US" dirty="0"/>
                        <a:t>Slide Titles, major headings</a:t>
                      </a:r>
                    </a:p>
                  </a:txBody>
                  <a:tcPr/>
                </a:tc>
                <a:extLst>
                  <a:ext uri="{0D108BD9-81ED-4DB2-BD59-A6C34878D82A}">
                    <a16:rowId xmlns:a16="http://schemas.microsoft.com/office/drawing/2014/main" val="2448803630"/>
                  </a:ext>
                </a:extLst>
              </a:tr>
              <a:tr h="370840">
                <a:tc>
                  <a:txBody>
                    <a:bodyPr/>
                    <a:lstStyle/>
                    <a:p>
                      <a:r>
                        <a:rPr lang="en-US" dirty="0"/>
                        <a:t>Accent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Secondary Headers, comparison titles</a:t>
                      </a:r>
                    </a:p>
                  </a:txBody>
                  <a:tcPr/>
                </a:tc>
                <a:extLst>
                  <a:ext uri="{0D108BD9-81ED-4DB2-BD59-A6C34878D82A}">
                    <a16:rowId xmlns:a16="http://schemas.microsoft.com/office/drawing/2014/main" val="475053158"/>
                  </a:ext>
                </a:extLst>
              </a:tr>
              <a:tr h="370840">
                <a:tc>
                  <a:txBody>
                    <a:bodyPr/>
                    <a:lstStyle/>
                    <a:p>
                      <a:r>
                        <a:rPr lang="en-US" dirty="0"/>
                        <a:t>Accent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Highlight callouts, icon files</a:t>
                      </a:r>
                    </a:p>
                  </a:txBody>
                  <a:tcPr/>
                </a:tc>
                <a:extLst>
                  <a:ext uri="{0D108BD9-81ED-4DB2-BD59-A6C34878D82A}">
                    <a16:rowId xmlns:a16="http://schemas.microsoft.com/office/drawing/2014/main" val="957745377"/>
                  </a:ext>
                </a:extLst>
              </a:tr>
              <a:tr h="370840">
                <a:tc>
                  <a:txBody>
                    <a:bodyPr/>
                    <a:lstStyle/>
                    <a:p>
                      <a:r>
                        <a:rPr lang="en-US" dirty="0"/>
                        <a:t>Accent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Links, interactive elements</a:t>
                      </a:r>
                    </a:p>
                  </a:txBody>
                  <a:tcPr/>
                </a:tc>
                <a:extLst>
                  <a:ext uri="{0D108BD9-81ED-4DB2-BD59-A6C34878D82A}">
                    <a16:rowId xmlns:a16="http://schemas.microsoft.com/office/drawing/2014/main" val="1803543067"/>
                  </a:ext>
                </a:extLst>
              </a:tr>
              <a:tr h="370840">
                <a:tc>
                  <a:txBody>
                    <a:bodyPr/>
                    <a:lstStyle/>
                    <a:p>
                      <a:r>
                        <a:rPr lang="en-US" dirty="0"/>
                        <a:t>Accent 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Alerts, warnings, caution text</a:t>
                      </a:r>
                    </a:p>
                  </a:txBody>
                  <a:tcPr/>
                </a:tc>
                <a:extLst>
                  <a:ext uri="{0D108BD9-81ED-4DB2-BD59-A6C34878D82A}">
                    <a16:rowId xmlns:a16="http://schemas.microsoft.com/office/drawing/2014/main" val="1178434252"/>
                  </a:ext>
                </a:extLst>
              </a:tr>
              <a:tr h="370840">
                <a:tc>
                  <a:txBody>
                    <a:bodyPr/>
                    <a:lstStyle/>
                    <a:p>
                      <a:r>
                        <a:rPr lang="en-US" dirty="0"/>
                        <a:t>Accent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Captions, footers, diver lines</a:t>
                      </a:r>
                    </a:p>
                  </a:txBody>
                  <a:tcPr/>
                </a:tc>
                <a:extLst>
                  <a:ext uri="{0D108BD9-81ED-4DB2-BD59-A6C34878D82A}">
                    <a16:rowId xmlns:a16="http://schemas.microsoft.com/office/drawing/2014/main" val="1282975798"/>
                  </a:ext>
                </a:extLst>
              </a:tr>
            </a:tbl>
          </a:graphicData>
        </a:graphic>
      </p:graphicFrame>
      <p:sp>
        <p:nvSpPr>
          <p:cNvPr id="4" name="Oval 3">
            <a:extLst>
              <a:ext uri="{FF2B5EF4-FFF2-40B4-BE49-F238E27FC236}">
                <a16:creationId xmlns:a16="http://schemas.microsoft.com/office/drawing/2014/main" id="{C8546C5D-A4EE-F35D-2D8E-680D80F57F86}"/>
              </a:ext>
            </a:extLst>
          </p:cNvPr>
          <p:cNvSpPr/>
          <p:nvPr/>
        </p:nvSpPr>
        <p:spPr>
          <a:xfrm>
            <a:off x="2915322" y="1904104"/>
            <a:ext cx="269203" cy="290456"/>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D2290A4-BDE2-054A-47EC-1BC2F77C3F33}"/>
              </a:ext>
            </a:extLst>
          </p:cNvPr>
          <p:cNvSpPr/>
          <p:nvPr/>
        </p:nvSpPr>
        <p:spPr>
          <a:xfrm>
            <a:off x="2915319" y="2252918"/>
            <a:ext cx="269203" cy="290456"/>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B8BC0E4-C53D-535E-002C-0BC51B95DDFF}"/>
              </a:ext>
            </a:extLst>
          </p:cNvPr>
          <p:cNvSpPr/>
          <p:nvPr/>
        </p:nvSpPr>
        <p:spPr>
          <a:xfrm>
            <a:off x="2915320" y="2620228"/>
            <a:ext cx="269203" cy="290456"/>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B4A3155-A736-C9A5-0EEF-D1AB8A2824C1}"/>
              </a:ext>
            </a:extLst>
          </p:cNvPr>
          <p:cNvSpPr/>
          <p:nvPr/>
        </p:nvSpPr>
        <p:spPr>
          <a:xfrm>
            <a:off x="2915321" y="2997244"/>
            <a:ext cx="269203" cy="290456"/>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EFC58A0-C84B-E800-A29F-8BD631821F0A}"/>
              </a:ext>
            </a:extLst>
          </p:cNvPr>
          <p:cNvSpPr/>
          <p:nvPr/>
        </p:nvSpPr>
        <p:spPr>
          <a:xfrm>
            <a:off x="2915322" y="3374260"/>
            <a:ext cx="269203" cy="29045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7C5B36C-D344-37D5-096C-BF4411507B12}"/>
              </a:ext>
            </a:extLst>
          </p:cNvPr>
          <p:cNvSpPr/>
          <p:nvPr/>
        </p:nvSpPr>
        <p:spPr>
          <a:xfrm>
            <a:off x="2915322" y="3732740"/>
            <a:ext cx="269203" cy="29045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007BA981-2A48-EA4C-5096-8B38DBC5E421}"/>
              </a:ext>
            </a:extLst>
          </p:cNvPr>
          <p:cNvSpPr/>
          <p:nvPr/>
        </p:nvSpPr>
        <p:spPr>
          <a:xfrm>
            <a:off x="8566760" y="1539720"/>
            <a:ext cx="1783043" cy="838200"/>
          </a:xfrm>
          <a:prstGeom prst="roundRect">
            <a:avLst/>
          </a:prstGeom>
          <a:solidFill>
            <a:schemeClr val="accent3">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1" name="Rectangle: Rounded Corners 10">
            <a:extLst>
              <a:ext uri="{FF2B5EF4-FFF2-40B4-BE49-F238E27FC236}">
                <a16:creationId xmlns:a16="http://schemas.microsoft.com/office/drawing/2014/main" id="{D592430E-8DB5-913B-2AFF-669446BEA01F}"/>
              </a:ext>
            </a:extLst>
          </p:cNvPr>
          <p:cNvSpPr/>
          <p:nvPr/>
        </p:nvSpPr>
        <p:spPr>
          <a:xfrm>
            <a:off x="10408957" y="1539720"/>
            <a:ext cx="1783043" cy="838200"/>
          </a:xfrm>
          <a:prstGeom prst="roundRect">
            <a:avLst/>
          </a:prstGeom>
          <a:solidFill>
            <a:schemeClr val="accent2">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2" name="Rectangle: Rounded Corners 11">
            <a:extLst>
              <a:ext uri="{FF2B5EF4-FFF2-40B4-BE49-F238E27FC236}">
                <a16:creationId xmlns:a16="http://schemas.microsoft.com/office/drawing/2014/main" id="{D549884A-533C-05DF-3CBC-85C8D7E44BE9}"/>
              </a:ext>
            </a:extLst>
          </p:cNvPr>
          <p:cNvSpPr/>
          <p:nvPr/>
        </p:nvSpPr>
        <p:spPr>
          <a:xfrm>
            <a:off x="8566760" y="2498725"/>
            <a:ext cx="1783043" cy="838200"/>
          </a:xfrm>
          <a:prstGeom prst="roundRect">
            <a:avLst/>
          </a:prstGeom>
          <a:solidFill>
            <a:schemeClr val="accent6">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3" name="Rectangle: Rounded Corners 12">
            <a:extLst>
              <a:ext uri="{FF2B5EF4-FFF2-40B4-BE49-F238E27FC236}">
                <a16:creationId xmlns:a16="http://schemas.microsoft.com/office/drawing/2014/main" id="{AEA5219D-F32F-7171-90DA-CB4E8AA012EA}"/>
              </a:ext>
            </a:extLst>
          </p:cNvPr>
          <p:cNvSpPr/>
          <p:nvPr/>
        </p:nvSpPr>
        <p:spPr>
          <a:xfrm>
            <a:off x="10408957" y="2498725"/>
            <a:ext cx="1783043" cy="838200"/>
          </a:xfrm>
          <a:prstGeom prst="roundRect">
            <a:avLst/>
          </a:prstGeom>
          <a:solidFill>
            <a:schemeClr val="accent6">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4" name="Rectangle: Rounded Corners 13">
            <a:extLst>
              <a:ext uri="{FF2B5EF4-FFF2-40B4-BE49-F238E27FC236}">
                <a16:creationId xmlns:a16="http://schemas.microsoft.com/office/drawing/2014/main" id="{DC14154C-F259-183D-5E0C-FC0B09AACAB1}"/>
              </a:ext>
            </a:extLst>
          </p:cNvPr>
          <p:cNvSpPr/>
          <p:nvPr/>
        </p:nvSpPr>
        <p:spPr>
          <a:xfrm>
            <a:off x="8566760" y="3523786"/>
            <a:ext cx="1783043" cy="838200"/>
          </a:xfrm>
          <a:prstGeom prst="roundRect">
            <a:avLst/>
          </a:prstGeom>
          <a:solidFill>
            <a:schemeClr val="accent3">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5" name="Rectangle: Rounded Corners 14">
            <a:extLst>
              <a:ext uri="{FF2B5EF4-FFF2-40B4-BE49-F238E27FC236}">
                <a16:creationId xmlns:a16="http://schemas.microsoft.com/office/drawing/2014/main" id="{B488F650-984E-E7C0-6D02-1CECB16BD13C}"/>
              </a:ext>
            </a:extLst>
          </p:cNvPr>
          <p:cNvSpPr/>
          <p:nvPr/>
        </p:nvSpPr>
        <p:spPr>
          <a:xfrm>
            <a:off x="10408957" y="3523786"/>
            <a:ext cx="1783043" cy="838200"/>
          </a:xfrm>
          <a:prstGeom prst="roundRect">
            <a:avLst/>
          </a:prstGeom>
          <a:solidFill>
            <a:schemeClr val="accent2">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6" name="Rectangle: Rounded Corners 15">
            <a:extLst>
              <a:ext uri="{FF2B5EF4-FFF2-40B4-BE49-F238E27FC236}">
                <a16:creationId xmlns:a16="http://schemas.microsoft.com/office/drawing/2014/main" id="{B790FDD8-AFE3-FE0E-56D3-C277071100E3}"/>
              </a:ext>
            </a:extLst>
          </p:cNvPr>
          <p:cNvSpPr/>
          <p:nvPr/>
        </p:nvSpPr>
        <p:spPr>
          <a:xfrm>
            <a:off x="8566759" y="4724400"/>
            <a:ext cx="1783043" cy="838200"/>
          </a:xfrm>
          <a:prstGeom prst="roundRect">
            <a:avLst/>
          </a:prstGeom>
          <a:solidFill>
            <a:schemeClr val="tx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002711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97B43D9-A147-6A34-1569-7E58AC1BC451}"/>
              </a:ext>
            </a:extLst>
          </p:cNvPr>
          <p:cNvGraphicFramePr>
            <a:graphicFrameLocks noGrp="1"/>
          </p:cNvGraphicFramePr>
          <p:nvPr>
            <p:ph idx="1"/>
            <p:extLst>
              <p:ext uri="{D42A27DB-BD31-4B8C-83A1-F6EECF244321}">
                <p14:modId xmlns:p14="http://schemas.microsoft.com/office/powerpoint/2010/main" val="3733884515"/>
              </p:ext>
            </p:extLst>
          </p:nvPr>
        </p:nvGraphicFramePr>
        <p:xfrm>
          <a:off x="546100" y="1825625"/>
          <a:ext cx="8950365" cy="2595880"/>
        </p:xfrm>
        <a:graphic>
          <a:graphicData uri="http://schemas.openxmlformats.org/drawingml/2006/table">
            <a:tbl>
              <a:tblPr firstRow="1" bandRow="1">
                <a:tableStyleId>{5C22544A-7EE6-4342-B048-85BDC9FD1C3A}</a:tableStyleId>
              </a:tblPr>
              <a:tblGrid>
                <a:gridCol w="2640076">
                  <a:extLst>
                    <a:ext uri="{9D8B030D-6E8A-4147-A177-3AD203B41FA5}">
                      <a16:colId xmlns:a16="http://schemas.microsoft.com/office/drawing/2014/main" val="1236994461"/>
                    </a:ext>
                  </a:extLst>
                </a:gridCol>
                <a:gridCol w="1653453">
                  <a:extLst>
                    <a:ext uri="{9D8B030D-6E8A-4147-A177-3AD203B41FA5}">
                      <a16:colId xmlns:a16="http://schemas.microsoft.com/office/drawing/2014/main" val="1424962408"/>
                    </a:ext>
                  </a:extLst>
                </a:gridCol>
                <a:gridCol w="4656836">
                  <a:extLst>
                    <a:ext uri="{9D8B030D-6E8A-4147-A177-3AD203B41FA5}">
                      <a16:colId xmlns:a16="http://schemas.microsoft.com/office/drawing/2014/main" val="277084313"/>
                    </a:ext>
                  </a:extLst>
                </a:gridCol>
              </a:tblGrid>
              <a:tr h="370840">
                <a:tc>
                  <a:txBody>
                    <a:bodyPr/>
                    <a:lstStyle/>
                    <a:p>
                      <a:r>
                        <a:rPr lang="en-US" dirty="0"/>
                        <a:t>Role</a:t>
                      </a:r>
                    </a:p>
                  </a:txBody>
                  <a:tcPr/>
                </a:tc>
                <a:tc>
                  <a:txBody>
                    <a:bodyPr/>
                    <a:lstStyle/>
                    <a:p>
                      <a:r>
                        <a:rPr lang="en-US" dirty="0"/>
                        <a:t>Hex Color</a:t>
                      </a:r>
                    </a:p>
                  </a:txBody>
                  <a:tcPr/>
                </a:tc>
                <a:tc>
                  <a:txBody>
                    <a:bodyPr/>
                    <a:lstStyle/>
                    <a:p>
                      <a:r>
                        <a:rPr lang="en-US" dirty="0"/>
                        <a:t>Usage</a:t>
                      </a:r>
                    </a:p>
                  </a:txBody>
                  <a:tcPr/>
                </a:tc>
                <a:extLst>
                  <a:ext uri="{0D108BD9-81ED-4DB2-BD59-A6C34878D82A}">
                    <a16:rowId xmlns:a16="http://schemas.microsoft.com/office/drawing/2014/main" val="1804221757"/>
                  </a:ext>
                </a:extLst>
              </a:tr>
              <a:tr h="370840">
                <a:tc>
                  <a:txBody>
                    <a:bodyPr/>
                    <a:lstStyle/>
                    <a:p>
                      <a:r>
                        <a:rPr lang="en-US" dirty="0"/>
                        <a:t>Text/Background – Dark 1</a:t>
                      </a:r>
                    </a:p>
                  </a:txBody>
                  <a:tcPr/>
                </a:tc>
                <a:tc>
                  <a:txBody>
                    <a:bodyPr/>
                    <a:lstStyle/>
                    <a:p>
                      <a:r>
                        <a:rPr lang="en-US" dirty="0"/>
                        <a:t>#333333</a:t>
                      </a:r>
                    </a:p>
                  </a:txBody>
                  <a:tcPr/>
                </a:tc>
                <a:tc>
                  <a:txBody>
                    <a:bodyPr/>
                    <a:lstStyle/>
                    <a:p>
                      <a:r>
                        <a:rPr lang="en-US" dirty="0"/>
                        <a:t>Primary text</a:t>
                      </a:r>
                    </a:p>
                  </a:txBody>
                  <a:tcPr/>
                </a:tc>
                <a:extLst>
                  <a:ext uri="{0D108BD9-81ED-4DB2-BD59-A6C34878D82A}">
                    <a16:rowId xmlns:a16="http://schemas.microsoft.com/office/drawing/2014/main" val="3627527593"/>
                  </a:ext>
                </a:extLst>
              </a:tr>
              <a:tr h="370840">
                <a:tc>
                  <a:txBody>
                    <a:bodyPr/>
                    <a:lstStyle/>
                    <a:p>
                      <a:r>
                        <a:rPr lang="en-US" dirty="0"/>
                        <a:t>Text/Background – Light 1</a:t>
                      </a:r>
                    </a:p>
                  </a:txBody>
                  <a:tcPr/>
                </a:tc>
                <a:tc>
                  <a:txBody>
                    <a:bodyPr/>
                    <a:lstStyle/>
                    <a:p>
                      <a:r>
                        <a:rPr lang="en-US" dirty="0"/>
                        <a:t>#FFFFFF</a:t>
                      </a:r>
                    </a:p>
                  </a:txBody>
                  <a:tcPr/>
                </a:tc>
                <a:tc>
                  <a:txBody>
                    <a:bodyPr/>
                    <a:lstStyle/>
                    <a:p>
                      <a:r>
                        <a:rPr lang="en-US" dirty="0"/>
                        <a:t>Slide background</a:t>
                      </a:r>
                    </a:p>
                  </a:txBody>
                  <a:tcPr/>
                </a:tc>
                <a:extLst>
                  <a:ext uri="{0D108BD9-81ED-4DB2-BD59-A6C34878D82A}">
                    <a16:rowId xmlns:a16="http://schemas.microsoft.com/office/drawing/2014/main" val="2337315819"/>
                  </a:ext>
                </a:extLst>
              </a:tr>
              <a:tr h="370840">
                <a:tc>
                  <a:txBody>
                    <a:bodyPr/>
                    <a:lstStyle/>
                    <a:p>
                      <a:r>
                        <a:rPr lang="en-US" dirty="0"/>
                        <a:t>Text/Background – Dark 2</a:t>
                      </a:r>
                    </a:p>
                  </a:txBody>
                  <a:tcPr/>
                </a:tc>
                <a:tc>
                  <a:txBody>
                    <a:bodyPr/>
                    <a:lstStyle/>
                    <a:p>
                      <a:r>
                        <a:rPr lang="en-US" dirty="0"/>
                        <a:t>#003366</a:t>
                      </a:r>
                    </a:p>
                  </a:txBody>
                  <a:tcPr/>
                </a:tc>
                <a:tc>
                  <a:txBody>
                    <a:bodyPr/>
                    <a:lstStyle/>
                    <a:p>
                      <a:r>
                        <a:rPr lang="en-US" dirty="0"/>
                        <a:t>High-contrast text (e.g., captions, data overlays)</a:t>
                      </a:r>
                    </a:p>
                  </a:txBody>
                  <a:tcPr/>
                </a:tc>
                <a:extLst>
                  <a:ext uri="{0D108BD9-81ED-4DB2-BD59-A6C34878D82A}">
                    <a16:rowId xmlns:a16="http://schemas.microsoft.com/office/drawing/2014/main" val="3523408919"/>
                  </a:ext>
                </a:extLst>
              </a:tr>
              <a:tr h="370840">
                <a:tc>
                  <a:txBody>
                    <a:bodyPr/>
                    <a:lstStyle/>
                    <a:p>
                      <a:r>
                        <a:rPr lang="en-US" dirty="0"/>
                        <a:t>Text/Background – Light 2</a:t>
                      </a:r>
                    </a:p>
                  </a:txBody>
                  <a:tcPr/>
                </a:tc>
                <a:tc>
                  <a:txBody>
                    <a:bodyPr/>
                    <a:lstStyle/>
                    <a:p>
                      <a:r>
                        <a:rPr lang="en-US" dirty="0"/>
                        <a:t>#F4F6F7</a:t>
                      </a:r>
                    </a:p>
                  </a:txBody>
                  <a:tcPr/>
                </a:tc>
                <a:tc>
                  <a:txBody>
                    <a:bodyPr/>
                    <a:lstStyle/>
                    <a:p>
                      <a:r>
                        <a:rPr lang="en-US" dirty="0"/>
                        <a:t>Soft fill areas, minimal containers</a:t>
                      </a:r>
                    </a:p>
                  </a:txBody>
                  <a:tcPr/>
                </a:tc>
                <a:extLst>
                  <a:ext uri="{0D108BD9-81ED-4DB2-BD59-A6C34878D82A}">
                    <a16:rowId xmlns:a16="http://schemas.microsoft.com/office/drawing/2014/main" val="3258488259"/>
                  </a:ext>
                </a:extLst>
              </a:tr>
              <a:tr h="370840">
                <a:tc>
                  <a:txBody>
                    <a:bodyPr/>
                    <a:lstStyle/>
                    <a:p>
                      <a:r>
                        <a:rPr lang="en-US" dirty="0"/>
                        <a:t>Hyperlink</a:t>
                      </a:r>
                    </a:p>
                  </a:txBody>
                  <a:tcPr/>
                </a:tc>
                <a:tc>
                  <a:txBody>
                    <a:bodyPr/>
                    <a:lstStyle/>
                    <a:p>
                      <a:r>
                        <a:rPr lang="en-US" dirty="0"/>
                        <a:t>#3399FF</a:t>
                      </a:r>
                    </a:p>
                  </a:txBody>
                  <a:tcPr/>
                </a:tc>
                <a:tc>
                  <a:txBody>
                    <a:bodyPr/>
                    <a:lstStyle/>
                    <a:p>
                      <a:r>
                        <a:rPr lang="en-US" dirty="0"/>
                        <a:t>Linked text in body placements</a:t>
                      </a:r>
                    </a:p>
                  </a:txBody>
                  <a:tcPr/>
                </a:tc>
                <a:extLst>
                  <a:ext uri="{0D108BD9-81ED-4DB2-BD59-A6C34878D82A}">
                    <a16:rowId xmlns:a16="http://schemas.microsoft.com/office/drawing/2014/main" val="2238284335"/>
                  </a:ext>
                </a:extLst>
              </a:tr>
              <a:tr h="370840">
                <a:tc>
                  <a:txBody>
                    <a:bodyPr/>
                    <a:lstStyle/>
                    <a:p>
                      <a:r>
                        <a:rPr lang="en-US" dirty="0"/>
                        <a:t>Followed Hyperlink</a:t>
                      </a:r>
                    </a:p>
                  </a:txBody>
                  <a:tcPr/>
                </a:tc>
                <a:tc>
                  <a:txBody>
                    <a:bodyPr/>
                    <a:lstStyle/>
                    <a:p>
                      <a:r>
                        <a:rPr lang="en-US" dirty="0"/>
                        <a:t>#DD3377</a:t>
                      </a:r>
                    </a:p>
                  </a:txBody>
                  <a:tcPr/>
                </a:tc>
                <a:tc>
                  <a:txBody>
                    <a:bodyPr/>
                    <a:lstStyle/>
                    <a:p>
                      <a:r>
                        <a:rPr lang="en-US" dirty="0"/>
                        <a:t>Previously click links</a:t>
                      </a:r>
                    </a:p>
                  </a:txBody>
                  <a:tcPr/>
                </a:tc>
                <a:extLst>
                  <a:ext uri="{0D108BD9-81ED-4DB2-BD59-A6C34878D82A}">
                    <a16:rowId xmlns:a16="http://schemas.microsoft.com/office/drawing/2014/main" val="2550797605"/>
                  </a:ext>
                </a:extLst>
              </a:tr>
            </a:tbl>
          </a:graphicData>
        </a:graphic>
      </p:graphicFrame>
      <p:sp>
        <p:nvSpPr>
          <p:cNvPr id="3" name="Title 2">
            <a:extLst>
              <a:ext uri="{FF2B5EF4-FFF2-40B4-BE49-F238E27FC236}">
                <a16:creationId xmlns:a16="http://schemas.microsoft.com/office/drawing/2014/main" id="{270477C2-9CCB-8D83-6BA3-EB75F9A12E44}"/>
              </a:ext>
            </a:extLst>
          </p:cNvPr>
          <p:cNvSpPr>
            <a:spLocks noGrp="1"/>
          </p:cNvSpPr>
          <p:nvPr>
            <p:ph type="title"/>
          </p:nvPr>
        </p:nvSpPr>
        <p:spPr/>
        <p:txBody>
          <a:bodyPr>
            <a:normAutofit fontScale="90000"/>
          </a:bodyPr>
          <a:lstStyle/>
          <a:p>
            <a:r>
              <a:rPr lang="en-US" dirty="0"/>
              <a:t>Style Guide: Color Palette (Base Colors)</a:t>
            </a:r>
          </a:p>
        </p:txBody>
      </p:sp>
      <p:sp>
        <p:nvSpPr>
          <p:cNvPr id="5" name="Oval 4">
            <a:extLst>
              <a:ext uri="{FF2B5EF4-FFF2-40B4-BE49-F238E27FC236}">
                <a16:creationId xmlns:a16="http://schemas.microsoft.com/office/drawing/2014/main" id="{D81F39CA-FCD8-9591-6DB8-F915367D0783}"/>
              </a:ext>
            </a:extLst>
          </p:cNvPr>
          <p:cNvSpPr/>
          <p:nvPr/>
        </p:nvSpPr>
        <p:spPr>
          <a:xfrm>
            <a:off x="4420738" y="2223165"/>
            <a:ext cx="269203" cy="29045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6BA6E50-1F57-DF3D-392A-110826D3D05B}"/>
              </a:ext>
            </a:extLst>
          </p:cNvPr>
          <p:cNvSpPr/>
          <p:nvPr/>
        </p:nvSpPr>
        <p:spPr>
          <a:xfrm>
            <a:off x="4420737" y="2620705"/>
            <a:ext cx="269203" cy="2904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6AAD4E7-1689-F5C8-A3D1-2B2DFD5B66D6}"/>
              </a:ext>
            </a:extLst>
          </p:cNvPr>
          <p:cNvSpPr/>
          <p:nvPr/>
        </p:nvSpPr>
        <p:spPr>
          <a:xfrm>
            <a:off x="4420736" y="2978337"/>
            <a:ext cx="269203" cy="290456"/>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EBDABF1-6AC3-8A10-E24D-6B6FAB26B56E}"/>
              </a:ext>
            </a:extLst>
          </p:cNvPr>
          <p:cNvSpPr/>
          <p:nvPr/>
        </p:nvSpPr>
        <p:spPr>
          <a:xfrm>
            <a:off x="4420736" y="3331314"/>
            <a:ext cx="269203" cy="290456"/>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3FDB226-BF35-0E1C-9522-E4B1E058CFCE}"/>
              </a:ext>
            </a:extLst>
          </p:cNvPr>
          <p:cNvSpPr/>
          <p:nvPr/>
        </p:nvSpPr>
        <p:spPr>
          <a:xfrm>
            <a:off x="4420735" y="3684291"/>
            <a:ext cx="269203" cy="29045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740C666-1CE1-6046-A2F9-56ED868276DC}"/>
              </a:ext>
            </a:extLst>
          </p:cNvPr>
          <p:cNvSpPr/>
          <p:nvPr/>
        </p:nvSpPr>
        <p:spPr>
          <a:xfrm>
            <a:off x="4420735" y="4079174"/>
            <a:ext cx="269203" cy="290456"/>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018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A6544A-2290-5C2E-DAA2-81E72FF45259}"/>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DD78E43-97A3-9D38-D9D2-07380E33F085}"/>
              </a:ext>
            </a:extLst>
          </p:cNvPr>
          <p:cNvGraphicFramePr>
            <a:graphicFrameLocks noGrp="1"/>
          </p:cNvGraphicFramePr>
          <p:nvPr>
            <p:ph idx="1"/>
            <p:extLst>
              <p:ext uri="{D42A27DB-BD31-4B8C-83A1-F6EECF244321}">
                <p14:modId xmlns:p14="http://schemas.microsoft.com/office/powerpoint/2010/main" val="847656239"/>
              </p:ext>
            </p:extLst>
          </p:nvPr>
        </p:nvGraphicFramePr>
        <p:xfrm>
          <a:off x="546100" y="1825625"/>
          <a:ext cx="9467011" cy="2595880"/>
        </p:xfrm>
        <a:graphic>
          <a:graphicData uri="http://schemas.openxmlformats.org/drawingml/2006/table">
            <a:tbl>
              <a:tblPr firstRow="1" bandRow="1">
                <a:tableStyleId>{5C22544A-7EE6-4342-B048-85BDC9FD1C3A}</a:tableStyleId>
              </a:tblPr>
              <a:tblGrid>
                <a:gridCol w="1295210">
                  <a:extLst>
                    <a:ext uri="{9D8B030D-6E8A-4147-A177-3AD203B41FA5}">
                      <a16:colId xmlns:a16="http://schemas.microsoft.com/office/drawing/2014/main" val="1236994461"/>
                    </a:ext>
                  </a:extLst>
                </a:gridCol>
                <a:gridCol w="1793988">
                  <a:extLst>
                    <a:ext uri="{9D8B030D-6E8A-4147-A177-3AD203B41FA5}">
                      <a16:colId xmlns:a16="http://schemas.microsoft.com/office/drawing/2014/main" val="1424962408"/>
                    </a:ext>
                  </a:extLst>
                </a:gridCol>
                <a:gridCol w="6377813">
                  <a:extLst>
                    <a:ext uri="{9D8B030D-6E8A-4147-A177-3AD203B41FA5}">
                      <a16:colId xmlns:a16="http://schemas.microsoft.com/office/drawing/2014/main" val="277084313"/>
                    </a:ext>
                  </a:extLst>
                </a:gridCol>
              </a:tblGrid>
              <a:tr h="370840">
                <a:tc>
                  <a:txBody>
                    <a:bodyPr/>
                    <a:lstStyle/>
                    <a:p>
                      <a:r>
                        <a:rPr lang="en-US" dirty="0"/>
                        <a:t>Accent Slot</a:t>
                      </a:r>
                    </a:p>
                  </a:txBody>
                  <a:tcPr/>
                </a:tc>
                <a:tc>
                  <a:txBody>
                    <a:bodyPr/>
                    <a:lstStyle/>
                    <a:p>
                      <a:r>
                        <a:rPr lang="en-US" dirty="0"/>
                        <a:t>Hex Color</a:t>
                      </a:r>
                    </a:p>
                  </a:txBody>
                  <a:tcPr/>
                </a:tc>
                <a:tc>
                  <a:txBody>
                    <a:bodyPr/>
                    <a:lstStyle/>
                    <a:p>
                      <a:r>
                        <a:rPr lang="en-US" dirty="0"/>
                        <a:t>Usage</a:t>
                      </a:r>
                    </a:p>
                  </a:txBody>
                  <a:tcPr/>
                </a:tc>
                <a:extLst>
                  <a:ext uri="{0D108BD9-81ED-4DB2-BD59-A6C34878D82A}">
                    <a16:rowId xmlns:a16="http://schemas.microsoft.com/office/drawing/2014/main" val="1804221757"/>
                  </a:ext>
                </a:extLst>
              </a:tr>
              <a:tr h="370840">
                <a:tc>
                  <a:txBody>
                    <a:bodyPr/>
                    <a:lstStyle/>
                    <a:p>
                      <a:r>
                        <a:rPr lang="en-US" dirty="0"/>
                        <a:t>Accent 1</a:t>
                      </a:r>
                    </a:p>
                  </a:txBody>
                  <a:tcPr/>
                </a:tc>
                <a:tc>
                  <a:txBody>
                    <a:bodyPr/>
                    <a:lstStyle/>
                    <a:p>
                      <a:r>
                        <a:rPr lang="en-US" dirty="0"/>
                        <a:t>#003366</a:t>
                      </a:r>
                    </a:p>
                  </a:txBody>
                  <a:tcPr/>
                </a:tc>
                <a:tc>
                  <a:txBody>
                    <a:bodyPr/>
                    <a:lstStyle/>
                    <a:p>
                      <a:r>
                        <a:rPr lang="en-US" dirty="0"/>
                        <a:t>Main slide titles, major headers</a:t>
                      </a:r>
                    </a:p>
                  </a:txBody>
                  <a:tcPr/>
                </a:tc>
                <a:extLst>
                  <a:ext uri="{0D108BD9-81ED-4DB2-BD59-A6C34878D82A}">
                    <a16:rowId xmlns:a16="http://schemas.microsoft.com/office/drawing/2014/main" val="2452585052"/>
                  </a:ext>
                </a:extLst>
              </a:tr>
              <a:tr h="370840">
                <a:tc>
                  <a:txBody>
                    <a:bodyPr/>
                    <a:lstStyle/>
                    <a:p>
                      <a:r>
                        <a:rPr lang="en-US" dirty="0"/>
                        <a:t>Accent 2</a:t>
                      </a:r>
                    </a:p>
                  </a:txBody>
                  <a:tcPr/>
                </a:tc>
                <a:tc>
                  <a:txBody>
                    <a:bodyPr/>
                    <a:lstStyle/>
                    <a:p>
                      <a:r>
                        <a:rPr lang="en-US" dirty="0"/>
                        <a:t>#008080</a:t>
                      </a:r>
                    </a:p>
                  </a:txBody>
                  <a:tcPr/>
                </a:tc>
                <a:tc>
                  <a:txBody>
                    <a:bodyPr/>
                    <a:lstStyle/>
                    <a:p>
                      <a:r>
                        <a:rPr lang="en-US" dirty="0"/>
                        <a:t>Primary box fills, minor headings, comparison titles</a:t>
                      </a:r>
                    </a:p>
                  </a:txBody>
                  <a:tcPr/>
                </a:tc>
                <a:extLst>
                  <a:ext uri="{0D108BD9-81ED-4DB2-BD59-A6C34878D82A}">
                    <a16:rowId xmlns:a16="http://schemas.microsoft.com/office/drawing/2014/main" val="642047992"/>
                  </a:ext>
                </a:extLst>
              </a:tr>
              <a:tr h="370840">
                <a:tc>
                  <a:txBody>
                    <a:bodyPr/>
                    <a:lstStyle/>
                    <a:p>
                      <a:r>
                        <a:rPr lang="en-US" dirty="0"/>
                        <a:t>Accent 3</a:t>
                      </a:r>
                    </a:p>
                  </a:txBody>
                  <a:tcPr/>
                </a:tc>
                <a:tc>
                  <a:txBody>
                    <a:bodyPr/>
                    <a:lstStyle/>
                    <a:p>
                      <a:r>
                        <a:rPr lang="en-US" dirty="0"/>
                        <a:t>#DD3377</a:t>
                      </a:r>
                    </a:p>
                  </a:txBody>
                  <a:tcPr/>
                </a:tc>
                <a:tc>
                  <a:txBody>
                    <a:bodyPr/>
                    <a:lstStyle/>
                    <a:p>
                      <a:r>
                        <a:rPr lang="en-US" dirty="0"/>
                        <a:t>Secondary content box fills, icon fills, highlight overlays</a:t>
                      </a:r>
                    </a:p>
                  </a:txBody>
                  <a:tcPr/>
                </a:tc>
                <a:extLst>
                  <a:ext uri="{0D108BD9-81ED-4DB2-BD59-A6C34878D82A}">
                    <a16:rowId xmlns:a16="http://schemas.microsoft.com/office/drawing/2014/main" val="2546115089"/>
                  </a:ext>
                </a:extLst>
              </a:tr>
              <a:tr h="370840">
                <a:tc>
                  <a:txBody>
                    <a:bodyPr/>
                    <a:lstStyle/>
                    <a:p>
                      <a:r>
                        <a:rPr lang="en-US" dirty="0"/>
                        <a:t>Accent 4</a:t>
                      </a:r>
                    </a:p>
                  </a:txBody>
                  <a:tcPr/>
                </a:tc>
                <a:tc>
                  <a:txBody>
                    <a:bodyPr/>
                    <a:lstStyle/>
                    <a:p>
                      <a:r>
                        <a:rPr lang="en-US" dirty="0"/>
                        <a:t>#FF6600</a:t>
                      </a:r>
                    </a:p>
                  </a:txBody>
                  <a:tcPr/>
                </a:tc>
                <a:tc>
                  <a:txBody>
                    <a:bodyPr/>
                    <a:lstStyle/>
                    <a:p>
                      <a:r>
                        <a:rPr lang="en-US" dirty="0"/>
                        <a:t>Links, callouts, interaction indicators</a:t>
                      </a:r>
                    </a:p>
                  </a:txBody>
                  <a:tcPr/>
                </a:tc>
                <a:extLst>
                  <a:ext uri="{0D108BD9-81ED-4DB2-BD59-A6C34878D82A}">
                    <a16:rowId xmlns:a16="http://schemas.microsoft.com/office/drawing/2014/main" val="3284001864"/>
                  </a:ext>
                </a:extLst>
              </a:tr>
              <a:tr h="370840">
                <a:tc>
                  <a:txBody>
                    <a:bodyPr/>
                    <a:lstStyle/>
                    <a:p>
                      <a:r>
                        <a:rPr lang="en-US" dirty="0"/>
                        <a:t>Accent 5</a:t>
                      </a:r>
                    </a:p>
                  </a:txBody>
                  <a:tcPr/>
                </a:tc>
                <a:tc>
                  <a:txBody>
                    <a:bodyPr/>
                    <a:lstStyle/>
                    <a:p>
                      <a:r>
                        <a:rPr lang="en-US" dirty="0"/>
                        <a:t>#3399FF</a:t>
                      </a:r>
                    </a:p>
                  </a:txBody>
                  <a:tcPr/>
                </a:tc>
                <a:tc>
                  <a:txBody>
                    <a:bodyPr/>
                    <a:lstStyle/>
                    <a:p>
                      <a:r>
                        <a:rPr lang="en-US" dirty="0"/>
                        <a:t>Alerts, caution text, emphasis on risks</a:t>
                      </a:r>
                    </a:p>
                  </a:txBody>
                  <a:tcPr/>
                </a:tc>
                <a:extLst>
                  <a:ext uri="{0D108BD9-81ED-4DB2-BD59-A6C34878D82A}">
                    <a16:rowId xmlns:a16="http://schemas.microsoft.com/office/drawing/2014/main" val="3688119333"/>
                  </a:ext>
                </a:extLst>
              </a:tr>
              <a:tr h="370840">
                <a:tc>
                  <a:txBody>
                    <a:bodyPr/>
                    <a:lstStyle/>
                    <a:p>
                      <a:r>
                        <a:rPr lang="en-US" dirty="0"/>
                        <a:t>Accent 6</a:t>
                      </a:r>
                    </a:p>
                  </a:txBody>
                  <a:tcPr/>
                </a:tc>
                <a:tc>
                  <a:txBody>
                    <a:bodyPr/>
                    <a:lstStyle/>
                    <a:p>
                      <a:r>
                        <a:rPr lang="en-US" dirty="0"/>
                        <a:t>#666666</a:t>
                      </a:r>
                    </a:p>
                  </a:txBody>
                  <a:tcPr/>
                </a:tc>
                <a:tc>
                  <a:txBody>
                    <a:bodyPr/>
                    <a:lstStyle/>
                    <a:p>
                      <a:r>
                        <a:rPr lang="en-US" dirty="0"/>
                        <a:t>Footer text, captions, divider lines, body text for inactive elements</a:t>
                      </a:r>
                    </a:p>
                  </a:txBody>
                  <a:tcPr/>
                </a:tc>
                <a:extLst>
                  <a:ext uri="{0D108BD9-81ED-4DB2-BD59-A6C34878D82A}">
                    <a16:rowId xmlns:a16="http://schemas.microsoft.com/office/drawing/2014/main" val="2419111572"/>
                  </a:ext>
                </a:extLst>
              </a:tr>
            </a:tbl>
          </a:graphicData>
        </a:graphic>
      </p:graphicFrame>
      <p:sp>
        <p:nvSpPr>
          <p:cNvPr id="3" name="Title 2">
            <a:extLst>
              <a:ext uri="{FF2B5EF4-FFF2-40B4-BE49-F238E27FC236}">
                <a16:creationId xmlns:a16="http://schemas.microsoft.com/office/drawing/2014/main" id="{16C8BACD-4BA2-2C7D-2FCB-767CA9FA5283}"/>
              </a:ext>
            </a:extLst>
          </p:cNvPr>
          <p:cNvSpPr>
            <a:spLocks noGrp="1"/>
          </p:cNvSpPr>
          <p:nvPr>
            <p:ph type="title"/>
          </p:nvPr>
        </p:nvSpPr>
        <p:spPr/>
        <p:txBody>
          <a:bodyPr>
            <a:normAutofit fontScale="90000"/>
          </a:bodyPr>
          <a:lstStyle/>
          <a:p>
            <a:r>
              <a:rPr lang="en-US" dirty="0"/>
              <a:t>Style Guide: Color Palette (Accent Colors)</a:t>
            </a:r>
          </a:p>
        </p:txBody>
      </p:sp>
      <p:sp>
        <p:nvSpPr>
          <p:cNvPr id="2" name="Oval 1">
            <a:extLst>
              <a:ext uri="{FF2B5EF4-FFF2-40B4-BE49-F238E27FC236}">
                <a16:creationId xmlns:a16="http://schemas.microsoft.com/office/drawing/2014/main" id="{A05EB66A-32F4-EE71-9527-21D6463D8D8B}"/>
              </a:ext>
            </a:extLst>
          </p:cNvPr>
          <p:cNvSpPr/>
          <p:nvPr/>
        </p:nvSpPr>
        <p:spPr>
          <a:xfrm>
            <a:off x="3138347" y="2223165"/>
            <a:ext cx="269203" cy="290456"/>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838C456-5C67-7188-30FF-1BDB032D5B6C}"/>
              </a:ext>
            </a:extLst>
          </p:cNvPr>
          <p:cNvSpPr/>
          <p:nvPr/>
        </p:nvSpPr>
        <p:spPr>
          <a:xfrm>
            <a:off x="3138346" y="2620705"/>
            <a:ext cx="269203" cy="290456"/>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66F026D-EAF9-6EFF-4380-B1042C436769}"/>
              </a:ext>
            </a:extLst>
          </p:cNvPr>
          <p:cNvSpPr/>
          <p:nvPr/>
        </p:nvSpPr>
        <p:spPr>
          <a:xfrm>
            <a:off x="3138345" y="2978337"/>
            <a:ext cx="269203" cy="290456"/>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13EA452-76E9-9C2D-DA3A-95FC8F72CC1D}"/>
              </a:ext>
            </a:extLst>
          </p:cNvPr>
          <p:cNvSpPr/>
          <p:nvPr/>
        </p:nvSpPr>
        <p:spPr>
          <a:xfrm>
            <a:off x="3138345" y="3331314"/>
            <a:ext cx="269203" cy="290456"/>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EEFD747-2C9A-BBA8-664E-14575A59DC1C}"/>
              </a:ext>
            </a:extLst>
          </p:cNvPr>
          <p:cNvSpPr/>
          <p:nvPr/>
        </p:nvSpPr>
        <p:spPr>
          <a:xfrm>
            <a:off x="3138344" y="3684291"/>
            <a:ext cx="269203" cy="29045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536802-8955-4BE7-C7AC-2507BB63403C}"/>
              </a:ext>
            </a:extLst>
          </p:cNvPr>
          <p:cNvSpPr/>
          <p:nvPr/>
        </p:nvSpPr>
        <p:spPr>
          <a:xfrm>
            <a:off x="3138344" y="4079174"/>
            <a:ext cx="269203" cy="29045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3116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76AE46D-8FC3-28DF-8AF5-0AAC9AADD8E6}"/>
              </a:ext>
            </a:extLst>
          </p:cNvPr>
          <p:cNvGraphicFramePr>
            <a:graphicFrameLocks noGrp="1"/>
          </p:cNvGraphicFramePr>
          <p:nvPr>
            <p:ph idx="1"/>
            <p:extLst>
              <p:ext uri="{D42A27DB-BD31-4B8C-83A1-F6EECF244321}">
                <p14:modId xmlns:p14="http://schemas.microsoft.com/office/powerpoint/2010/main" val="2729090793"/>
              </p:ext>
            </p:extLst>
          </p:nvPr>
        </p:nvGraphicFramePr>
        <p:xfrm>
          <a:off x="546100" y="1825625"/>
          <a:ext cx="11099800" cy="3708400"/>
        </p:xfrm>
        <a:graphic>
          <a:graphicData uri="http://schemas.openxmlformats.org/drawingml/2006/table">
            <a:tbl>
              <a:tblPr firstRow="1" bandRow="1">
                <a:tableStyleId>{5C22544A-7EE6-4342-B048-85BDC9FD1C3A}</a:tableStyleId>
              </a:tblPr>
              <a:tblGrid>
                <a:gridCol w="2219960">
                  <a:extLst>
                    <a:ext uri="{9D8B030D-6E8A-4147-A177-3AD203B41FA5}">
                      <a16:colId xmlns:a16="http://schemas.microsoft.com/office/drawing/2014/main" val="970077885"/>
                    </a:ext>
                  </a:extLst>
                </a:gridCol>
                <a:gridCol w="2219960">
                  <a:extLst>
                    <a:ext uri="{9D8B030D-6E8A-4147-A177-3AD203B41FA5}">
                      <a16:colId xmlns:a16="http://schemas.microsoft.com/office/drawing/2014/main" val="3681564178"/>
                    </a:ext>
                  </a:extLst>
                </a:gridCol>
                <a:gridCol w="2219960">
                  <a:extLst>
                    <a:ext uri="{9D8B030D-6E8A-4147-A177-3AD203B41FA5}">
                      <a16:colId xmlns:a16="http://schemas.microsoft.com/office/drawing/2014/main" val="783482089"/>
                    </a:ext>
                  </a:extLst>
                </a:gridCol>
                <a:gridCol w="2219960">
                  <a:extLst>
                    <a:ext uri="{9D8B030D-6E8A-4147-A177-3AD203B41FA5}">
                      <a16:colId xmlns:a16="http://schemas.microsoft.com/office/drawing/2014/main" val="1989604357"/>
                    </a:ext>
                  </a:extLst>
                </a:gridCol>
                <a:gridCol w="2219960">
                  <a:extLst>
                    <a:ext uri="{9D8B030D-6E8A-4147-A177-3AD203B41FA5}">
                      <a16:colId xmlns:a16="http://schemas.microsoft.com/office/drawing/2014/main" val="328472407"/>
                    </a:ext>
                  </a:extLst>
                </a:gridCol>
              </a:tblGrid>
              <a:tr h="370840">
                <a:tc>
                  <a:txBody>
                    <a:bodyPr/>
                    <a:lstStyle/>
                    <a:p>
                      <a:r>
                        <a:rPr lang="en-US" dirty="0"/>
                        <a:t>Slide Title</a:t>
                      </a:r>
                    </a:p>
                  </a:txBody>
                  <a:tcPr/>
                </a:tc>
                <a:tc>
                  <a:txBody>
                    <a:bodyPr/>
                    <a:lstStyle/>
                    <a:p>
                      <a:r>
                        <a:rPr lang="en-US" dirty="0"/>
                        <a:t>Font Family</a:t>
                      </a:r>
                    </a:p>
                  </a:txBody>
                  <a:tcPr/>
                </a:tc>
                <a:tc>
                  <a:txBody>
                    <a:bodyPr/>
                    <a:lstStyle/>
                    <a:p>
                      <a:r>
                        <a:rPr lang="en-US" dirty="0"/>
                        <a:t>Style</a:t>
                      </a:r>
                    </a:p>
                  </a:txBody>
                  <a:tcPr/>
                </a:tc>
                <a:tc>
                  <a:txBody>
                    <a:bodyPr/>
                    <a:lstStyle/>
                    <a:p>
                      <a:r>
                        <a:rPr lang="en-US" dirty="0"/>
                        <a:t>Size (pts)</a:t>
                      </a:r>
                    </a:p>
                  </a:txBody>
                  <a:tcPr/>
                </a:tc>
                <a:tc>
                  <a:txBody>
                    <a:bodyPr/>
                    <a:lstStyle/>
                    <a:p>
                      <a:r>
                        <a:rPr lang="en-US" dirty="0"/>
                        <a:t>Line Spacing</a:t>
                      </a:r>
                    </a:p>
                  </a:txBody>
                  <a:tcPr/>
                </a:tc>
                <a:extLst>
                  <a:ext uri="{0D108BD9-81ED-4DB2-BD59-A6C34878D82A}">
                    <a16:rowId xmlns:a16="http://schemas.microsoft.com/office/drawing/2014/main" val="392109651"/>
                  </a:ext>
                </a:extLst>
              </a:tr>
              <a:tr h="370840">
                <a:tc>
                  <a:txBody>
                    <a:bodyPr/>
                    <a:lstStyle/>
                    <a:p>
                      <a:r>
                        <a:rPr lang="en-US" dirty="0"/>
                        <a:t>Slide Title</a:t>
                      </a:r>
                    </a:p>
                  </a:txBody>
                  <a:tcPr/>
                </a:tc>
                <a:tc>
                  <a:txBody>
                    <a:bodyPr/>
                    <a:lstStyle/>
                    <a:p>
                      <a:r>
                        <a:rPr lang="en-US" dirty="0"/>
                        <a:t>Kamerik205 8</a:t>
                      </a:r>
                    </a:p>
                  </a:txBody>
                  <a:tcPr/>
                </a:tc>
                <a:tc>
                  <a:txBody>
                    <a:bodyPr/>
                    <a:lstStyle/>
                    <a:p>
                      <a:r>
                        <a:rPr lang="en-US" dirty="0"/>
                        <a:t>Regular</a:t>
                      </a:r>
                    </a:p>
                  </a:txBody>
                  <a:tcPr/>
                </a:tc>
                <a:tc>
                  <a:txBody>
                    <a:bodyPr/>
                    <a:lstStyle/>
                    <a:p>
                      <a:r>
                        <a:rPr lang="en-US" dirty="0"/>
                        <a:t>44</a:t>
                      </a:r>
                    </a:p>
                  </a:txBody>
                  <a:tcPr/>
                </a:tc>
                <a:tc>
                  <a:txBody>
                    <a:bodyPr/>
                    <a:lstStyle/>
                    <a:p>
                      <a:r>
                        <a:rPr lang="en-US" dirty="0"/>
                        <a:t>—</a:t>
                      </a:r>
                    </a:p>
                  </a:txBody>
                  <a:tcPr/>
                </a:tc>
                <a:extLst>
                  <a:ext uri="{0D108BD9-81ED-4DB2-BD59-A6C34878D82A}">
                    <a16:rowId xmlns:a16="http://schemas.microsoft.com/office/drawing/2014/main" val="83259215"/>
                  </a:ext>
                </a:extLst>
              </a:tr>
              <a:tr h="370840">
                <a:tc>
                  <a:txBody>
                    <a:bodyPr/>
                    <a:lstStyle/>
                    <a:p>
                      <a:r>
                        <a:rPr lang="en-US" dirty="0"/>
                        <a:t>Section Header</a:t>
                      </a:r>
                    </a:p>
                  </a:txBody>
                  <a:tcPr/>
                </a:tc>
                <a:tc>
                  <a:txBody>
                    <a:bodyPr/>
                    <a:lstStyle/>
                    <a:p>
                      <a:r>
                        <a:rPr lang="en-US" dirty="0"/>
                        <a:t>Inter</a:t>
                      </a:r>
                    </a:p>
                  </a:txBody>
                  <a:tcPr/>
                </a:tc>
                <a:tc>
                  <a:txBody>
                    <a:bodyPr/>
                    <a:lstStyle/>
                    <a:p>
                      <a:r>
                        <a:rPr lang="en-US" dirty="0"/>
                        <a:t>Semibold or Bold</a:t>
                      </a:r>
                    </a:p>
                  </a:txBody>
                  <a:tcPr/>
                </a:tc>
                <a:tc>
                  <a:txBody>
                    <a:bodyPr/>
                    <a:lstStyle/>
                    <a:p>
                      <a:r>
                        <a:rPr lang="en-US" dirty="0"/>
                        <a:t>36 / 20-22</a:t>
                      </a:r>
                    </a:p>
                  </a:txBody>
                  <a:tcPr/>
                </a:tc>
                <a:tc>
                  <a:txBody>
                    <a:bodyPr/>
                    <a:lstStyle/>
                    <a:p>
                      <a:r>
                        <a:rPr lang="en-US" dirty="0"/>
                        <a:t>—</a:t>
                      </a:r>
                    </a:p>
                  </a:txBody>
                  <a:tcPr/>
                </a:tc>
                <a:extLst>
                  <a:ext uri="{0D108BD9-81ED-4DB2-BD59-A6C34878D82A}">
                    <a16:rowId xmlns:a16="http://schemas.microsoft.com/office/drawing/2014/main" val="842953871"/>
                  </a:ext>
                </a:extLst>
              </a:tr>
              <a:tr h="370840">
                <a:tc>
                  <a:txBody>
                    <a:bodyPr/>
                    <a:lstStyle/>
                    <a:p>
                      <a:r>
                        <a:rPr lang="en-US" dirty="0"/>
                        <a:t>Body Level 1</a:t>
                      </a:r>
                    </a:p>
                  </a:txBody>
                  <a:tcPr/>
                </a:tc>
                <a:tc>
                  <a:txBody>
                    <a:bodyPr/>
                    <a:lstStyle/>
                    <a:p>
                      <a:r>
                        <a:rPr lang="en-US" dirty="0"/>
                        <a:t>Inter</a:t>
                      </a:r>
                    </a:p>
                  </a:txBody>
                  <a:tcPr/>
                </a:tc>
                <a:tc>
                  <a:txBody>
                    <a:bodyPr/>
                    <a:lstStyle/>
                    <a:p>
                      <a:r>
                        <a:rPr lang="en-US" dirty="0"/>
                        <a:t>Regular</a:t>
                      </a:r>
                    </a:p>
                  </a:txBody>
                  <a:tcPr/>
                </a:tc>
                <a:tc>
                  <a:txBody>
                    <a:bodyPr/>
                    <a:lstStyle/>
                    <a:p>
                      <a:r>
                        <a:rPr lang="en-US" dirty="0"/>
                        <a:t>28</a:t>
                      </a:r>
                    </a:p>
                  </a:txBody>
                  <a:tcPr/>
                </a:tc>
                <a:tc>
                  <a:txBody>
                    <a:bodyPr/>
                    <a:lstStyle/>
                    <a:p>
                      <a:r>
                        <a:rPr lang="en-US" dirty="0"/>
                        <a:t>Multiple 1.15</a:t>
                      </a:r>
                    </a:p>
                  </a:txBody>
                  <a:tcPr/>
                </a:tc>
                <a:extLst>
                  <a:ext uri="{0D108BD9-81ED-4DB2-BD59-A6C34878D82A}">
                    <a16:rowId xmlns:a16="http://schemas.microsoft.com/office/drawing/2014/main" val="147709112"/>
                  </a:ext>
                </a:extLst>
              </a:tr>
              <a:tr h="370840">
                <a:tc>
                  <a:txBody>
                    <a:bodyPr/>
                    <a:lstStyle/>
                    <a:p>
                      <a:r>
                        <a:rPr lang="en-US" dirty="0"/>
                        <a:t>Body Level 2</a:t>
                      </a:r>
                    </a:p>
                  </a:txBody>
                  <a:tcPr/>
                </a:tc>
                <a:tc>
                  <a:txBody>
                    <a:bodyPr/>
                    <a:lstStyle/>
                    <a:p>
                      <a:r>
                        <a:rPr lang="en-US" dirty="0"/>
                        <a:t>Inter</a:t>
                      </a:r>
                    </a:p>
                  </a:txBody>
                  <a:tcPr/>
                </a:tc>
                <a:tc>
                  <a:txBody>
                    <a:bodyPr/>
                    <a:lstStyle/>
                    <a:p>
                      <a:r>
                        <a:rPr lang="en-US" dirty="0"/>
                        <a:t>Regular</a:t>
                      </a:r>
                    </a:p>
                  </a:txBody>
                  <a:tcPr/>
                </a:tc>
                <a:tc>
                  <a:txBody>
                    <a:bodyPr/>
                    <a:lstStyle/>
                    <a:p>
                      <a:r>
                        <a:rPr lang="en-US" dirty="0"/>
                        <a:t>24</a:t>
                      </a:r>
                    </a:p>
                  </a:txBody>
                  <a:tcPr/>
                </a:tc>
                <a:tc>
                  <a:txBody>
                    <a:bodyPr/>
                    <a:lstStyle/>
                    <a:p>
                      <a:r>
                        <a:rPr lang="en-US" dirty="0"/>
                        <a:t>Multiple 1.15</a:t>
                      </a:r>
                    </a:p>
                  </a:txBody>
                  <a:tcPr/>
                </a:tc>
                <a:extLst>
                  <a:ext uri="{0D108BD9-81ED-4DB2-BD59-A6C34878D82A}">
                    <a16:rowId xmlns:a16="http://schemas.microsoft.com/office/drawing/2014/main" val="3648387029"/>
                  </a:ext>
                </a:extLst>
              </a:tr>
              <a:tr h="370840">
                <a:tc>
                  <a:txBody>
                    <a:bodyPr/>
                    <a:lstStyle/>
                    <a:p>
                      <a:r>
                        <a:rPr lang="en-US" dirty="0"/>
                        <a:t>Body Level 3</a:t>
                      </a:r>
                    </a:p>
                  </a:txBody>
                  <a:tcPr/>
                </a:tc>
                <a:tc>
                  <a:txBody>
                    <a:bodyPr/>
                    <a:lstStyle/>
                    <a:p>
                      <a:r>
                        <a:rPr lang="en-US" dirty="0"/>
                        <a:t>Inter</a:t>
                      </a:r>
                    </a:p>
                  </a:txBody>
                  <a:tcPr/>
                </a:tc>
                <a:tc>
                  <a:txBody>
                    <a:bodyPr/>
                    <a:lstStyle/>
                    <a:p>
                      <a:r>
                        <a:rPr lang="en-US" dirty="0"/>
                        <a:t>Regular</a:t>
                      </a:r>
                    </a:p>
                  </a:txBody>
                  <a:tcPr/>
                </a:tc>
                <a:tc>
                  <a:txBody>
                    <a:bodyPr/>
                    <a:lstStyle/>
                    <a:p>
                      <a:r>
                        <a:rPr lang="en-US" dirty="0"/>
                        <a:t>20</a:t>
                      </a:r>
                    </a:p>
                  </a:txBody>
                  <a:tcPr/>
                </a:tc>
                <a:tc>
                  <a:txBody>
                    <a:bodyPr/>
                    <a:lstStyle/>
                    <a:p>
                      <a:r>
                        <a:rPr lang="en-US" dirty="0"/>
                        <a:t>Multiple 1.15</a:t>
                      </a:r>
                    </a:p>
                  </a:txBody>
                  <a:tcPr/>
                </a:tc>
                <a:extLst>
                  <a:ext uri="{0D108BD9-81ED-4DB2-BD59-A6C34878D82A}">
                    <a16:rowId xmlns:a16="http://schemas.microsoft.com/office/drawing/2014/main" val="3930225304"/>
                  </a:ext>
                </a:extLst>
              </a:tr>
              <a:tr h="370840">
                <a:tc>
                  <a:txBody>
                    <a:bodyPr/>
                    <a:lstStyle/>
                    <a:p>
                      <a:r>
                        <a:rPr lang="en-US" dirty="0"/>
                        <a:t>Body Level 4</a:t>
                      </a:r>
                    </a:p>
                  </a:txBody>
                  <a:tcPr/>
                </a:tc>
                <a:tc>
                  <a:txBody>
                    <a:bodyPr/>
                    <a:lstStyle/>
                    <a:p>
                      <a:r>
                        <a:rPr lang="en-US" dirty="0"/>
                        <a:t>Inter</a:t>
                      </a:r>
                    </a:p>
                  </a:txBody>
                  <a:tcPr/>
                </a:tc>
                <a:tc>
                  <a:txBody>
                    <a:bodyPr/>
                    <a:lstStyle/>
                    <a:p>
                      <a:r>
                        <a:rPr lang="en-US" dirty="0"/>
                        <a:t>Regular</a:t>
                      </a:r>
                    </a:p>
                  </a:txBody>
                  <a:tcPr/>
                </a:tc>
                <a:tc>
                  <a:txBody>
                    <a:bodyPr/>
                    <a:lstStyle/>
                    <a:p>
                      <a:r>
                        <a:rPr lang="en-US" dirty="0"/>
                        <a:t>18</a:t>
                      </a:r>
                    </a:p>
                  </a:txBody>
                  <a:tcPr/>
                </a:tc>
                <a:tc>
                  <a:txBody>
                    <a:bodyPr/>
                    <a:lstStyle/>
                    <a:p>
                      <a:r>
                        <a:rPr lang="en-US" dirty="0"/>
                        <a:t>Multiple 0.90</a:t>
                      </a:r>
                    </a:p>
                  </a:txBody>
                  <a:tcPr/>
                </a:tc>
                <a:extLst>
                  <a:ext uri="{0D108BD9-81ED-4DB2-BD59-A6C34878D82A}">
                    <a16:rowId xmlns:a16="http://schemas.microsoft.com/office/drawing/2014/main" val="1907269638"/>
                  </a:ext>
                </a:extLst>
              </a:tr>
              <a:tr h="370840">
                <a:tc>
                  <a:txBody>
                    <a:bodyPr/>
                    <a:lstStyle/>
                    <a:p>
                      <a:r>
                        <a:rPr lang="en-US" dirty="0"/>
                        <a:t>Body Level 5</a:t>
                      </a:r>
                    </a:p>
                  </a:txBody>
                  <a:tcPr/>
                </a:tc>
                <a:tc>
                  <a:txBody>
                    <a:bodyPr/>
                    <a:lstStyle/>
                    <a:p>
                      <a:r>
                        <a:rPr lang="en-US" dirty="0"/>
                        <a:t>Inter</a:t>
                      </a:r>
                    </a:p>
                  </a:txBody>
                  <a:tcPr/>
                </a:tc>
                <a:tc>
                  <a:txBody>
                    <a:bodyPr/>
                    <a:lstStyle/>
                    <a:p>
                      <a:r>
                        <a:rPr lang="en-US" dirty="0"/>
                        <a:t>Regular</a:t>
                      </a:r>
                    </a:p>
                  </a:txBody>
                  <a:tcPr/>
                </a:tc>
                <a:tc>
                  <a:txBody>
                    <a:bodyPr/>
                    <a:lstStyle/>
                    <a:p>
                      <a:r>
                        <a:rPr lang="en-US" dirty="0"/>
                        <a:t>18</a:t>
                      </a:r>
                    </a:p>
                  </a:txBody>
                  <a:tcPr/>
                </a:tc>
                <a:tc>
                  <a:txBody>
                    <a:bodyPr/>
                    <a:lstStyle/>
                    <a:p>
                      <a:r>
                        <a:rPr lang="en-US" dirty="0"/>
                        <a:t>Multiple 0.90</a:t>
                      </a:r>
                    </a:p>
                  </a:txBody>
                  <a:tcPr/>
                </a:tc>
                <a:extLst>
                  <a:ext uri="{0D108BD9-81ED-4DB2-BD59-A6C34878D82A}">
                    <a16:rowId xmlns:a16="http://schemas.microsoft.com/office/drawing/2014/main" val="2156405795"/>
                  </a:ext>
                </a:extLst>
              </a:tr>
              <a:tr h="370840">
                <a:tc>
                  <a:txBody>
                    <a:bodyPr/>
                    <a:lstStyle/>
                    <a:p>
                      <a:r>
                        <a:rPr lang="en-US" dirty="0"/>
                        <a:t>Caption/Label Text</a:t>
                      </a:r>
                    </a:p>
                  </a:txBody>
                  <a:tcPr/>
                </a:tc>
                <a:tc>
                  <a:txBody>
                    <a:bodyPr/>
                    <a:lstStyle/>
                    <a:p>
                      <a:r>
                        <a:rPr lang="en-US" dirty="0"/>
                        <a:t>Inter</a:t>
                      </a:r>
                    </a:p>
                  </a:txBody>
                  <a:tcPr/>
                </a:tc>
                <a:tc>
                  <a:txBody>
                    <a:bodyPr/>
                    <a:lstStyle/>
                    <a:p>
                      <a:r>
                        <a:rPr lang="en-US" dirty="0"/>
                        <a:t>Medium</a:t>
                      </a:r>
                    </a:p>
                  </a:txBody>
                  <a:tcPr/>
                </a:tc>
                <a:tc>
                  <a:txBody>
                    <a:bodyPr/>
                    <a:lstStyle/>
                    <a:p>
                      <a:r>
                        <a:rPr lang="en-US" dirty="0"/>
                        <a:t>16</a:t>
                      </a:r>
                    </a:p>
                  </a:txBody>
                  <a:tcPr/>
                </a:tc>
                <a:tc>
                  <a:txBody>
                    <a:bodyPr/>
                    <a:lstStyle/>
                    <a:p>
                      <a:r>
                        <a:rPr lang="en-US" dirty="0"/>
                        <a:t>—</a:t>
                      </a:r>
                    </a:p>
                  </a:txBody>
                  <a:tcPr/>
                </a:tc>
                <a:extLst>
                  <a:ext uri="{0D108BD9-81ED-4DB2-BD59-A6C34878D82A}">
                    <a16:rowId xmlns:a16="http://schemas.microsoft.com/office/drawing/2014/main" val="3419601183"/>
                  </a:ext>
                </a:extLst>
              </a:tr>
              <a:tr h="370840">
                <a:tc>
                  <a:txBody>
                    <a:bodyPr/>
                    <a:lstStyle/>
                    <a:p>
                      <a:r>
                        <a:rPr lang="en-US" dirty="0"/>
                        <a:t>Footer Text</a:t>
                      </a:r>
                    </a:p>
                  </a:txBody>
                  <a:tcPr/>
                </a:tc>
                <a:tc>
                  <a:txBody>
                    <a:bodyPr/>
                    <a:lstStyle/>
                    <a:p>
                      <a:r>
                        <a:rPr lang="en-US" dirty="0"/>
                        <a:t>Inter</a:t>
                      </a:r>
                    </a:p>
                  </a:txBody>
                  <a:tcPr/>
                </a:tc>
                <a:tc>
                  <a:txBody>
                    <a:bodyPr/>
                    <a:lstStyle/>
                    <a:p>
                      <a:r>
                        <a:rPr lang="en-US" dirty="0"/>
                        <a:t>Italic</a:t>
                      </a:r>
                    </a:p>
                  </a:txBody>
                  <a:tcPr/>
                </a:tc>
                <a:tc>
                  <a:txBody>
                    <a:bodyPr/>
                    <a:lstStyle/>
                    <a:p>
                      <a:r>
                        <a:rPr lang="en-US" dirty="0"/>
                        <a:t>14</a:t>
                      </a:r>
                    </a:p>
                  </a:txBody>
                  <a:tcPr/>
                </a:tc>
                <a:tc>
                  <a:txBody>
                    <a:bodyPr/>
                    <a:lstStyle/>
                    <a:p>
                      <a:r>
                        <a:rPr lang="en-US" dirty="0"/>
                        <a:t>—</a:t>
                      </a:r>
                    </a:p>
                  </a:txBody>
                  <a:tcPr/>
                </a:tc>
                <a:extLst>
                  <a:ext uri="{0D108BD9-81ED-4DB2-BD59-A6C34878D82A}">
                    <a16:rowId xmlns:a16="http://schemas.microsoft.com/office/drawing/2014/main" val="3548302357"/>
                  </a:ext>
                </a:extLst>
              </a:tr>
            </a:tbl>
          </a:graphicData>
        </a:graphic>
      </p:graphicFrame>
      <p:sp>
        <p:nvSpPr>
          <p:cNvPr id="3" name="Title 2">
            <a:extLst>
              <a:ext uri="{FF2B5EF4-FFF2-40B4-BE49-F238E27FC236}">
                <a16:creationId xmlns:a16="http://schemas.microsoft.com/office/drawing/2014/main" id="{830BB40E-F7D1-6513-15B8-32815538B438}"/>
              </a:ext>
            </a:extLst>
          </p:cNvPr>
          <p:cNvSpPr>
            <a:spLocks noGrp="1"/>
          </p:cNvSpPr>
          <p:nvPr>
            <p:ph type="title"/>
          </p:nvPr>
        </p:nvSpPr>
        <p:spPr/>
        <p:txBody>
          <a:bodyPr/>
          <a:lstStyle/>
          <a:p>
            <a:r>
              <a:rPr lang="en-US" dirty="0"/>
              <a:t>Theme Style Guide: Typography</a:t>
            </a:r>
          </a:p>
        </p:txBody>
      </p:sp>
    </p:spTree>
    <p:extLst>
      <p:ext uri="{BB962C8B-B14F-4D97-AF65-F5344CB8AC3E}">
        <p14:creationId xmlns:p14="http://schemas.microsoft.com/office/powerpoint/2010/main" val="1638337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84CAABB-34E6-8082-2006-326DF033536D}"/>
              </a:ext>
            </a:extLst>
          </p:cNvPr>
          <p:cNvGraphicFramePr>
            <a:graphicFrameLocks noGrp="1"/>
          </p:cNvGraphicFramePr>
          <p:nvPr>
            <p:ph idx="1"/>
            <p:extLst>
              <p:ext uri="{D42A27DB-BD31-4B8C-83A1-F6EECF244321}">
                <p14:modId xmlns:p14="http://schemas.microsoft.com/office/powerpoint/2010/main" val="880213074"/>
              </p:ext>
            </p:extLst>
          </p:nvPr>
        </p:nvGraphicFramePr>
        <p:xfrm>
          <a:off x="575991" y="1554480"/>
          <a:ext cx="11040017" cy="5054600"/>
        </p:xfrm>
        <a:graphic>
          <a:graphicData uri="http://schemas.openxmlformats.org/drawingml/2006/table">
            <a:tbl>
              <a:tblPr firstRow="1" bandRow="1">
                <a:tableStyleId>{5C22544A-7EE6-4342-B048-85BDC9FD1C3A}</a:tableStyleId>
              </a:tblPr>
              <a:tblGrid>
                <a:gridCol w="2218309">
                  <a:extLst>
                    <a:ext uri="{9D8B030D-6E8A-4147-A177-3AD203B41FA5}">
                      <a16:colId xmlns:a16="http://schemas.microsoft.com/office/drawing/2014/main" val="2542438350"/>
                    </a:ext>
                  </a:extLst>
                </a:gridCol>
                <a:gridCol w="4410854">
                  <a:extLst>
                    <a:ext uri="{9D8B030D-6E8A-4147-A177-3AD203B41FA5}">
                      <a16:colId xmlns:a16="http://schemas.microsoft.com/office/drawing/2014/main" val="2408680192"/>
                    </a:ext>
                  </a:extLst>
                </a:gridCol>
                <a:gridCol w="4410854">
                  <a:extLst>
                    <a:ext uri="{9D8B030D-6E8A-4147-A177-3AD203B41FA5}">
                      <a16:colId xmlns:a16="http://schemas.microsoft.com/office/drawing/2014/main" val="689663117"/>
                    </a:ext>
                  </a:extLst>
                </a:gridCol>
              </a:tblGrid>
              <a:tr h="370840">
                <a:tc>
                  <a:txBody>
                    <a:bodyPr/>
                    <a:lstStyle/>
                    <a:p>
                      <a:r>
                        <a:rPr lang="en-US" dirty="0"/>
                        <a:t>Layout Name</a:t>
                      </a:r>
                    </a:p>
                  </a:txBody>
                  <a:tcPr/>
                </a:tc>
                <a:tc>
                  <a:txBody>
                    <a:bodyPr/>
                    <a:lstStyle/>
                    <a:p>
                      <a:r>
                        <a:rPr lang="en-US" dirty="0"/>
                        <a:t>Use Case</a:t>
                      </a:r>
                    </a:p>
                  </a:txBody>
                  <a:tcPr/>
                </a:tc>
                <a:tc>
                  <a:txBody>
                    <a:bodyPr/>
                    <a:lstStyle/>
                    <a:p>
                      <a:r>
                        <a:rPr lang="en-US" dirty="0"/>
                        <a:t>Key Features</a:t>
                      </a:r>
                    </a:p>
                  </a:txBody>
                  <a:tcPr/>
                </a:tc>
                <a:extLst>
                  <a:ext uri="{0D108BD9-81ED-4DB2-BD59-A6C34878D82A}">
                    <a16:rowId xmlns:a16="http://schemas.microsoft.com/office/drawing/2014/main" val="3854920225"/>
                  </a:ext>
                </a:extLst>
              </a:tr>
              <a:tr h="370840">
                <a:tc>
                  <a:txBody>
                    <a:bodyPr/>
                    <a:lstStyle/>
                    <a:p>
                      <a:r>
                        <a:rPr lang="en-US" dirty="0"/>
                        <a:t>Title Slide</a:t>
                      </a:r>
                    </a:p>
                  </a:txBody>
                  <a:tcPr/>
                </a:tc>
                <a:tc>
                  <a:txBody>
                    <a:bodyPr/>
                    <a:lstStyle/>
                    <a:p>
                      <a:r>
                        <a:rPr lang="en-US" dirty="0"/>
                        <a:t>Opening slide with workshop or session title</a:t>
                      </a:r>
                    </a:p>
                  </a:txBody>
                  <a:tcPr/>
                </a:tc>
                <a:tc>
                  <a:txBody>
                    <a:bodyPr/>
                    <a:lstStyle/>
                    <a:p>
                      <a:r>
                        <a:rPr lang="en-US" dirty="0"/>
                        <a:t>Completely blank; expects a title slide image to be used</a:t>
                      </a:r>
                    </a:p>
                  </a:txBody>
                  <a:tcPr/>
                </a:tc>
                <a:extLst>
                  <a:ext uri="{0D108BD9-81ED-4DB2-BD59-A6C34878D82A}">
                    <a16:rowId xmlns:a16="http://schemas.microsoft.com/office/drawing/2014/main" val="1619816349"/>
                  </a:ext>
                </a:extLst>
              </a:tr>
              <a:tr h="370840">
                <a:tc>
                  <a:txBody>
                    <a:bodyPr/>
                    <a:lstStyle/>
                    <a:p>
                      <a:r>
                        <a:rPr lang="en-US" dirty="0"/>
                        <a:t>Title and Content</a:t>
                      </a:r>
                    </a:p>
                  </a:txBody>
                  <a:tcPr/>
                </a:tc>
                <a:tc>
                  <a:txBody>
                    <a:bodyPr/>
                    <a:lstStyle/>
                    <a:p>
                      <a:r>
                        <a:rPr lang="en-US" dirty="0"/>
                        <a:t>General-purpose slides with bullets or visuals</a:t>
                      </a:r>
                    </a:p>
                  </a:txBody>
                  <a:tcPr/>
                </a:tc>
                <a:tc>
                  <a:txBody>
                    <a:bodyPr/>
                    <a:lstStyle/>
                    <a:p>
                      <a:r>
                        <a:rPr lang="en-US" dirty="0"/>
                        <a:t>Default layout with full-width title and body placeholder</a:t>
                      </a:r>
                    </a:p>
                  </a:txBody>
                  <a:tcPr/>
                </a:tc>
                <a:extLst>
                  <a:ext uri="{0D108BD9-81ED-4DB2-BD59-A6C34878D82A}">
                    <a16:rowId xmlns:a16="http://schemas.microsoft.com/office/drawing/2014/main" val="4006731156"/>
                  </a:ext>
                </a:extLst>
              </a:tr>
              <a:tr h="370840">
                <a:tc>
                  <a:txBody>
                    <a:bodyPr/>
                    <a:lstStyle/>
                    <a:p>
                      <a:r>
                        <a:rPr lang="en-US" dirty="0"/>
                        <a:t>Section Header</a:t>
                      </a:r>
                    </a:p>
                  </a:txBody>
                  <a:tcPr/>
                </a:tc>
                <a:tc>
                  <a:txBody>
                    <a:bodyPr/>
                    <a:lstStyle/>
                    <a:p>
                      <a:r>
                        <a:rPr lang="en-US" dirty="0"/>
                        <a:t>Slide breaks for new topics or modules</a:t>
                      </a:r>
                    </a:p>
                  </a:txBody>
                  <a:tcPr/>
                </a:tc>
                <a:tc>
                  <a:txBody>
                    <a:bodyPr/>
                    <a:lstStyle/>
                    <a:p>
                      <a:r>
                        <a:rPr lang="en-US" dirty="0"/>
                        <a:t>High-emphasis title, optional supporting visual or icon</a:t>
                      </a:r>
                    </a:p>
                  </a:txBody>
                  <a:tcPr/>
                </a:tc>
                <a:extLst>
                  <a:ext uri="{0D108BD9-81ED-4DB2-BD59-A6C34878D82A}">
                    <a16:rowId xmlns:a16="http://schemas.microsoft.com/office/drawing/2014/main" val="2866185097"/>
                  </a:ext>
                </a:extLst>
              </a:tr>
              <a:tr h="370840">
                <a:tc>
                  <a:txBody>
                    <a:bodyPr/>
                    <a:lstStyle/>
                    <a:p>
                      <a:r>
                        <a:rPr lang="en-US" dirty="0"/>
                        <a:t>Two Content</a:t>
                      </a:r>
                    </a:p>
                  </a:txBody>
                  <a:tcPr/>
                </a:tc>
                <a:tc>
                  <a:txBody>
                    <a:bodyPr/>
                    <a:lstStyle/>
                    <a:p>
                      <a:r>
                        <a:rPr lang="en-US" dirty="0"/>
                        <a:t>Binary workflows or parallel breakdowns</a:t>
                      </a:r>
                    </a:p>
                  </a:txBody>
                  <a:tcPr/>
                </a:tc>
                <a:tc>
                  <a:txBody>
                    <a:bodyPr/>
                    <a:lstStyle/>
                    <a:p>
                      <a:r>
                        <a:rPr lang="en-US" dirty="0"/>
                        <a:t>Equal width placeholders</a:t>
                      </a:r>
                    </a:p>
                  </a:txBody>
                  <a:tcPr/>
                </a:tc>
                <a:extLst>
                  <a:ext uri="{0D108BD9-81ED-4DB2-BD59-A6C34878D82A}">
                    <a16:rowId xmlns:a16="http://schemas.microsoft.com/office/drawing/2014/main" val="3431593222"/>
                  </a:ext>
                </a:extLst>
              </a:tr>
              <a:tr h="370840">
                <a:tc>
                  <a:txBody>
                    <a:bodyPr/>
                    <a:lstStyle/>
                    <a:p>
                      <a:r>
                        <a:rPr lang="en-US" dirty="0"/>
                        <a:t>Comparison</a:t>
                      </a:r>
                    </a:p>
                  </a:txBody>
                  <a:tcPr/>
                </a:tc>
                <a:tc>
                  <a:txBody>
                    <a:bodyPr/>
                    <a:lstStyle/>
                    <a:p>
                      <a:r>
                        <a:rPr lang="en-US" dirty="0"/>
                        <a:t>A vs B pattern contrasts</a:t>
                      </a:r>
                    </a:p>
                  </a:txBody>
                  <a:tcPr/>
                </a:tc>
                <a:tc>
                  <a:txBody>
                    <a:bodyPr/>
                    <a:lstStyle/>
                    <a:p>
                      <a:r>
                        <a:rPr lang="en-US" dirty="0"/>
                        <a:t>Titles above each content box, divider line</a:t>
                      </a:r>
                    </a:p>
                  </a:txBody>
                  <a:tcPr/>
                </a:tc>
                <a:extLst>
                  <a:ext uri="{0D108BD9-81ED-4DB2-BD59-A6C34878D82A}">
                    <a16:rowId xmlns:a16="http://schemas.microsoft.com/office/drawing/2014/main" val="2211899790"/>
                  </a:ext>
                </a:extLst>
              </a:tr>
              <a:tr h="370840">
                <a:tc>
                  <a:txBody>
                    <a:bodyPr/>
                    <a:lstStyle/>
                    <a:p>
                      <a:r>
                        <a:rPr lang="en-US" dirty="0"/>
                        <a:t>Title Only</a:t>
                      </a:r>
                    </a:p>
                  </a:txBody>
                  <a:tcPr/>
                </a:tc>
                <a:tc>
                  <a:txBody>
                    <a:bodyPr/>
                    <a:lstStyle/>
                    <a:p>
                      <a:r>
                        <a:rPr lang="en-US" dirty="0"/>
                        <a:t>Modular storytelling grid (1-4 content boxes per row)</a:t>
                      </a:r>
                    </a:p>
                  </a:txBody>
                  <a:tcPr/>
                </a:tc>
                <a:tc>
                  <a:txBody>
                    <a:bodyPr/>
                    <a:lstStyle/>
                    <a:p>
                      <a:r>
                        <a:rPr lang="en-US" dirty="0"/>
                        <a:t>Full-width title, guide-based grid (12 columns x 9 rows) box fills in Accent 3/2</a:t>
                      </a:r>
                    </a:p>
                  </a:txBody>
                  <a:tcPr/>
                </a:tc>
                <a:extLst>
                  <a:ext uri="{0D108BD9-81ED-4DB2-BD59-A6C34878D82A}">
                    <a16:rowId xmlns:a16="http://schemas.microsoft.com/office/drawing/2014/main" val="3927379485"/>
                  </a:ext>
                </a:extLst>
              </a:tr>
              <a:tr h="370840">
                <a:tc>
                  <a:txBody>
                    <a:bodyPr/>
                    <a:lstStyle/>
                    <a:p>
                      <a:r>
                        <a:rPr lang="en-US" dirty="0"/>
                        <a:t>Blank</a:t>
                      </a:r>
                    </a:p>
                  </a:txBody>
                  <a:tcPr/>
                </a:tc>
                <a:tc>
                  <a:txBody>
                    <a:bodyPr/>
                    <a:lstStyle/>
                    <a:p>
                      <a:r>
                        <a:rPr lang="en-US" dirty="0"/>
                        <a:t>Custom slides, visual experiments, isolated visuals</a:t>
                      </a:r>
                    </a:p>
                  </a:txBody>
                  <a:tcPr/>
                </a:tc>
                <a:tc>
                  <a:txBody>
                    <a:bodyPr/>
                    <a:lstStyle/>
                    <a:p>
                      <a:r>
                        <a:rPr lang="en-US" dirty="0"/>
                        <a:t>No placeholders, use guides or freestyle design</a:t>
                      </a:r>
                    </a:p>
                  </a:txBody>
                  <a:tcPr/>
                </a:tc>
                <a:extLst>
                  <a:ext uri="{0D108BD9-81ED-4DB2-BD59-A6C34878D82A}">
                    <a16:rowId xmlns:a16="http://schemas.microsoft.com/office/drawing/2014/main" val="3898505560"/>
                  </a:ext>
                </a:extLst>
              </a:tr>
              <a:tr h="370840">
                <a:tc>
                  <a:txBody>
                    <a:bodyPr/>
                    <a:lstStyle/>
                    <a:p>
                      <a:r>
                        <a:rPr lang="en-US" dirty="0"/>
                        <a:t>Content with Caption</a:t>
                      </a:r>
                    </a:p>
                  </a:txBody>
                  <a:tcPr/>
                </a:tc>
                <a:tc>
                  <a:txBody>
                    <a:bodyPr/>
                    <a:lstStyle/>
                    <a:p>
                      <a:r>
                        <a:rPr lang="en-US" dirty="0"/>
                        <a:t>Small narrative zone + major visual zone</a:t>
                      </a:r>
                    </a:p>
                  </a:txBody>
                  <a:tcPr/>
                </a:tc>
                <a:tc>
                  <a:txBody>
                    <a:bodyPr/>
                    <a:lstStyle/>
                    <a:p>
                      <a:r>
                        <a:rPr lang="en-US" dirty="0"/>
                        <a:t>Left text zone, right content zone</a:t>
                      </a:r>
                    </a:p>
                  </a:txBody>
                  <a:tcPr/>
                </a:tc>
                <a:extLst>
                  <a:ext uri="{0D108BD9-81ED-4DB2-BD59-A6C34878D82A}">
                    <a16:rowId xmlns:a16="http://schemas.microsoft.com/office/drawing/2014/main" val="1747395652"/>
                  </a:ext>
                </a:extLst>
              </a:tr>
              <a:tr h="370840">
                <a:tc>
                  <a:txBody>
                    <a:bodyPr/>
                    <a:lstStyle/>
                    <a:p>
                      <a:r>
                        <a:rPr lang="en-US" dirty="0"/>
                        <a:t>Picture with Caption</a:t>
                      </a:r>
                    </a:p>
                  </a:txBody>
                  <a:tcPr/>
                </a:tc>
                <a:tc>
                  <a:txBody>
                    <a:bodyPr/>
                    <a:lstStyle/>
                    <a:p>
                      <a:r>
                        <a:rPr lang="en-US" dirty="0"/>
                        <a:t>Image-driven slides with descriptive labeling</a:t>
                      </a:r>
                    </a:p>
                  </a:txBody>
                  <a:tcPr/>
                </a:tc>
                <a:tc>
                  <a:txBody>
                    <a:bodyPr/>
                    <a:lstStyle/>
                    <a:p>
                      <a:r>
                        <a:rPr lang="en-US" dirty="0"/>
                        <a:t>Full-width image placeholder</a:t>
                      </a:r>
                    </a:p>
                  </a:txBody>
                  <a:tcPr/>
                </a:tc>
                <a:extLst>
                  <a:ext uri="{0D108BD9-81ED-4DB2-BD59-A6C34878D82A}">
                    <a16:rowId xmlns:a16="http://schemas.microsoft.com/office/drawing/2014/main" val="3907292946"/>
                  </a:ext>
                </a:extLst>
              </a:tr>
            </a:tbl>
          </a:graphicData>
        </a:graphic>
      </p:graphicFrame>
      <p:sp>
        <p:nvSpPr>
          <p:cNvPr id="3" name="Title 2">
            <a:extLst>
              <a:ext uri="{FF2B5EF4-FFF2-40B4-BE49-F238E27FC236}">
                <a16:creationId xmlns:a16="http://schemas.microsoft.com/office/drawing/2014/main" id="{E744457C-C127-0CD7-36DF-088F21618439}"/>
              </a:ext>
            </a:extLst>
          </p:cNvPr>
          <p:cNvSpPr>
            <a:spLocks noGrp="1"/>
          </p:cNvSpPr>
          <p:nvPr>
            <p:ph type="title"/>
          </p:nvPr>
        </p:nvSpPr>
        <p:spPr/>
        <p:txBody>
          <a:bodyPr/>
          <a:lstStyle/>
          <a:p>
            <a:r>
              <a:rPr lang="en-US" dirty="0"/>
              <a:t>Style Guide: Layouts</a:t>
            </a:r>
          </a:p>
        </p:txBody>
      </p:sp>
    </p:spTree>
    <p:extLst>
      <p:ext uri="{BB962C8B-B14F-4D97-AF65-F5344CB8AC3E}">
        <p14:creationId xmlns:p14="http://schemas.microsoft.com/office/powerpoint/2010/main" val="2583517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Secondary Content Box">
            <a:extLst>
              <a:ext uri="{FF2B5EF4-FFF2-40B4-BE49-F238E27FC236}">
                <a16:creationId xmlns:a16="http://schemas.microsoft.com/office/drawing/2014/main" id="{B5F45A80-482C-50FD-FD17-349590C7FCBC}"/>
              </a:ext>
            </a:extLst>
          </p:cNvPr>
          <p:cNvSpPr/>
          <p:nvPr/>
        </p:nvSpPr>
        <p:spPr>
          <a:xfrm>
            <a:off x="6197092" y="1477963"/>
            <a:ext cx="169703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3" name="Primary Context Box">
            <a:extLst>
              <a:ext uri="{FF2B5EF4-FFF2-40B4-BE49-F238E27FC236}">
                <a16:creationId xmlns:a16="http://schemas.microsoft.com/office/drawing/2014/main" id="{7DFD9F75-9E06-D903-1688-2CB7C1C7F426}"/>
              </a:ext>
            </a:extLst>
          </p:cNvPr>
          <p:cNvSpPr/>
          <p:nvPr/>
        </p:nvSpPr>
        <p:spPr>
          <a:xfrm>
            <a:off x="546100" y="1481138"/>
            <a:ext cx="16970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 name="Title 1">
            <a:extLst>
              <a:ext uri="{FF2B5EF4-FFF2-40B4-BE49-F238E27FC236}">
                <a16:creationId xmlns:a16="http://schemas.microsoft.com/office/drawing/2014/main" id="{FA3E76A7-4E02-8BD8-7C58-479F50482378}"/>
              </a:ext>
            </a:extLst>
          </p:cNvPr>
          <p:cNvSpPr>
            <a:spLocks noGrp="1"/>
          </p:cNvSpPr>
          <p:nvPr>
            <p:ph type="title"/>
          </p:nvPr>
        </p:nvSpPr>
        <p:spPr/>
        <p:txBody>
          <a:bodyPr/>
          <a:lstStyle/>
          <a:p>
            <a:r>
              <a:rPr lang="en-US" dirty="0"/>
              <a:t>Style Guide: Content Box Styles</a:t>
            </a:r>
          </a:p>
        </p:txBody>
      </p:sp>
      <p:sp>
        <p:nvSpPr>
          <p:cNvPr id="14" name="Primary Context Box">
            <a:extLst>
              <a:ext uri="{FF2B5EF4-FFF2-40B4-BE49-F238E27FC236}">
                <a16:creationId xmlns:a16="http://schemas.microsoft.com/office/drawing/2014/main" id="{0A6C5995-CF25-8D72-16DD-B63F11B8677F}"/>
              </a:ext>
            </a:extLst>
          </p:cNvPr>
          <p:cNvSpPr/>
          <p:nvPr/>
        </p:nvSpPr>
        <p:spPr>
          <a:xfrm>
            <a:off x="2429764" y="1477963"/>
            <a:ext cx="16970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15" name="Primary Context Box">
            <a:extLst>
              <a:ext uri="{FF2B5EF4-FFF2-40B4-BE49-F238E27FC236}">
                <a16:creationId xmlns:a16="http://schemas.microsoft.com/office/drawing/2014/main" id="{8059C03E-9EA3-BD10-78CA-67C3B95628C4}"/>
              </a:ext>
            </a:extLst>
          </p:cNvPr>
          <p:cNvSpPr/>
          <p:nvPr/>
        </p:nvSpPr>
        <p:spPr>
          <a:xfrm>
            <a:off x="4313428" y="1477963"/>
            <a:ext cx="16970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16" name="Secondary Content Box">
            <a:extLst>
              <a:ext uri="{FF2B5EF4-FFF2-40B4-BE49-F238E27FC236}">
                <a16:creationId xmlns:a16="http://schemas.microsoft.com/office/drawing/2014/main" id="{DEB8787E-F8A2-A255-5A2B-ED192C6B8A26}"/>
              </a:ext>
            </a:extLst>
          </p:cNvPr>
          <p:cNvSpPr/>
          <p:nvPr/>
        </p:nvSpPr>
        <p:spPr>
          <a:xfrm>
            <a:off x="8080756" y="1477963"/>
            <a:ext cx="169703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17" name="Secondary Content Box">
            <a:extLst>
              <a:ext uri="{FF2B5EF4-FFF2-40B4-BE49-F238E27FC236}">
                <a16:creationId xmlns:a16="http://schemas.microsoft.com/office/drawing/2014/main" id="{B6C4831D-37CC-C0B0-45F0-CCC85D99909A}"/>
              </a:ext>
            </a:extLst>
          </p:cNvPr>
          <p:cNvSpPr/>
          <p:nvPr/>
        </p:nvSpPr>
        <p:spPr>
          <a:xfrm>
            <a:off x="9964420" y="1477963"/>
            <a:ext cx="169703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18" name="Primary Context Box">
            <a:extLst>
              <a:ext uri="{FF2B5EF4-FFF2-40B4-BE49-F238E27FC236}">
                <a16:creationId xmlns:a16="http://schemas.microsoft.com/office/drawing/2014/main" id="{AC2A9430-63ED-DF69-FA4D-FB6F89FECFA4}"/>
              </a:ext>
            </a:extLst>
          </p:cNvPr>
          <p:cNvSpPr/>
          <p:nvPr/>
        </p:nvSpPr>
        <p:spPr>
          <a:xfrm>
            <a:off x="546100" y="2498726"/>
            <a:ext cx="26358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19" name="Primary Context Box">
            <a:extLst>
              <a:ext uri="{FF2B5EF4-FFF2-40B4-BE49-F238E27FC236}">
                <a16:creationId xmlns:a16="http://schemas.microsoft.com/office/drawing/2014/main" id="{A10A7F50-700C-866D-40F5-5B516BB7CF56}"/>
              </a:ext>
            </a:extLst>
          </p:cNvPr>
          <p:cNvSpPr/>
          <p:nvPr/>
        </p:nvSpPr>
        <p:spPr>
          <a:xfrm>
            <a:off x="3374580" y="2498726"/>
            <a:ext cx="26358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0" name="Secondary Content Box">
            <a:extLst>
              <a:ext uri="{FF2B5EF4-FFF2-40B4-BE49-F238E27FC236}">
                <a16:creationId xmlns:a16="http://schemas.microsoft.com/office/drawing/2014/main" id="{E4F289BA-0B7E-1051-A3F8-906A6544028E}"/>
              </a:ext>
            </a:extLst>
          </p:cNvPr>
          <p:cNvSpPr/>
          <p:nvPr/>
        </p:nvSpPr>
        <p:spPr>
          <a:xfrm>
            <a:off x="6198680" y="2498726"/>
            <a:ext cx="262210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1" name="Secondary Content Box">
            <a:extLst>
              <a:ext uri="{FF2B5EF4-FFF2-40B4-BE49-F238E27FC236}">
                <a16:creationId xmlns:a16="http://schemas.microsoft.com/office/drawing/2014/main" id="{0A4203D3-4CDB-E016-7BC3-D1F5B279AD39}"/>
              </a:ext>
            </a:extLst>
          </p:cNvPr>
          <p:cNvSpPr/>
          <p:nvPr/>
        </p:nvSpPr>
        <p:spPr>
          <a:xfrm>
            <a:off x="9018715" y="2498726"/>
            <a:ext cx="262210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2" name="Primary Context Box">
            <a:extLst>
              <a:ext uri="{FF2B5EF4-FFF2-40B4-BE49-F238E27FC236}">
                <a16:creationId xmlns:a16="http://schemas.microsoft.com/office/drawing/2014/main" id="{C63A7252-345D-86FD-8550-0452A77401E6}"/>
              </a:ext>
            </a:extLst>
          </p:cNvPr>
          <p:cNvSpPr/>
          <p:nvPr/>
        </p:nvSpPr>
        <p:spPr>
          <a:xfrm>
            <a:off x="546100" y="3519488"/>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3" name="Primary Context Box">
            <a:extLst>
              <a:ext uri="{FF2B5EF4-FFF2-40B4-BE49-F238E27FC236}">
                <a16:creationId xmlns:a16="http://schemas.microsoft.com/office/drawing/2014/main" id="{E4235445-A472-6FBF-86AC-5BEFEB67D689}"/>
              </a:ext>
            </a:extLst>
          </p:cNvPr>
          <p:cNvSpPr/>
          <p:nvPr/>
        </p:nvSpPr>
        <p:spPr>
          <a:xfrm>
            <a:off x="4318444" y="3519488"/>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4" name="Secondary Content Box">
            <a:extLst>
              <a:ext uri="{FF2B5EF4-FFF2-40B4-BE49-F238E27FC236}">
                <a16:creationId xmlns:a16="http://schemas.microsoft.com/office/drawing/2014/main" id="{F25AEEB7-1C7B-6E4A-EABF-DAE98E3E4FE2}"/>
              </a:ext>
            </a:extLst>
          </p:cNvPr>
          <p:cNvSpPr/>
          <p:nvPr/>
        </p:nvSpPr>
        <p:spPr>
          <a:xfrm>
            <a:off x="8090788" y="3519488"/>
            <a:ext cx="354939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5" name="Primary Context Box">
            <a:extLst>
              <a:ext uri="{FF2B5EF4-FFF2-40B4-BE49-F238E27FC236}">
                <a16:creationId xmlns:a16="http://schemas.microsoft.com/office/drawing/2014/main" id="{C5201E87-41E4-56C0-5D60-D42F712CF66D}"/>
              </a:ext>
            </a:extLst>
          </p:cNvPr>
          <p:cNvSpPr/>
          <p:nvPr/>
        </p:nvSpPr>
        <p:spPr>
          <a:xfrm>
            <a:off x="1490439" y="4540250"/>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6" name="Secondary Content Box">
            <a:extLst>
              <a:ext uri="{FF2B5EF4-FFF2-40B4-BE49-F238E27FC236}">
                <a16:creationId xmlns:a16="http://schemas.microsoft.com/office/drawing/2014/main" id="{3E3FC4D5-1575-012D-86F7-DBDA202C2AE2}"/>
              </a:ext>
            </a:extLst>
          </p:cNvPr>
          <p:cNvSpPr/>
          <p:nvPr/>
        </p:nvSpPr>
        <p:spPr>
          <a:xfrm>
            <a:off x="7126288" y="4540250"/>
            <a:ext cx="354939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7" name="Primary Context Box">
            <a:extLst>
              <a:ext uri="{FF2B5EF4-FFF2-40B4-BE49-F238E27FC236}">
                <a16:creationId xmlns:a16="http://schemas.microsoft.com/office/drawing/2014/main" id="{D1471FFC-91FB-9A08-F3B5-9902AB16B560}"/>
              </a:ext>
            </a:extLst>
          </p:cNvPr>
          <p:cNvSpPr/>
          <p:nvPr/>
        </p:nvSpPr>
        <p:spPr>
          <a:xfrm>
            <a:off x="4318444" y="5562600"/>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9" name="Rectangle: Rounded Corners 28">
            <a:extLst>
              <a:ext uri="{FF2B5EF4-FFF2-40B4-BE49-F238E27FC236}">
                <a16:creationId xmlns:a16="http://schemas.microsoft.com/office/drawing/2014/main" id="{686968D7-5FD9-7DE7-ACD4-2720B1E1B44E}"/>
              </a:ext>
            </a:extLst>
          </p:cNvPr>
          <p:cNvSpPr/>
          <p:nvPr/>
        </p:nvSpPr>
        <p:spPr>
          <a:xfrm>
            <a:off x="9964420" y="1477963"/>
            <a:ext cx="1697038" cy="838200"/>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30" name="Rectangle: Rounded Corners 29">
            <a:extLst>
              <a:ext uri="{FF2B5EF4-FFF2-40B4-BE49-F238E27FC236}">
                <a16:creationId xmlns:a16="http://schemas.microsoft.com/office/drawing/2014/main" id="{3E801C26-C1EF-B4AC-867C-1A348DAB7A03}"/>
              </a:ext>
            </a:extLst>
          </p:cNvPr>
          <p:cNvSpPr/>
          <p:nvPr/>
        </p:nvSpPr>
        <p:spPr>
          <a:xfrm>
            <a:off x="4313427" y="1477963"/>
            <a:ext cx="1697038" cy="838200"/>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398242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8A10B5C-0F75-79E5-96FF-83298216A440}"/>
              </a:ext>
            </a:extLst>
          </p:cNvPr>
          <p:cNvGraphicFramePr>
            <a:graphicFrameLocks noGrp="1"/>
          </p:cNvGraphicFramePr>
          <p:nvPr>
            <p:ph idx="1"/>
            <p:extLst>
              <p:ext uri="{D42A27DB-BD31-4B8C-83A1-F6EECF244321}">
                <p14:modId xmlns:p14="http://schemas.microsoft.com/office/powerpoint/2010/main" val="2786074639"/>
              </p:ext>
            </p:extLst>
          </p:nvPr>
        </p:nvGraphicFramePr>
        <p:xfrm>
          <a:off x="546100" y="1825625"/>
          <a:ext cx="11099800" cy="2291080"/>
        </p:xfrm>
        <a:graphic>
          <a:graphicData uri="http://schemas.openxmlformats.org/drawingml/2006/table">
            <a:tbl>
              <a:tblPr firstRow="1" bandRow="1">
                <a:tableStyleId>{5C22544A-7EE6-4342-B048-85BDC9FD1C3A}</a:tableStyleId>
              </a:tblPr>
              <a:tblGrid>
                <a:gridCol w="2219960">
                  <a:extLst>
                    <a:ext uri="{9D8B030D-6E8A-4147-A177-3AD203B41FA5}">
                      <a16:colId xmlns:a16="http://schemas.microsoft.com/office/drawing/2014/main" val="1574694223"/>
                    </a:ext>
                  </a:extLst>
                </a:gridCol>
                <a:gridCol w="2219960">
                  <a:extLst>
                    <a:ext uri="{9D8B030D-6E8A-4147-A177-3AD203B41FA5}">
                      <a16:colId xmlns:a16="http://schemas.microsoft.com/office/drawing/2014/main" val="1318526225"/>
                    </a:ext>
                  </a:extLst>
                </a:gridCol>
                <a:gridCol w="2219960">
                  <a:extLst>
                    <a:ext uri="{9D8B030D-6E8A-4147-A177-3AD203B41FA5}">
                      <a16:colId xmlns:a16="http://schemas.microsoft.com/office/drawing/2014/main" val="2421357009"/>
                    </a:ext>
                  </a:extLst>
                </a:gridCol>
                <a:gridCol w="2219960">
                  <a:extLst>
                    <a:ext uri="{9D8B030D-6E8A-4147-A177-3AD203B41FA5}">
                      <a16:colId xmlns:a16="http://schemas.microsoft.com/office/drawing/2014/main" val="4150466764"/>
                    </a:ext>
                  </a:extLst>
                </a:gridCol>
                <a:gridCol w="2219960">
                  <a:extLst>
                    <a:ext uri="{9D8B030D-6E8A-4147-A177-3AD203B41FA5}">
                      <a16:colId xmlns:a16="http://schemas.microsoft.com/office/drawing/2014/main" val="497724933"/>
                    </a:ext>
                  </a:extLst>
                </a:gridCol>
              </a:tblGrid>
              <a:tr h="370840">
                <a:tc>
                  <a:txBody>
                    <a:bodyPr/>
                    <a:lstStyle/>
                    <a:p>
                      <a:r>
                        <a:rPr lang="en-US" dirty="0"/>
                        <a:t>Box Type</a:t>
                      </a:r>
                    </a:p>
                  </a:txBody>
                  <a:tcPr/>
                </a:tc>
                <a:tc>
                  <a:txBody>
                    <a:bodyPr/>
                    <a:lstStyle/>
                    <a:p>
                      <a:r>
                        <a:rPr lang="en-US" dirty="0"/>
                        <a:t>Fill</a:t>
                      </a:r>
                    </a:p>
                  </a:txBody>
                  <a:tcPr/>
                </a:tc>
                <a:tc>
                  <a:txBody>
                    <a:bodyPr/>
                    <a:lstStyle/>
                    <a:p>
                      <a:r>
                        <a:rPr lang="en-US" dirty="0"/>
                        <a:t>Overlay</a:t>
                      </a:r>
                    </a:p>
                  </a:txBody>
                  <a:tcPr/>
                </a:tc>
                <a:tc>
                  <a:txBody>
                    <a:bodyPr/>
                    <a:lstStyle/>
                    <a:p>
                      <a:r>
                        <a:rPr lang="en-US" dirty="0"/>
                        <a:t>Text Color</a:t>
                      </a:r>
                    </a:p>
                  </a:txBody>
                  <a:tcPr/>
                </a:tc>
                <a:tc>
                  <a:txBody>
                    <a:bodyPr/>
                    <a:lstStyle/>
                    <a:p>
                      <a:r>
                        <a:rPr lang="en-US" dirty="0"/>
                        <a:t>Notes</a:t>
                      </a:r>
                    </a:p>
                  </a:txBody>
                  <a:tcPr/>
                </a:tc>
                <a:extLst>
                  <a:ext uri="{0D108BD9-81ED-4DB2-BD59-A6C34878D82A}">
                    <a16:rowId xmlns:a16="http://schemas.microsoft.com/office/drawing/2014/main" val="2141089410"/>
                  </a:ext>
                </a:extLst>
              </a:tr>
              <a:tr h="370840">
                <a:tc>
                  <a:txBody>
                    <a:bodyPr/>
                    <a:lstStyle/>
                    <a:p>
                      <a:r>
                        <a:rPr lang="en-US" dirty="0"/>
                        <a:t>Primary</a:t>
                      </a:r>
                    </a:p>
                  </a:txBody>
                  <a:tcPr/>
                </a:tc>
                <a:tc>
                  <a:txBody>
                    <a:bodyPr/>
                    <a:lstStyle/>
                    <a:p>
                      <a:r>
                        <a:rPr lang="en-US" dirty="0"/>
                        <a:t>Accent 3 @ 20%</a:t>
                      </a:r>
                    </a:p>
                  </a:txBody>
                  <a:tcPr/>
                </a:tc>
                <a:tc>
                  <a:txBody>
                    <a:bodyPr/>
                    <a:lstStyle/>
                    <a:p>
                      <a:r>
                        <a:rPr lang="en-US" dirty="0"/>
                        <a:t>None</a:t>
                      </a:r>
                    </a:p>
                  </a:txBody>
                  <a:tcPr/>
                </a:tc>
                <a:tc>
                  <a:txBody>
                    <a:bodyPr/>
                    <a:lstStyle/>
                    <a:p>
                      <a:r>
                        <a:rPr lang="en-US" dirty="0"/>
                        <a:t>Dark 1</a:t>
                      </a:r>
                    </a:p>
                  </a:txBody>
                  <a:tcPr/>
                </a:tc>
                <a:tc>
                  <a:txBody>
                    <a:bodyPr/>
                    <a:lstStyle/>
                    <a:p>
                      <a:r>
                        <a:rPr lang="en-US" dirty="0"/>
                        <a:t>For active context boxes</a:t>
                      </a:r>
                    </a:p>
                  </a:txBody>
                  <a:tcPr/>
                </a:tc>
                <a:extLst>
                  <a:ext uri="{0D108BD9-81ED-4DB2-BD59-A6C34878D82A}">
                    <a16:rowId xmlns:a16="http://schemas.microsoft.com/office/drawing/2014/main" val="2172972433"/>
                  </a:ext>
                </a:extLst>
              </a:tr>
              <a:tr h="370840">
                <a:tc>
                  <a:txBody>
                    <a:bodyPr/>
                    <a:lstStyle/>
                    <a:p>
                      <a:r>
                        <a:rPr lang="en-US" dirty="0"/>
                        <a:t>Secondary</a:t>
                      </a:r>
                    </a:p>
                  </a:txBody>
                  <a:tcPr/>
                </a:tc>
                <a:tc>
                  <a:txBody>
                    <a:bodyPr/>
                    <a:lstStyle/>
                    <a:p>
                      <a:r>
                        <a:rPr lang="en-US" dirty="0"/>
                        <a:t>Accent 2 @ 20%</a:t>
                      </a:r>
                    </a:p>
                  </a:txBody>
                  <a:tcPr/>
                </a:tc>
                <a:tc>
                  <a:txBody>
                    <a:bodyPr/>
                    <a:lstStyle/>
                    <a:p>
                      <a:r>
                        <a:rPr lang="en-US" dirty="0"/>
                        <a:t>None</a:t>
                      </a:r>
                    </a:p>
                  </a:txBody>
                  <a:tcPr/>
                </a:tc>
                <a:tc>
                  <a:txBody>
                    <a:bodyPr/>
                    <a:lstStyle/>
                    <a:p>
                      <a:r>
                        <a:rPr lang="en-US" dirty="0"/>
                        <a:t>Dark 1</a:t>
                      </a:r>
                    </a:p>
                  </a:txBody>
                  <a:tcPr/>
                </a:tc>
                <a:tc>
                  <a:txBody>
                    <a:bodyPr/>
                    <a:lstStyle/>
                    <a:p>
                      <a:r>
                        <a:rPr lang="en-US" dirty="0"/>
                        <a:t>Supporting or alternate boxes</a:t>
                      </a:r>
                    </a:p>
                  </a:txBody>
                  <a:tcPr/>
                </a:tc>
                <a:extLst>
                  <a:ext uri="{0D108BD9-81ED-4DB2-BD59-A6C34878D82A}">
                    <a16:rowId xmlns:a16="http://schemas.microsoft.com/office/drawing/2014/main" val="1901950008"/>
                  </a:ext>
                </a:extLst>
              </a:tr>
              <a:tr h="370840">
                <a:tc>
                  <a:txBody>
                    <a:bodyPr/>
                    <a:lstStyle/>
                    <a:p>
                      <a:r>
                        <a:rPr lang="en-US" dirty="0"/>
                        <a:t>Inactive</a:t>
                      </a:r>
                    </a:p>
                  </a:txBody>
                  <a:tcPr/>
                </a:tc>
                <a:tc>
                  <a:txBody>
                    <a:bodyPr/>
                    <a:lstStyle/>
                    <a:p>
                      <a:r>
                        <a:rPr lang="en-US" dirty="0"/>
                        <a:t>Accent 3 or 2</a:t>
                      </a:r>
                    </a:p>
                  </a:txBody>
                  <a:tcPr/>
                </a:tc>
                <a:tc>
                  <a:txBody>
                    <a:bodyPr/>
                    <a:lstStyle/>
                    <a:p>
                      <a:r>
                        <a:rPr lang="en-US" dirty="0"/>
                        <a:t>Shadow overlay @ 20% opacity</a:t>
                      </a:r>
                    </a:p>
                  </a:txBody>
                  <a:tcPr/>
                </a:tc>
                <a:tc>
                  <a:txBody>
                    <a:bodyPr/>
                    <a:lstStyle/>
                    <a:p>
                      <a:r>
                        <a:rPr lang="en-US" dirty="0"/>
                        <a:t>Accent 6</a:t>
                      </a:r>
                    </a:p>
                  </a:txBody>
                  <a:tcPr/>
                </a:tc>
                <a:tc>
                  <a:txBody>
                    <a:bodyPr/>
                    <a:lstStyle/>
                    <a:p>
                      <a:r>
                        <a:rPr lang="en-US" dirty="0"/>
                        <a:t>Creates depth, dims focus </a:t>
                      </a:r>
                      <a:r>
                        <a:rPr lang="en-US" dirty="0" err="1"/>
                        <a:t>interntionally</a:t>
                      </a:r>
                      <a:endParaRPr lang="en-US" dirty="0"/>
                    </a:p>
                  </a:txBody>
                  <a:tcPr/>
                </a:tc>
                <a:extLst>
                  <a:ext uri="{0D108BD9-81ED-4DB2-BD59-A6C34878D82A}">
                    <a16:rowId xmlns:a16="http://schemas.microsoft.com/office/drawing/2014/main" val="1018124002"/>
                  </a:ext>
                </a:extLst>
              </a:tr>
            </a:tbl>
          </a:graphicData>
        </a:graphic>
      </p:graphicFrame>
      <p:sp>
        <p:nvSpPr>
          <p:cNvPr id="3" name="Title 2">
            <a:extLst>
              <a:ext uri="{FF2B5EF4-FFF2-40B4-BE49-F238E27FC236}">
                <a16:creationId xmlns:a16="http://schemas.microsoft.com/office/drawing/2014/main" id="{5EBC1767-F74D-07B5-0B3C-CD23EF1A803C}"/>
              </a:ext>
            </a:extLst>
          </p:cNvPr>
          <p:cNvSpPr>
            <a:spLocks noGrp="1"/>
          </p:cNvSpPr>
          <p:nvPr>
            <p:ph type="title"/>
          </p:nvPr>
        </p:nvSpPr>
        <p:spPr/>
        <p:txBody>
          <a:bodyPr/>
          <a:lstStyle/>
          <a:p>
            <a:r>
              <a:rPr lang="en-US" dirty="0"/>
              <a:t>Style Guide: Content Box Fill Styling</a:t>
            </a:r>
          </a:p>
        </p:txBody>
      </p:sp>
    </p:spTree>
    <p:extLst>
      <p:ext uri="{BB962C8B-B14F-4D97-AF65-F5344CB8AC3E}">
        <p14:creationId xmlns:p14="http://schemas.microsoft.com/office/powerpoint/2010/main" val="982892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8A398-6BB4-E1B2-C725-B911387700B6}"/>
              </a:ext>
            </a:extLst>
          </p:cNvPr>
          <p:cNvSpPr>
            <a:spLocks noGrp="1"/>
          </p:cNvSpPr>
          <p:nvPr>
            <p:ph type="title"/>
          </p:nvPr>
        </p:nvSpPr>
        <p:spPr/>
        <p:txBody>
          <a:bodyPr/>
          <a:lstStyle/>
          <a:p>
            <a:r>
              <a:rPr lang="en-US" dirty="0"/>
              <a:t>Streaming</a:t>
            </a:r>
          </a:p>
        </p:txBody>
      </p:sp>
    </p:spTree>
    <p:extLst>
      <p:ext uri="{BB962C8B-B14F-4D97-AF65-F5344CB8AC3E}">
        <p14:creationId xmlns:p14="http://schemas.microsoft.com/office/powerpoint/2010/main" val="2462097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99252-CD32-4B27-60F9-9070BC611465}"/>
              </a:ext>
            </a:extLst>
          </p:cNvPr>
          <p:cNvSpPr>
            <a:spLocks noGrp="1"/>
          </p:cNvSpPr>
          <p:nvPr>
            <p:ph type="title"/>
          </p:nvPr>
        </p:nvSpPr>
        <p:spPr/>
        <p:txBody>
          <a:bodyPr/>
          <a:lstStyle/>
          <a:p>
            <a:r>
              <a:rPr lang="en-US" dirty="0"/>
              <a:t>Streaming</a:t>
            </a:r>
          </a:p>
        </p:txBody>
      </p:sp>
      <p:sp>
        <p:nvSpPr>
          <p:cNvPr id="3" name="Text Placeholder 2">
            <a:extLst>
              <a:ext uri="{FF2B5EF4-FFF2-40B4-BE49-F238E27FC236}">
                <a16:creationId xmlns:a16="http://schemas.microsoft.com/office/drawing/2014/main" id="{8875017E-4C80-F15D-0465-078C6C3E91F2}"/>
              </a:ext>
            </a:extLst>
          </p:cNvPr>
          <p:cNvSpPr>
            <a:spLocks noGrp="1"/>
          </p:cNvSpPr>
          <p:nvPr>
            <p:ph type="body" sz="quarter" idx="10"/>
          </p:nvPr>
        </p:nvSpPr>
        <p:spPr/>
        <p:txBody>
          <a:bodyPr/>
          <a:lstStyle/>
          <a:p>
            <a:r>
              <a:rPr lang="en-US" dirty="0"/>
              <a:t>Pattern 1: Event Streaming</a:t>
            </a:r>
          </a:p>
        </p:txBody>
      </p:sp>
    </p:spTree>
    <p:extLst>
      <p:ext uri="{BB962C8B-B14F-4D97-AF65-F5344CB8AC3E}">
        <p14:creationId xmlns:p14="http://schemas.microsoft.com/office/powerpoint/2010/main" val="2805776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69F86-118A-0F08-8294-CFDD5249E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C870E-27EB-E96D-6F66-0F6B90168116}"/>
              </a:ext>
            </a:extLst>
          </p:cNvPr>
          <p:cNvSpPr>
            <a:spLocks noGrp="1"/>
          </p:cNvSpPr>
          <p:nvPr>
            <p:ph type="title"/>
          </p:nvPr>
        </p:nvSpPr>
        <p:spPr/>
        <p:txBody>
          <a:bodyPr>
            <a:normAutofit/>
          </a:bodyPr>
          <a:lstStyle/>
          <a:p>
            <a:r>
              <a:rPr lang="en-US" dirty="0"/>
              <a:t>What is Event Streaming</a:t>
            </a:r>
          </a:p>
        </p:txBody>
      </p:sp>
      <p:sp>
        <p:nvSpPr>
          <p:cNvPr id="3" name="Primary Context Box">
            <a:extLst>
              <a:ext uri="{FF2B5EF4-FFF2-40B4-BE49-F238E27FC236}">
                <a16:creationId xmlns:a16="http://schemas.microsoft.com/office/drawing/2014/main" id="{F4A35A1A-F1C9-5787-D115-E3D4C9BFEDFF}"/>
              </a:ext>
            </a:extLst>
          </p:cNvPr>
          <p:cNvSpPr/>
          <p:nvPr/>
        </p:nvSpPr>
        <p:spPr>
          <a:xfrm>
            <a:off x="1178332" y="2498725"/>
            <a:ext cx="4553977" cy="185896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Continuous flow of data recorded and processed in real time</a:t>
            </a:r>
          </a:p>
        </p:txBody>
      </p:sp>
      <p:sp>
        <p:nvSpPr>
          <p:cNvPr id="4" name="Secondary Content Box">
            <a:extLst>
              <a:ext uri="{FF2B5EF4-FFF2-40B4-BE49-F238E27FC236}">
                <a16:creationId xmlns:a16="http://schemas.microsoft.com/office/drawing/2014/main" id="{49A20458-A20F-A955-6B97-5B4341DBB087}"/>
              </a:ext>
            </a:extLst>
          </p:cNvPr>
          <p:cNvSpPr/>
          <p:nvPr/>
        </p:nvSpPr>
        <p:spPr>
          <a:xfrm>
            <a:off x="6459690" y="2498724"/>
            <a:ext cx="4515485" cy="1858963"/>
          </a:xfrm>
          <a:prstGeom prst="roundRect">
            <a:avLst>
              <a:gd name="adj" fmla="val 16667"/>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Enables real-time data processing</a:t>
            </a:r>
          </a:p>
        </p:txBody>
      </p:sp>
    </p:spTree>
    <p:extLst>
      <p:ext uri="{BB962C8B-B14F-4D97-AF65-F5344CB8AC3E}">
        <p14:creationId xmlns:p14="http://schemas.microsoft.com/office/powerpoint/2010/main" val="1717261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800D9-E063-5A79-EE7F-5497A6C49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9A378-85CE-E1DC-8C2A-3AC72D3262C2}"/>
              </a:ext>
            </a:extLst>
          </p:cNvPr>
          <p:cNvSpPr>
            <a:spLocks noGrp="1"/>
          </p:cNvSpPr>
          <p:nvPr>
            <p:ph type="title"/>
          </p:nvPr>
        </p:nvSpPr>
        <p:spPr/>
        <p:txBody>
          <a:bodyPr/>
          <a:lstStyle/>
          <a:p>
            <a:r>
              <a:rPr lang="en-US" dirty="0"/>
              <a:t>Key Components &amp; Flow</a:t>
            </a:r>
          </a:p>
        </p:txBody>
      </p:sp>
      <p:cxnSp>
        <p:nvCxnSpPr>
          <p:cNvPr id="4" name="Straight Arrow Connector 3">
            <a:extLst>
              <a:ext uri="{FF2B5EF4-FFF2-40B4-BE49-F238E27FC236}">
                <a16:creationId xmlns:a16="http://schemas.microsoft.com/office/drawing/2014/main" id="{8C7CB959-49A3-14EA-C8AB-C8C8CD18A6E6}"/>
              </a:ext>
            </a:extLst>
          </p:cNvPr>
          <p:cNvCxnSpPr>
            <a:cxnSpLocks/>
            <a:stCxn id="5" idx="6"/>
            <a:endCxn id="7" idx="1"/>
          </p:cNvCxnSpPr>
          <p:nvPr/>
        </p:nvCxnSpPr>
        <p:spPr>
          <a:xfrm>
            <a:off x="2396278" y="3669427"/>
            <a:ext cx="1002060"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44628FE0-305E-229F-5324-E7AF1656B877}"/>
              </a:ext>
            </a:extLst>
          </p:cNvPr>
          <p:cNvSpPr/>
          <p:nvPr/>
        </p:nvSpPr>
        <p:spPr>
          <a:xfrm>
            <a:off x="1666653"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TextBox 5">
            <a:extLst>
              <a:ext uri="{FF2B5EF4-FFF2-40B4-BE49-F238E27FC236}">
                <a16:creationId xmlns:a16="http://schemas.microsoft.com/office/drawing/2014/main" id="{D97088CC-0596-F600-8E80-0F1FD6131E79}"/>
              </a:ext>
            </a:extLst>
          </p:cNvPr>
          <p:cNvSpPr txBox="1"/>
          <p:nvPr/>
        </p:nvSpPr>
        <p:spPr>
          <a:xfrm>
            <a:off x="1512188" y="4138390"/>
            <a:ext cx="1038554" cy="369332"/>
          </a:xfrm>
          <a:prstGeom prst="rect">
            <a:avLst/>
          </a:prstGeom>
          <a:noFill/>
        </p:spPr>
        <p:txBody>
          <a:bodyPr wrap="none" rtlCol="0">
            <a:spAutoFit/>
          </a:bodyPr>
          <a:lstStyle/>
          <a:p>
            <a:r>
              <a:rPr lang="en-US" dirty="0"/>
              <a:t>Producer</a:t>
            </a:r>
          </a:p>
        </p:txBody>
      </p:sp>
      <p:sp>
        <p:nvSpPr>
          <p:cNvPr id="7" name="Rectangle: Rounded Corners 6">
            <a:extLst>
              <a:ext uri="{FF2B5EF4-FFF2-40B4-BE49-F238E27FC236}">
                <a16:creationId xmlns:a16="http://schemas.microsoft.com/office/drawing/2014/main" id="{944CA69F-86D9-B254-5882-C997F120F7DE}"/>
              </a:ext>
            </a:extLst>
          </p:cNvPr>
          <p:cNvSpPr/>
          <p:nvPr/>
        </p:nvSpPr>
        <p:spPr>
          <a:xfrm>
            <a:off x="3398338" y="3388747"/>
            <a:ext cx="54656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8" name="TextBox 7">
            <a:extLst>
              <a:ext uri="{FF2B5EF4-FFF2-40B4-BE49-F238E27FC236}">
                <a16:creationId xmlns:a16="http://schemas.microsoft.com/office/drawing/2014/main" id="{3ED401BA-364B-3314-2031-8A1F28499FB1}"/>
              </a:ext>
            </a:extLst>
          </p:cNvPr>
          <p:cNvSpPr txBox="1"/>
          <p:nvPr/>
        </p:nvSpPr>
        <p:spPr>
          <a:xfrm>
            <a:off x="3527563" y="3484759"/>
            <a:ext cx="1452705" cy="369332"/>
          </a:xfrm>
          <a:prstGeom prst="rect">
            <a:avLst/>
          </a:prstGeom>
          <a:noFill/>
        </p:spPr>
        <p:txBody>
          <a:bodyPr wrap="none" rtlCol="0">
            <a:spAutoFit/>
          </a:bodyPr>
          <a:lstStyle/>
          <a:p>
            <a:r>
              <a:rPr lang="en-US" b="1" dirty="0">
                <a:solidFill>
                  <a:schemeClr val="bg1"/>
                </a:solidFill>
              </a:rPr>
              <a:t>Event Stream</a:t>
            </a:r>
          </a:p>
        </p:txBody>
      </p:sp>
      <p:cxnSp>
        <p:nvCxnSpPr>
          <p:cNvPr id="9" name="Straight Arrow Connector 8">
            <a:extLst>
              <a:ext uri="{FF2B5EF4-FFF2-40B4-BE49-F238E27FC236}">
                <a16:creationId xmlns:a16="http://schemas.microsoft.com/office/drawing/2014/main" id="{BD1B1970-F8B2-ABDB-4618-1251F836491F}"/>
              </a:ext>
            </a:extLst>
          </p:cNvPr>
          <p:cNvCxnSpPr>
            <a:cxnSpLocks/>
            <a:stCxn id="7" idx="3"/>
            <a:endCxn id="10" idx="2"/>
          </p:cNvCxnSpPr>
          <p:nvPr/>
        </p:nvCxnSpPr>
        <p:spPr>
          <a:xfrm flipV="1">
            <a:off x="8863941" y="3669426"/>
            <a:ext cx="1095896" cy="1222"/>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14F72421-C4EE-4945-81C6-49E4704BC407}"/>
              </a:ext>
            </a:extLst>
          </p:cNvPr>
          <p:cNvSpPr/>
          <p:nvPr/>
        </p:nvSpPr>
        <p:spPr>
          <a:xfrm>
            <a:off x="9959837" y="332593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1" name="TextBox 10">
            <a:extLst>
              <a:ext uri="{FF2B5EF4-FFF2-40B4-BE49-F238E27FC236}">
                <a16:creationId xmlns:a16="http://schemas.microsoft.com/office/drawing/2014/main" id="{C2F27B34-9ACE-8C76-ED9A-1CA1D87AE01C}"/>
              </a:ext>
            </a:extLst>
          </p:cNvPr>
          <p:cNvSpPr txBox="1"/>
          <p:nvPr/>
        </p:nvSpPr>
        <p:spPr>
          <a:xfrm>
            <a:off x="9753019" y="4138390"/>
            <a:ext cx="1143262" cy="369332"/>
          </a:xfrm>
          <a:prstGeom prst="rect">
            <a:avLst/>
          </a:prstGeom>
          <a:noFill/>
        </p:spPr>
        <p:txBody>
          <a:bodyPr wrap="none" rtlCol="0">
            <a:spAutoFit/>
          </a:bodyPr>
          <a:lstStyle/>
          <a:p>
            <a:pPr algn="ctr"/>
            <a:r>
              <a:rPr lang="en-US" dirty="0"/>
              <a:t>Consumer</a:t>
            </a:r>
          </a:p>
        </p:txBody>
      </p:sp>
      <p:pic>
        <p:nvPicPr>
          <p:cNvPr id="12" name="Picture 11" descr="Free Envelope Clipart Black And White, Download Free Envelope Clipart Black  And White png images, Free ClipArts on Clipart Library">
            <a:extLst>
              <a:ext uri="{FF2B5EF4-FFF2-40B4-BE49-F238E27FC236}">
                <a16:creationId xmlns:a16="http://schemas.microsoft.com/office/drawing/2014/main" id="{B33D887B-7742-EEC9-749A-F19628FADD1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766722" y="34850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Free Envelope Clipart Black And White, Download Free Envelope Clipart Black  And White png images, Free ClipArts on Clipart Library">
            <a:extLst>
              <a:ext uri="{FF2B5EF4-FFF2-40B4-BE49-F238E27FC236}">
                <a16:creationId xmlns:a16="http://schemas.microsoft.com/office/drawing/2014/main" id="{1762D76F-196E-5ABB-F9D1-E43394B1ED8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239274" y="34452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Free Envelope Clipart Black And White, Download Free Envelope Clipart Black  And White png images, Free ClipArts on Clipart Library">
            <a:extLst>
              <a:ext uri="{FF2B5EF4-FFF2-40B4-BE49-F238E27FC236}">
                <a16:creationId xmlns:a16="http://schemas.microsoft.com/office/drawing/2014/main" id="{4B280F95-37D4-F785-3489-099AF5B34F2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48784" y="3478430"/>
            <a:ext cx="535720" cy="369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604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42" presetClass="path" presetSubtype="0" accel="50000" decel="50000" fill="hold" nodeType="withEffect">
                                  <p:stCondLst>
                                    <p:cond delay="0"/>
                                  </p:stCondLst>
                                  <p:childTnLst>
                                    <p:animMotion origin="layout" path="M 3.125E-6 -3.7037E-6 L 0.53099 -0.00625 " pathEditMode="relative" rAng="0" ptsTypes="AA">
                                      <p:cBhvr>
                                        <p:cTn id="30" dur="2000" fill="hold"/>
                                        <p:tgtEl>
                                          <p:spTgt spid="12"/>
                                        </p:tgtEl>
                                        <p:attrNameLst>
                                          <p:attrName>ppt_x</p:attrName>
                                          <p:attrName>ppt_y</p:attrName>
                                        </p:attrNameLst>
                                      </p:cBhvr>
                                      <p:rCtr x="26549" y="-324"/>
                                    </p:animMotion>
                                  </p:childTnLst>
                                </p:cTn>
                              </p:par>
                              <p:par>
                                <p:cTn id="31" presetID="22" presetClass="entr" presetSubtype="8" fill="hold" nodeType="withEffect">
                                  <p:stCondLst>
                                    <p:cond delay="25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childTnLst>
                          </p:cTn>
                        </p:par>
                        <p:par>
                          <p:cTn id="34" fill="hold">
                            <p:stCondLst>
                              <p:cond delay="2000"/>
                            </p:stCondLst>
                            <p:childTnLst>
                              <p:par>
                                <p:cTn id="35" presetID="1" presetClass="entr" presetSubtype="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2"/>
                                        </p:tgtEl>
                                        <p:attrNameLst>
                                          <p:attrName>style.visibility</p:attrName>
                                        </p:attrNameLst>
                                      </p:cBhvr>
                                      <p:to>
                                        <p:strVal val="hidden"/>
                                      </p:to>
                                    </p:set>
                                  </p:childTnLst>
                                </p:cTn>
                              </p:par>
                              <p:par>
                                <p:cTn id="39" presetID="42" presetClass="path" presetSubtype="0" accel="50000" decel="50000" fill="hold" nodeType="withEffect">
                                  <p:stCondLst>
                                    <p:cond delay="0"/>
                                  </p:stCondLst>
                                  <p:childTnLst>
                                    <p:animMotion origin="layout" path="M 3.54167E-6 3.33333E-6 L 0.14856 0.00486 " pathEditMode="relative" rAng="0" ptsTypes="AA">
                                      <p:cBhvr>
                                        <p:cTn id="40" dur="2000" fill="hold"/>
                                        <p:tgtEl>
                                          <p:spTgt spid="13"/>
                                        </p:tgtEl>
                                        <p:attrNameLst>
                                          <p:attrName>ppt_x</p:attrName>
                                          <p:attrName>ppt_y</p:attrName>
                                        </p:attrNameLst>
                                      </p:cBhvr>
                                      <p:rCtr x="7422" y="231"/>
                                    </p:animMotion>
                                  </p:childTnLst>
                                </p:cTn>
                              </p:par>
                              <p:par>
                                <p:cTn id="41" presetID="22" presetClass="entr" presetSubtype="8" fill="hold" nodeType="withEffect">
                                  <p:stCondLst>
                                    <p:cond delay="250"/>
                                  </p:stCondLst>
                                  <p:childTnLst>
                                    <p:set>
                                      <p:cBhvr>
                                        <p:cTn id="42" dur="1" fill="hold">
                                          <p:stCondLst>
                                            <p:cond delay="0"/>
                                          </p:stCondLst>
                                        </p:cTn>
                                        <p:tgtEl>
                                          <p:spTgt spid="9"/>
                                        </p:tgtEl>
                                        <p:attrNameLst>
                                          <p:attrName>style.visibility</p:attrName>
                                        </p:attrNameLst>
                                      </p:cBhvr>
                                      <p:to>
                                        <p:strVal val="visible"/>
                                      </p:to>
                                    </p:set>
                                    <p:animEffect transition="in" filter="wipe(left)">
                                      <p:cBhvr>
                                        <p:cTn id="43" dur="500"/>
                                        <p:tgtEl>
                                          <p:spTgt spid="9"/>
                                        </p:tgtEl>
                                      </p:cBhvr>
                                    </p:animEffect>
                                  </p:childTnLst>
                                </p:cTn>
                              </p:par>
                            </p:childTnLst>
                          </p:cTn>
                        </p:par>
                        <p:par>
                          <p:cTn id="44" fill="hold">
                            <p:stCondLst>
                              <p:cond delay="4000"/>
                            </p:stCondLst>
                            <p:childTnLst>
                              <p:par>
                                <p:cTn id="45" presetID="1" presetClass="entr" presetSubtype="0"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13"/>
                                        </p:tgtEl>
                                        <p:attrNameLst>
                                          <p:attrName>style.visibility</p:attrName>
                                        </p:attrNameLst>
                                      </p:cBhvr>
                                      <p:to>
                                        <p:strVal val="hidden"/>
                                      </p:to>
                                    </p:set>
                                  </p:childTnLst>
                                </p:cTn>
                              </p:par>
                            </p:childTnLst>
                          </p:cTn>
                        </p:par>
                        <p:par>
                          <p:cTn id="49" fill="hold">
                            <p:stCondLst>
                              <p:cond delay="4000"/>
                            </p:stCondLst>
                            <p:childTnLst>
                              <p:par>
                                <p:cTn id="50" presetID="9" presetClass="exit" presetSubtype="0" fill="hold" nodeType="afterEffect">
                                  <p:stCondLst>
                                    <p:cond delay="0"/>
                                  </p:stCondLst>
                                  <p:childTnLst>
                                    <p:animEffect transition="out" filter="dissolve">
                                      <p:cBhvr>
                                        <p:cTn id="51" dur="500"/>
                                        <p:tgtEl>
                                          <p:spTgt spid="14"/>
                                        </p:tgtEl>
                                      </p:cBhvr>
                                    </p:animEffect>
                                    <p:set>
                                      <p:cBhvr>
                                        <p:cTn id="5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10"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9CD3-B632-D672-F0F8-372AAEA7D441}"/>
              </a:ext>
            </a:extLst>
          </p:cNvPr>
          <p:cNvSpPr>
            <a:spLocks noGrp="1"/>
          </p:cNvSpPr>
          <p:nvPr>
            <p:ph type="title"/>
          </p:nvPr>
        </p:nvSpPr>
        <p:spPr/>
        <p:txBody>
          <a:bodyPr/>
          <a:lstStyle/>
          <a:p>
            <a:r>
              <a:rPr lang="en-US" dirty="0"/>
              <a:t>Key Components &amp; Flow</a:t>
            </a:r>
          </a:p>
        </p:txBody>
      </p:sp>
      <p:cxnSp>
        <p:nvCxnSpPr>
          <p:cNvPr id="3" name="Straight Arrow Connector 2">
            <a:extLst>
              <a:ext uri="{FF2B5EF4-FFF2-40B4-BE49-F238E27FC236}">
                <a16:creationId xmlns:a16="http://schemas.microsoft.com/office/drawing/2014/main" id="{1F9F0125-3D0A-3A8E-6DF0-4D5EC43FA857}"/>
              </a:ext>
            </a:extLst>
          </p:cNvPr>
          <p:cNvCxnSpPr>
            <a:cxnSpLocks/>
            <a:stCxn id="4" idx="6"/>
            <a:endCxn id="6" idx="1"/>
          </p:cNvCxnSpPr>
          <p:nvPr/>
        </p:nvCxnSpPr>
        <p:spPr>
          <a:xfrm>
            <a:off x="2396278" y="3669427"/>
            <a:ext cx="1002060"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39A49B24-A99C-BD18-8430-B6224ED99503}"/>
              </a:ext>
            </a:extLst>
          </p:cNvPr>
          <p:cNvSpPr/>
          <p:nvPr/>
        </p:nvSpPr>
        <p:spPr>
          <a:xfrm>
            <a:off x="1666653"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5" name="TextBox 4">
            <a:extLst>
              <a:ext uri="{FF2B5EF4-FFF2-40B4-BE49-F238E27FC236}">
                <a16:creationId xmlns:a16="http://schemas.microsoft.com/office/drawing/2014/main" id="{39C2D542-075E-A26F-005C-8B9733CECA03}"/>
              </a:ext>
            </a:extLst>
          </p:cNvPr>
          <p:cNvSpPr txBox="1"/>
          <p:nvPr/>
        </p:nvSpPr>
        <p:spPr>
          <a:xfrm>
            <a:off x="1512188" y="4138390"/>
            <a:ext cx="1038554" cy="369332"/>
          </a:xfrm>
          <a:prstGeom prst="rect">
            <a:avLst/>
          </a:prstGeom>
          <a:noFill/>
        </p:spPr>
        <p:txBody>
          <a:bodyPr wrap="none" rtlCol="0">
            <a:spAutoFit/>
          </a:bodyPr>
          <a:lstStyle/>
          <a:p>
            <a:r>
              <a:rPr lang="en-US" dirty="0"/>
              <a:t>Producer</a:t>
            </a:r>
          </a:p>
        </p:txBody>
      </p:sp>
      <p:sp>
        <p:nvSpPr>
          <p:cNvPr id="6" name="Rectangle: Rounded Corners 5">
            <a:extLst>
              <a:ext uri="{FF2B5EF4-FFF2-40B4-BE49-F238E27FC236}">
                <a16:creationId xmlns:a16="http://schemas.microsoft.com/office/drawing/2014/main" id="{FC60F559-F9E6-32A8-E125-CCC24789CD3D}"/>
              </a:ext>
            </a:extLst>
          </p:cNvPr>
          <p:cNvSpPr/>
          <p:nvPr/>
        </p:nvSpPr>
        <p:spPr>
          <a:xfrm>
            <a:off x="3398338" y="3388747"/>
            <a:ext cx="54656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7" name="TextBox 6">
            <a:extLst>
              <a:ext uri="{FF2B5EF4-FFF2-40B4-BE49-F238E27FC236}">
                <a16:creationId xmlns:a16="http://schemas.microsoft.com/office/drawing/2014/main" id="{8E1A7C29-9DF6-6DF0-0881-E0C63CD26C69}"/>
              </a:ext>
            </a:extLst>
          </p:cNvPr>
          <p:cNvSpPr txBox="1"/>
          <p:nvPr/>
        </p:nvSpPr>
        <p:spPr>
          <a:xfrm>
            <a:off x="3527563" y="3484759"/>
            <a:ext cx="1452705" cy="369332"/>
          </a:xfrm>
          <a:prstGeom prst="rect">
            <a:avLst/>
          </a:prstGeom>
          <a:noFill/>
        </p:spPr>
        <p:txBody>
          <a:bodyPr wrap="none" rtlCol="0">
            <a:spAutoFit/>
          </a:bodyPr>
          <a:lstStyle/>
          <a:p>
            <a:r>
              <a:rPr lang="en-US" b="1" dirty="0">
                <a:solidFill>
                  <a:schemeClr val="bg1"/>
                </a:solidFill>
              </a:rPr>
              <a:t>Event Stream</a:t>
            </a:r>
          </a:p>
        </p:txBody>
      </p:sp>
      <p:cxnSp>
        <p:nvCxnSpPr>
          <p:cNvPr id="8" name="Straight Arrow Connector 7">
            <a:extLst>
              <a:ext uri="{FF2B5EF4-FFF2-40B4-BE49-F238E27FC236}">
                <a16:creationId xmlns:a16="http://schemas.microsoft.com/office/drawing/2014/main" id="{19EB1BA0-5824-E03C-18EC-DBCA59DE2A47}"/>
              </a:ext>
            </a:extLst>
          </p:cNvPr>
          <p:cNvCxnSpPr>
            <a:cxnSpLocks/>
            <a:stCxn id="6" idx="3"/>
            <a:endCxn id="9" idx="2"/>
          </p:cNvCxnSpPr>
          <p:nvPr/>
        </p:nvCxnSpPr>
        <p:spPr>
          <a:xfrm flipV="1">
            <a:off x="8863941" y="3669426"/>
            <a:ext cx="1095896" cy="1222"/>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258DF557-70B2-FABE-253D-F03F56797408}"/>
              </a:ext>
            </a:extLst>
          </p:cNvPr>
          <p:cNvSpPr/>
          <p:nvPr/>
        </p:nvSpPr>
        <p:spPr>
          <a:xfrm>
            <a:off x="9959837" y="332593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0" name="TextBox 9">
            <a:extLst>
              <a:ext uri="{FF2B5EF4-FFF2-40B4-BE49-F238E27FC236}">
                <a16:creationId xmlns:a16="http://schemas.microsoft.com/office/drawing/2014/main" id="{2B2F11F5-A634-2DF7-1E8E-8D1460038BD1}"/>
              </a:ext>
            </a:extLst>
          </p:cNvPr>
          <p:cNvSpPr txBox="1"/>
          <p:nvPr/>
        </p:nvSpPr>
        <p:spPr>
          <a:xfrm>
            <a:off x="9753019" y="4138390"/>
            <a:ext cx="1143262" cy="369332"/>
          </a:xfrm>
          <a:prstGeom prst="rect">
            <a:avLst/>
          </a:prstGeom>
          <a:noFill/>
        </p:spPr>
        <p:txBody>
          <a:bodyPr wrap="none" rtlCol="0">
            <a:spAutoFit/>
          </a:bodyPr>
          <a:lstStyle/>
          <a:p>
            <a:pPr algn="ctr"/>
            <a:r>
              <a:rPr lang="en-US" dirty="0"/>
              <a:t>Consumer</a:t>
            </a:r>
          </a:p>
        </p:txBody>
      </p:sp>
      <p:pic>
        <p:nvPicPr>
          <p:cNvPr id="11" name="Picture 10" descr="Free Envelope Clipart Black And White, Download Free Envelope Clipart Black  And White png images, Free ClipArts on Clipart Library">
            <a:extLst>
              <a:ext uri="{FF2B5EF4-FFF2-40B4-BE49-F238E27FC236}">
                <a16:creationId xmlns:a16="http://schemas.microsoft.com/office/drawing/2014/main" id="{E2D7091A-F9EB-C218-1BF0-B98632CCEE3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763605" y="34850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Free Envelope Clipart Black And White, Download Free Envelope Clipart Black  And White png images, Free ClipArts on Clipart Library">
            <a:extLst>
              <a:ext uri="{FF2B5EF4-FFF2-40B4-BE49-F238E27FC236}">
                <a16:creationId xmlns:a16="http://schemas.microsoft.com/office/drawing/2014/main" id="{F132B811-A62F-5189-72A4-4338334B30E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99120" y="348475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Free Envelope Clipart Black And White, Download Free Envelope Clipart Black  And White png images, Free ClipArts on Clipart Library">
            <a:extLst>
              <a:ext uri="{FF2B5EF4-FFF2-40B4-BE49-F238E27FC236}">
                <a16:creationId xmlns:a16="http://schemas.microsoft.com/office/drawing/2014/main" id="{E1F3FE55-D700-494A-2400-19DEDA50808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763605" y="348475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Free Envelope Clipart Black And White, Download Free Envelope Clipart Black  And White png images, Free ClipArts on Clipart Library">
            <a:extLst>
              <a:ext uri="{FF2B5EF4-FFF2-40B4-BE49-F238E27FC236}">
                <a16:creationId xmlns:a16="http://schemas.microsoft.com/office/drawing/2014/main" id="{36C411C0-0E2C-780A-EC1E-1CB1F7A66D2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598596" y="348475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Free Envelope Clipart Black And White, Download Free Envelope Clipart Black  And White png images, Free ClipArts on Clipart Library">
            <a:extLst>
              <a:ext uri="{FF2B5EF4-FFF2-40B4-BE49-F238E27FC236}">
                <a16:creationId xmlns:a16="http://schemas.microsoft.com/office/drawing/2014/main" id="{BAAE8445-B0D2-8FF7-B174-D3F1020F283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56789" y="348475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4FBA23C2-167B-CD92-64CB-80F8CE85728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99120" y="34833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D28C7148-47BF-539E-444D-E80672D9B778}"/>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757399" y="348765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Free Envelope Clipart Black And White, Download Free Envelope Clipart Black  And White png images, Free ClipArts on Clipart Library">
            <a:extLst>
              <a:ext uri="{FF2B5EF4-FFF2-40B4-BE49-F238E27FC236}">
                <a16:creationId xmlns:a16="http://schemas.microsoft.com/office/drawing/2014/main" id="{668176C0-CDB4-F530-462B-53F0809A7A2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598596" y="34833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Free Envelope Clipart Black And White, Download Free Envelope Clipart Black  And White png images, Free ClipArts on Clipart Library">
            <a:extLst>
              <a:ext uri="{FF2B5EF4-FFF2-40B4-BE49-F238E27FC236}">
                <a16:creationId xmlns:a16="http://schemas.microsoft.com/office/drawing/2014/main" id="{663CA667-35BA-EA15-E746-588C29A5546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56789" y="34833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Free Envelope Clipart Black And White, Download Free Envelope Clipart Black  And White png images, Free ClipArts on Clipart Library">
            <a:extLst>
              <a:ext uri="{FF2B5EF4-FFF2-40B4-BE49-F238E27FC236}">
                <a16:creationId xmlns:a16="http://schemas.microsoft.com/office/drawing/2014/main" id="{0E887B2B-23A1-C6FF-6354-CA809374B0D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99120" y="348194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Free Envelope Clipart Black And White, Download Free Envelope Clipart Black  And White png images, Free ClipArts on Clipart Library">
            <a:extLst>
              <a:ext uri="{FF2B5EF4-FFF2-40B4-BE49-F238E27FC236}">
                <a16:creationId xmlns:a16="http://schemas.microsoft.com/office/drawing/2014/main" id="{CFC51BEF-C05E-5D42-F5EB-2D4255B8F9A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56789" y="3495196"/>
            <a:ext cx="535720" cy="369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76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42" presetClass="path" presetSubtype="0" accel="50000" decel="50000" fill="hold" nodeType="afterEffect">
                                  <p:stCondLst>
                                    <p:cond delay="0"/>
                                  </p:stCondLst>
                                  <p:childTnLst>
                                    <p:animMotion origin="layout" path="M 3.54167E-6 -3.7037E-6 L 0.52838 -0.00023 " pathEditMode="relative" rAng="0" ptsTypes="AA">
                                      <p:cBhvr>
                                        <p:cTn id="9" dur="500" fill="hold"/>
                                        <p:tgtEl>
                                          <p:spTgt spid="11"/>
                                        </p:tgtEl>
                                        <p:attrNameLst>
                                          <p:attrName>ppt_x</p:attrName>
                                          <p:attrName>ppt_y</p:attrName>
                                        </p:attrNameLst>
                                      </p:cBhvr>
                                      <p:rCtr x="26419" y="-23"/>
                                    </p:animMotion>
                                  </p:childTnLst>
                                </p:cTn>
                              </p:par>
                            </p:childTnLst>
                          </p:cTn>
                        </p:par>
                        <p:par>
                          <p:cTn id="10" fill="hold">
                            <p:stCondLst>
                              <p:cond delay="500"/>
                            </p:stCondLst>
                            <p:childTnLst>
                              <p:par>
                                <p:cTn id="11" presetID="1" presetClass="entr" presetSubtype="0"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par>
                          <p:cTn id="18" fill="hold">
                            <p:stCondLst>
                              <p:cond delay="500"/>
                            </p:stCondLst>
                            <p:childTnLst>
                              <p:par>
                                <p:cTn id="19" presetID="42" presetClass="path" presetSubtype="0" accel="50000" decel="50000" fill="hold" nodeType="afterEffect">
                                  <p:stCondLst>
                                    <p:cond delay="0"/>
                                  </p:stCondLst>
                                  <p:childTnLst>
                                    <p:animMotion origin="layout" path="M 3.54167E-6 -3.7037E-6 L 0.47825 -3.7037E-6 " pathEditMode="relative" rAng="0" ptsTypes="AA">
                                      <p:cBhvr>
                                        <p:cTn id="20" dur="500" fill="hold"/>
                                        <p:tgtEl>
                                          <p:spTgt spid="13"/>
                                        </p:tgtEl>
                                        <p:attrNameLst>
                                          <p:attrName>ppt_x</p:attrName>
                                          <p:attrName>ppt_y</p:attrName>
                                        </p:attrNameLst>
                                      </p:cBhvr>
                                      <p:rCtr x="23906" y="0"/>
                                    </p:animMotion>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4" presetID="1" presetClass="exit" presetSubtype="0" fill="hold" nodeType="withEffect">
                                  <p:stCondLst>
                                    <p:cond delay="0"/>
                                  </p:stCondLst>
                                  <p:childTnLst>
                                    <p:set>
                                      <p:cBhvr>
                                        <p:cTn id="25" dur="1" fill="hold">
                                          <p:stCondLst>
                                            <p:cond delay="0"/>
                                          </p:stCondLst>
                                        </p:cTn>
                                        <p:tgtEl>
                                          <p:spTgt spid="13"/>
                                        </p:tgtEl>
                                        <p:attrNameLst>
                                          <p:attrName>style.visibility</p:attrName>
                                        </p:attrNameLst>
                                      </p:cBhvr>
                                      <p:to>
                                        <p:strVal val="hidden"/>
                                      </p:to>
                                    </p:set>
                                  </p:childTnLst>
                                </p:cTn>
                              </p:par>
                            </p:childTnLst>
                          </p:cTn>
                        </p:par>
                        <p:par>
                          <p:cTn id="26" fill="hold">
                            <p:stCondLst>
                              <p:cond delay="1000"/>
                            </p:stCondLst>
                            <p:childTnLst>
                              <p:par>
                                <p:cTn id="27" presetID="42" presetClass="path" presetSubtype="0" accel="50000" decel="50000" fill="hold" nodeType="afterEffect">
                                  <p:stCondLst>
                                    <p:cond delay="0"/>
                                  </p:stCondLst>
                                  <p:childTnLst>
                                    <p:animMotion origin="layout" path="M -1.04167E-6 -3.7037E-6 L 0.15248 -0.00023 " pathEditMode="relative" rAng="0" ptsTypes="AA">
                                      <p:cBhvr>
                                        <p:cTn id="28" dur="500" fill="hold"/>
                                        <p:tgtEl>
                                          <p:spTgt spid="12"/>
                                        </p:tgtEl>
                                        <p:attrNameLst>
                                          <p:attrName>ppt_x</p:attrName>
                                          <p:attrName>ppt_y</p:attrName>
                                        </p:attrNameLst>
                                      </p:cBhvr>
                                      <p:rCtr x="7617" y="-23"/>
                                    </p:animMotion>
                                  </p:childTnLst>
                                </p:cTn>
                              </p:par>
                              <p:par>
                                <p:cTn id="29" presetID="42" presetClass="path" presetSubtype="0" accel="50000" decel="50000" fill="hold" nodeType="withEffect">
                                  <p:stCondLst>
                                    <p:cond delay="250"/>
                                  </p:stCondLst>
                                  <p:childTnLst>
                                    <p:animMotion origin="layout" path="M -2.29167E-6 -3.7037E-6 L 0.04922 -3.7037E-6 " pathEditMode="relative" rAng="0" ptsTypes="AA">
                                      <p:cBhvr>
                                        <p:cTn id="30" dur="250" fill="hold"/>
                                        <p:tgtEl>
                                          <p:spTgt spid="14"/>
                                        </p:tgtEl>
                                        <p:attrNameLst>
                                          <p:attrName>ppt_x</p:attrName>
                                          <p:attrName>ppt_y</p:attrName>
                                        </p:attrNameLst>
                                      </p:cBhvr>
                                      <p:rCtr x="2461" y="0"/>
                                    </p:animMotion>
                                  </p:childTnLst>
                                </p:cTn>
                              </p:par>
                            </p:childTnLst>
                          </p:cTn>
                        </p:par>
                        <p:par>
                          <p:cTn id="31" fill="hold">
                            <p:stCondLst>
                              <p:cond delay="1500"/>
                            </p:stCondLst>
                            <p:childTnLst>
                              <p:par>
                                <p:cTn id="32" presetID="1" presetClass="entr" presetSubtype="0" fill="hold" nodeType="after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 presetClass="exit" presetSubtype="0" fill="hold" nodeType="withEffect">
                                  <p:stCondLst>
                                    <p:cond delay="0"/>
                                  </p:stCondLst>
                                  <p:childTnLst>
                                    <p:set>
                                      <p:cBhvr>
                                        <p:cTn id="35" dur="1" fill="hold">
                                          <p:stCondLst>
                                            <p:cond delay="0"/>
                                          </p:stCondLst>
                                        </p:cTn>
                                        <p:tgtEl>
                                          <p:spTgt spid="12"/>
                                        </p:tgtEl>
                                        <p:attrNameLst>
                                          <p:attrName>style.visibility</p:attrName>
                                        </p:attrNameLst>
                                      </p:cBhvr>
                                      <p:to>
                                        <p:strVal val="hidden"/>
                                      </p:to>
                                    </p:set>
                                  </p:childTnLst>
                                </p:cTn>
                              </p:par>
                              <p:par>
                                <p:cTn id="36" presetID="1"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14"/>
                                        </p:tgtEl>
                                        <p:attrNameLst>
                                          <p:attrName>style.visibility</p:attrName>
                                        </p:attrNameLst>
                                      </p:cBhvr>
                                      <p:to>
                                        <p:strVal val="hidden"/>
                                      </p:to>
                                    </p:set>
                                  </p:childTnLst>
                                </p:cTn>
                              </p:par>
                              <p:par>
                                <p:cTn id="40" presetID="1"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par>
                                <p:cTn id="42" presetID="42" presetClass="path" presetSubtype="0" accel="50000" decel="50000" fill="hold" nodeType="withEffect">
                                  <p:stCondLst>
                                    <p:cond delay="0"/>
                                  </p:stCondLst>
                                  <p:childTnLst>
                                    <p:animMotion origin="layout" path="M 4.375E-6 3.33333E-6 L 0.47916 -0.00047 " pathEditMode="relative" rAng="0" ptsTypes="AA">
                                      <p:cBhvr>
                                        <p:cTn id="43" dur="500" fill="hold"/>
                                        <p:tgtEl>
                                          <p:spTgt spid="17"/>
                                        </p:tgtEl>
                                        <p:attrNameLst>
                                          <p:attrName>ppt_x</p:attrName>
                                          <p:attrName>ppt_y</p:attrName>
                                        </p:attrNameLst>
                                      </p:cBhvr>
                                      <p:rCtr x="23958" y="-23"/>
                                    </p:animMotion>
                                  </p:childTnLst>
                                </p:cTn>
                              </p:par>
                              <p:par>
                                <p:cTn id="44" presetID="9" presetClass="exit" presetSubtype="0" fill="hold" nodeType="withEffect">
                                  <p:stCondLst>
                                    <p:cond delay="250"/>
                                  </p:stCondLst>
                                  <p:childTnLst>
                                    <p:animEffect transition="out" filter="dissolve">
                                      <p:cBhvr>
                                        <p:cTn id="45" dur="250"/>
                                        <p:tgtEl>
                                          <p:spTgt spid="15"/>
                                        </p:tgtEl>
                                      </p:cBhvr>
                                    </p:animEffect>
                                    <p:set>
                                      <p:cBhvr>
                                        <p:cTn id="46" dur="1" fill="hold">
                                          <p:stCondLst>
                                            <p:cond delay="249"/>
                                          </p:stCondLst>
                                        </p:cTn>
                                        <p:tgtEl>
                                          <p:spTgt spid="15"/>
                                        </p:tgtEl>
                                        <p:attrNameLst>
                                          <p:attrName>style.visibility</p:attrName>
                                        </p:attrNameLst>
                                      </p:cBhvr>
                                      <p:to>
                                        <p:strVal val="hidden"/>
                                      </p:to>
                                    </p:set>
                                  </p:childTnLst>
                                </p:cTn>
                              </p:par>
                            </p:childTnLst>
                          </p:cTn>
                        </p:par>
                        <p:par>
                          <p:cTn id="47" fill="hold">
                            <p:stCondLst>
                              <p:cond delay="2000"/>
                            </p:stCondLst>
                            <p:childTnLst>
                              <p:par>
                                <p:cTn id="48" presetID="1" presetClass="entr" presetSubtype="0"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childTnLst>
                          </p:cTn>
                        </p:par>
                        <p:par>
                          <p:cTn id="50" fill="hold">
                            <p:stCondLst>
                              <p:cond delay="2000"/>
                            </p:stCondLst>
                            <p:childTnLst>
                              <p:par>
                                <p:cTn id="51" presetID="1" presetClass="exit" presetSubtype="0" fill="hold" nodeType="afterEffect">
                                  <p:stCondLst>
                                    <p:cond delay="0"/>
                                  </p:stCondLst>
                                  <p:childTnLst>
                                    <p:set>
                                      <p:cBhvr>
                                        <p:cTn id="52" dur="1" fill="hold">
                                          <p:stCondLst>
                                            <p:cond delay="0"/>
                                          </p:stCondLst>
                                        </p:cTn>
                                        <p:tgtEl>
                                          <p:spTgt spid="17"/>
                                        </p:tgtEl>
                                        <p:attrNameLst>
                                          <p:attrName>style.visibility</p:attrName>
                                        </p:attrNameLst>
                                      </p:cBhvr>
                                      <p:to>
                                        <p:strVal val="hidden"/>
                                      </p:to>
                                    </p:set>
                                  </p:childTnLst>
                                </p:cTn>
                              </p:par>
                              <p:par>
                                <p:cTn id="53" presetID="42" presetClass="path" presetSubtype="0" accel="50000" decel="50000" fill="hold" nodeType="withEffect">
                                  <p:stCondLst>
                                    <p:cond delay="0"/>
                                  </p:stCondLst>
                                  <p:childTnLst>
                                    <p:animMotion origin="layout" path="M -1.04167E-6 -2.22222E-6 L 0.153 -0.00023 " pathEditMode="relative" rAng="0" ptsTypes="AA">
                                      <p:cBhvr>
                                        <p:cTn id="54" dur="250" fill="hold"/>
                                        <p:tgtEl>
                                          <p:spTgt spid="16"/>
                                        </p:tgtEl>
                                        <p:attrNameLst>
                                          <p:attrName>ppt_x</p:attrName>
                                          <p:attrName>ppt_y</p:attrName>
                                        </p:attrNameLst>
                                      </p:cBhvr>
                                      <p:rCtr x="7643" y="-23"/>
                                    </p:animMotion>
                                  </p:childTnLst>
                                </p:cTn>
                              </p:par>
                            </p:childTnLst>
                          </p:cTn>
                        </p:par>
                        <p:par>
                          <p:cTn id="55" fill="hold">
                            <p:stCondLst>
                              <p:cond delay="2250"/>
                            </p:stCondLst>
                            <p:childTnLst>
                              <p:par>
                                <p:cTn id="56" presetID="1" presetClass="entr" presetSubtype="0" fill="hold" nodeType="afterEffect">
                                  <p:stCondLst>
                                    <p:cond delay="0"/>
                                  </p:stCondLst>
                                  <p:childTnLst>
                                    <p:set>
                                      <p:cBhvr>
                                        <p:cTn id="57" dur="1" fill="hold">
                                          <p:stCondLst>
                                            <p:cond delay="0"/>
                                          </p:stCondLst>
                                        </p:cTn>
                                        <p:tgtEl>
                                          <p:spTgt spid="19"/>
                                        </p:tgtEl>
                                        <p:attrNameLst>
                                          <p:attrName>style.visibility</p:attrName>
                                        </p:attrNameLst>
                                      </p:cBhvr>
                                      <p:to>
                                        <p:strVal val="visible"/>
                                      </p:to>
                                    </p:set>
                                  </p:childTnLst>
                                </p:cTn>
                              </p:par>
                              <p:par>
                                <p:cTn id="58" presetID="1" presetClass="exit" presetSubtype="0" fill="hold" nodeType="withEffect">
                                  <p:stCondLst>
                                    <p:cond delay="0"/>
                                  </p:stCondLst>
                                  <p:childTnLst>
                                    <p:set>
                                      <p:cBhvr>
                                        <p:cTn id="59" dur="1" fill="hold">
                                          <p:stCondLst>
                                            <p:cond delay="0"/>
                                          </p:stCondLst>
                                        </p:cTn>
                                        <p:tgtEl>
                                          <p:spTgt spid="16"/>
                                        </p:tgtEl>
                                        <p:attrNameLst>
                                          <p:attrName>style.visibility</p:attrName>
                                        </p:attrNameLst>
                                      </p:cBhvr>
                                      <p:to>
                                        <p:strVal val="hidden"/>
                                      </p:to>
                                    </p:set>
                                  </p:childTnLst>
                                </p:cTn>
                              </p:par>
                              <p:par>
                                <p:cTn id="60" presetID="1" presetClass="exit" presetSubtype="0" fill="hold" nodeType="withEffect">
                                  <p:stCondLst>
                                    <p:cond delay="0"/>
                                  </p:stCondLst>
                                  <p:childTnLst>
                                    <p:set>
                                      <p:cBhvr>
                                        <p:cTn id="61" dur="1" fill="hold">
                                          <p:stCondLst>
                                            <p:cond delay="0"/>
                                          </p:stCondLst>
                                        </p:cTn>
                                        <p:tgtEl>
                                          <p:spTgt spid="16"/>
                                        </p:tgtEl>
                                        <p:attrNameLst>
                                          <p:attrName>style.visibility</p:attrName>
                                        </p:attrNameLst>
                                      </p:cBhvr>
                                      <p:to>
                                        <p:strVal val="hidden"/>
                                      </p:to>
                                    </p:set>
                                  </p:childTnLst>
                                </p:cTn>
                              </p:par>
                              <p:par>
                                <p:cTn id="62" presetID="42" presetClass="path" presetSubtype="0" accel="50000" decel="50000" fill="hold" nodeType="withEffect">
                                  <p:stCondLst>
                                    <p:cond delay="0"/>
                                  </p:stCondLst>
                                  <p:childTnLst>
                                    <p:animMotion origin="layout" path="M -2.29167E-6 -2.22222E-6 L 0.04922 0.00023 " pathEditMode="relative" rAng="0" ptsTypes="AA">
                                      <p:cBhvr>
                                        <p:cTn id="63" dur="250" fill="hold"/>
                                        <p:tgtEl>
                                          <p:spTgt spid="18"/>
                                        </p:tgtEl>
                                        <p:attrNameLst>
                                          <p:attrName>ppt_x</p:attrName>
                                          <p:attrName>ppt_y</p:attrName>
                                        </p:attrNameLst>
                                      </p:cBhvr>
                                      <p:rCtr x="2474" y="0"/>
                                    </p:animMotion>
                                  </p:childTnLst>
                                </p:cTn>
                              </p:par>
                            </p:childTnLst>
                          </p:cTn>
                        </p:par>
                        <p:par>
                          <p:cTn id="64" fill="hold">
                            <p:stCondLst>
                              <p:cond delay="2500"/>
                            </p:stCondLst>
                            <p:childTnLst>
                              <p:par>
                                <p:cTn id="65" presetID="1" presetClass="entr" presetSubtype="0" fill="hold" nodeType="after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par>
                          <p:cTn id="67" fill="hold">
                            <p:stCondLst>
                              <p:cond delay="2500"/>
                            </p:stCondLst>
                            <p:childTnLst>
                              <p:par>
                                <p:cTn id="68" presetID="1" presetClass="exit" presetSubtype="0" fill="hold" nodeType="afterEffect">
                                  <p:stCondLst>
                                    <p:cond delay="0"/>
                                  </p:stCondLst>
                                  <p:childTnLst>
                                    <p:set>
                                      <p:cBhvr>
                                        <p:cTn id="69" dur="1" fill="hold">
                                          <p:stCondLst>
                                            <p:cond delay="0"/>
                                          </p:stCondLst>
                                        </p:cTn>
                                        <p:tgtEl>
                                          <p:spTgt spid="18"/>
                                        </p:tgtEl>
                                        <p:attrNameLst>
                                          <p:attrName>style.visibility</p:attrName>
                                        </p:attrNameLst>
                                      </p:cBhvr>
                                      <p:to>
                                        <p:strVal val="hidden"/>
                                      </p:to>
                                    </p:set>
                                  </p:childTnLst>
                                </p:cTn>
                              </p:par>
                            </p:childTnLst>
                          </p:cTn>
                        </p:par>
                        <p:par>
                          <p:cTn id="70" fill="hold">
                            <p:stCondLst>
                              <p:cond delay="2500"/>
                            </p:stCondLst>
                            <p:childTnLst>
                              <p:par>
                                <p:cTn id="71" presetID="9" presetClass="exit" presetSubtype="0" fill="hold" nodeType="afterEffect">
                                  <p:stCondLst>
                                    <p:cond delay="0"/>
                                  </p:stCondLst>
                                  <p:childTnLst>
                                    <p:animEffect transition="out" filter="dissolve">
                                      <p:cBhvr>
                                        <p:cTn id="72" dur="250"/>
                                        <p:tgtEl>
                                          <p:spTgt spid="19"/>
                                        </p:tgtEl>
                                      </p:cBhvr>
                                    </p:animEffect>
                                    <p:set>
                                      <p:cBhvr>
                                        <p:cTn id="73" dur="1" fill="hold">
                                          <p:stCondLst>
                                            <p:cond delay="249"/>
                                          </p:stCondLst>
                                        </p:cTn>
                                        <p:tgtEl>
                                          <p:spTgt spid="19"/>
                                        </p:tgtEl>
                                        <p:attrNameLst>
                                          <p:attrName>style.visibility</p:attrName>
                                        </p:attrNameLst>
                                      </p:cBhvr>
                                      <p:to>
                                        <p:strVal val="hidden"/>
                                      </p:to>
                                    </p:set>
                                  </p:childTnLst>
                                </p:cTn>
                              </p:par>
                            </p:childTnLst>
                          </p:cTn>
                        </p:par>
                        <p:par>
                          <p:cTn id="74" fill="hold">
                            <p:stCondLst>
                              <p:cond delay="2750"/>
                            </p:stCondLst>
                            <p:childTnLst>
                              <p:par>
                                <p:cTn id="75" presetID="42" presetClass="path" presetSubtype="0" accel="50000" decel="50000" fill="hold" nodeType="afterEffect">
                                  <p:stCondLst>
                                    <p:cond delay="0"/>
                                  </p:stCondLst>
                                  <p:childTnLst>
                                    <p:animMotion origin="layout" path="M -1.04167E-6 -7.40741E-7 L 0.153 0.00023 " pathEditMode="relative" rAng="0" ptsTypes="AA">
                                      <p:cBhvr>
                                        <p:cTn id="76" dur="250" fill="hold"/>
                                        <p:tgtEl>
                                          <p:spTgt spid="20"/>
                                        </p:tgtEl>
                                        <p:attrNameLst>
                                          <p:attrName>ppt_x</p:attrName>
                                          <p:attrName>ppt_y</p:attrName>
                                        </p:attrNameLst>
                                      </p:cBhvr>
                                      <p:rCtr x="7643" y="0"/>
                                    </p:animMotion>
                                  </p:childTnLst>
                                </p:cTn>
                              </p:par>
                            </p:childTnLst>
                          </p:cTn>
                        </p:par>
                        <p:par>
                          <p:cTn id="77" fill="hold">
                            <p:stCondLst>
                              <p:cond delay="3000"/>
                            </p:stCondLst>
                            <p:childTnLst>
                              <p:par>
                                <p:cTn id="78" presetID="1" presetClass="entr" presetSubtype="0" fill="hold" nodeType="afterEffect">
                                  <p:stCondLst>
                                    <p:cond delay="0"/>
                                  </p:stCondLst>
                                  <p:childTnLst>
                                    <p:set>
                                      <p:cBhvr>
                                        <p:cTn id="79" dur="1" fill="hold">
                                          <p:stCondLst>
                                            <p:cond delay="0"/>
                                          </p:stCondLst>
                                        </p:cTn>
                                        <p:tgtEl>
                                          <p:spTgt spid="21"/>
                                        </p:tgtEl>
                                        <p:attrNameLst>
                                          <p:attrName>style.visibility</p:attrName>
                                        </p:attrNameLst>
                                      </p:cBhvr>
                                      <p:to>
                                        <p:strVal val="visible"/>
                                      </p:to>
                                    </p:set>
                                  </p:childTnLst>
                                </p:cTn>
                              </p:par>
                              <p:par>
                                <p:cTn id="80" presetID="1" presetClass="exit" presetSubtype="0" fill="hold" nodeType="withEffect">
                                  <p:stCondLst>
                                    <p:cond delay="0"/>
                                  </p:stCondLst>
                                  <p:childTnLst>
                                    <p:set>
                                      <p:cBhvr>
                                        <p:cTn id="81" dur="1" fill="hold">
                                          <p:stCondLst>
                                            <p:cond delay="0"/>
                                          </p:stCondLst>
                                        </p:cTn>
                                        <p:tgtEl>
                                          <p:spTgt spid="20"/>
                                        </p:tgtEl>
                                        <p:attrNameLst>
                                          <p:attrName>style.visibility</p:attrName>
                                        </p:attrNameLst>
                                      </p:cBhvr>
                                      <p:to>
                                        <p:strVal val="hidden"/>
                                      </p:to>
                                    </p:set>
                                  </p:childTnLst>
                                </p:cTn>
                              </p:par>
                            </p:childTnLst>
                          </p:cTn>
                        </p:par>
                        <p:par>
                          <p:cTn id="82" fill="hold">
                            <p:stCondLst>
                              <p:cond delay="3000"/>
                            </p:stCondLst>
                            <p:childTnLst>
                              <p:par>
                                <p:cTn id="83" presetID="9" presetClass="exit" presetSubtype="0" fill="hold" nodeType="afterEffect">
                                  <p:stCondLst>
                                    <p:cond delay="0"/>
                                  </p:stCondLst>
                                  <p:childTnLst>
                                    <p:animEffect transition="out" filter="dissolve">
                                      <p:cBhvr>
                                        <p:cTn id="84" dur="500"/>
                                        <p:tgtEl>
                                          <p:spTgt spid="21"/>
                                        </p:tgtEl>
                                      </p:cBhvr>
                                    </p:animEffect>
                                    <p:set>
                                      <p:cBhvr>
                                        <p:cTn id="85"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300B-C57B-5895-0E7B-CBBEC81487FF}"/>
              </a:ext>
            </a:extLst>
          </p:cNvPr>
          <p:cNvSpPr>
            <a:spLocks noGrp="1"/>
          </p:cNvSpPr>
          <p:nvPr>
            <p:ph type="title"/>
          </p:nvPr>
        </p:nvSpPr>
        <p:spPr/>
        <p:txBody>
          <a:bodyPr/>
          <a:lstStyle/>
          <a:p>
            <a:r>
              <a:rPr lang="en-US" dirty="0"/>
              <a:t>Benefits</a:t>
            </a:r>
          </a:p>
        </p:txBody>
      </p:sp>
      <p:sp>
        <p:nvSpPr>
          <p:cNvPr id="3" name="Primary Context Box">
            <a:extLst>
              <a:ext uri="{FF2B5EF4-FFF2-40B4-BE49-F238E27FC236}">
                <a16:creationId xmlns:a16="http://schemas.microsoft.com/office/drawing/2014/main" id="{B67CBD39-2E04-7A21-4ABE-E362B7846376}"/>
              </a:ext>
            </a:extLst>
          </p:cNvPr>
          <p:cNvSpPr/>
          <p:nvPr/>
        </p:nvSpPr>
        <p:spPr>
          <a:xfrm>
            <a:off x="552767"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Low Latency</a:t>
            </a:r>
          </a:p>
        </p:txBody>
      </p:sp>
      <p:sp>
        <p:nvSpPr>
          <p:cNvPr id="4" name="Primary Context Box">
            <a:extLst>
              <a:ext uri="{FF2B5EF4-FFF2-40B4-BE49-F238E27FC236}">
                <a16:creationId xmlns:a16="http://schemas.microsoft.com/office/drawing/2014/main" id="{C59A3531-8EC5-227B-6691-66F5D606ED95}"/>
              </a:ext>
            </a:extLst>
          </p:cNvPr>
          <p:cNvSpPr/>
          <p:nvPr/>
        </p:nvSpPr>
        <p:spPr>
          <a:xfrm>
            <a:off x="4325111"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Scalability</a:t>
            </a:r>
          </a:p>
        </p:txBody>
      </p:sp>
      <p:sp>
        <p:nvSpPr>
          <p:cNvPr id="5" name="Secondary Content Box">
            <a:extLst>
              <a:ext uri="{FF2B5EF4-FFF2-40B4-BE49-F238E27FC236}">
                <a16:creationId xmlns:a16="http://schemas.microsoft.com/office/drawing/2014/main" id="{BF8C3571-7125-F6CB-3902-33FA6B3B20FD}"/>
              </a:ext>
            </a:extLst>
          </p:cNvPr>
          <p:cNvSpPr/>
          <p:nvPr/>
        </p:nvSpPr>
        <p:spPr>
          <a:xfrm>
            <a:off x="8070215" y="246661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Flexibility</a:t>
            </a:r>
          </a:p>
        </p:txBody>
      </p:sp>
      <p:sp>
        <p:nvSpPr>
          <p:cNvPr id="11" name="Rectangle: Rounded Corners 10">
            <a:extLst>
              <a:ext uri="{FF2B5EF4-FFF2-40B4-BE49-F238E27FC236}">
                <a16:creationId xmlns:a16="http://schemas.microsoft.com/office/drawing/2014/main" id="{0B7FBF9B-2A2F-A4E6-F95B-C01704360A09}"/>
              </a:ext>
            </a:extLst>
          </p:cNvPr>
          <p:cNvSpPr/>
          <p:nvPr/>
        </p:nvSpPr>
        <p:spPr>
          <a:xfrm>
            <a:off x="552767"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4" name="Rectangle: Rounded Corners 13">
            <a:extLst>
              <a:ext uri="{FF2B5EF4-FFF2-40B4-BE49-F238E27FC236}">
                <a16:creationId xmlns:a16="http://schemas.microsoft.com/office/drawing/2014/main" id="{35595E8E-A61B-3488-8037-76E9DF84A148}"/>
              </a:ext>
            </a:extLst>
          </p:cNvPr>
          <p:cNvSpPr/>
          <p:nvPr/>
        </p:nvSpPr>
        <p:spPr>
          <a:xfrm>
            <a:off x="4325111"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290961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5F8DE-F3A3-FCC4-4C5E-D18335EEC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1AE05-DE66-9195-944F-87A06C89AFA6}"/>
              </a:ext>
            </a:extLst>
          </p:cNvPr>
          <p:cNvSpPr>
            <a:spLocks noGrp="1"/>
          </p:cNvSpPr>
          <p:nvPr>
            <p:ph type="title"/>
          </p:nvPr>
        </p:nvSpPr>
        <p:spPr/>
        <p:txBody>
          <a:bodyPr/>
          <a:lstStyle/>
          <a:p>
            <a:r>
              <a:rPr lang="en-US" dirty="0"/>
              <a:t>Drawbacks</a:t>
            </a:r>
          </a:p>
        </p:txBody>
      </p:sp>
      <p:sp>
        <p:nvSpPr>
          <p:cNvPr id="3" name="Primary Context Box">
            <a:extLst>
              <a:ext uri="{FF2B5EF4-FFF2-40B4-BE49-F238E27FC236}">
                <a16:creationId xmlns:a16="http://schemas.microsoft.com/office/drawing/2014/main" id="{5D87DA7A-9AD0-D953-D881-6010DD31A0D9}"/>
              </a:ext>
            </a:extLst>
          </p:cNvPr>
          <p:cNvSpPr/>
          <p:nvPr/>
        </p:nvSpPr>
        <p:spPr>
          <a:xfrm>
            <a:off x="551426" y="1490393"/>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Complexity</a:t>
            </a:r>
          </a:p>
        </p:txBody>
      </p:sp>
      <p:sp>
        <p:nvSpPr>
          <p:cNvPr id="11" name="Rectangle: Rounded Corners 10">
            <a:extLst>
              <a:ext uri="{FF2B5EF4-FFF2-40B4-BE49-F238E27FC236}">
                <a16:creationId xmlns:a16="http://schemas.microsoft.com/office/drawing/2014/main" id="{24B6428E-BC26-5629-3C73-B422A48773C7}"/>
              </a:ext>
            </a:extLst>
          </p:cNvPr>
          <p:cNvSpPr/>
          <p:nvPr/>
        </p:nvSpPr>
        <p:spPr>
          <a:xfrm>
            <a:off x="551426" y="1490393"/>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7" name="Rectangle: Rounded Corners 6">
            <a:extLst>
              <a:ext uri="{FF2B5EF4-FFF2-40B4-BE49-F238E27FC236}">
                <a16:creationId xmlns:a16="http://schemas.microsoft.com/office/drawing/2014/main" id="{88201752-5857-845C-8CFD-6EA77344E727}"/>
              </a:ext>
            </a:extLst>
          </p:cNvPr>
          <p:cNvSpPr/>
          <p:nvPr/>
        </p:nvSpPr>
        <p:spPr>
          <a:xfrm>
            <a:off x="4306888" y="3012710"/>
            <a:ext cx="3575685" cy="802498"/>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Infrastructure Setup</a:t>
            </a:r>
          </a:p>
        </p:txBody>
      </p:sp>
      <p:sp>
        <p:nvSpPr>
          <p:cNvPr id="8" name="Rectangle: Rounded Corners 7">
            <a:extLst>
              <a:ext uri="{FF2B5EF4-FFF2-40B4-BE49-F238E27FC236}">
                <a16:creationId xmlns:a16="http://schemas.microsoft.com/office/drawing/2014/main" id="{2C2A5931-6BDC-D442-B02B-B35E7163065F}"/>
              </a:ext>
            </a:extLst>
          </p:cNvPr>
          <p:cNvSpPr/>
          <p:nvPr/>
        </p:nvSpPr>
        <p:spPr>
          <a:xfrm>
            <a:off x="4306887" y="4008612"/>
            <a:ext cx="3575685" cy="802498"/>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Data Processing</a:t>
            </a:r>
          </a:p>
        </p:txBody>
      </p:sp>
      <p:sp>
        <p:nvSpPr>
          <p:cNvPr id="9" name="Rectangle: Rounded Corners 8">
            <a:extLst>
              <a:ext uri="{FF2B5EF4-FFF2-40B4-BE49-F238E27FC236}">
                <a16:creationId xmlns:a16="http://schemas.microsoft.com/office/drawing/2014/main" id="{A572D519-2A7A-36E8-65C0-65A0DD56A140}"/>
              </a:ext>
            </a:extLst>
          </p:cNvPr>
          <p:cNvSpPr/>
          <p:nvPr/>
        </p:nvSpPr>
        <p:spPr>
          <a:xfrm>
            <a:off x="4307840" y="5041805"/>
            <a:ext cx="3575685" cy="802498"/>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Skills Requirements</a:t>
            </a:r>
          </a:p>
        </p:txBody>
      </p:sp>
    </p:spTree>
    <p:extLst>
      <p:ext uri="{BB962C8B-B14F-4D97-AF65-F5344CB8AC3E}">
        <p14:creationId xmlns:p14="http://schemas.microsoft.com/office/powerpoint/2010/main" val="327546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5BD87-0AFE-BF32-4E56-62CD5EE67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FB345-C0D4-D693-8D8F-69C01C01C518}"/>
              </a:ext>
            </a:extLst>
          </p:cNvPr>
          <p:cNvSpPr>
            <a:spLocks noGrp="1"/>
          </p:cNvSpPr>
          <p:nvPr>
            <p:ph type="title"/>
          </p:nvPr>
        </p:nvSpPr>
        <p:spPr/>
        <p:txBody>
          <a:bodyPr/>
          <a:lstStyle/>
          <a:p>
            <a:r>
              <a:rPr lang="en-US" dirty="0"/>
              <a:t>Drawbacks</a:t>
            </a:r>
          </a:p>
        </p:txBody>
      </p:sp>
      <p:sp>
        <p:nvSpPr>
          <p:cNvPr id="3" name="Primary Context Box">
            <a:extLst>
              <a:ext uri="{FF2B5EF4-FFF2-40B4-BE49-F238E27FC236}">
                <a16:creationId xmlns:a16="http://schemas.microsoft.com/office/drawing/2014/main" id="{95303198-781E-8A77-4A78-B86AAB7AF8ED}"/>
              </a:ext>
            </a:extLst>
          </p:cNvPr>
          <p:cNvSpPr/>
          <p:nvPr/>
        </p:nvSpPr>
        <p:spPr>
          <a:xfrm>
            <a:off x="551426" y="1490393"/>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Complexity</a:t>
            </a:r>
          </a:p>
        </p:txBody>
      </p:sp>
      <p:sp>
        <p:nvSpPr>
          <p:cNvPr id="4" name="Primary Context Box">
            <a:extLst>
              <a:ext uri="{FF2B5EF4-FFF2-40B4-BE49-F238E27FC236}">
                <a16:creationId xmlns:a16="http://schemas.microsoft.com/office/drawing/2014/main" id="{720F4C92-E6A9-6D09-BAB5-428C2FA8D317}"/>
              </a:ext>
            </a:extLst>
          </p:cNvPr>
          <p:cNvSpPr/>
          <p:nvPr/>
        </p:nvSpPr>
        <p:spPr>
          <a:xfrm>
            <a:off x="4308157" y="1490393"/>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Latency</a:t>
            </a:r>
          </a:p>
        </p:txBody>
      </p:sp>
      <p:sp>
        <p:nvSpPr>
          <p:cNvPr id="11" name="Rectangle: Rounded Corners 10">
            <a:extLst>
              <a:ext uri="{FF2B5EF4-FFF2-40B4-BE49-F238E27FC236}">
                <a16:creationId xmlns:a16="http://schemas.microsoft.com/office/drawing/2014/main" id="{39BAAC20-4C25-64FD-6B6F-C086D5BAB82C}"/>
              </a:ext>
            </a:extLst>
          </p:cNvPr>
          <p:cNvSpPr/>
          <p:nvPr/>
        </p:nvSpPr>
        <p:spPr>
          <a:xfrm>
            <a:off x="551426" y="1490393"/>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7" name="Rectangle: Rounded Corners 6">
            <a:extLst>
              <a:ext uri="{FF2B5EF4-FFF2-40B4-BE49-F238E27FC236}">
                <a16:creationId xmlns:a16="http://schemas.microsoft.com/office/drawing/2014/main" id="{DC4EA64F-1AE3-FF3E-3E41-D986F124503B}"/>
              </a:ext>
            </a:extLst>
          </p:cNvPr>
          <p:cNvSpPr/>
          <p:nvPr/>
        </p:nvSpPr>
        <p:spPr>
          <a:xfrm>
            <a:off x="4306888" y="3012710"/>
            <a:ext cx="3575685" cy="802498"/>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Resource Intensive</a:t>
            </a:r>
          </a:p>
        </p:txBody>
      </p:sp>
      <p:sp>
        <p:nvSpPr>
          <p:cNvPr id="8" name="Rectangle: Rounded Corners 7">
            <a:extLst>
              <a:ext uri="{FF2B5EF4-FFF2-40B4-BE49-F238E27FC236}">
                <a16:creationId xmlns:a16="http://schemas.microsoft.com/office/drawing/2014/main" id="{2FE96EF1-6BB3-B73E-9C47-5B6A6AF50E4B}"/>
              </a:ext>
            </a:extLst>
          </p:cNvPr>
          <p:cNvSpPr/>
          <p:nvPr/>
        </p:nvSpPr>
        <p:spPr>
          <a:xfrm>
            <a:off x="4306887" y="4008612"/>
            <a:ext cx="3575685" cy="802498"/>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Scalability Challenges</a:t>
            </a:r>
          </a:p>
        </p:txBody>
      </p:sp>
      <p:sp>
        <p:nvSpPr>
          <p:cNvPr id="9" name="Rectangle: Rounded Corners 8">
            <a:extLst>
              <a:ext uri="{FF2B5EF4-FFF2-40B4-BE49-F238E27FC236}">
                <a16:creationId xmlns:a16="http://schemas.microsoft.com/office/drawing/2014/main" id="{7E50C99F-5B02-D0AE-7989-0412458A61D0}"/>
              </a:ext>
            </a:extLst>
          </p:cNvPr>
          <p:cNvSpPr/>
          <p:nvPr/>
        </p:nvSpPr>
        <p:spPr>
          <a:xfrm>
            <a:off x="4307840" y="5041805"/>
            <a:ext cx="3575685" cy="802498"/>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Latency Management</a:t>
            </a:r>
          </a:p>
        </p:txBody>
      </p:sp>
    </p:spTree>
    <p:extLst>
      <p:ext uri="{BB962C8B-B14F-4D97-AF65-F5344CB8AC3E}">
        <p14:creationId xmlns:p14="http://schemas.microsoft.com/office/powerpoint/2010/main" val="265890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1AD48-C036-C625-77C7-AA404F062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1C547-CF3B-8E98-E724-335B26D6E21A}"/>
              </a:ext>
            </a:extLst>
          </p:cNvPr>
          <p:cNvSpPr>
            <a:spLocks noGrp="1"/>
          </p:cNvSpPr>
          <p:nvPr>
            <p:ph type="title"/>
          </p:nvPr>
        </p:nvSpPr>
        <p:spPr/>
        <p:txBody>
          <a:bodyPr/>
          <a:lstStyle/>
          <a:p>
            <a:r>
              <a:rPr lang="en-US" dirty="0"/>
              <a:t>Drawbacks</a:t>
            </a:r>
          </a:p>
        </p:txBody>
      </p:sp>
      <p:sp>
        <p:nvSpPr>
          <p:cNvPr id="3" name="Primary Context Box">
            <a:extLst>
              <a:ext uri="{FF2B5EF4-FFF2-40B4-BE49-F238E27FC236}">
                <a16:creationId xmlns:a16="http://schemas.microsoft.com/office/drawing/2014/main" id="{518C5458-20DE-A76B-AEDC-BE49A86FAA16}"/>
              </a:ext>
            </a:extLst>
          </p:cNvPr>
          <p:cNvSpPr/>
          <p:nvPr/>
        </p:nvSpPr>
        <p:spPr>
          <a:xfrm>
            <a:off x="551426" y="1490393"/>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Complexity</a:t>
            </a:r>
          </a:p>
        </p:txBody>
      </p:sp>
      <p:sp>
        <p:nvSpPr>
          <p:cNvPr id="4" name="Primary Context Box">
            <a:extLst>
              <a:ext uri="{FF2B5EF4-FFF2-40B4-BE49-F238E27FC236}">
                <a16:creationId xmlns:a16="http://schemas.microsoft.com/office/drawing/2014/main" id="{9F1814D5-6A86-6C2F-75D1-892506C16493}"/>
              </a:ext>
            </a:extLst>
          </p:cNvPr>
          <p:cNvSpPr/>
          <p:nvPr/>
        </p:nvSpPr>
        <p:spPr>
          <a:xfrm>
            <a:off x="4308157" y="1490393"/>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Latency</a:t>
            </a:r>
          </a:p>
        </p:txBody>
      </p:sp>
      <p:sp>
        <p:nvSpPr>
          <p:cNvPr id="11" name="Rectangle: Rounded Corners 10">
            <a:extLst>
              <a:ext uri="{FF2B5EF4-FFF2-40B4-BE49-F238E27FC236}">
                <a16:creationId xmlns:a16="http://schemas.microsoft.com/office/drawing/2014/main" id="{6B6280D7-FB0C-3941-3E2D-0E9DBCF169EF}"/>
              </a:ext>
            </a:extLst>
          </p:cNvPr>
          <p:cNvSpPr/>
          <p:nvPr/>
        </p:nvSpPr>
        <p:spPr>
          <a:xfrm>
            <a:off x="551426" y="1490393"/>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5" name="Rectangle: Rounded Corners 4">
            <a:extLst>
              <a:ext uri="{FF2B5EF4-FFF2-40B4-BE49-F238E27FC236}">
                <a16:creationId xmlns:a16="http://schemas.microsoft.com/office/drawing/2014/main" id="{3E127F89-92CC-527F-D706-68A4BD523F48}"/>
              </a:ext>
            </a:extLst>
          </p:cNvPr>
          <p:cNvSpPr/>
          <p:nvPr/>
        </p:nvSpPr>
        <p:spPr>
          <a:xfrm>
            <a:off x="4308157" y="1490393"/>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6" name="Rectangle: Rounded Corners 5">
            <a:extLst>
              <a:ext uri="{FF2B5EF4-FFF2-40B4-BE49-F238E27FC236}">
                <a16:creationId xmlns:a16="http://schemas.microsoft.com/office/drawing/2014/main" id="{82019216-4C1A-A011-C895-583333B9BA00}"/>
              </a:ext>
            </a:extLst>
          </p:cNvPr>
          <p:cNvSpPr/>
          <p:nvPr/>
        </p:nvSpPr>
        <p:spPr>
          <a:xfrm>
            <a:off x="8064888" y="1490393"/>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False Positives</a:t>
            </a:r>
          </a:p>
        </p:txBody>
      </p:sp>
      <p:sp>
        <p:nvSpPr>
          <p:cNvPr id="7" name="Rectangle: Rounded Corners 6">
            <a:extLst>
              <a:ext uri="{FF2B5EF4-FFF2-40B4-BE49-F238E27FC236}">
                <a16:creationId xmlns:a16="http://schemas.microsoft.com/office/drawing/2014/main" id="{DA76D3F7-627B-FA30-54F4-39C4CBF0F643}"/>
              </a:ext>
            </a:extLst>
          </p:cNvPr>
          <p:cNvSpPr/>
          <p:nvPr/>
        </p:nvSpPr>
        <p:spPr>
          <a:xfrm>
            <a:off x="4306888" y="3012710"/>
            <a:ext cx="3575685" cy="802498"/>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Data Loss Risk</a:t>
            </a:r>
          </a:p>
        </p:txBody>
      </p:sp>
      <p:sp>
        <p:nvSpPr>
          <p:cNvPr id="8" name="Rectangle: Rounded Corners 7">
            <a:extLst>
              <a:ext uri="{FF2B5EF4-FFF2-40B4-BE49-F238E27FC236}">
                <a16:creationId xmlns:a16="http://schemas.microsoft.com/office/drawing/2014/main" id="{1CD40A2B-470F-5CC7-4E47-93452B202887}"/>
              </a:ext>
            </a:extLst>
          </p:cNvPr>
          <p:cNvSpPr/>
          <p:nvPr/>
        </p:nvSpPr>
        <p:spPr>
          <a:xfrm>
            <a:off x="4306887" y="4008612"/>
            <a:ext cx="3575685" cy="802498"/>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Event Ordering</a:t>
            </a:r>
          </a:p>
        </p:txBody>
      </p:sp>
      <p:sp>
        <p:nvSpPr>
          <p:cNvPr id="9" name="Rectangle: Rounded Corners 8">
            <a:extLst>
              <a:ext uri="{FF2B5EF4-FFF2-40B4-BE49-F238E27FC236}">
                <a16:creationId xmlns:a16="http://schemas.microsoft.com/office/drawing/2014/main" id="{5206384C-6878-15CA-9CB8-578C94B8C6BF}"/>
              </a:ext>
            </a:extLst>
          </p:cNvPr>
          <p:cNvSpPr/>
          <p:nvPr/>
        </p:nvSpPr>
        <p:spPr>
          <a:xfrm>
            <a:off x="4307840" y="5041805"/>
            <a:ext cx="3575685" cy="802498"/>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Error Handling</a:t>
            </a:r>
          </a:p>
        </p:txBody>
      </p:sp>
    </p:spTree>
    <p:extLst>
      <p:ext uri="{BB962C8B-B14F-4D97-AF65-F5344CB8AC3E}">
        <p14:creationId xmlns:p14="http://schemas.microsoft.com/office/powerpoint/2010/main" val="187347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AA19F-85AB-B2F7-FCDD-34A185B47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F6D58-C470-6EA6-4901-61F0FB00AD20}"/>
              </a:ext>
            </a:extLst>
          </p:cNvPr>
          <p:cNvSpPr>
            <a:spLocks noGrp="1"/>
          </p:cNvSpPr>
          <p:nvPr>
            <p:ph type="title"/>
          </p:nvPr>
        </p:nvSpPr>
        <p:spPr/>
        <p:txBody>
          <a:bodyPr/>
          <a:lstStyle/>
          <a:p>
            <a:r>
              <a:rPr lang="en-US" dirty="0"/>
              <a:t>Use Cases</a:t>
            </a:r>
          </a:p>
        </p:txBody>
      </p:sp>
      <p:sp>
        <p:nvSpPr>
          <p:cNvPr id="3" name="Primary Context Box">
            <a:extLst>
              <a:ext uri="{FF2B5EF4-FFF2-40B4-BE49-F238E27FC236}">
                <a16:creationId xmlns:a16="http://schemas.microsoft.com/office/drawing/2014/main" id="{C04BEB5D-C485-820C-CEEF-DB99D18ECB30}"/>
              </a:ext>
            </a:extLst>
          </p:cNvPr>
          <p:cNvSpPr/>
          <p:nvPr/>
        </p:nvSpPr>
        <p:spPr>
          <a:xfrm>
            <a:off x="731203"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Real-Time Analytics</a:t>
            </a:r>
          </a:p>
        </p:txBody>
      </p:sp>
      <p:sp>
        <p:nvSpPr>
          <p:cNvPr id="4" name="Primary Context Box">
            <a:extLst>
              <a:ext uri="{FF2B5EF4-FFF2-40B4-BE49-F238E27FC236}">
                <a16:creationId xmlns:a16="http://schemas.microsoft.com/office/drawing/2014/main" id="{970B6E92-72F9-4850-37A6-55794A730712}"/>
              </a:ext>
            </a:extLst>
          </p:cNvPr>
          <p:cNvSpPr/>
          <p:nvPr/>
        </p:nvSpPr>
        <p:spPr>
          <a:xfrm>
            <a:off x="4503547"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Data Integration</a:t>
            </a:r>
          </a:p>
        </p:txBody>
      </p:sp>
      <p:sp>
        <p:nvSpPr>
          <p:cNvPr id="5" name="Secondary Content Box">
            <a:extLst>
              <a:ext uri="{FF2B5EF4-FFF2-40B4-BE49-F238E27FC236}">
                <a16:creationId xmlns:a16="http://schemas.microsoft.com/office/drawing/2014/main" id="{05CB7902-FEF7-9FAC-E715-971C46AB6CA9}"/>
              </a:ext>
            </a:extLst>
          </p:cNvPr>
          <p:cNvSpPr/>
          <p:nvPr/>
        </p:nvSpPr>
        <p:spPr>
          <a:xfrm>
            <a:off x="8275891" y="2914680"/>
            <a:ext cx="3549397"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IoT Applications</a:t>
            </a:r>
          </a:p>
        </p:txBody>
      </p:sp>
    </p:spTree>
    <p:extLst>
      <p:ext uri="{BB962C8B-B14F-4D97-AF65-F5344CB8AC3E}">
        <p14:creationId xmlns:p14="http://schemas.microsoft.com/office/powerpoint/2010/main" val="327783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EA70839F-27BE-45D2-2096-5C4EA6CA07C9}"/>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7" name="Primary Context Box">
            <a:extLst>
              <a:ext uri="{FF2B5EF4-FFF2-40B4-BE49-F238E27FC236}">
                <a16:creationId xmlns:a16="http://schemas.microsoft.com/office/drawing/2014/main" id="{BCA1DB67-77C0-0817-9FF7-79B10E3EB18C}"/>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pic>
        <p:nvPicPr>
          <p:cNvPr id="10" name="Picture 9">
            <a:extLst>
              <a:ext uri="{FF2B5EF4-FFF2-40B4-BE49-F238E27FC236}">
                <a16:creationId xmlns:a16="http://schemas.microsoft.com/office/drawing/2014/main" id="{E0D9AFD3-94B5-54F5-3475-F987660F2B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408593" y="1690688"/>
            <a:ext cx="7456098" cy="4199489"/>
          </a:xfrm>
          <a:prstGeom prst="rect">
            <a:avLst/>
          </a:prstGeom>
        </p:spPr>
      </p:pic>
      <p:sp>
        <p:nvSpPr>
          <p:cNvPr id="11" name="Rectangle 10">
            <a:extLst>
              <a:ext uri="{FF2B5EF4-FFF2-40B4-BE49-F238E27FC236}">
                <a16:creationId xmlns:a16="http://schemas.microsoft.com/office/drawing/2014/main" id="{961306A0-D67C-30E2-9E46-96210D7A2670}"/>
              </a:ext>
            </a:extLst>
          </p:cNvPr>
          <p:cNvSpPr/>
          <p:nvPr/>
        </p:nvSpPr>
        <p:spPr>
          <a:xfrm>
            <a:off x="5378450" y="2384425"/>
            <a:ext cx="511175"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1321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 presetClass="entr" presetSubtype="0" fill="hold" grpId="1" nodeType="withEffect">
                                  <p:stCondLst>
                                    <p:cond delay="0"/>
                                  </p:stCondLst>
                                  <p:childTnLst>
                                    <p:set>
                                      <p:cBhvr>
                                        <p:cTn id="9" dur="1" fill="hold">
                                          <p:stCondLst>
                                            <p:cond delay="0"/>
                                          </p:stCondLst>
                                        </p:cTn>
                                        <p:tgtEl>
                                          <p:spTgt spid="1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xit" presetSubtype="8" fill="hold" grpId="0" nodeType="clickEffect">
                                  <p:stCondLst>
                                    <p:cond delay="0"/>
                                  </p:stCondLst>
                                  <p:childTnLst>
                                    <p:animEffect transition="out" filter="wipe(left)">
                                      <p:cBhvr>
                                        <p:cTn id="13" dur="500"/>
                                        <p:tgtEl>
                                          <p:spTgt spid="11"/>
                                        </p:tgtEl>
                                      </p:cBhvr>
                                    </p:animEffect>
                                    <p:set>
                                      <p:cBhvr>
                                        <p:cTn id="14"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46A0E78-A0FC-AD0E-F109-9DE26DF6ACDB}"/>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297216B6-EFD4-AD28-E14F-F0BFA6EA6B17}"/>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pic>
        <p:nvPicPr>
          <p:cNvPr id="6" name="Picture 5">
            <a:extLst>
              <a:ext uri="{FF2B5EF4-FFF2-40B4-BE49-F238E27FC236}">
                <a16:creationId xmlns:a16="http://schemas.microsoft.com/office/drawing/2014/main" id="{6495EAF3-D65E-91D4-EFEC-18A53BDFB10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08593" y="1690687"/>
            <a:ext cx="7456098" cy="4199489"/>
          </a:xfrm>
          <a:prstGeom prst="rect">
            <a:avLst/>
          </a:prstGeom>
        </p:spPr>
      </p:pic>
      <p:sp>
        <p:nvSpPr>
          <p:cNvPr id="7" name="Rectangle 6">
            <a:extLst>
              <a:ext uri="{FF2B5EF4-FFF2-40B4-BE49-F238E27FC236}">
                <a16:creationId xmlns:a16="http://schemas.microsoft.com/office/drawing/2014/main" id="{6DD355D5-0BCE-8ECA-0BC1-393967362993}"/>
              </a:ext>
            </a:extLst>
          </p:cNvPr>
          <p:cNvSpPr/>
          <p:nvPr/>
        </p:nvSpPr>
        <p:spPr>
          <a:xfrm>
            <a:off x="5375909" y="2127585"/>
            <a:ext cx="4152265"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636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9B5E4C3-085A-F897-E40E-145000888AA9}"/>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6936173C-815F-A7AF-08FD-39532DBE4BF6}"/>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pic>
        <p:nvPicPr>
          <p:cNvPr id="6" name="Picture 5">
            <a:extLst>
              <a:ext uri="{FF2B5EF4-FFF2-40B4-BE49-F238E27FC236}">
                <a16:creationId xmlns:a16="http://schemas.microsoft.com/office/drawing/2014/main" id="{C098FC42-F6A4-6C1C-2A43-CE4F6270123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08593" y="1690686"/>
            <a:ext cx="7456098" cy="4199489"/>
          </a:xfrm>
          <a:prstGeom prst="rect">
            <a:avLst/>
          </a:prstGeom>
        </p:spPr>
      </p:pic>
      <p:sp>
        <p:nvSpPr>
          <p:cNvPr id="7" name="Rectangle 6">
            <a:extLst>
              <a:ext uri="{FF2B5EF4-FFF2-40B4-BE49-F238E27FC236}">
                <a16:creationId xmlns:a16="http://schemas.microsoft.com/office/drawing/2014/main" id="{F00FE54E-4F75-FA61-C3D9-44B847E5632F}"/>
              </a:ext>
            </a:extLst>
          </p:cNvPr>
          <p:cNvSpPr/>
          <p:nvPr/>
        </p:nvSpPr>
        <p:spPr>
          <a:xfrm>
            <a:off x="5372099" y="3809479"/>
            <a:ext cx="63246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1E58EE-BAF8-3D0B-9296-A7FA71D4CC59}"/>
              </a:ext>
            </a:extLst>
          </p:cNvPr>
          <p:cNvSpPr/>
          <p:nvPr/>
        </p:nvSpPr>
        <p:spPr>
          <a:xfrm>
            <a:off x="4408593" y="3946004"/>
            <a:ext cx="1573107"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7D89B41-C348-AF7D-E12B-F13E7062C226}"/>
              </a:ext>
            </a:extLst>
          </p:cNvPr>
          <p:cNvSpPr/>
          <p:nvPr/>
        </p:nvSpPr>
        <p:spPr>
          <a:xfrm>
            <a:off x="5911849" y="2376502"/>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091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par>
                          <p:cTn id="8" fill="hold">
                            <p:stCondLst>
                              <p:cond delay="500"/>
                            </p:stCondLst>
                            <p:childTnLst>
                              <p:par>
                                <p:cTn id="9" presetID="22" presetClass="exit" presetSubtype="8" fill="hold" grpId="0" nodeType="afterEffect">
                                  <p:stCondLst>
                                    <p:cond delay="0"/>
                                  </p:stCondLst>
                                  <p:childTnLst>
                                    <p:animEffect transition="out" filter="wipe(left)">
                                      <p:cBhvr>
                                        <p:cTn id="10" dur="500"/>
                                        <p:tgtEl>
                                          <p:spTgt spid="8"/>
                                        </p:tgtEl>
                                      </p:cBhvr>
                                    </p:animEffect>
                                    <p:set>
                                      <p:cBhvr>
                                        <p:cTn id="11"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D48BA61E-6A49-F144-FF89-F07144A51B18}"/>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1765F814-0ACB-B951-EC6F-391E0E97026B}"/>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4" name="Primary Context Box">
            <a:extLst>
              <a:ext uri="{FF2B5EF4-FFF2-40B4-BE49-F238E27FC236}">
                <a16:creationId xmlns:a16="http://schemas.microsoft.com/office/drawing/2014/main" id="{4BECF463-746D-DA81-B35B-3F7F52275F95}"/>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an Event Hub</a:t>
            </a:r>
          </a:p>
        </p:txBody>
      </p:sp>
      <p:sp>
        <p:nvSpPr>
          <p:cNvPr id="5" name="Rectangle: Rounded Corners 4">
            <a:extLst>
              <a:ext uri="{FF2B5EF4-FFF2-40B4-BE49-F238E27FC236}">
                <a16:creationId xmlns:a16="http://schemas.microsoft.com/office/drawing/2014/main" id="{9B9733DA-B588-0DD5-E213-F2412B867B24}"/>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6" name="Picture 5">
            <a:extLst>
              <a:ext uri="{FF2B5EF4-FFF2-40B4-BE49-F238E27FC236}">
                <a16:creationId xmlns:a16="http://schemas.microsoft.com/office/drawing/2014/main" id="{70A7914F-5AB3-428B-3BCF-4A4DA27C078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08593" y="1690686"/>
            <a:ext cx="7456098" cy="4199489"/>
          </a:xfrm>
          <a:prstGeom prst="rect">
            <a:avLst/>
          </a:prstGeom>
        </p:spPr>
      </p:pic>
      <p:sp>
        <p:nvSpPr>
          <p:cNvPr id="7" name="Rectangle 6">
            <a:extLst>
              <a:ext uri="{FF2B5EF4-FFF2-40B4-BE49-F238E27FC236}">
                <a16:creationId xmlns:a16="http://schemas.microsoft.com/office/drawing/2014/main" id="{2872B15D-1881-9E22-FB70-94D1F19779C8}"/>
              </a:ext>
            </a:extLst>
          </p:cNvPr>
          <p:cNvSpPr/>
          <p:nvPr/>
        </p:nvSpPr>
        <p:spPr>
          <a:xfrm>
            <a:off x="5379085" y="5567318"/>
            <a:ext cx="63246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95C2CEB-8A1E-2DE9-A57F-CCB60858F3DF}"/>
              </a:ext>
            </a:extLst>
          </p:cNvPr>
          <p:cNvSpPr/>
          <p:nvPr/>
        </p:nvSpPr>
        <p:spPr>
          <a:xfrm>
            <a:off x="4431526" y="5722893"/>
            <a:ext cx="2612212"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55B2EAE-9E62-4F5E-CD60-E7B390646A5A}"/>
              </a:ext>
            </a:extLst>
          </p:cNvPr>
          <p:cNvSpPr/>
          <p:nvPr/>
        </p:nvSpPr>
        <p:spPr>
          <a:xfrm>
            <a:off x="5900737" y="2375867"/>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964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par>
                          <p:cTn id="8" fill="hold">
                            <p:stCondLst>
                              <p:cond delay="500"/>
                            </p:stCondLst>
                            <p:childTnLst>
                              <p:par>
                                <p:cTn id="9" presetID="22" presetClass="exit" presetSubtype="8" fill="hold" grpId="0" nodeType="afterEffect">
                                  <p:stCondLst>
                                    <p:cond delay="0"/>
                                  </p:stCondLst>
                                  <p:childTnLst>
                                    <p:animEffect transition="out" filter="wipe(left)">
                                      <p:cBhvr>
                                        <p:cTn id="10" dur="500"/>
                                        <p:tgtEl>
                                          <p:spTgt spid="8"/>
                                        </p:tgtEl>
                                      </p:cBhvr>
                                    </p:animEffect>
                                    <p:set>
                                      <p:cBhvr>
                                        <p:cTn id="11"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64BA4745-8CBF-5D68-4BAC-08ACEE01DE73}"/>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F36CFA31-BFF2-6377-0C24-54AE55B2EDD8}"/>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4" name="Primary Context Box">
            <a:extLst>
              <a:ext uri="{FF2B5EF4-FFF2-40B4-BE49-F238E27FC236}">
                <a16:creationId xmlns:a16="http://schemas.microsoft.com/office/drawing/2014/main" id="{6F36A19D-490D-CE39-48CA-2610B6CD7C3C}"/>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an Event Hub</a:t>
            </a:r>
          </a:p>
        </p:txBody>
      </p:sp>
      <p:sp>
        <p:nvSpPr>
          <p:cNvPr id="5" name="Rectangle: Rounded Corners 4">
            <a:extLst>
              <a:ext uri="{FF2B5EF4-FFF2-40B4-BE49-F238E27FC236}">
                <a16:creationId xmlns:a16="http://schemas.microsoft.com/office/drawing/2014/main" id="{2DB7854A-10B6-53A0-AE79-8E1EF18271CF}"/>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6" name="Picture 5">
            <a:extLst>
              <a:ext uri="{FF2B5EF4-FFF2-40B4-BE49-F238E27FC236}">
                <a16:creationId xmlns:a16="http://schemas.microsoft.com/office/drawing/2014/main" id="{A8F19FE1-FC3E-0E42-C884-AA080CDDC7E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08592" y="1690685"/>
            <a:ext cx="7456099" cy="4199489"/>
          </a:xfrm>
          <a:prstGeom prst="rect">
            <a:avLst/>
          </a:prstGeom>
        </p:spPr>
      </p:pic>
      <p:sp>
        <p:nvSpPr>
          <p:cNvPr id="7" name="Rectangle 6">
            <a:extLst>
              <a:ext uri="{FF2B5EF4-FFF2-40B4-BE49-F238E27FC236}">
                <a16:creationId xmlns:a16="http://schemas.microsoft.com/office/drawing/2014/main" id="{7DE99808-E1B1-7E86-6FF0-A60744A96D3D}"/>
              </a:ext>
            </a:extLst>
          </p:cNvPr>
          <p:cNvSpPr/>
          <p:nvPr/>
        </p:nvSpPr>
        <p:spPr>
          <a:xfrm>
            <a:off x="5382576" y="5580019"/>
            <a:ext cx="63246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632866B-7EA1-B3DE-9B1D-A2C2E1B931BA}"/>
              </a:ext>
            </a:extLst>
          </p:cNvPr>
          <p:cNvSpPr/>
          <p:nvPr/>
        </p:nvSpPr>
        <p:spPr>
          <a:xfrm>
            <a:off x="4408592" y="5735097"/>
            <a:ext cx="1750908"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13EE1C6-59F4-6725-F588-CDD7E37534E9}"/>
              </a:ext>
            </a:extLst>
          </p:cNvPr>
          <p:cNvSpPr/>
          <p:nvPr/>
        </p:nvSpPr>
        <p:spPr>
          <a:xfrm>
            <a:off x="5900736" y="2764187"/>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Primary Context Box">
            <a:extLst>
              <a:ext uri="{FF2B5EF4-FFF2-40B4-BE49-F238E27FC236}">
                <a16:creationId xmlns:a16="http://schemas.microsoft.com/office/drawing/2014/main" id="{FC206FC2-A598-6054-6E32-34D1FA44D62B}"/>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Assign Roles</a:t>
            </a:r>
          </a:p>
        </p:txBody>
      </p:sp>
      <p:sp>
        <p:nvSpPr>
          <p:cNvPr id="11" name="Rectangle: Rounded Corners 10">
            <a:extLst>
              <a:ext uri="{FF2B5EF4-FFF2-40B4-BE49-F238E27FC236}">
                <a16:creationId xmlns:a16="http://schemas.microsoft.com/office/drawing/2014/main" id="{168711FE-F53D-FC68-71B8-F49640AFEF60}"/>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377936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par>
                          <p:cTn id="8" fill="hold">
                            <p:stCondLst>
                              <p:cond delay="500"/>
                            </p:stCondLst>
                            <p:childTnLst>
                              <p:par>
                                <p:cTn id="9" presetID="22" presetClass="exit" presetSubtype="8" fill="hold" grpId="0" nodeType="afterEffect">
                                  <p:stCondLst>
                                    <p:cond delay="0"/>
                                  </p:stCondLst>
                                  <p:childTnLst>
                                    <p:animEffect transition="out" filter="wipe(left)">
                                      <p:cBhvr>
                                        <p:cTn id="10" dur="500"/>
                                        <p:tgtEl>
                                          <p:spTgt spid="8"/>
                                        </p:tgtEl>
                                      </p:cBhvr>
                                    </p:animEffect>
                                    <p:set>
                                      <p:cBhvr>
                                        <p:cTn id="11"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A4A0E3AB-F73A-9A84-077D-43EB8C6C8CC0}"/>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A5B529D8-984F-E09C-B0EF-7832FCEFF986}"/>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4" name="Primary Context Box">
            <a:extLst>
              <a:ext uri="{FF2B5EF4-FFF2-40B4-BE49-F238E27FC236}">
                <a16:creationId xmlns:a16="http://schemas.microsoft.com/office/drawing/2014/main" id="{1DDC1032-E1C2-19C0-A133-225B04A35BD9}"/>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an Event Hub</a:t>
            </a:r>
          </a:p>
        </p:txBody>
      </p:sp>
      <p:sp>
        <p:nvSpPr>
          <p:cNvPr id="5" name="Rectangle: Rounded Corners 4">
            <a:extLst>
              <a:ext uri="{FF2B5EF4-FFF2-40B4-BE49-F238E27FC236}">
                <a16:creationId xmlns:a16="http://schemas.microsoft.com/office/drawing/2014/main" id="{39BB6178-4F30-3875-DFB5-715CC18BD57C}"/>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6" name="Primary Context Box">
            <a:extLst>
              <a:ext uri="{FF2B5EF4-FFF2-40B4-BE49-F238E27FC236}">
                <a16:creationId xmlns:a16="http://schemas.microsoft.com/office/drawing/2014/main" id="{CA72C4A6-E69B-04C2-9483-F6F285EF167A}"/>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Assign Roles</a:t>
            </a:r>
          </a:p>
        </p:txBody>
      </p:sp>
      <p:sp>
        <p:nvSpPr>
          <p:cNvPr id="7" name="Rectangle: Rounded Corners 6">
            <a:extLst>
              <a:ext uri="{FF2B5EF4-FFF2-40B4-BE49-F238E27FC236}">
                <a16:creationId xmlns:a16="http://schemas.microsoft.com/office/drawing/2014/main" id="{E448FE99-AF78-7A16-BDB3-6113B03E8ED9}"/>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8" name="Picture 7">
            <a:extLst>
              <a:ext uri="{FF2B5EF4-FFF2-40B4-BE49-F238E27FC236}">
                <a16:creationId xmlns:a16="http://schemas.microsoft.com/office/drawing/2014/main" id="{B1C62327-8D35-0AE0-3D89-F52BEC6D947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08591" y="1690684"/>
            <a:ext cx="7456099" cy="4199489"/>
          </a:xfrm>
          <a:prstGeom prst="rect">
            <a:avLst/>
          </a:prstGeom>
        </p:spPr>
      </p:pic>
      <p:sp>
        <p:nvSpPr>
          <p:cNvPr id="9" name="Rectangle 8">
            <a:extLst>
              <a:ext uri="{FF2B5EF4-FFF2-40B4-BE49-F238E27FC236}">
                <a16:creationId xmlns:a16="http://schemas.microsoft.com/office/drawing/2014/main" id="{F1547AC9-92FA-2429-D7EA-31B46381DF93}"/>
              </a:ext>
            </a:extLst>
          </p:cNvPr>
          <p:cNvSpPr/>
          <p:nvPr/>
        </p:nvSpPr>
        <p:spPr>
          <a:xfrm>
            <a:off x="5364480" y="5304669"/>
            <a:ext cx="63246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15B0454-57A6-56D4-8232-AA420DF1D294}"/>
              </a:ext>
            </a:extLst>
          </p:cNvPr>
          <p:cNvSpPr/>
          <p:nvPr/>
        </p:nvSpPr>
        <p:spPr>
          <a:xfrm>
            <a:off x="4423831" y="5470114"/>
            <a:ext cx="1750908"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FB5A8F-363F-37D3-A99C-66186E5A31F8}"/>
              </a:ext>
            </a:extLst>
          </p:cNvPr>
          <p:cNvSpPr/>
          <p:nvPr/>
        </p:nvSpPr>
        <p:spPr>
          <a:xfrm>
            <a:off x="8064816" y="2020187"/>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A40B793-0F95-5DCA-C343-DAEF619E1242}"/>
              </a:ext>
            </a:extLst>
          </p:cNvPr>
          <p:cNvSpPr/>
          <p:nvPr/>
        </p:nvSpPr>
        <p:spPr>
          <a:xfrm>
            <a:off x="5880415" y="3273425"/>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9C9BB57-0DF5-A0E5-3CF8-EE0FEE69EEC7}"/>
              </a:ext>
            </a:extLst>
          </p:cNvPr>
          <p:cNvSpPr/>
          <p:nvPr/>
        </p:nvSpPr>
        <p:spPr>
          <a:xfrm>
            <a:off x="6754174" y="4191383"/>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2812BE2-24F0-E54F-04F1-74DE50F06A8C}"/>
              </a:ext>
            </a:extLst>
          </p:cNvPr>
          <p:cNvSpPr/>
          <p:nvPr/>
        </p:nvSpPr>
        <p:spPr>
          <a:xfrm>
            <a:off x="6096000" y="4448875"/>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326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par>
                          <p:cTn id="8" fill="hold">
                            <p:stCondLst>
                              <p:cond delay="500"/>
                            </p:stCondLst>
                            <p:childTnLst>
                              <p:par>
                                <p:cTn id="9" presetID="22" presetClass="exit" presetSubtype="8" fill="hold" grpId="0" nodeType="afterEffect">
                                  <p:stCondLst>
                                    <p:cond delay="0"/>
                                  </p:stCondLst>
                                  <p:childTnLst>
                                    <p:animEffect transition="out" filter="wipe(left)">
                                      <p:cBhvr>
                                        <p:cTn id="10" dur="500"/>
                                        <p:tgtEl>
                                          <p:spTgt spid="10"/>
                                        </p:tgtEl>
                                      </p:cBhvr>
                                    </p:animEffect>
                                    <p:set>
                                      <p:cBhvr>
                                        <p:cTn id="11"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09F68DD-45FC-AD31-F1AD-00EFC4CBF35B}"/>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89AB7F08-1430-F9B3-31A7-2DA8B50F11A6}"/>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4" name="Primary Context Box">
            <a:extLst>
              <a:ext uri="{FF2B5EF4-FFF2-40B4-BE49-F238E27FC236}">
                <a16:creationId xmlns:a16="http://schemas.microsoft.com/office/drawing/2014/main" id="{B7349F27-43DC-B108-B5C3-D10B7CFCF3E5}"/>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an Event Hub</a:t>
            </a:r>
          </a:p>
        </p:txBody>
      </p:sp>
      <p:sp>
        <p:nvSpPr>
          <p:cNvPr id="5" name="Rectangle: Rounded Corners 4">
            <a:extLst>
              <a:ext uri="{FF2B5EF4-FFF2-40B4-BE49-F238E27FC236}">
                <a16:creationId xmlns:a16="http://schemas.microsoft.com/office/drawing/2014/main" id="{9F5D8852-9140-14F4-62B1-7021B8DA1B6C}"/>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6" name="Primary Context Box">
            <a:extLst>
              <a:ext uri="{FF2B5EF4-FFF2-40B4-BE49-F238E27FC236}">
                <a16:creationId xmlns:a16="http://schemas.microsoft.com/office/drawing/2014/main" id="{DC7E3101-39C8-1BB9-8818-74C3F43FA609}"/>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Assign Roles</a:t>
            </a:r>
          </a:p>
        </p:txBody>
      </p:sp>
      <p:sp>
        <p:nvSpPr>
          <p:cNvPr id="7" name="Rectangle: Rounded Corners 6">
            <a:extLst>
              <a:ext uri="{FF2B5EF4-FFF2-40B4-BE49-F238E27FC236}">
                <a16:creationId xmlns:a16="http://schemas.microsoft.com/office/drawing/2014/main" id="{6E1F202D-0AC0-8EF2-B0F2-CB3B84B6A2D3}"/>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8" name="Primary Context Box">
            <a:extLst>
              <a:ext uri="{FF2B5EF4-FFF2-40B4-BE49-F238E27FC236}">
                <a16:creationId xmlns:a16="http://schemas.microsoft.com/office/drawing/2014/main" id="{29FD2870-8374-A974-E4B4-9DD40E726047}"/>
              </a:ext>
            </a:extLst>
          </p:cNvPr>
          <p:cNvSpPr/>
          <p:nvPr/>
        </p:nvSpPr>
        <p:spPr>
          <a:xfrm>
            <a:off x="548256"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Storage Account</a:t>
            </a:r>
          </a:p>
        </p:txBody>
      </p:sp>
      <p:sp>
        <p:nvSpPr>
          <p:cNvPr id="9" name="Rectangle: Rounded Corners 8">
            <a:extLst>
              <a:ext uri="{FF2B5EF4-FFF2-40B4-BE49-F238E27FC236}">
                <a16:creationId xmlns:a16="http://schemas.microsoft.com/office/drawing/2014/main" id="{0EF85057-7765-C65C-8191-33D0542118B4}"/>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0" name="Picture 9">
            <a:extLst>
              <a:ext uri="{FF2B5EF4-FFF2-40B4-BE49-F238E27FC236}">
                <a16:creationId xmlns:a16="http://schemas.microsoft.com/office/drawing/2014/main" id="{82F8EC43-A1A1-8053-BBB6-AF2374F2A00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08589" y="1684534"/>
            <a:ext cx="7456099" cy="4199489"/>
          </a:xfrm>
          <a:prstGeom prst="rect">
            <a:avLst/>
          </a:prstGeom>
        </p:spPr>
      </p:pic>
      <p:sp>
        <p:nvSpPr>
          <p:cNvPr id="11" name="Rectangle 10">
            <a:extLst>
              <a:ext uri="{FF2B5EF4-FFF2-40B4-BE49-F238E27FC236}">
                <a16:creationId xmlns:a16="http://schemas.microsoft.com/office/drawing/2014/main" id="{157907FD-EFC8-B65C-BCB4-C1DEAA2359AC}"/>
              </a:ext>
            </a:extLst>
          </p:cNvPr>
          <p:cNvSpPr/>
          <p:nvPr/>
        </p:nvSpPr>
        <p:spPr>
          <a:xfrm>
            <a:off x="8064816" y="2020187"/>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FA9D13C-AA15-60F8-1239-63DE5323E3F1}"/>
              </a:ext>
            </a:extLst>
          </p:cNvPr>
          <p:cNvSpPr/>
          <p:nvPr/>
        </p:nvSpPr>
        <p:spPr>
          <a:xfrm>
            <a:off x="5374987" y="2097974"/>
            <a:ext cx="63246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4556385-6540-324E-B29F-878BE3A1ABFC}"/>
              </a:ext>
            </a:extLst>
          </p:cNvPr>
          <p:cNvSpPr/>
          <p:nvPr/>
        </p:nvSpPr>
        <p:spPr>
          <a:xfrm>
            <a:off x="4408589" y="2259241"/>
            <a:ext cx="63246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0636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par>
                          <p:cTn id="8" fill="hold">
                            <p:stCondLst>
                              <p:cond delay="500"/>
                            </p:stCondLst>
                            <p:childTnLst>
                              <p:par>
                                <p:cTn id="9" presetID="22" presetClass="exit" presetSubtype="8" fill="hold" grpId="0" nodeType="afterEffect">
                                  <p:stCondLst>
                                    <p:cond delay="0"/>
                                  </p:stCondLst>
                                  <p:childTnLst>
                                    <p:animEffect transition="out" filter="wipe(left)">
                                      <p:cBhvr>
                                        <p:cTn id="10" dur="500"/>
                                        <p:tgtEl>
                                          <p:spTgt spid="13"/>
                                        </p:tgtEl>
                                      </p:cBhvr>
                                    </p:animEffect>
                                    <p:set>
                                      <p:cBhvr>
                                        <p:cTn id="11"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4303EF6-A69E-D471-2852-8DEC5CBA64FE}"/>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321C555E-9476-0F5F-9292-534D3C093634}"/>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4" name="Primary Context Box">
            <a:extLst>
              <a:ext uri="{FF2B5EF4-FFF2-40B4-BE49-F238E27FC236}">
                <a16:creationId xmlns:a16="http://schemas.microsoft.com/office/drawing/2014/main" id="{BA2D9FE7-70B2-C0C8-38B4-D2F2FE183B32}"/>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an Event Hub</a:t>
            </a:r>
          </a:p>
        </p:txBody>
      </p:sp>
      <p:sp>
        <p:nvSpPr>
          <p:cNvPr id="5" name="Rectangle: Rounded Corners 4">
            <a:extLst>
              <a:ext uri="{FF2B5EF4-FFF2-40B4-BE49-F238E27FC236}">
                <a16:creationId xmlns:a16="http://schemas.microsoft.com/office/drawing/2014/main" id="{C594860A-814B-88C0-410F-7511A17344BC}"/>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6" name="Primary Context Box">
            <a:extLst>
              <a:ext uri="{FF2B5EF4-FFF2-40B4-BE49-F238E27FC236}">
                <a16:creationId xmlns:a16="http://schemas.microsoft.com/office/drawing/2014/main" id="{84B3F262-9D6A-63F4-32F6-44DEFD8564C2}"/>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Assign Roles</a:t>
            </a:r>
          </a:p>
        </p:txBody>
      </p:sp>
      <p:sp>
        <p:nvSpPr>
          <p:cNvPr id="7" name="Rectangle: Rounded Corners 6">
            <a:extLst>
              <a:ext uri="{FF2B5EF4-FFF2-40B4-BE49-F238E27FC236}">
                <a16:creationId xmlns:a16="http://schemas.microsoft.com/office/drawing/2014/main" id="{0B650954-7DDB-0E53-51D8-E26531B54277}"/>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8" name="Primary Context Box">
            <a:extLst>
              <a:ext uri="{FF2B5EF4-FFF2-40B4-BE49-F238E27FC236}">
                <a16:creationId xmlns:a16="http://schemas.microsoft.com/office/drawing/2014/main" id="{81042F31-ADEC-FC45-DB1A-268B10CA1733}"/>
              </a:ext>
            </a:extLst>
          </p:cNvPr>
          <p:cNvSpPr/>
          <p:nvPr/>
        </p:nvSpPr>
        <p:spPr>
          <a:xfrm>
            <a:off x="548256"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Storage Account</a:t>
            </a:r>
          </a:p>
        </p:txBody>
      </p:sp>
      <p:sp>
        <p:nvSpPr>
          <p:cNvPr id="9" name="Rectangle: Rounded Corners 8">
            <a:extLst>
              <a:ext uri="{FF2B5EF4-FFF2-40B4-BE49-F238E27FC236}">
                <a16:creationId xmlns:a16="http://schemas.microsoft.com/office/drawing/2014/main" id="{1E03E455-2EAA-9BF7-877F-8F38807206E2}"/>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0" name="Picture 9">
            <a:extLst>
              <a:ext uri="{FF2B5EF4-FFF2-40B4-BE49-F238E27FC236}">
                <a16:creationId xmlns:a16="http://schemas.microsoft.com/office/drawing/2014/main" id="{730ACD8F-7D5A-C7AA-AA49-2EF0C89894C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08588" y="1684533"/>
            <a:ext cx="7456099" cy="4199489"/>
          </a:xfrm>
          <a:prstGeom prst="rect">
            <a:avLst/>
          </a:prstGeom>
        </p:spPr>
      </p:pic>
      <p:sp>
        <p:nvSpPr>
          <p:cNvPr id="11" name="Rectangle 10">
            <a:extLst>
              <a:ext uri="{FF2B5EF4-FFF2-40B4-BE49-F238E27FC236}">
                <a16:creationId xmlns:a16="http://schemas.microsoft.com/office/drawing/2014/main" id="{C5E154B9-AEF9-B0E4-7E19-DA34BF6BE3B3}"/>
              </a:ext>
            </a:extLst>
          </p:cNvPr>
          <p:cNvSpPr/>
          <p:nvPr/>
        </p:nvSpPr>
        <p:spPr>
          <a:xfrm>
            <a:off x="8064816" y="2020187"/>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994425B-A358-F32B-A501-382A036AA7E9}"/>
              </a:ext>
            </a:extLst>
          </p:cNvPr>
          <p:cNvSpPr/>
          <p:nvPr/>
        </p:nvSpPr>
        <p:spPr>
          <a:xfrm>
            <a:off x="5381625" y="5552374"/>
            <a:ext cx="63246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D55E9C-80B8-5C3C-6B65-17BF732A5898}"/>
              </a:ext>
            </a:extLst>
          </p:cNvPr>
          <p:cNvSpPr/>
          <p:nvPr/>
        </p:nvSpPr>
        <p:spPr>
          <a:xfrm>
            <a:off x="4408588" y="5716471"/>
            <a:ext cx="63246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269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par>
                          <p:cTn id="8" fill="hold">
                            <p:stCondLst>
                              <p:cond delay="500"/>
                            </p:stCondLst>
                            <p:childTnLst>
                              <p:par>
                                <p:cTn id="9" presetID="22" presetClass="exit" presetSubtype="8" fill="hold" grpId="0" nodeType="afterEffect">
                                  <p:stCondLst>
                                    <p:cond delay="0"/>
                                  </p:stCondLst>
                                  <p:childTnLst>
                                    <p:animEffect transition="out" filter="wipe(left)">
                                      <p:cBhvr>
                                        <p:cTn id="10" dur="500"/>
                                        <p:tgtEl>
                                          <p:spTgt spid="13"/>
                                        </p:tgtEl>
                                      </p:cBhvr>
                                    </p:animEffect>
                                    <p:set>
                                      <p:cBhvr>
                                        <p:cTn id="11"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8ECAE756-A7D7-051F-92ED-647E5F200E66}"/>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23B1598E-AE06-2F66-0675-62D5BA0FA7C2}"/>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4" name="Primary Context Box">
            <a:extLst>
              <a:ext uri="{FF2B5EF4-FFF2-40B4-BE49-F238E27FC236}">
                <a16:creationId xmlns:a16="http://schemas.microsoft.com/office/drawing/2014/main" id="{05FBB7F0-9820-5FBA-7983-5743FF4F3C2D}"/>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an Event Hub</a:t>
            </a:r>
          </a:p>
        </p:txBody>
      </p:sp>
      <p:sp>
        <p:nvSpPr>
          <p:cNvPr id="5" name="Rectangle: Rounded Corners 4">
            <a:extLst>
              <a:ext uri="{FF2B5EF4-FFF2-40B4-BE49-F238E27FC236}">
                <a16:creationId xmlns:a16="http://schemas.microsoft.com/office/drawing/2014/main" id="{3FE311E1-FBE2-19FF-369B-A6E072FF1AF6}"/>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6" name="Primary Context Box">
            <a:extLst>
              <a:ext uri="{FF2B5EF4-FFF2-40B4-BE49-F238E27FC236}">
                <a16:creationId xmlns:a16="http://schemas.microsoft.com/office/drawing/2014/main" id="{53F827E6-F49F-2101-5BB6-07E9BF91E6A4}"/>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Assign Roles</a:t>
            </a:r>
          </a:p>
        </p:txBody>
      </p:sp>
      <p:sp>
        <p:nvSpPr>
          <p:cNvPr id="7" name="Rectangle: Rounded Corners 6">
            <a:extLst>
              <a:ext uri="{FF2B5EF4-FFF2-40B4-BE49-F238E27FC236}">
                <a16:creationId xmlns:a16="http://schemas.microsoft.com/office/drawing/2014/main" id="{B5901C54-01A7-8653-8583-5A5C6CF71C4C}"/>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8" name="Primary Context Box">
            <a:extLst>
              <a:ext uri="{FF2B5EF4-FFF2-40B4-BE49-F238E27FC236}">
                <a16:creationId xmlns:a16="http://schemas.microsoft.com/office/drawing/2014/main" id="{9A789DB9-F947-D81D-8CC8-CEB48C4C712C}"/>
              </a:ext>
            </a:extLst>
          </p:cNvPr>
          <p:cNvSpPr/>
          <p:nvPr/>
        </p:nvSpPr>
        <p:spPr>
          <a:xfrm>
            <a:off x="548256"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Storage Account</a:t>
            </a:r>
          </a:p>
        </p:txBody>
      </p:sp>
      <p:sp>
        <p:nvSpPr>
          <p:cNvPr id="9" name="Rectangle: Rounded Corners 8">
            <a:extLst>
              <a:ext uri="{FF2B5EF4-FFF2-40B4-BE49-F238E27FC236}">
                <a16:creationId xmlns:a16="http://schemas.microsoft.com/office/drawing/2014/main" id="{8CF00466-8B08-FCA7-ADF3-12C4A66984C9}"/>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0" name="Picture 9">
            <a:extLst>
              <a:ext uri="{FF2B5EF4-FFF2-40B4-BE49-F238E27FC236}">
                <a16:creationId xmlns:a16="http://schemas.microsoft.com/office/drawing/2014/main" id="{28CD8E44-B4AD-BF9F-E4CB-4961F31AEC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08588" y="1684533"/>
            <a:ext cx="7456099" cy="4199489"/>
          </a:xfrm>
          <a:prstGeom prst="rect">
            <a:avLst/>
          </a:prstGeom>
        </p:spPr>
      </p:pic>
      <p:sp>
        <p:nvSpPr>
          <p:cNvPr id="11" name="Rectangle 10">
            <a:extLst>
              <a:ext uri="{FF2B5EF4-FFF2-40B4-BE49-F238E27FC236}">
                <a16:creationId xmlns:a16="http://schemas.microsoft.com/office/drawing/2014/main" id="{1931ADC3-C843-E2B2-49A0-EE15D39909C2}"/>
              </a:ext>
            </a:extLst>
          </p:cNvPr>
          <p:cNvSpPr/>
          <p:nvPr/>
        </p:nvSpPr>
        <p:spPr>
          <a:xfrm>
            <a:off x="8064816" y="2020187"/>
            <a:ext cx="21844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2BADEC-4D53-7BB1-629B-CF42071F90F5}"/>
              </a:ext>
            </a:extLst>
          </p:cNvPr>
          <p:cNvSpPr/>
          <p:nvPr/>
        </p:nvSpPr>
        <p:spPr>
          <a:xfrm>
            <a:off x="5391150" y="5700502"/>
            <a:ext cx="632460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1908B6D-EF98-2A76-805A-25ED62A23C2B}"/>
              </a:ext>
            </a:extLst>
          </p:cNvPr>
          <p:cNvSpPr/>
          <p:nvPr/>
        </p:nvSpPr>
        <p:spPr>
          <a:xfrm>
            <a:off x="5915025" y="3631779"/>
            <a:ext cx="214979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C25287-91D4-7D68-105D-35FE6350292C}"/>
              </a:ext>
            </a:extLst>
          </p:cNvPr>
          <p:cNvSpPr/>
          <p:nvPr/>
        </p:nvSpPr>
        <p:spPr>
          <a:xfrm>
            <a:off x="8136637" y="2505261"/>
            <a:ext cx="214979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B2B2677-A4C3-5759-44BD-665C5618F5F8}"/>
              </a:ext>
            </a:extLst>
          </p:cNvPr>
          <p:cNvSpPr/>
          <p:nvPr/>
        </p:nvSpPr>
        <p:spPr>
          <a:xfrm>
            <a:off x="6752337" y="4560727"/>
            <a:ext cx="214979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C27469D-D214-6D22-9615-94EAE517DAE7}"/>
              </a:ext>
            </a:extLst>
          </p:cNvPr>
          <p:cNvSpPr/>
          <p:nvPr/>
        </p:nvSpPr>
        <p:spPr>
          <a:xfrm>
            <a:off x="6096000" y="4807436"/>
            <a:ext cx="2149791" cy="155575"/>
          </a:xfrm>
          <a:prstGeom prst="rect">
            <a:avLst/>
          </a:prstGeom>
          <a:solidFill>
            <a:srgbClr val="0C0C0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895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31139DD3-6906-D8E3-9067-66F6B1A18E7E}"/>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BE3CD977-5FE7-184A-29A0-3C1F1B13D8AC}"/>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4" name="Primary Context Box">
            <a:extLst>
              <a:ext uri="{FF2B5EF4-FFF2-40B4-BE49-F238E27FC236}">
                <a16:creationId xmlns:a16="http://schemas.microsoft.com/office/drawing/2014/main" id="{8B31EC65-2D5C-A6ED-1BFF-760BBA69C2E3}"/>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an Event Hub</a:t>
            </a:r>
          </a:p>
        </p:txBody>
      </p:sp>
      <p:sp>
        <p:nvSpPr>
          <p:cNvPr id="5" name="Rectangle: Rounded Corners 4">
            <a:extLst>
              <a:ext uri="{FF2B5EF4-FFF2-40B4-BE49-F238E27FC236}">
                <a16:creationId xmlns:a16="http://schemas.microsoft.com/office/drawing/2014/main" id="{BA0077BA-64C6-9518-7556-72F489F4C328}"/>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6" name="Primary Context Box">
            <a:extLst>
              <a:ext uri="{FF2B5EF4-FFF2-40B4-BE49-F238E27FC236}">
                <a16:creationId xmlns:a16="http://schemas.microsoft.com/office/drawing/2014/main" id="{A0836560-90F9-0F39-44E6-5F9808D4CE4B}"/>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Assign Roles</a:t>
            </a:r>
          </a:p>
        </p:txBody>
      </p:sp>
      <p:sp>
        <p:nvSpPr>
          <p:cNvPr id="7" name="Rectangle: Rounded Corners 6">
            <a:extLst>
              <a:ext uri="{FF2B5EF4-FFF2-40B4-BE49-F238E27FC236}">
                <a16:creationId xmlns:a16="http://schemas.microsoft.com/office/drawing/2014/main" id="{D95195D0-E685-F364-4AAA-D2B13E1BFC43}"/>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8" name="Primary Context Box">
            <a:extLst>
              <a:ext uri="{FF2B5EF4-FFF2-40B4-BE49-F238E27FC236}">
                <a16:creationId xmlns:a16="http://schemas.microsoft.com/office/drawing/2014/main" id="{93C2A3F6-2E3D-21DF-788E-79C1A04C4454}"/>
              </a:ext>
            </a:extLst>
          </p:cNvPr>
          <p:cNvSpPr/>
          <p:nvPr/>
        </p:nvSpPr>
        <p:spPr>
          <a:xfrm>
            <a:off x="548256"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Storage Account</a:t>
            </a:r>
          </a:p>
        </p:txBody>
      </p:sp>
      <p:sp>
        <p:nvSpPr>
          <p:cNvPr id="9" name="Rectangle: Rounded Corners 8">
            <a:extLst>
              <a:ext uri="{FF2B5EF4-FFF2-40B4-BE49-F238E27FC236}">
                <a16:creationId xmlns:a16="http://schemas.microsoft.com/office/drawing/2014/main" id="{4DF24003-CF32-24AE-B275-F2D7E083C132}"/>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0" name="Primary Context Box">
            <a:extLst>
              <a:ext uri="{FF2B5EF4-FFF2-40B4-BE49-F238E27FC236}">
                <a16:creationId xmlns:a16="http://schemas.microsoft.com/office/drawing/2014/main" id="{FA39018A-2AB1-BD45-D199-0E2926AB3C74}"/>
              </a:ext>
            </a:extLst>
          </p:cNvPr>
          <p:cNvSpPr/>
          <p:nvPr/>
        </p:nvSpPr>
        <p:spPr>
          <a:xfrm>
            <a:off x="548255" y="355845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 Message Producer</a:t>
            </a:r>
          </a:p>
        </p:txBody>
      </p:sp>
      <p:sp>
        <p:nvSpPr>
          <p:cNvPr id="11" name="Rectangle: Rounded Corners 10">
            <a:extLst>
              <a:ext uri="{FF2B5EF4-FFF2-40B4-BE49-F238E27FC236}">
                <a16:creationId xmlns:a16="http://schemas.microsoft.com/office/drawing/2014/main" id="{3211F3F7-CF44-EBF0-A205-E5490B702D38}"/>
              </a:ext>
            </a:extLst>
          </p:cNvPr>
          <p:cNvSpPr/>
          <p:nvPr/>
        </p:nvSpPr>
        <p:spPr>
          <a:xfrm>
            <a:off x="548256" y="2933243"/>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2" name="Picture 11">
            <a:extLst>
              <a:ext uri="{FF2B5EF4-FFF2-40B4-BE49-F238E27FC236}">
                <a16:creationId xmlns:a16="http://schemas.microsoft.com/office/drawing/2014/main" id="{903ED414-E30E-38BD-DE85-C306B106B31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17292" y="958635"/>
            <a:ext cx="7487167" cy="4940729"/>
          </a:xfrm>
          <a:prstGeom prst="rect">
            <a:avLst/>
          </a:prstGeom>
        </p:spPr>
      </p:pic>
    </p:spTree>
    <p:extLst>
      <p:ext uri="{BB962C8B-B14F-4D97-AF65-F5344CB8AC3E}">
        <p14:creationId xmlns:p14="http://schemas.microsoft.com/office/powerpoint/2010/main" val="18950059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636D66FC-8BF1-295E-B99B-C06DBEA0A398}"/>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1B88ADA9-7999-C217-5DC0-3BB9DED03F1E}"/>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4" name="Primary Context Box">
            <a:extLst>
              <a:ext uri="{FF2B5EF4-FFF2-40B4-BE49-F238E27FC236}">
                <a16:creationId xmlns:a16="http://schemas.microsoft.com/office/drawing/2014/main" id="{AD143079-2278-7C8C-5841-9B5ED2DDBCD6}"/>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an Event Hub</a:t>
            </a:r>
          </a:p>
        </p:txBody>
      </p:sp>
      <p:sp>
        <p:nvSpPr>
          <p:cNvPr id="5" name="Rectangle: Rounded Corners 4">
            <a:extLst>
              <a:ext uri="{FF2B5EF4-FFF2-40B4-BE49-F238E27FC236}">
                <a16:creationId xmlns:a16="http://schemas.microsoft.com/office/drawing/2014/main" id="{2434A866-C803-8B81-C877-6AC22EE2FF54}"/>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6" name="Primary Context Box">
            <a:extLst>
              <a:ext uri="{FF2B5EF4-FFF2-40B4-BE49-F238E27FC236}">
                <a16:creationId xmlns:a16="http://schemas.microsoft.com/office/drawing/2014/main" id="{6765143C-EE0D-E153-C8C1-ED12826DC69D}"/>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Assign Roles</a:t>
            </a:r>
          </a:p>
        </p:txBody>
      </p:sp>
      <p:sp>
        <p:nvSpPr>
          <p:cNvPr id="7" name="Rectangle: Rounded Corners 6">
            <a:extLst>
              <a:ext uri="{FF2B5EF4-FFF2-40B4-BE49-F238E27FC236}">
                <a16:creationId xmlns:a16="http://schemas.microsoft.com/office/drawing/2014/main" id="{7E2780C8-62EB-6A0A-5661-A92D5DC048F6}"/>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8" name="Primary Context Box">
            <a:extLst>
              <a:ext uri="{FF2B5EF4-FFF2-40B4-BE49-F238E27FC236}">
                <a16:creationId xmlns:a16="http://schemas.microsoft.com/office/drawing/2014/main" id="{481F730C-39D9-0162-1E78-9373CB5B307C}"/>
              </a:ext>
            </a:extLst>
          </p:cNvPr>
          <p:cNvSpPr/>
          <p:nvPr/>
        </p:nvSpPr>
        <p:spPr>
          <a:xfrm>
            <a:off x="548256"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Storage Account</a:t>
            </a:r>
          </a:p>
        </p:txBody>
      </p:sp>
      <p:sp>
        <p:nvSpPr>
          <p:cNvPr id="9" name="Rectangle: Rounded Corners 8">
            <a:extLst>
              <a:ext uri="{FF2B5EF4-FFF2-40B4-BE49-F238E27FC236}">
                <a16:creationId xmlns:a16="http://schemas.microsoft.com/office/drawing/2014/main" id="{0DC875CA-C085-97BC-4AC1-5FA787042D90}"/>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0" name="Primary Context Box">
            <a:extLst>
              <a:ext uri="{FF2B5EF4-FFF2-40B4-BE49-F238E27FC236}">
                <a16:creationId xmlns:a16="http://schemas.microsoft.com/office/drawing/2014/main" id="{F3BC2305-F0AB-5C59-3AC3-978689825E5C}"/>
              </a:ext>
            </a:extLst>
          </p:cNvPr>
          <p:cNvSpPr/>
          <p:nvPr/>
        </p:nvSpPr>
        <p:spPr>
          <a:xfrm>
            <a:off x="548255" y="355845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 Message Producer</a:t>
            </a:r>
          </a:p>
        </p:txBody>
      </p:sp>
      <p:sp>
        <p:nvSpPr>
          <p:cNvPr id="11" name="Rectangle: Rounded Corners 10">
            <a:extLst>
              <a:ext uri="{FF2B5EF4-FFF2-40B4-BE49-F238E27FC236}">
                <a16:creationId xmlns:a16="http://schemas.microsoft.com/office/drawing/2014/main" id="{023D9CEE-7972-C40B-42AB-9ADFDCBCBD41}"/>
              </a:ext>
            </a:extLst>
          </p:cNvPr>
          <p:cNvSpPr/>
          <p:nvPr/>
        </p:nvSpPr>
        <p:spPr>
          <a:xfrm>
            <a:off x="548256" y="2933243"/>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2" name="Picture 11">
            <a:extLst>
              <a:ext uri="{FF2B5EF4-FFF2-40B4-BE49-F238E27FC236}">
                <a16:creationId xmlns:a16="http://schemas.microsoft.com/office/drawing/2014/main" id="{D9F9AF3C-84A9-09FD-FD43-A13B958A4B6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92777" y="731477"/>
            <a:ext cx="5685366" cy="5538648"/>
          </a:xfrm>
          <a:prstGeom prst="rect">
            <a:avLst/>
          </a:prstGeom>
        </p:spPr>
      </p:pic>
    </p:spTree>
    <p:extLst>
      <p:ext uri="{BB962C8B-B14F-4D97-AF65-F5344CB8AC3E}">
        <p14:creationId xmlns:p14="http://schemas.microsoft.com/office/powerpoint/2010/main" val="2195057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5C7EB0F0-2961-F40F-4764-09D704899B47}"/>
              </a:ext>
            </a:extLst>
          </p:cNvPr>
          <p:cNvSpPr txBox="1">
            <a:spLocks/>
          </p:cNvSpPr>
          <p:nvPr/>
        </p:nvSpPr>
        <p:spPr>
          <a:xfrm>
            <a:off x="548640" y="457200"/>
            <a:ext cx="3575304" cy="5913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Documentation</a:t>
            </a:r>
          </a:p>
        </p:txBody>
      </p:sp>
      <p:sp>
        <p:nvSpPr>
          <p:cNvPr id="3" name="Primary Context Box">
            <a:extLst>
              <a:ext uri="{FF2B5EF4-FFF2-40B4-BE49-F238E27FC236}">
                <a16:creationId xmlns:a16="http://schemas.microsoft.com/office/drawing/2014/main" id="{9D93F599-28F0-FA5F-E9B3-96DA3A994F01}"/>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4" name="Primary Context Box">
            <a:extLst>
              <a:ext uri="{FF2B5EF4-FFF2-40B4-BE49-F238E27FC236}">
                <a16:creationId xmlns:a16="http://schemas.microsoft.com/office/drawing/2014/main" id="{DEAE8BFE-238B-3017-A246-3DC1929BA64C}"/>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an Event Hub</a:t>
            </a:r>
          </a:p>
        </p:txBody>
      </p:sp>
      <p:sp>
        <p:nvSpPr>
          <p:cNvPr id="5" name="Rectangle: Rounded Corners 4">
            <a:extLst>
              <a:ext uri="{FF2B5EF4-FFF2-40B4-BE49-F238E27FC236}">
                <a16:creationId xmlns:a16="http://schemas.microsoft.com/office/drawing/2014/main" id="{B4A38FB3-B758-6FEA-FD06-DD3602663358}"/>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6" name="Primary Context Box">
            <a:extLst>
              <a:ext uri="{FF2B5EF4-FFF2-40B4-BE49-F238E27FC236}">
                <a16:creationId xmlns:a16="http://schemas.microsoft.com/office/drawing/2014/main" id="{90CB3297-DA63-34F4-5C04-DEF29B1A7571}"/>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Assign Roles</a:t>
            </a:r>
          </a:p>
        </p:txBody>
      </p:sp>
      <p:sp>
        <p:nvSpPr>
          <p:cNvPr id="7" name="Rectangle: Rounded Corners 6">
            <a:extLst>
              <a:ext uri="{FF2B5EF4-FFF2-40B4-BE49-F238E27FC236}">
                <a16:creationId xmlns:a16="http://schemas.microsoft.com/office/drawing/2014/main" id="{5E489506-B9BD-5F5B-4306-A29CBC7B070C}"/>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8" name="Primary Context Box">
            <a:extLst>
              <a:ext uri="{FF2B5EF4-FFF2-40B4-BE49-F238E27FC236}">
                <a16:creationId xmlns:a16="http://schemas.microsoft.com/office/drawing/2014/main" id="{2B6C84CC-8B22-44BB-3CC1-AF1C1F332E07}"/>
              </a:ext>
            </a:extLst>
          </p:cNvPr>
          <p:cNvSpPr/>
          <p:nvPr/>
        </p:nvSpPr>
        <p:spPr>
          <a:xfrm>
            <a:off x="548256"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Storage Account</a:t>
            </a:r>
          </a:p>
        </p:txBody>
      </p:sp>
      <p:sp>
        <p:nvSpPr>
          <p:cNvPr id="9" name="Rectangle: Rounded Corners 8">
            <a:extLst>
              <a:ext uri="{FF2B5EF4-FFF2-40B4-BE49-F238E27FC236}">
                <a16:creationId xmlns:a16="http://schemas.microsoft.com/office/drawing/2014/main" id="{92FF2259-2DE1-01B5-293D-04F2B3ED6D39}"/>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0" name="Primary Context Box">
            <a:extLst>
              <a:ext uri="{FF2B5EF4-FFF2-40B4-BE49-F238E27FC236}">
                <a16:creationId xmlns:a16="http://schemas.microsoft.com/office/drawing/2014/main" id="{7D614328-68E9-0BCB-2505-03D78D662772}"/>
              </a:ext>
            </a:extLst>
          </p:cNvPr>
          <p:cNvSpPr/>
          <p:nvPr/>
        </p:nvSpPr>
        <p:spPr>
          <a:xfrm>
            <a:off x="548255" y="355845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 Message Producer</a:t>
            </a:r>
          </a:p>
        </p:txBody>
      </p:sp>
      <p:sp>
        <p:nvSpPr>
          <p:cNvPr id="11" name="Rectangle: Rounded Corners 10">
            <a:extLst>
              <a:ext uri="{FF2B5EF4-FFF2-40B4-BE49-F238E27FC236}">
                <a16:creationId xmlns:a16="http://schemas.microsoft.com/office/drawing/2014/main" id="{56B6B4F7-E192-D94E-2CDC-61F7D8275EAD}"/>
              </a:ext>
            </a:extLst>
          </p:cNvPr>
          <p:cNvSpPr/>
          <p:nvPr/>
        </p:nvSpPr>
        <p:spPr>
          <a:xfrm>
            <a:off x="548256" y="2933243"/>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2" name="Primary Context Box">
            <a:extLst>
              <a:ext uri="{FF2B5EF4-FFF2-40B4-BE49-F238E27FC236}">
                <a16:creationId xmlns:a16="http://schemas.microsoft.com/office/drawing/2014/main" id="{7E4591E4-0445-3D13-41FB-0D51BC596E46}"/>
              </a:ext>
            </a:extLst>
          </p:cNvPr>
          <p:cNvSpPr/>
          <p:nvPr/>
        </p:nvSpPr>
        <p:spPr>
          <a:xfrm>
            <a:off x="548255" y="418365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a Message Producer</a:t>
            </a:r>
          </a:p>
        </p:txBody>
      </p:sp>
      <p:sp>
        <p:nvSpPr>
          <p:cNvPr id="13" name="Rectangle: Rounded Corners 12">
            <a:extLst>
              <a:ext uri="{FF2B5EF4-FFF2-40B4-BE49-F238E27FC236}">
                <a16:creationId xmlns:a16="http://schemas.microsoft.com/office/drawing/2014/main" id="{656CE043-1B22-3D6A-0B15-629EF6056903}"/>
              </a:ext>
            </a:extLst>
          </p:cNvPr>
          <p:cNvSpPr/>
          <p:nvPr/>
        </p:nvSpPr>
        <p:spPr>
          <a:xfrm>
            <a:off x="548255" y="3558451"/>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4" name="Picture 13">
            <a:extLst>
              <a:ext uri="{FF2B5EF4-FFF2-40B4-BE49-F238E27FC236}">
                <a16:creationId xmlns:a16="http://schemas.microsoft.com/office/drawing/2014/main" id="{896943C4-ACDB-E7CD-ABB1-9D836143003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327738" y="1203518"/>
            <a:ext cx="3698468" cy="2915194"/>
          </a:xfrm>
          <a:prstGeom prst="rect">
            <a:avLst/>
          </a:prstGeom>
        </p:spPr>
      </p:pic>
      <p:pic>
        <p:nvPicPr>
          <p:cNvPr id="15" name="Picture 14">
            <a:extLst>
              <a:ext uri="{FF2B5EF4-FFF2-40B4-BE49-F238E27FC236}">
                <a16:creationId xmlns:a16="http://schemas.microsoft.com/office/drawing/2014/main" id="{7ED3BE3B-FD6B-E43C-5931-1D8E9C00C1C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344076" y="1203518"/>
            <a:ext cx="3645465" cy="2915194"/>
          </a:xfrm>
          <a:prstGeom prst="rect">
            <a:avLst/>
          </a:prstGeom>
        </p:spPr>
      </p:pic>
      <p:pic>
        <p:nvPicPr>
          <p:cNvPr id="16" name="Picture 15">
            <a:extLst>
              <a:ext uri="{FF2B5EF4-FFF2-40B4-BE49-F238E27FC236}">
                <a16:creationId xmlns:a16="http://schemas.microsoft.com/office/drawing/2014/main" id="{F1A7EF24-FE8D-9C87-F76B-9102627C4B84}"/>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327739" y="1203519"/>
            <a:ext cx="3698468" cy="2855068"/>
          </a:xfrm>
          <a:prstGeom prst="rect">
            <a:avLst/>
          </a:prstGeom>
        </p:spPr>
      </p:pic>
      <p:pic>
        <p:nvPicPr>
          <p:cNvPr id="17" name="Picture 16">
            <a:extLst>
              <a:ext uri="{FF2B5EF4-FFF2-40B4-BE49-F238E27FC236}">
                <a16:creationId xmlns:a16="http://schemas.microsoft.com/office/drawing/2014/main" id="{4A96B08C-7F87-E442-C0EB-998F61586DC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274433" y="1177331"/>
            <a:ext cx="3784750" cy="2921674"/>
          </a:xfrm>
          <a:prstGeom prst="rect">
            <a:avLst/>
          </a:prstGeom>
        </p:spPr>
      </p:pic>
    </p:spTree>
    <p:extLst>
      <p:ext uri="{BB962C8B-B14F-4D97-AF65-F5344CB8AC3E}">
        <p14:creationId xmlns:p14="http://schemas.microsoft.com/office/powerpoint/2010/main" val="20901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F14D0C-AA4F-4CEE-B8B2-EA02A25A62D9}"/>
              </a:ext>
            </a:extLst>
          </p:cNvPr>
          <p:cNvSpPr>
            <a:spLocks noGrp="1"/>
          </p:cNvSpPr>
          <p:nvPr>
            <p:ph idx="1"/>
          </p:nvPr>
        </p:nvSpPr>
        <p:spPr/>
        <p:txBody>
          <a:bodyPr/>
          <a:lstStyle/>
          <a:p>
            <a:r>
              <a:rPr lang="en-US" dirty="0"/>
              <a:t>Real-time processing on data enables quick decision-making and responsiveness.</a:t>
            </a:r>
          </a:p>
          <a:p>
            <a:r>
              <a:rPr lang="en-US" dirty="0"/>
              <a:t>Event streaming supports high volumes of data and multiple consumes.</a:t>
            </a:r>
          </a:p>
          <a:p>
            <a:r>
              <a:rPr lang="en-US" dirty="0"/>
              <a:t>Enhances data integration and real-time analytics capabilities.</a:t>
            </a:r>
          </a:p>
        </p:txBody>
      </p:sp>
      <p:sp>
        <p:nvSpPr>
          <p:cNvPr id="3" name="Title 2">
            <a:extLst>
              <a:ext uri="{FF2B5EF4-FFF2-40B4-BE49-F238E27FC236}">
                <a16:creationId xmlns:a16="http://schemas.microsoft.com/office/drawing/2014/main" id="{9C6B6C75-A652-DF75-A674-FDA13F2A02AA}"/>
              </a:ext>
            </a:extLst>
          </p:cNvPr>
          <p:cNvSpPr>
            <a:spLocks noGrp="1"/>
          </p:cNvSpPr>
          <p:nvPr>
            <p:ph type="title"/>
          </p:nvPr>
        </p:nvSpPr>
        <p:spPr/>
        <p:txBody>
          <a:bodyPr/>
          <a:lstStyle/>
          <a:p>
            <a:r>
              <a:rPr lang="en-US" dirty="0"/>
              <a:t>Key Points to Remember</a:t>
            </a:r>
          </a:p>
        </p:txBody>
      </p:sp>
    </p:spTree>
    <p:extLst>
      <p:ext uri="{BB962C8B-B14F-4D97-AF65-F5344CB8AC3E}">
        <p14:creationId xmlns:p14="http://schemas.microsoft.com/office/powerpoint/2010/main" val="2073004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29278-AB7B-9882-BB77-CF9BDCCF71D0}"/>
              </a:ext>
            </a:extLst>
          </p:cNvPr>
          <p:cNvSpPr>
            <a:spLocks noGrp="1"/>
          </p:cNvSpPr>
          <p:nvPr>
            <p:ph type="title"/>
          </p:nvPr>
        </p:nvSpPr>
        <p:spPr/>
        <p:txBody>
          <a:bodyPr/>
          <a:lstStyle/>
          <a:p>
            <a:r>
              <a:rPr lang="en-US" dirty="0"/>
              <a:t>Streaming</a:t>
            </a:r>
          </a:p>
        </p:txBody>
      </p:sp>
      <p:sp>
        <p:nvSpPr>
          <p:cNvPr id="3" name="Text Placeholder 2">
            <a:extLst>
              <a:ext uri="{FF2B5EF4-FFF2-40B4-BE49-F238E27FC236}">
                <a16:creationId xmlns:a16="http://schemas.microsoft.com/office/drawing/2014/main" id="{8D1CE52F-8D68-5FD5-507E-BFE9F20C91E9}"/>
              </a:ext>
            </a:extLst>
          </p:cNvPr>
          <p:cNvSpPr>
            <a:spLocks noGrp="1"/>
          </p:cNvSpPr>
          <p:nvPr>
            <p:ph type="body" sz="quarter" idx="10"/>
          </p:nvPr>
        </p:nvSpPr>
        <p:spPr/>
        <p:txBody>
          <a:bodyPr/>
          <a:lstStyle/>
          <a:p>
            <a:r>
              <a:rPr lang="en-US" dirty="0"/>
              <a:t>Wrap-Up</a:t>
            </a:r>
          </a:p>
        </p:txBody>
      </p:sp>
    </p:spTree>
    <p:extLst>
      <p:ext uri="{BB962C8B-B14F-4D97-AF65-F5344CB8AC3E}">
        <p14:creationId xmlns:p14="http://schemas.microsoft.com/office/powerpoint/2010/main" val="1126871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AF1C-DA7B-5F4A-8778-A6641D944553}"/>
              </a:ext>
            </a:extLst>
          </p:cNvPr>
          <p:cNvSpPr>
            <a:spLocks noGrp="1"/>
          </p:cNvSpPr>
          <p:nvPr>
            <p:ph type="title"/>
          </p:nvPr>
        </p:nvSpPr>
        <p:spPr/>
        <p:txBody>
          <a:bodyPr/>
          <a:lstStyle/>
          <a:p>
            <a:r>
              <a:rPr lang="en-US" dirty="0"/>
              <a:t>Key Takeaways</a:t>
            </a:r>
          </a:p>
        </p:txBody>
      </p:sp>
      <p:sp>
        <p:nvSpPr>
          <p:cNvPr id="4" name="Rectangle: Rounded Corners 3">
            <a:extLst>
              <a:ext uri="{FF2B5EF4-FFF2-40B4-BE49-F238E27FC236}">
                <a16:creationId xmlns:a16="http://schemas.microsoft.com/office/drawing/2014/main" id="{246E66F7-4253-0A19-62D3-FE41073EE861}"/>
              </a:ext>
            </a:extLst>
          </p:cNvPr>
          <p:cNvSpPr/>
          <p:nvPr/>
        </p:nvSpPr>
        <p:spPr>
          <a:xfrm>
            <a:off x="4307681" y="2498726"/>
            <a:ext cx="3576637" cy="18589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Event Streaming</a:t>
            </a:r>
          </a:p>
        </p:txBody>
      </p:sp>
    </p:spTree>
    <p:extLst>
      <p:ext uri="{BB962C8B-B14F-4D97-AF65-F5344CB8AC3E}">
        <p14:creationId xmlns:p14="http://schemas.microsoft.com/office/powerpoint/2010/main" val="2579640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DB07-036F-21EA-0F3B-6B1DA4B6C50A}"/>
              </a:ext>
            </a:extLst>
          </p:cNvPr>
          <p:cNvSpPr>
            <a:spLocks noGrp="1"/>
          </p:cNvSpPr>
          <p:nvPr>
            <p:ph type="title"/>
          </p:nvPr>
        </p:nvSpPr>
        <p:spPr/>
        <p:txBody>
          <a:bodyPr>
            <a:normAutofit fontScale="90000"/>
          </a:bodyPr>
          <a:lstStyle/>
          <a:p>
            <a:r>
              <a:rPr lang="en-US" dirty="0"/>
              <a:t>Preview of What’s Next in the Workshop</a:t>
            </a:r>
          </a:p>
        </p:txBody>
      </p:sp>
      <p:sp>
        <p:nvSpPr>
          <p:cNvPr id="3" name="Primary Context Box">
            <a:extLst>
              <a:ext uri="{FF2B5EF4-FFF2-40B4-BE49-F238E27FC236}">
                <a16:creationId xmlns:a16="http://schemas.microsoft.com/office/drawing/2014/main" id="{95B70A07-A2B7-0815-C156-7D28D413F981}"/>
              </a:ext>
            </a:extLst>
          </p:cNvPr>
          <p:cNvSpPr/>
          <p:nvPr/>
        </p:nvSpPr>
        <p:spPr>
          <a:xfrm>
            <a:off x="1020762" y="1477963"/>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Messaging Essentials</a:t>
            </a:r>
          </a:p>
        </p:txBody>
      </p:sp>
      <p:sp>
        <p:nvSpPr>
          <p:cNvPr id="9" name="Rectangle: Rounded Corners 8">
            <a:extLst>
              <a:ext uri="{FF2B5EF4-FFF2-40B4-BE49-F238E27FC236}">
                <a16:creationId xmlns:a16="http://schemas.microsoft.com/office/drawing/2014/main" id="{F6F2E2BD-19F3-AC5C-1426-88F43624D2D7}"/>
              </a:ext>
            </a:extLst>
          </p:cNvPr>
          <p:cNvSpPr/>
          <p:nvPr/>
        </p:nvSpPr>
        <p:spPr>
          <a:xfrm>
            <a:off x="6657657" y="1477963"/>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Core Messaging Patterns</a:t>
            </a:r>
          </a:p>
        </p:txBody>
      </p:sp>
      <p:sp>
        <p:nvSpPr>
          <p:cNvPr id="10" name="Rectangle: Rounded Corners 9">
            <a:extLst>
              <a:ext uri="{FF2B5EF4-FFF2-40B4-BE49-F238E27FC236}">
                <a16:creationId xmlns:a16="http://schemas.microsoft.com/office/drawing/2014/main" id="{142B842D-B53E-1FEC-1C52-3EFA88D1946C}"/>
              </a:ext>
            </a:extLst>
          </p:cNvPr>
          <p:cNvSpPr/>
          <p:nvPr/>
        </p:nvSpPr>
        <p:spPr>
          <a:xfrm>
            <a:off x="1018856" y="2489483"/>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Routing &amp; Processing</a:t>
            </a:r>
          </a:p>
        </p:txBody>
      </p:sp>
      <p:sp>
        <p:nvSpPr>
          <p:cNvPr id="11" name="Rectangle: Rounded Corners 10">
            <a:extLst>
              <a:ext uri="{FF2B5EF4-FFF2-40B4-BE49-F238E27FC236}">
                <a16:creationId xmlns:a16="http://schemas.microsoft.com/office/drawing/2014/main" id="{6EFCEC62-ED8E-60DB-86A2-4A8BC0C98705}"/>
              </a:ext>
            </a:extLst>
          </p:cNvPr>
          <p:cNvSpPr/>
          <p:nvPr/>
        </p:nvSpPr>
        <p:spPr>
          <a:xfrm>
            <a:off x="6658610" y="2495815"/>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Advanced Processing Techniques</a:t>
            </a:r>
          </a:p>
        </p:txBody>
      </p:sp>
      <p:sp>
        <p:nvSpPr>
          <p:cNvPr id="12" name="Rectangle: Rounded Corners 11">
            <a:extLst>
              <a:ext uri="{FF2B5EF4-FFF2-40B4-BE49-F238E27FC236}">
                <a16:creationId xmlns:a16="http://schemas.microsoft.com/office/drawing/2014/main" id="{C2853758-C8FF-38BF-BF31-97889C27F874}"/>
              </a:ext>
            </a:extLst>
          </p:cNvPr>
          <p:cNvSpPr/>
          <p:nvPr/>
        </p:nvSpPr>
        <p:spPr>
          <a:xfrm>
            <a:off x="1018856" y="3526756"/>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Resilience &amp; Reliability</a:t>
            </a:r>
          </a:p>
        </p:txBody>
      </p:sp>
      <p:sp>
        <p:nvSpPr>
          <p:cNvPr id="13" name="Rectangle: Rounded Corners 12">
            <a:extLst>
              <a:ext uri="{FF2B5EF4-FFF2-40B4-BE49-F238E27FC236}">
                <a16:creationId xmlns:a16="http://schemas.microsoft.com/office/drawing/2014/main" id="{61CDBE5B-B45A-4425-B434-170136091110}"/>
              </a:ext>
            </a:extLst>
          </p:cNvPr>
          <p:cNvSpPr/>
          <p:nvPr/>
        </p:nvSpPr>
        <p:spPr>
          <a:xfrm>
            <a:off x="6658610" y="3520281"/>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Streaming &amp; Integrations</a:t>
            </a:r>
          </a:p>
        </p:txBody>
      </p:sp>
      <p:sp>
        <p:nvSpPr>
          <p:cNvPr id="14" name="Rectangle: Rounded Corners 13">
            <a:extLst>
              <a:ext uri="{FF2B5EF4-FFF2-40B4-BE49-F238E27FC236}">
                <a16:creationId xmlns:a16="http://schemas.microsoft.com/office/drawing/2014/main" id="{AE2DDD8E-54D6-645D-5959-085CB3501568}"/>
              </a:ext>
            </a:extLst>
          </p:cNvPr>
          <p:cNvSpPr/>
          <p:nvPr/>
        </p:nvSpPr>
        <p:spPr>
          <a:xfrm>
            <a:off x="1018858" y="4531801"/>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Design Considerations</a:t>
            </a:r>
          </a:p>
        </p:txBody>
      </p:sp>
      <p:sp>
        <p:nvSpPr>
          <p:cNvPr id="15" name="Rectangle: Rounded Corners 14">
            <a:extLst>
              <a:ext uri="{FF2B5EF4-FFF2-40B4-BE49-F238E27FC236}">
                <a16:creationId xmlns:a16="http://schemas.microsoft.com/office/drawing/2014/main" id="{F95599BB-3A5B-8440-C2DD-6A14FC4B8BFA}"/>
              </a:ext>
            </a:extLst>
          </p:cNvPr>
          <p:cNvSpPr/>
          <p:nvPr/>
        </p:nvSpPr>
        <p:spPr>
          <a:xfrm>
            <a:off x="6658610" y="4564239"/>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Hands-On Exercises</a:t>
            </a:r>
          </a:p>
        </p:txBody>
      </p:sp>
    </p:spTree>
    <p:extLst>
      <p:ext uri="{BB962C8B-B14F-4D97-AF65-F5344CB8AC3E}">
        <p14:creationId xmlns:p14="http://schemas.microsoft.com/office/powerpoint/2010/main" val="15231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2" fill="hold" nodeType="afterEffect">
                                  <p:stCondLst>
                                    <p:cond delay="0"/>
                                  </p:stCondLst>
                                  <p:childTnLst>
                                    <p:animClr clrSpc="rgb" dir="cw">
                                      <p:cBhvr>
                                        <p:cTn id="6" dur="1000" fill="hold"/>
                                        <p:tgtEl>
                                          <p:spTgt spid="3"/>
                                        </p:tgtEl>
                                        <p:attrNameLst>
                                          <p:attrName>fillcolor</p:attrName>
                                        </p:attrNameLst>
                                      </p:cBhvr>
                                      <p:to>
                                        <a:schemeClr val="accent2"/>
                                      </p:to>
                                    </p:animClr>
                                    <p:set>
                                      <p:cBhvr>
                                        <p:cTn id="7" dur="1000" fill="hold"/>
                                        <p:tgtEl>
                                          <p:spTgt spid="3"/>
                                        </p:tgtEl>
                                        <p:attrNameLst>
                                          <p:attrName>fill.type</p:attrName>
                                        </p:attrNameLst>
                                      </p:cBhvr>
                                      <p:to>
                                        <p:strVal val="solid"/>
                                      </p:to>
                                    </p:set>
                                    <p:set>
                                      <p:cBhvr>
                                        <p:cTn id="8" dur="1000" fill="hold"/>
                                        <p:tgtEl>
                                          <p:spTgt spid="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9"/>
                                        </p:tgtEl>
                                        <p:attrNameLst>
                                          <p:attrName>fillcolor</p:attrName>
                                        </p:attrNameLst>
                                      </p:cBhvr>
                                      <p:to>
                                        <a:schemeClr val="accent2"/>
                                      </p:to>
                                    </p:animClr>
                                    <p:set>
                                      <p:cBhvr>
                                        <p:cTn id="11" dur="1000" fill="hold"/>
                                        <p:tgtEl>
                                          <p:spTgt spid="9"/>
                                        </p:tgtEl>
                                        <p:attrNameLst>
                                          <p:attrName>fill.type</p:attrName>
                                        </p:attrNameLst>
                                      </p:cBhvr>
                                      <p:to>
                                        <p:strVal val="solid"/>
                                      </p:to>
                                    </p:set>
                                    <p:set>
                                      <p:cBhvr>
                                        <p:cTn id="12" dur="1000" fill="hold"/>
                                        <p:tgtEl>
                                          <p:spTgt spid="9"/>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10"/>
                                        </p:tgtEl>
                                        <p:attrNameLst>
                                          <p:attrName>fillcolor</p:attrName>
                                        </p:attrNameLst>
                                      </p:cBhvr>
                                      <p:to>
                                        <a:schemeClr val="accent2"/>
                                      </p:to>
                                    </p:animClr>
                                    <p:set>
                                      <p:cBhvr>
                                        <p:cTn id="15" dur="1000" fill="hold"/>
                                        <p:tgtEl>
                                          <p:spTgt spid="10"/>
                                        </p:tgtEl>
                                        <p:attrNameLst>
                                          <p:attrName>fill.type</p:attrName>
                                        </p:attrNameLst>
                                      </p:cBhvr>
                                      <p:to>
                                        <p:strVal val="solid"/>
                                      </p:to>
                                    </p:set>
                                    <p:set>
                                      <p:cBhvr>
                                        <p:cTn id="16" dur="1000" fill="hold"/>
                                        <p:tgtEl>
                                          <p:spTgt spid="10"/>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11"/>
                                        </p:tgtEl>
                                        <p:attrNameLst>
                                          <p:attrName>fillcolor</p:attrName>
                                        </p:attrNameLst>
                                      </p:cBhvr>
                                      <p:to>
                                        <a:schemeClr val="accent2"/>
                                      </p:to>
                                    </p:animClr>
                                    <p:set>
                                      <p:cBhvr>
                                        <p:cTn id="19" dur="1000" fill="hold"/>
                                        <p:tgtEl>
                                          <p:spTgt spid="11"/>
                                        </p:tgtEl>
                                        <p:attrNameLst>
                                          <p:attrName>fill.type</p:attrName>
                                        </p:attrNameLst>
                                      </p:cBhvr>
                                      <p:to>
                                        <p:strVal val="solid"/>
                                      </p:to>
                                    </p:set>
                                    <p:set>
                                      <p:cBhvr>
                                        <p:cTn id="20" dur="1000" fill="hold"/>
                                        <p:tgtEl>
                                          <p:spTgt spid="11"/>
                                        </p:tgtEl>
                                        <p:attrNameLst>
                                          <p:attrName>fill.on</p:attrName>
                                        </p:attrNameLst>
                                      </p:cBhvr>
                                      <p:to>
                                        <p:strVal val="true"/>
                                      </p:to>
                                    </p:set>
                                  </p:childTnLst>
                                </p:cTn>
                              </p:par>
                              <p:par>
                                <p:cTn id="21" presetID="1" presetClass="emph" presetSubtype="2" fill="hold" grpId="0" nodeType="withEffect">
                                  <p:stCondLst>
                                    <p:cond delay="0"/>
                                  </p:stCondLst>
                                  <p:childTnLst>
                                    <p:animClr clrSpc="rgb" dir="cw">
                                      <p:cBhvr>
                                        <p:cTn id="22" dur="1000" fill="hold"/>
                                        <p:tgtEl>
                                          <p:spTgt spid="12"/>
                                        </p:tgtEl>
                                        <p:attrNameLst>
                                          <p:attrName>fillcolor</p:attrName>
                                        </p:attrNameLst>
                                      </p:cBhvr>
                                      <p:to>
                                        <a:schemeClr val="hlink"/>
                                      </p:to>
                                    </p:animClr>
                                    <p:set>
                                      <p:cBhvr>
                                        <p:cTn id="23" dur="1000" fill="hold"/>
                                        <p:tgtEl>
                                          <p:spTgt spid="12"/>
                                        </p:tgtEl>
                                        <p:attrNameLst>
                                          <p:attrName>fill.type</p:attrName>
                                        </p:attrNameLst>
                                      </p:cBhvr>
                                      <p:to>
                                        <p:strVal val="solid"/>
                                      </p:to>
                                    </p:set>
                                    <p:set>
                                      <p:cBhvr>
                                        <p:cTn id="24" dur="1000" fill="hold"/>
                                        <p:tgtEl>
                                          <p:spTgt spid="12"/>
                                        </p:tgtEl>
                                        <p:attrNameLst>
                                          <p:attrName>fill.on</p:attrName>
                                        </p:attrNameLst>
                                      </p:cBhvr>
                                      <p:to>
                                        <p:strVal val="true"/>
                                      </p:to>
                                    </p:set>
                                  </p:childTnLst>
                                </p:cTn>
                              </p:par>
                              <p:par>
                                <p:cTn id="25" presetID="1" presetClass="emph" presetSubtype="2" fill="hold" nodeType="withEffect">
                                  <p:stCondLst>
                                    <p:cond delay="0"/>
                                  </p:stCondLst>
                                  <p:childTnLst>
                                    <p:animClr clrSpc="rgb" dir="cw">
                                      <p:cBhvr>
                                        <p:cTn id="26" dur="1000" fill="hold"/>
                                        <p:tgtEl>
                                          <p:spTgt spid="13"/>
                                        </p:tgtEl>
                                        <p:attrNameLst>
                                          <p:attrName>fillcolor</p:attrName>
                                        </p:attrNameLst>
                                      </p:cBhvr>
                                      <p:to>
                                        <a:schemeClr val="hlink"/>
                                      </p:to>
                                    </p:animClr>
                                    <p:set>
                                      <p:cBhvr>
                                        <p:cTn id="27" dur="1000" fill="hold"/>
                                        <p:tgtEl>
                                          <p:spTgt spid="13"/>
                                        </p:tgtEl>
                                        <p:attrNameLst>
                                          <p:attrName>fill.type</p:attrName>
                                        </p:attrNameLst>
                                      </p:cBhvr>
                                      <p:to>
                                        <p:strVal val="solid"/>
                                      </p:to>
                                    </p:set>
                                    <p:set>
                                      <p:cBhvr>
                                        <p:cTn id="28" dur="1000" fill="hold"/>
                                        <p:tgtEl>
                                          <p:spTgt spid="13"/>
                                        </p:tgtEl>
                                        <p:attrNameLst>
                                          <p:attrName>fill.on</p:attrName>
                                        </p:attrNameLst>
                                      </p:cBhvr>
                                      <p:to>
                                        <p:strVal val="true"/>
                                      </p:to>
                                    </p:set>
                                  </p:childTnLst>
                                </p:cTn>
                              </p:par>
                            </p:childTnLst>
                          </p:cTn>
                        </p:par>
                        <p:par>
                          <p:cTn id="29" fill="hold">
                            <p:stCondLst>
                              <p:cond delay="1000"/>
                            </p:stCondLst>
                            <p:childTnLst>
                              <p:par>
                                <p:cTn id="30" presetID="1" presetClass="emph" presetSubtype="2" fill="hold" nodeType="afterEffect">
                                  <p:stCondLst>
                                    <p:cond delay="0"/>
                                  </p:stCondLst>
                                  <p:childTnLst>
                                    <p:animClr clrSpc="rgb" dir="cw">
                                      <p:cBhvr>
                                        <p:cTn id="31" dur="1000" fill="hold"/>
                                        <p:tgtEl>
                                          <p:spTgt spid="14"/>
                                        </p:tgtEl>
                                        <p:attrNameLst>
                                          <p:attrName>fillcolor</p:attrName>
                                        </p:attrNameLst>
                                      </p:cBhvr>
                                      <p:to>
                                        <a:srgbClr val="FF6600"/>
                                      </p:to>
                                    </p:animClr>
                                    <p:set>
                                      <p:cBhvr>
                                        <p:cTn id="32" dur="1000" fill="hold"/>
                                        <p:tgtEl>
                                          <p:spTgt spid="14"/>
                                        </p:tgtEl>
                                        <p:attrNameLst>
                                          <p:attrName>fill.type</p:attrName>
                                        </p:attrNameLst>
                                      </p:cBhvr>
                                      <p:to>
                                        <p:strVal val="solid"/>
                                      </p:to>
                                    </p:set>
                                    <p:set>
                                      <p:cBhvr>
                                        <p:cTn id="33" dur="1000" fill="hold"/>
                                        <p:tgtEl>
                                          <p:spTgt spid="1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73D73-403C-AE96-F4EF-CAB3C2C88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80D4C-EA01-F187-0A60-216351F4BB19}"/>
              </a:ext>
            </a:extLst>
          </p:cNvPr>
          <p:cNvSpPr>
            <a:spLocks noGrp="1"/>
          </p:cNvSpPr>
          <p:nvPr>
            <p:ph type="title"/>
          </p:nvPr>
        </p:nvSpPr>
        <p:spPr/>
        <p:txBody>
          <a:bodyPr>
            <a:normAutofit/>
          </a:bodyPr>
          <a:lstStyle/>
          <a:p>
            <a:r>
              <a:rPr lang="en-US" dirty="0"/>
              <a:t>Preview: Design Considerations</a:t>
            </a:r>
          </a:p>
        </p:txBody>
      </p:sp>
      <p:sp>
        <p:nvSpPr>
          <p:cNvPr id="14" name="Rectangle: Rounded Corners 13">
            <a:extLst>
              <a:ext uri="{FF2B5EF4-FFF2-40B4-BE49-F238E27FC236}">
                <a16:creationId xmlns:a16="http://schemas.microsoft.com/office/drawing/2014/main" id="{836742AF-47BB-3A7D-84CF-F85E943A03E6}"/>
              </a:ext>
            </a:extLst>
          </p:cNvPr>
          <p:cNvSpPr/>
          <p:nvPr/>
        </p:nvSpPr>
        <p:spPr>
          <a:xfrm>
            <a:off x="3838733" y="1464583"/>
            <a:ext cx="4514533" cy="838200"/>
          </a:xfrm>
          <a:prstGeom prst="roundRect">
            <a:avLst/>
          </a:prstGeom>
          <a:solidFill>
            <a:schemeClr val="accent4">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Design Considerations</a:t>
            </a:r>
          </a:p>
        </p:txBody>
      </p:sp>
      <p:sp>
        <p:nvSpPr>
          <p:cNvPr id="4" name="Rectangle: Rounded Corners 3">
            <a:extLst>
              <a:ext uri="{FF2B5EF4-FFF2-40B4-BE49-F238E27FC236}">
                <a16:creationId xmlns:a16="http://schemas.microsoft.com/office/drawing/2014/main" id="{EE00AD25-E54E-81DC-4085-630F2BA8B80F}"/>
              </a:ext>
            </a:extLst>
          </p:cNvPr>
          <p:cNvSpPr/>
          <p:nvPr/>
        </p:nvSpPr>
        <p:spPr>
          <a:xfrm>
            <a:off x="1958180" y="2561863"/>
            <a:ext cx="3581132" cy="798059"/>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Reliability</a:t>
            </a:r>
          </a:p>
        </p:txBody>
      </p:sp>
      <p:sp>
        <p:nvSpPr>
          <p:cNvPr id="5" name="Rectangle: Rounded Corners 4">
            <a:extLst>
              <a:ext uri="{FF2B5EF4-FFF2-40B4-BE49-F238E27FC236}">
                <a16:creationId xmlns:a16="http://schemas.microsoft.com/office/drawing/2014/main" id="{2BCB0648-9CE1-AE36-EAAA-E97F7DCAE8C6}"/>
              </a:ext>
            </a:extLst>
          </p:cNvPr>
          <p:cNvSpPr/>
          <p:nvPr/>
        </p:nvSpPr>
        <p:spPr>
          <a:xfrm>
            <a:off x="6669733" y="2561863"/>
            <a:ext cx="356408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Scalability</a:t>
            </a:r>
          </a:p>
        </p:txBody>
      </p:sp>
      <p:sp>
        <p:nvSpPr>
          <p:cNvPr id="6" name="Rectangle: Rounded Corners 5">
            <a:extLst>
              <a:ext uri="{FF2B5EF4-FFF2-40B4-BE49-F238E27FC236}">
                <a16:creationId xmlns:a16="http://schemas.microsoft.com/office/drawing/2014/main" id="{36B56950-A05D-F498-5BCA-232DB6F9AF9F}"/>
              </a:ext>
            </a:extLst>
          </p:cNvPr>
          <p:cNvSpPr/>
          <p:nvPr/>
        </p:nvSpPr>
        <p:spPr>
          <a:xfrm>
            <a:off x="1964455" y="3602129"/>
            <a:ext cx="356408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Performance</a:t>
            </a:r>
          </a:p>
        </p:txBody>
      </p:sp>
      <p:sp>
        <p:nvSpPr>
          <p:cNvPr id="7" name="Rectangle: Rounded Corners 6">
            <a:extLst>
              <a:ext uri="{FF2B5EF4-FFF2-40B4-BE49-F238E27FC236}">
                <a16:creationId xmlns:a16="http://schemas.microsoft.com/office/drawing/2014/main" id="{ACE77656-0EAF-174A-84DB-D1550D021C64}"/>
              </a:ext>
            </a:extLst>
          </p:cNvPr>
          <p:cNvSpPr/>
          <p:nvPr/>
        </p:nvSpPr>
        <p:spPr>
          <a:xfrm>
            <a:off x="6669733" y="3546249"/>
            <a:ext cx="356408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Security</a:t>
            </a:r>
          </a:p>
        </p:txBody>
      </p:sp>
      <p:sp>
        <p:nvSpPr>
          <p:cNvPr id="8" name="Rectangle: Rounded Corners 7">
            <a:extLst>
              <a:ext uri="{FF2B5EF4-FFF2-40B4-BE49-F238E27FC236}">
                <a16:creationId xmlns:a16="http://schemas.microsoft.com/office/drawing/2014/main" id="{575AB3F8-60A4-0A6A-B0DC-D35349AB2EE8}"/>
              </a:ext>
            </a:extLst>
          </p:cNvPr>
          <p:cNvSpPr/>
          <p:nvPr/>
        </p:nvSpPr>
        <p:spPr>
          <a:xfrm>
            <a:off x="1970733" y="4578215"/>
            <a:ext cx="356408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Fault Tolerance</a:t>
            </a:r>
          </a:p>
        </p:txBody>
      </p:sp>
      <p:sp>
        <p:nvSpPr>
          <p:cNvPr id="16" name="Rectangle: Rounded Corners 15">
            <a:extLst>
              <a:ext uri="{FF2B5EF4-FFF2-40B4-BE49-F238E27FC236}">
                <a16:creationId xmlns:a16="http://schemas.microsoft.com/office/drawing/2014/main" id="{23B8F1C6-03C6-928C-7740-E221BD9F4252}"/>
              </a:ext>
            </a:extLst>
          </p:cNvPr>
          <p:cNvSpPr/>
          <p:nvPr/>
        </p:nvSpPr>
        <p:spPr>
          <a:xfrm>
            <a:off x="6669733" y="4578215"/>
            <a:ext cx="356408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Flexibility &amp; Adaptability</a:t>
            </a:r>
          </a:p>
        </p:txBody>
      </p:sp>
    </p:spTree>
    <p:extLst>
      <p:ext uri="{BB962C8B-B14F-4D97-AF65-F5344CB8AC3E}">
        <p14:creationId xmlns:p14="http://schemas.microsoft.com/office/powerpoint/2010/main" val="352818908"/>
      </p:ext>
    </p:extLst>
  </p:cSld>
  <p:clrMapOvr>
    <a:masterClrMapping/>
  </p:clrMapOvr>
</p:sld>
</file>

<file path=ppt/theme/theme1.xml><?xml version="1.0" encoding="utf-8"?>
<a:theme xmlns:a="http://schemas.openxmlformats.org/drawingml/2006/main" name="Messaging Patterns Theme">
  <a:themeElements>
    <a:clrScheme name="Messaging Patterns">
      <a:dk1>
        <a:srgbClr val="333333"/>
      </a:dk1>
      <a:lt1>
        <a:srgbClr val="FFFFFF"/>
      </a:lt1>
      <a:dk2>
        <a:srgbClr val="003366"/>
      </a:dk2>
      <a:lt2>
        <a:srgbClr val="F4F6F7"/>
      </a:lt2>
      <a:accent1>
        <a:srgbClr val="003366"/>
      </a:accent1>
      <a:accent2>
        <a:srgbClr val="008080"/>
      </a:accent2>
      <a:accent3>
        <a:srgbClr val="DD3377"/>
      </a:accent3>
      <a:accent4>
        <a:srgbClr val="FF6600"/>
      </a:accent4>
      <a:accent5>
        <a:srgbClr val="3399FF"/>
      </a:accent5>
      <a:accent6>
        <a:srgbClr val="666666"/>
      </a:accent6>
      <a:hlink>
        <a:srgbClr val="3399FF"/>
      </a:hlink>
      <a:folHlink>
        <a:srgbClr val="DD3377"/>
      </a:folHlink>
    </a:clrScheme>
    <a:fontScheme name="Messaging Patterns">
      <a:majorFont>
        <a:latin typeface="Kamerik205 8"/>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74D1B7A-25F4-468A-BCD3-61BD71071BC8}" vid="{120AAE42-4739-44D7-83E5-4AE5E4AFEB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MessagingPatterns</Template>
  <TotalTime>1524</TotalTime>
  <Words>2057</Words>
  <Application>Microsoft Office PowerPoint</Application>
  <PresentationFormat>Widescreen</PresentationFormat>
  <Paragraphs>441</Paragraphs>
  <Slides>34</Slides>
  <Notes>23</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Arial</vt:lpstr>
      <vt:lpstr>Inter</vt:lpstr>
      <vt:lpstr>Kamerik205 8</vt:lpstr>
      <vt:lpstr>SFMono-Regular</vt:lpstr>
      <vt:lpstr>Messaging Patterns Theme</vt:lpstr>
      <vt:lpstr>Theme Style Guide</vt:lpstr>
      <vt:lpstr>Style Guide: Color Palette (Base Colors)</vt:lpstr>
      <vt:lpstr>Style Guide: Color Palette (Accent Colors)</vt:lpstr>
      <vt:lpstr>Theme Style Guide: Typography</vt:lpstr>
      <vt:lpstr>Style Guide: Layouts</vt:lpstr>
      <vt:lpstr>Style Guide: Content Box Styles</vt:lpstr>
      <vt:lpstr>Style Guide: Content Box Fill Styling</vt:lpstr>
      <vt:lpstr>Streaming</vt:lpstr>
      <vt:lpstr>Streaming</vt:lpstr>
      <vt:lpstr>What is Event Streaming</vt:lpstr>
      <vt:lpstr>Key Components &amp; Flow</vt:lpstr>
      <vt:lpstr>Key Components &amp; Flow</vt:lpstr>
      <vt:lpstr>Benefits</vt:lpstr>
      <vt:lpstr>Drawbacks</vt:lpstr>
      <vt:lpstr>Drawbacks</vt:lpstr>
      <vt:lpstr>Drawbacks</vt:lpstr>
      <vt:lpstr>Use Cases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Points to Remember</vt:lpstr>
      <vt:lpstr>Streaming</vt:lpstr>
      <vt:lpstr>Key Takeaways</vt:lpstr>
      <vt:lpstr>Preview of What’s Next in the Workshop</vt:lpstr>
      <vt:lpstr>Preview: Design Considerations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Green</dc:creator>
  <cp:lastModifiedBy>Chad Green</cp:lastModifiedBy>
  <cp:revision>57</cp:revision>
  <dcterms:created xsi:type="dcterms:W3CDTF">2025-07-21T02:58:25Z</dcterms:created>
  <dcterms:modified xsi:type="dcterms:W3CDTF">2025-07-27T18:11:58Z</dcterms:modified>
</cp:coreProperties>
</file>